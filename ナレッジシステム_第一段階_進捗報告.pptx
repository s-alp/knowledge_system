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eiryo"/>
              </a:rPr>
              <a:t>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8EC2"/>
                </a:solidFill>
                <a:latin typeface="Meiryo"/>
              </a:rPr>
              <a:t>FIRST PHASE 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Meiryo"/>
              </a:rPr>
              <a:t>ナレッジシステム開発</a:t>
            </a:r>
          </a:p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Meiryo"/>
              </a:rPr>
              <a:t>第一段階　進捗のご報告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058400" cy="301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FFFFFF"/>
                </a:solidFill>
                <a:latin typeface="Meiryo"/>
              </a:rPr>
              <a:t>PDM ＋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ナレッジ</a:t>
            </a:r>
            <a:r>
              <a:rPr lang="ja-JP" altLang="en-US" sz="1600" b="0" dirty="0">
                <a:solidFill>
                  <a:srgbClr val="FFFFFF"/>
                </a:solidFill>
                <a:latin typeface="Meiryo"/>
              </a:rPr>
              <a:t>管理</a:t>
            </a:r>
            <a:r>
              <a:rPr sz="1600" b="0" dirty="0">
                <a:solidFill>
                  <a:srgbClr val="FFFFFF"/>
                </a:solidFill>
                <a:latin typeface="Meiryo"/>
              </a:rPr>
              <a:t>　|　α1〜α2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完了</a:t>
            </a:r>
            <a:r>
              <a:rPr sz="1600" b="0" dirty="0">
                <a:solidFill>
                  <a:srgbClr val="FFFFFF"/>
                </a:solidFill>
                <a:latin typeface="Meiryo"/>
              </a:rPr>
              <a:t>／β </a:t>
            </a:r>
            <a:r>
              <a:rPr sz="1600" b="0" dirty="0" err="1">
                <a:solidFill>
                  <a:srgbClr val="FFFFFF"/>
                </a:solidFill>
                <a:latin typeface="Meiryo"/>
              </a:rPr>
              <a:t>実装中</a:t>
            </a:r>
            <a:endParaRPr sz="1600" b="0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FFFFFF"/>
                </a:solidFill>
                <a:latin typeface="Meiryo"/>
              </a:rPr>
              <a:t>2026年5月　|　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株式会社アルパイン設計事務所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DX技術部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eiryo"/>
              </a:rPr>
              <a:t>情報システムチーム</a:t>
            </a:r>
            <a:r>
              <a:rPr sz="1200" b="0" dirty="0">
                <a:solidFill>
                  <a:srgbClr val="FFFFFF"/>
                </a:solidFill>
                <a:latin typeface="Meiryo"/>
              </a:rPr>
              <a:t>　</a:t>
            </a:r>
            <a:r>
              <a:rPr lang="ja-JP" altLang="en-US" sz="12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創屋株式会社</a:t>
            </a:r>
            <a:endParaRPr sz="1200" b="0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0080" y="2011680"/>
            <a:ext cx="1645920" cy="0"/>
          </a:xfrm>
          <a:prstGeom prst="line">
            <a:avLst/>
          </a:prstGeom>
          <a:ln w="25400">
            <a:solidFill>
              <a:srgbClr val="238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altLang="en-US" sz="2600" b="1" dirty="0">
                <a:solidFill>
                  <a:srgbClr val="1F2937"/>
                </a:solidFill>
                <a:latin typeface="Meiryo"/>
              </a:rPr>
              <a:t>今回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の報告について</a:t>
            </a:r>
            <a:endParaRPr sz="26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4B5563"/>
                </a:solidFill>
                <a:latin typeface="Meiryo"/>
              </a:rPr>
              <a:t>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ナレッジ</a:t>
            </a:r>
            <a:r>
              <a:rPr lang="ja-JP" altLang="en-US" sz="1400" b="0" dirty="0">
                <a:solidFill>
                  <a:srgbClr val="4B5563"/>
                </a:solidFill>
                <a:latin typeface="Meiryo"/>
              </a:rPr>
              <a:t>システム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」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開発の、第一段階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（α1〜α2 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完了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／β 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実装中）の進捗をご報告します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何を報告するか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・「ナレッジ」開発の第一段階の進捗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・完了した機能と、これから入る機能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・当社による精度確認の結果と所感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当社と創屋の役割分担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59875"/>
            <a:ext cx="3520440" cy="75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実装・開発</a:t>
            </a:r>
            <a:r>
              <a:rPr sz="1200" b="0" dirty="0">
                <a:solidFill>
                  <a:srgbClr val="4B5563"/>
                </a:solidFill>
                <a:latin typeface="Meiryo"/>
              </a:rPr>
              <a:t>　：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創屋</a:t>
            </a:r>
            <a:endParaRPr lang="en-US"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精度確認</a:t>
            </a:r>
            <a:r>
              <a:rPr lang="ja-JP" altLang="en-US" sz="1200" b="0" dirty="0">
                <a:solidFill>
                  <a:srgbClr val="4B556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＋付加機能開発</a:t>
            </a:r>
            <a:r>
              <a:rPr sz="1200" b="0" dirty="0">
                <a:solidFill>
                  <a:srgbClr val="4B556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アルパイン設計事務所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設計現場の声を、当社がフィードバック</a:t>
            </a:r>
            <a:endParaRPr sz="1200" b="0" dirty="0">
              <a:solidFill>
                <a:srgbClr val="4B5563"/>
              </a:solidFill>
              <a:latin typeface="Meiry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60" y="2240280"/>
            <a:ext cx="3703320" cy="3291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91440" cy="329184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WHAT WE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Meiryo"/>
              </a:rPr>
              <a:t>ご確認いただきたいこと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46120"/>
            <a:ext cx="3246120" cy="757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現時点の手応え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第二段階</a:t>
            </a:r>
            <a:r>
              <a:rPr sz="1200" b="0" dirty="0">
                <a:solidFill>
                  <a:srgbClr val="4B5563"/>
                </a:solidFill>
                <a:latin typeface="Meiryo"/>
              </a:rPr>
              <a:t>（β／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正式版）への</a:t>
            </a:r>
            <a:r>
              <a:rPr lang="ja-JP" altLang="en-US" sz="1200" b="0" dirty="0">
                <a:solidFill>
                  <a:srgbClr val="4B5563"/>
                </a:solidFill>
                <a:latin typeface="Meiryo"/>
              </a:rPr>
              <a:t>展望</a:t>
            </a:r>
            <a:endParaRPr sz="1200" b="0" dirty="0">
              <a:solidFill>
                <a:srgbClr val="4B5563"/>
              </a:solidFill>
              <a:latin typeface="Meiryo"/>
            </a:endParaRPr>
          </a:p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4B5563"/>
                </a:solidFill>
                <a:latin typeface="Meiryo"/>
              </a:rPr>
              <a:t>・</a:t>
            </a:r>
            <a:r>
              <a:rPr sz="1200" b="0" dirty="0" err="1">
                <a:solidFill>
                  <a:srgbClr val="4B5563"/>
                </a:solidFill>
                <a:latin typeface="Meiryo"/>
              </a:rPr>
              <a:t>社内活用・外販に向けた方向感</a:t>
            </a:r>
            <a:endParaRPr sz="1200" b="0" dirty="0">
              <a:solidFill>
                <a:srgbClr val="4B5563"/>
              </a:solidFill>
              <a:latin typeface="Meiry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eiryo"/>
              </a:rPr>
              <a:t>※ 本日は「現状の手触り」を中心にお伝えします。詳細スケジュール・タスク内訳は別途資料をご用意しています。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dirty="0">
                <a:solidFill>
                  <a:srgbClr val="1F2937"/>
                </a:solidFill>
                <a:latin typeface="Meiryo"/>
              </a:rPr>
              <a:t>「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ナレッジ</a:t>
            </a:r>
            <a:r>
              <a:rPr lang="ja-JP" altLang="en-US" sz="2600" b="1" dirty="0">
                <a:solidFill>
                  <a:srgbClr val="1F2937"/>
                </a:solidFill>
                <a:latin typeface="Meiryo"/>
              </a:rPr>
              <a:t>システム</a:t>
            </a:r>
            <a:r>
              <a:rPr sz="2600" b="1" dirty="0">
                <a:solidFill>
                  <a:srgbClr val="1F2937"/>
                </a:solidFill>
                <a:latin typeface="Meiryo"/>
              </a:rPr>
              <a:t>」</a:t>
            </a:r>
            <a:r>
              <a:rPr sz="2600" b="1" dirty="0" err="1">
                <a:solidFill>
                  <a:srgbClr val="1F2937"/>
                </a:solidFill>
                <a:latin typeface="Meiryo"/>
              </a:rPr>
              <a:t>とは</a:t>
            </a:r>
            <a:endParaRPr sz="26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設計の知見と図面・文書・部品・案件を、ひとつのデータ構造の上に繋ぐ — PDM ＋ ナレッジ検索の統合システム。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案件・製品・図面・部品を、ひと連なりで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プロジェクト → 製品・装置・ユニット → 部品 → 図面・文書を、親子関係でつなぐ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1772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4つの検索が標準装備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全文検索 ／ 属性検索 ／ 自然言語検索 ／ 類似図面検索（重みづけ・3D対応）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4884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244144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0487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CADの構成から、BOMを自動で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4612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サブアセンブリを自動で製品・装置・ユニットとして登録。Excelエクスポート対応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ファイルサーバを巡回して取込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クロール設定で開始パス／除外パス／拡張子／サイズを指定、過去資産をそのまま活かす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772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変更履歴と会話ログで、判断を残す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変更理由・背景を必ず残し、メールや打合せ内容もタイムラインに紐づけ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389120"/>
            <a:ext cx="37033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0" y="468172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 Black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645152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937"/>
                </a:solidFill>
                <a:latin typeface="Meiryo"/>
              </a:rPr>
              <a:t>承認ワークフローと権限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486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B5563"/>
                </a:solidFill>
                <a:latin typeface="Meiryo"/>
              </a:rPr>
              <a:t>並列承認・差し戻し、役職／部署／特定ユーザーでの承認ルートを柔軟に設定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第一段階の進捗（α1〜α2 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第一段階 進捗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タスク数ベースの実状。完了・作業中・実装済（要確認）・未着手の４区分で示します。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「実装済」は構築済みだが当社の精度・機能確認がこれからのもの。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7406640" cy="3749039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Meiryo"/>
              </a:rPr>
              <a:t>機能カテゴリ別 進捗（タスク数ベース）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プロジェクト管理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081528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3081528"/>
            <a:ext cx="2801982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56662" y="3081528"/>
            <a:ext cx="215537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完26 作2 / 計28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製品・部品 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410712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3410712"/>
            <a:ext cx="1832065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6745" y="3410712"/>
            <a:ext cx="969917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3467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完34 作18 未4 / 計56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75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図面・文書 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739896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3739896"/>
            <a:ext cx="920599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75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完18 未41 / 計59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050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BOM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4069080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4069080"/>
            <a:ext cx="905256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005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完6 未14 / 計20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342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検索（全文・属性・自然言語・類似）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4398264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54680" y="4398264"/>
            <a:ext cx="178308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4398264"/>
            <a:ext cx="274320" cy="146304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334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完13 作2 未7 / 計22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63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クロール（取得・解析・索引）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727448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4727448"/>
            <a:ext cx="2451735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663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完13 未3 / 計16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9262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マスタ・管理・ワークフロー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5056632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54680" y="5056632"/>
            <a:ext cx="234696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9926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完14 未4 / 計18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ビューアー（2D／3D）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385816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4680" y="5385816"/>
            <a:ext cx="1005840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321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完0 実3 未6 / 計9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Meiryo"/>
              </a:rPr>
              <a:t>CRM（顧客・案件）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5715000"/>
            <a:ext cx="3017520" cy="14630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54680" y="5715000"/>
            <a:ext cx="251460" cy="146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6509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完5 未55 / 計60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998463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完了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7360" y="5998463"/>
            <a:ext cx="164592" cy="164592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作業中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5998463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4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実装済（確認待ち）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998463"/>
            <a:ext cx="164592" cy="16459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594359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5563"/>
                </a:solidFill>
                <a:latin typeface="Meiryo"/>
              </a:rPr>
              <a:t>未着手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514600"/>
            <a:ext cx="3593592" cy="3749039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274320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ROLES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301752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二社の役割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611880"/>
            <a:ext cx="30449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創屋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設計・実装・テスト・運用面の整備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アルパイン設計事務所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精度確認＋付加機能開発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設計現場の声をフィードバック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■ サイクル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α1 → α2 → β → 正式版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Meiryo"/>
              </a:rPr>
              <a:t>　 各版ごとに当社が確認、改善反映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「あの案件、確かどこかで…」を、数秒で。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５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過去の検討資産を、人の記憶ではなくシステムが憶えている状態にする。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「3年前に似た検討があった気がする」と、サーバを30分以上徘徊する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結局、当時の担当者に聞きに行く（不在ならその場で止まる）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見つからずに、ゼロから検討を始め直してしまう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自然言語検索＋類似図面検索で、過去事例にたどり着く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3_simila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実機画面：類似検索（2D/3D・重みづけ対応）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全文検索：完了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自然言語検索：一部 未着手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類似図面検索：β 作業中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プロジェクトに、すべてが集まる。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６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案件の文脈（誰が・いつ・なぜ・何を決めたか）を、組織として失わない。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議事録はメール、図面はファイルサーバ、判断の理由は人の頭の中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異動・退職のたびに、案件の文脈が一緒に消える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後任が「なぜこの仕様？」を辿れず、同じ検討を繰り返す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プロジェクト画面に、会話ログ・図面・文書が集約される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実機画面：通知（PRJ-001 に会話ログ追加 等／プロジェクトに紐付き）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プロジェクト管理：完了（28/28）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変更履歴／タイムライン：完了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バージョン管理：作業中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製品の構造とBOMが、ひとつながりに。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７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CAD の階層と、部品表と、装置の構成記憶を、別々の世界にしない。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BOM の突合せと整形に毎回 1〜2 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CAD・部品表・仕様書がそれぞれ別世界で、最新版が分散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装置の構成は、結局ベテランの頭の中にある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製品の親子階層を画面で展開、BOMもひと続きに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5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実機画面：製品・装置・ユニット一覧（上位／下位／部品数を一望）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製品・部品 管理：作業中（34完／18作／4未）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BOM 自動取込：β以降（6完／14未）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2D／3D ビューア：β実装中（要確認 3／未着手 6）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USE CASE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散らばった過去資産を、自動で取り込む。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dirty="0">
                <a:solidFill>
                  <a:srgbClr val="6B7280"/>
                </a:solidFill>
                <a:latin typeface="Meiryo"/>
              </a:rPr>
              <a:t>８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ナレッジを「新しく作る」のではなく、まずは「今あるものを活かす」ことから。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280"/>
                </a:solidFill>
                <a:latin typeface="Meiry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937"/>
                </a:solidFill>
                <a:latin typeface="Meiryo"/>
              </a:rPr>
              <a:t>今、こうなっている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「あのファイル、どのフォルダだったか」を毎回探す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命名規則も保管場所もバラバラで、検索しても出てこない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B7280"/>
                </a:solidFill>
                <a:latin typeface="Meiryo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B5563"/>
                </a:solidFill>
                <a:latin typeface="Meiryo"/>
              </a:rPr>
              <a:t>ナレッジ化の前段で、整備コストが膨らんで止まる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5394960" cy="3291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048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eiryo"/>
              </a:rPr>
              <a:t>／  ファイルサーバを自動巡回し、既存資産をそのまま取込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5744" y="2743200"/>
            <a:ext cx="3730752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4_dra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2743200"/>
            <a:ext cx="3730752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2240" y="51480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実機画面：図面一覧（クロール取込後の実データ）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704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  <a:latin typeface="Meiryo"/>
              </a:rPr>
              <a:t>実装状況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データ取得：完了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データ解析：完了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58978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5852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2937"/>
                </a:solidFill>
                <a:latin typeface="Meiryo"/>
              </a:rPr>
              <a:t>インデクサー：完了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VALUE TO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当社にとっての、二面の価値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ja-JP" altLang="en-US" sz="900" b="0" dirty="0">
                <a:solidFill>
                  <a:srgbClr val="6B7280"/>
                </a:solidFill>
                <a:latin typeface="Meiryo"/>
              </a:rPr>
              <a:t>９</a:t>
            </a:r>
            <a:r>
              <a:rPr sz="900" b="0" dirty="0">
                <a:solidFill>
                  <a:srgbClr val="6B7280"/>
                </a:solidFill>
                <a:latin typeface="Meiryo"/>
              </a:rPr>
              <a:t>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4B5563"/>
                </a:solidFill>
                <a:latin typeface="Meiryo"/>
              </a:rPr>
              <a:t>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メーカーに売る」外販性と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、「</a:t>
            </a:r>
            <a:r>
              <a:rPr sz="1400" b="0" dirty="0" err="1">
                <a:solidFill>
                  <a:srgbClr val="4B5563"/>
                </a:solidFill>
                <a:latin typeface="Meiryo"/>
              </a:rPr>
              <a:t>当社内の効率化」の二面で投資効果をとらえる</a:t>
            </a:r>
            <a:r>
              <a:rPr sz="1400" b="0" dirty="0">
                <a:solidFill>
                  <a:srgbClr val="4B5563"/>
                </a:solidFill>
                <a:latin typeface="Meiryo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5321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53212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408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A.  EXTERNAL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32004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FFFFF"/>
                </a:solidFill>
                <a:latin typeface="Meiryo"/>
              </a:rPr>
              <a:t>メーカ</a:t>
            </a:r>
            <a:r>
              <a:rPr sz="1400" b="1" dirty="0">
                <a:solidFill>
                  <a:srgbClr val="FFFFFF"/>
                </a:solidFill>
                <a:latin typeface="Meiryo"/>
              </a:rPr>
              <a:t>ー</a:t>
            </a:r>
            <a:r>
              <a:rPr lang="ja-JP" altLang="en-US" sz="1400" b="1" dirty="0">
                <a:solidFill>
                  <a:srgbClr val="FFFFFF"/>
                </a:solidFill>
                <a:latin typeface="Meiryo"/>
              </a:rPr>
              <a:t>への販売</a:t>
            </a:r>
            <a:endParaRPr sz="1400" b="1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4892040" cy="282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dirty="0" err="1">
                <a:solidFill>
                  <a:srgbClr val="1F2937"/>
                </a:solidFill>
                <a:latin typeface="Meiryo"/>
              </a:rPr>
              <a:t>当社の業務を起点に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作成することで</a:t>
            </a:r>
            <a:r>
              <a:rPr sz="1500" b="1" dirty="0">
                <a:solidFill>
                  <a:srgbClr val="1F2937"/>
                </a:solidFill>
                <a:latin typeface="Meiryo"/>
              </a:rPr>
              <a:t>、</a:t>
            </a:r>
            <a:r>
              <a:rPr sz="1500" b="1" dirty="0" err="1">
                <a:solidFill>
                  <a:srgbClr val="1F2937"/>
                </a:solidFill>
                <a:latin typeface="Meiryo"/>
              </a:rPr>
              <a:t>業界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に</a:t>
            </a:r>
            <a:r>
              <a:rPr sz="1500" b="1" dirty="0" err="1">
                <a:solidFill>
                  <a:srgbClr val="1F2937"/>
                </a:solidFill>
                <a:latin typeface="Meiryo"/>
              </a:rPr>
              <a:t>フィット</a:t>
            </a:r>
            <a:r>
              <a:rPr lang="ja-JP" altLang="en-US" sz="1500" b="1" dirty="0">
                <a:solidFill>
                  <a:srgbClr val="1F2937"/>
                </a:solidFill>
                <a:latin typeface="Meiryo"/>
              </a:rPr>
              <a:t>。</a:t>
            </a:r>
            <a:endParaRPr sz="1500" b="1" dirty="0">
              <a:solidFill>
                <a:srgbClr val="1F2937"/>
              </a:solidFill>
              <a:latin typeface="Meiry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0120" y="38679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設計現場の「手触り」がそのまま売り物になる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3251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汎用PDMにはない実務寄りの検索・BOM・タイムライン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7823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完成すれば外販事業として継続的なリターンが期待できる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2395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1663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展示会・引合いに耐える完成度を、正式版で目指す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240280"/>
            <a:ext cx="55321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240280"/>
            <a:ext cx="553212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B.  INTERNAL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31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</a:rPr>
              <a:t>当社内の効率化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937"/>
                </a:solidFill>
                <a:latin typeface="Meiryo"/>
              </a:rPr>
              <a:t>短期の即効は限定的。中長期で効く「組織資産」として育てる。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8679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37947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類似検索・タイムラインは設計者の日常を確実に楽にする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3251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42519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短期では業務フローの組み替えが必要で、即効果は限定的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7823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47091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中長期で、人の入れ替わりに強い組織資産が積み上がる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23951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51663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「外販で作ったもの」を自社で使えるのは、当社ならではの位置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8EC2"/>
                </a:solidFill>
                <a:latin typeface="Meiryo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Meiryo"/>
              </a:rPr>
              <a:t>今後のロードマップ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ナレッジシステム開発 進捗報告  |  株式会社アルパイン設計事務所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eiryo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000"/>
          </a:xfrm>
          <a:prstGeom prst="rect">
            <a:avLst/>
          </a:prstGeom>
          <a:solidFill>
            <a:srgbClr val="238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Meiryo"/>
              </a:rPr>
              <a:t>β で差別化機能を仕上げ、正式版で完成形へ。その先に外販事業化と社内活用を位置付けます。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β 実装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〜2026年6月末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BOM・類似図面検索・2D／3D ビューア・ワークフローを実装。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当社で機能と精度を確認し、必要な改善を反映。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正式版へ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〜今年度内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CRM を含む全機能を完成。システムテスト・マニュアル整備・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展示会向けデモ環境を準備し、外販に耐える状態へ。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240280"/>
            <a:ext cx="370332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240280"/>
            <a:ext cx="3703320" cy="960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40487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4144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07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38EC2"/>
                </a:solidFill>
                <a:latin typeface="Meiryo"/>
              </a:rPr>
              <a:t>完成後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383280"/>
            <a:ext cx="31546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メーカー向け外販を本格化。社内活用は、業務フロー側の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B5563"/>
                </a:solidFill>
                <a:latin typeface="Meiryo"/>
              </a:rPr>
              <a:t>整備に合わせて段階的に立ち上げ。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8EC2"/>
                </a:solidFill>
                <a:latin typeface="Meiryo"/>
              </a:rPr>
              <a:t>今後のお願い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設計現場で蓄えたナレッジを、社内活用と、メーカーへの外販へ。引き続きご支援をお願いいたします。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848</Words>
  <Application>Microsoft Office PowerPoint</Application>
  <PresentationFormat>ワイド画面</PresentationFormat>
  <Paragraphs>209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メイリオ</vt:lpstr>
      <vt:lpstr>Arial</vt:lpstr>
      <vt:lpstr>Arial Black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岩田慎二</cp:lastModifiedBy>
  <cp:revision>2</cp:revision>
  <dcterms:created xsi:type="dcterms:W3CDTF">2013-01-27T09:14:16Z</dcterms:created>
  <dcterms:modified xsi:type="dcterms:W3CDTF">2026-05-18T07:41:33Z</dcterms:modified>
  <cp:category/>
</cp:coreProperties>
</file>