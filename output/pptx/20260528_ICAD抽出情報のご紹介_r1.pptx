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0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0000" y="0"/>
            <a:ext cx="60000" cy="6858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200000"/>
            <a:ext cx="10792000" cy="9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40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2D/3D 抽出情報のご紹介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3150000"/>
            <a:ext cx="10792000" cy="6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000" b="0">
                <a:solidFill>
                  <a:srgbClr val="355071"/>
                </a:solidFill>
                <a:latin typeface="游ゴシック Medium"/>
                <a:ea typeface="游ゴシック Medium"/>
              </a:rPr>
              <a:t>ナレッジシステム連携に向けた抽出可能項目と活用構想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3850000"/>
            <a:ext cx="800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100000"/>
            <a:ext cx="107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游ゴシック Medium"/>
                <a:ea typeface="游ゴシック Medium"/>
              </a:rPr>
              <a:t>対象：株式会社アルパイン設計事務所 役員、共同開発先（創屋株式会社）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6158000"/>
            <a:ext cx="10792000" cy="4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200" b="0">
                <a:solidFill>
                  <a:srgbClr val="355071"/>
                </a:solidFill>
                <a:latin typeface="游ゴシック Medium"/>
                <a:ea typeface="游ゴシック Medium"/>
              </a:rPr>
              <a:t>2026.05.28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游ゴシック Medium"/>
                <a:ea typeface="游ゴシック Medium"/>
              </a:rPr>
              <a:t>目次　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0000" y="120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0000" y="120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背景と目的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0000" y="148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ナレッジシステム改善に向けて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0000" y="182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0000" y="192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0000" y="192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ICADから取れる情報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0000" y="220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3D / 2D それぞれで抽出できる項目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0000" y="254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000" y="264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0000" y="264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「取れる項目」と「使う項目」の整理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0000" y="292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技術的可能性と運用上の優先度を分けて示す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326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0000" y="336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0000" y="336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抽出情報の活用シナリオ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0000" y="364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RAG精度向上 / PDMタグ正本化 / ビューワー連携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0000" y="398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0000" y="408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0000" y="408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実装方針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0000" y="436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C# 抽出コア＋Django 連携、処理フローと管理UI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0000" y="470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0000" y="4800000"/>
            <a:ext cx="700000" cy="560000"/>
          </a:xfrm>
          <a:prstGeom prst="roundRect">
            <a:avLst/>
          </a:prstGeom>
          <a:solidFill>
            <a:srgbClr val="355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0000" y="4800000"/>
            <a:ext cx="8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進め方とご相談事項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0000" y="5080000"/>
            <a:ext cx="100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実装ロードマップと共同開発先への確認事項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50000" y="5420000"/>
            <a:ext cx="10000000" cy="8000"/>
          </a:xfrm>
          <a:prstGeom prst="rect">
            <a:avLst/>
          </a:prstGeom>
          <a:solidFill>
            <a:srgbClr val="AAB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游ゴシック Medium"/>
                <a:ea typeface="游ゴシック Medium"/>
              </a:rPr>
              <a:t>背景と目的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280000"/>
            <a:ext cx="17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01　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10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600" b="1">
                <a:solidFill>
                  <a:srgbClr val="355071"/>
                </a:solidFill>
                <a:latin typeface="游ゴシック Medium"/>
                <a:ea typeface="游ゴシック Medium"/>
              </a:rPr>
              <a:t>ナレッジシステムの精度課題の多くは「自然言語処理」ではなく「事前メタデータ不足」に起因する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900000"/>
            <a:ext cx="3564000" cy="500000"/>
          </a:xfrm>
          <a:prstGeom prst="roundRect">
            <a:avLst/>
          </a:prstGeom>
          <a:solidFill>
            <a:srgbClr val="CE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現状の課題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420000"/>
            <a:ext cx="3564000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2540000"/>
            <a:ext cx="3264000" cy="3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・案件・客先・カテゴリ名の切り分け不足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・BOM／部品情報から案件名へ上がれない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・資料なし時に無関係資料を混ぜる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・規格表／Word・Excel仕様書の精度不安定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4000" y="1900000"/>
            <a:ext cx="3564000" cy="50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アプローチ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4000" y="2420000"/>
            <a:ext cx="3564000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00" y="2540000"/>
            <a:ext cx="3264000" cy="3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・ICAD 2D／3Dからネイティブで構造情報を取得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・図面管理を「タグ・属性の正本」として整備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・正規化済み属性をRAG・ビューワーで共有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・OCRに頼らず、まず取れるものから取る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0" y="1900000"/>
            <a:ext cx="3564000" cy="50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期待効果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0" y="2420000"/>
            <a:ext cx="3564000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8000" y="2540000"/>
            <a:ext cx="3264000" cy="3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・案件・客先・装置の事前フィルタが安定する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・部品情報から案件・装置へ上がれる経路ができる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・回答根拠が分かる図面表示につながる</a:t>
            </a:r>
          </a:p>
          <a:p>
            <a:pPr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・手動補正コストの削減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40000" cy="6858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700000"/>
            <a:ext cx="4500000" cy="7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AABED7"/>
                </a:solidFill>
                <a:latin typeface="游ゴシック Medium"/>
                <a:ea typeface="游ゴシック Medium"/>
              </a:rPr>
              <a:t>CHAPTER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500000"/>
            <a:ext cx="4800000" cy="1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游ゴシック Medium"/>
                <a:ea typeface="游ゴシック Medium"/>
              </a:rPr>
              <a:t>ICADから取れる情報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000000"/>
            <a:ext cx="4800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800" b="0">
                <a:solidFill>
                  <a:srgbClr val="AABED7"/>
                </a:solidFill>
                <a:latin typeface="游ゴシック Medium"/>
                <a:ea typeface="游ゴシック Medium"/>
              </a:rPr>
              <a:t>What we can extract from ICAD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6000" y="2700000"/>
            <a:ext cx="5096000" cy="20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sxnet (.NET API) を使えば、ICAD 3D / 2D それぞれから
ネイティブな構造情報を直接取得できる。
OCRや形状変換に頼らず、まず取れる項目を整理する。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ICAD 3D から取れる情報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02  ICAD Extraction　3D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10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sxnetの一括取得API（getInfPartTree / getInfExTopPart）で、部品階層＋詳細＋任意情報をまとめて取得できる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800000"/>
            <a:ext cx="5446000" cy="46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最上位パーツ情報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280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2380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・top_part_name（最上位パーツ名）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・top_part_comment（コメント）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・top_part_ex_info（任意情報文字列）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案件名・装置名候補の主供給源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000" y="1800000"/>
            <a:ext cx="5446000" cy="46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部品階層・部品詳細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6000" y="2280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6000" y="2380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・part_names[]（全パーツ名）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・part_comments[]（コメント）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・part_tree_paths[]（階層パス）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BOM相当の構造情報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4079000"/>
            <a:ext cx="5446000" cy="46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外部参照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4559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" y="4659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・ref_model_names[]（参照図面名）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・ref_model_paths[]（参照パス）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・external_part_exists（外部参照有無）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関連図面トレースの起点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6000" y="4079000"/>
            <a:ext cx="5446000" cy="460000"/>
          </a:xfrm>
          <a:prstGeom prst="roundRect">
            <a:avLst/>
          </a:prstGeom>
          <a:solidFill>
            <a:srgbClr val="A35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状態フラグ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6000" y="4559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6000" y="4659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・is_mirror（ミラー部品）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・is_unloaded（未ロード部品）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・is_read_only（読取専用）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抽出品質の判定材料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ICAD 2D から取れる情報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02  ICAD Extraction　2D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10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sxnetのgetGeomList()で、文字・寸法・注記・記号・溶接情報をOCRに頼らずネイティブ抽出できる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800000"/>
            <a:ext cx="5446000" cy="46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文字情報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280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2380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・text_tokens[]（一般文字）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・label_texts[]（ラベル文字）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・title_block_fields（表題欄文字）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図面番号・案件・客先候補の供給源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6000" y="1800000"/>
            <a:ext cx="5446000" cy="46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寸法・公差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6000" y="2280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6000" y="2380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・dimension_values[]（寸法値）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・dimension_symbols[]（径・面取等）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・tolerance_texts[]（公差文字）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規格・仕様マッチングに利用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4079000"/>
            <a:ext cx="5446000" cy="46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注記・溶接・バルーン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4559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000" y="4659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・weld_note_texts[]（溶接注記）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・balloon_keys[]（バルーン番号）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・surface_treatment_tokens[]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工程・処理・部品照合に利用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6000" y="4079000"/>
            <a:ext cx="5446000" cy="460000"/>
          </a:xfrm>
          <a:prstGeom prst="roundRect">
            <a:avLst/>
          </a:prstGeom>
          <a:solidFill>
            <a:srgbClr val="A35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業務補助キーワード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6000" y="4559000"/>
            <a:ext cx="5446000" cy="1599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6000" y="4659000"/>
            <a:ext cx="5146000" cy="1399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・material_keywords[]（材料）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・process_keywords[]（工程）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・maker_keywords[]（メーカー）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RAG再ランキングに使う属性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「取れる項目」と「使う項目」を分けて整理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2000" y="280000"/>
            <a:ext cx="17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03 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技術的に「取れるもの」を全て使うわけではない。実運用で価値が高い項目を優先する。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1700000"/>
            <a:ext cx="14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700000"/>
            <a:ext cx="14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分類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0000" y="1700000"/>
            <a:ext cx="36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0000" y="1700000"/>
            <a:ext cx="36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取れる項目（技術的に可能）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0000" y="1700000"/>
            <a:ext cx="36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0000" y="1700000"/>
            <a:ext cx="36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使う項目（運用で活用）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00000" y="1700000"/>
            <a:ext cx="29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0000" y="1700000"/>
            <a:ext cx="29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2150000"/>
            <a:ext cx="14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000" y="215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3D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0000" y="21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0000" y="21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部品階層・部品名・コメント・外部参照・任意情報・全パス・状態フラグ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0000" y="21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0000" y="21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top_part_ex_info / part_names / ref_model_names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0000" y="2150000"/>
            <a:ext cx="29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0000" y="215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案件名／装置／BOM相当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2700000"/>
            <a:ext cx="1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000" y="270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2D 文字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0000" y="27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0000" y="27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全文字列・ラベル・表題欄・段落構造・座標位置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0000" y="27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0000" y="27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title_block_fields / label_texts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0000" y="2700000"/>
            <a:ext cx="29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0000" y="270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図面番号／客先／案件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3250000"/>
            <a:ext cx="14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000" y="325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2D 寸法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0000" y="32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0000" y="32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全寸法値・公差・前後語・上下限・記号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0000" y="32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60000" y="32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dimension_values / tolerance_texts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00000" y="3250000"/>
            <a:ext cx="29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60000" y="325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規格マッチング／公差検索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0000" y="3800000"/>
            <a:ext cx="1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000" y="380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2D 注記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00000" y="38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0000" y="38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溶接注記・バルーン・面取記号・指示記号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00000" y="38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60000" y="38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weld_note_texts / balloon_keys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00000" y="3800000"/>
            <a:ext cx="29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0000" y="380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工程／部品照合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0000" y="4350000"/>
            <a:ext cx="14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0000" y="435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業務語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00000" y="43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0000" y="43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全テキスト→キーワード抽出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0000" y="4350000"/>
            <a:ext cx="36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0000" y="435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material / process / maker / heat_treatment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00000" y="4350000"/>
            <a:ext cx="2900000" cy="5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60000" y="435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RAG再ランキング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000" y="4900000"/>
            <a:ext cx="1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0000" y="4900000"/>
            <a:ext cx="12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メタ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0000" y="49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0000" y="49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抽出時間・警告・抽出器バージョン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00000" y="4900000"/>
            <a:ext cx="36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60000" y="4900000"/>
            <a:ext cx="34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extraction_status / confidence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00000" y="4900000"/>
            <a:ext cx="29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60000" y="4900000"/>
            <a:ext cx="2780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抽出品質の判定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形式別の抽出特性と速度感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03  Format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費用対効果が高いのは ICAD 3D / 2D のネイティブ抽出。STEPとOCRは別工程に切り分ける。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1700000"/>
            <a:ext cx="24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700000"/>
            <a:ext cx="24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形式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0000" y="1700000"/>
            <a:ext cx="30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0000" y="1700000"/>
            <a:ext cx="30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主な抽出内容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0000" y="1700000"/>
            <a:ext cx="23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0000" y="1700000"/>
            <a:ext cx="23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速度感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0" y="1700000"/>
            <a:ext cx="17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0000" y="1700000"/>
            <a:ext cx="17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OCR依存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0000" y="1700000"/>
            <a:ext cx="20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0000" y="1700000"/>
            <a:ext cx="2000000" cy="4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実装上の扱い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2150000"/>
            <a:ext cx="24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000" y="2330000"/>
            <a:ext cx="80000" cy="220000"/>
          </a:xfrm>
          <a:prstGeom prst="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" y="2150000"/>
            <a:ext cx="214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3D（.icd）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0000" y="2150000"/>
            <a:ext cx="3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0000" y="2150000"/>
            <a:ext cx="2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部品階層・任意情報・参照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0000" y="2150000"/>
            <a:ext cx="23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0000" y="2150000"/>
            <a:ext cx="21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速い（サブ秒〜数秒）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0000" y="2150000"/>
            <a:ext cx="17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0000" y="2150000"/>
            <a:ext cx="15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00000" y="2150000"/>
            <a:ext cx="2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0000" y="2150000"/>
            <a:ext cx="1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登録時の同期抽出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2730000"/>
            <a:ext cx="24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000" y="2910000"/>
            <a:ext cx="80000" cy="220000"/>
          </a:xfrm>
          <a:prstGeom prst="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000" y="2730000"/>
            <a:ext cx="214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2D（.icd）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0000" y="2730000"/>
            <a:ext cx="3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0000" y="2730000"/>
            <a:ext cx="2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文字・寸法・注記・溶接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2730000"/>
            <a:ext cx="23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0000" y="2730000"/>
            <a:ext cx="21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速い〜中（サブ秒〜数秒）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0000" y="2730000"/>
            <a:ext cx="17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0000" y="2730000"/>
            <a:ext cx="15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00000" y="2730000"/>
            <a:ext cx="2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0000" y="2730000"/>
            <a:ext cx="1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登録時の同期抽出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0000" y="3310000"/>
            <a:ext cx="24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0000" y="3490000"/>
            <a:ext cx="80000" cy="220000"/>
          </a:xfrm>
          <a:prstGeom prst="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000" y="3310000"/>
            <a:ext cx="214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PDF（サーチャブル）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00000" y="3310000"/>
            <a:ext cx="3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60000" y="3310000"/>
            <a:ext cx="2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本文・見出し・表題欄文字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310000"/>
            <a:ext cx="23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60000" y="3310000"/>
            <a:ext cx="21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中（数秒〜十秒未満）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00000" y="3310000"/>
            <a:ext cx="17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0000" y="3310000"/>
            <a:ext cx="15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00000" y="3310000"/>
            <a:ext cx="2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60000" y="3310000"/>
            <a:ext cx="1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原則同期、大規模のみ非同期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0000" y="3890000"/>
            <a:ext cx="24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0000" y="4070000"/>
            <a:ext cx="80000" cy="220000"/>
          </a:xfrm>
          <a:prstGeom prst="rect">
            <a:avLst/>
          </a:prstGeom>
          <a:solidFill>
            <a:srgbClr val="CE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000" y="3890000"/>
            <a:ext cx="214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STEP（.stp/.step）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00000" y="3890000"/>
            <a:ext cx="3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60000" y="3890000"/>
            <a:ext cx="2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viewer変換用途／属性は要検証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00000" y="3890000"/>
            <a:ext cx="23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60000" y="3890000"/>
            <a:ext cx="21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遅い（数秒〜数十秒）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0000" y="3890000"/>
            <a:ext cx="17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60000" y="3890000"/>
            <a:ext cx="15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00000" y="3890000"/>
            <a:ext cx="2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0000" y="3890000"/>
            <a:ext cx="1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非同期ジョブ前提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0000" y="4470000"/>
            <a:ext cx="24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0000" y="4650000"/>
            <a:ext cx="80000" cy="220000"/>
          </a:xfrm>
          <a:prstGeom prst="rect">
            <a:avLst/>
          </a:prstGeom>
          <a:solidFill>
            <a:srgbClr val="CE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0000" y="4470000"/>
            <a:ext cx="214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画像／TIFF（OCR）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00000" y="4470000"/>
            <a:ext cx="3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60000" y="4470000"/>
            <a:ext cx="2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OCR後文字列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00000" y="4470000"/>
            <a:ext cx="23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60000" y="4470000"/>
            <a:ext cx="21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最も遅い（数十秒以上）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00000" y="4470000"/>
            <a:ext cx="17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0000" y="4470000"/>
            <a:ext cx="15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あり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00000" y="4470000"/>
            <a:ext cx="2000000" cy="580000"/>
          </a:xfrm>
          <a:prstGeom prst="rect">
            <a:avLst/>
          </a:prstGeom>
          <a:solidFill>
            <a:srgbClr val="F2F2F2"/>
          </a:solidFill>
          <a:ln w="6350">
            <a:solidFill>
              <a:srgbClr val="AABE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60000" y="4470000"/>
            <a:ext cx="1880000" cy="5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常に非同期、補助手段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40000" cy="6858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700000"/>
            <a:ext cx="4500000" cy="7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AABED7"/>
                </a:solidFill>
                <a:latin typeface="游ゴシック Medium"/>
                <a:ea typeface="游ゴシック Medium"/>
              </a:rPr>
              <a:t>CHAPTER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500000"/>
            <a:ext cx="4800000" cy="1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游ゴシック Medium"/>
                <a:ea typeface="游ゴシック Medium"/>
              </a:rPr>
              <a:t>抽出情報の活用シナリオ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000000"/>
            <a:ext cx="4800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800" b="0">
                <a:solidFill>
                  <a:srgbClr val="AABED7"/>
                </a:solidFill>
                <a:latin typeface="游ゴシック Medium"/>
                <a:ea typeface="游ゴシック Medium"/>
              </a:rPr>
              <a:t>How we use the extracted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6000" y="2700000"/>
            <a:ext cx="5096000" cy="20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取れた情報は「図面管理（PDM）の正本」として蓄積し、
RAG・ビューワー・検索の3つの導線で共通利用する。
重要なのは、属性をタグより先に定義することである。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游ゴシック Medium"/>
                <a:ea typeface="游ゴシック Medium"/>
              </a:rPr>
              <a:t>活用シナリオ① ナレッジ検索（RAG）の精度向上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04  Use Case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「事前フィルタ」と「再ランキング」の2段階で、案件混線と無関係資料の混入を抑える。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700000"/>
            <a:ext cx="5446000" cy="50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事前フィルタ（検索範囲を絞る）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220000"/>
            <a:ext cx="5446000" cy="38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2380000"/>
            <a:ext cx="5046000" cy="3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・customer_name（客先名）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・project_name（案件名）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・equipment_category（装置カテゴリ）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・document_kind（文書種別）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・source_format（形式）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5400000"/>
            <a:ext cx="5046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▶ 案件・客先で絞り込んでから検索 → 別案件混線を抑制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000" y="1700000"/>
            <a:ext cx="5446000" cy="50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再ランキング（候補の優先度を上げる）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6000" y="2220000"/>
            <a:ext cx="5446000" cy="38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000" y="2380000"/>
            <a:ext cx="5046000" cy="3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・part_names / part_keywords（部品）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・material_keywords（材料）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・process_keywords（工程）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・dimension_values（寸法）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・weld_note_texts（溶接注記）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・spec_tokens（規格）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000" y="5400000"/>
            <a:ext cx="5046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200" b="1">
                <a:solidFill>
                  <a:srgbClr val="4BCAAD"/>
                </a:solidFill>
                <a:latin typeface="游ゴシック Medium"/>
                <a:ea typeface="游ゴシック Medium"/>
              </a:rPr>
              <a:t>▶ 部品・規格でマッチする資料を上位に → 根拠の精度向上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游ゴシック Medium"/>
                <a:ea typeface="游ゴシック Medium"/>
              </a:rPr>
              <a:t>活用シナリオ② 図面管理（PDM）のタグ・属性正本化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04  Use Case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図面管理を「正本」、ビューワーとRAGを「消費側」として、同じ属性を共有する設計にする。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6000" y="1750000"/>
            <a:ext cx="3000000" cy="64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raw_extract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96000" y="1750000"/>
            <a:ext cx="5800000" cy="6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96000" y="1750000"/>
            <a:ext cx="5700000" cy="64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ICADから取得した原文・原値（再抽出・デバッグ用）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6000" y="2450000"/>
            <a:ext cx="3000000" cy="64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canonical_attributes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6000" y="2450000"/>
            <a:ext cx="5800000" cy="6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6000" y="2450000"/>
            <a:ext cx="5700000" cy="64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正規化済み属性（客先／案件／装置／部品／寸法／規格…）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6000" y="3150000"/>
            <a:ext cx="3000000" cy="64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derived_tags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6000" y="3150000"/>
            <a:ext cx="5800000" cy="6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6000" y="3150000"/>
            <a:ext cx="5700000" cy="64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属性から自動生成したラベル（装置:ガントリー など）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6000" y="3850000"/>
            <a:ext cx="3000000" cy="640000"/>
          </a:xfrm>
          <a:prstGeom prst="roundRect">
            <a:avLst/>
          </a:prstGeom>
          <a:solidFill>
            <a:srgbClr val="A35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manual_overrides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6000" y="3850000"/>
            <a:ext cx="5800000" cy="6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96000" y="3850000"/>
            <a:ext cx="5700000" cy="64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手動補正（誰が／いつ／何を直したかを記録）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5958000"/>
            <a:ext cx="11192000" cy="5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5958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 Medium"/>
                <a:ea typeface="游ゴシック Medium"/>
              </a:rPr>
              <a:t>属性を正本に置くことで、画面横断（一覧・絞り込み・詳細・RAG）で同じ条件が使える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游ゴシック Medium"/>
                <a:ea typeface="游ゴシック Medium"/>
              </a:rPr>
              <a:t>活用シナリオ③ ビューワー詳細表示への展開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04  Use Case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ビューワーの bootstrap は軽量に保ち、属性詳細は別 detail API として返す構成にする。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700000"/>
            <a:ext cx="5446000" cy="50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bootstrap（軽量・即時表示）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220000"/>
            <a:ext cx="5446000" cy="37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2380000"/>
            <a:ext cx="5046000" cy="3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・drawingNumber（図面番号）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・drawingName（図面名）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・drawingType（種別）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・paperSize（用紙サイズ）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・status（状態）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・owner（担当者）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・tags[]（主要タグ）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000" y="1700000"/>
            <a:ext cx="5446000" cy="50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detail API（詳細・補正後）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6000" y="2220000"/>
            <a:ext cx="5446000" cy="37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000" y="2380000"/>
            <a:ext cx="5046000" cy="3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・tags[]（自動／手動の区別付き）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・attribute_groups[]（属性グループ別）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・remarks（備考・補足）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・evidence[]（抽出根拠の断片）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・manual_override_summary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・extraction_status（抽出品質）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40000" cy="6858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700000"/>
            <a:ext cx="4500000" cy="7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AABED7"/>
                </a:solidFill>
                <a:latin typeface="游ゴシック Medium"/>
                <a:ea typeface="游ゴシック Medium"/>
              </a:rPr>
              <a:t>CHAPTER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500000"/>
            <a:ext cx="4800000" cy="1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游ゴシック Medium"/>
                <a:ea typeface="游ゴシック Medium"/>
              </a:rPr>
              <a:t>実装方針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000000"/>
            <a:ext cx="4800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800" b="0">
                <a:solidFill>
                  <a:srgbClr val="AABED7"/>
                </a:solidFill>
                <a:latin typeface="游ゴシック Medium"/>
                <a:ea typeface="游ゴシック Medium"/>
              </a:rPr>
              <a:t>Implementation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6000" y="2700000"/>
            <a:ext cx="5096000" cy="20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ICADネイティブ抽出は C# で実装し、
正規化・タグ生成・保存・RAG連携は Django(Python) で受ける。
境界はシンプルに「1図面=1回呼び出し、JSONで受け渡し」とする。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游ゴシック Medium"/>
                <a:ea typeface="游ゴシック Medium"/>
              </a:rPr>
              <a:t>全体アーキテクチャ：C# 抽出コア ＋ Django 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05 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ICADの近くは C# に置き、業務ルール・保存・連携は Django 側に置く。境界を一本化する。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1700000"/>
            <a:ext cx="3637333" cy="46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700000"/>
            <a:ext cx="3637333" cy="46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C# 抽出コア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2160000"/>
            <a:ext cx="3637333" cy="147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" y="2280000"/>
            <a:ext cx="3317333" cy="123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・ICADファイルを開く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・sxnet API を一括で呼ぶ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・部品階層・文字・寸法を取得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・生抽出JSONを返す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3630000"/>
            <a:ext cx="3637333" cy="42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3630000"/>
            <a:ext cx="363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 Medium"/>
                <a:ea typeface="游ゴシック Medium"/>
              </a:rPr>
              <a:t>1図面 = 1回呼び出し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7333" y="1700000"/>
            <a:ext cx="3637333" cy="460000"/>
          </a:xfrm>
          <a:prstGeom prst="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7333" y="1700000"/>
            <a:ext cx="3637333" cy="46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Django service／task 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7333" y="2160000"/>
            <a:ext cx="3637333" cy="147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7333" y="2280000"/>
            <a:ext cx="3317333" cy="123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・JSONを受ける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・正規化（辞書ベース）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・派生タグ生成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・DB保存・履歴管理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7333" y="3630000"/>
            <a:ext cx="3637333" cy="42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7333" y="3630000"/>
            <a:ext cx="363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 Medium"/>
                <a:ea typeface="游ゴシック Medium"/>
              </a:rPr>
              <a:t>業務ルールはここに集約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4666" y="1700000"/>
            <a:ext cx="3637333" cy="460000"/>
          </a:xfrm>
          <a:prstGeom prst="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4666" y="1700000"/>
            <a:ext cx="3637333" cy="46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ナレッジ／PDM／ビューワー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4666" y="2160000"/>
            <a:ext cx="3637333" cy="147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4666" y="2280000"/>
            <a:ext cx="3317333" cy="123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・PDM 正本に書き戻し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・RAG インデックス更新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・ビューワー detail API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・管理UI（補正・再抽出）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4666" y="3630000"/>
            <a:ext cx="3637333" cy="42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4666" y="3630000"/>
            <a:ext cx="363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 Medium"/>
                <a:ea typeface="游ゴシック Medium"/>
              </a:rPr>
              <a:t>消費側として共通属性を利用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47333" y="1930000"/>
            <a:ext cx="120000" cy="0"/>
          </a:xfrm>
          <a:prstGeom prst="line">
            <a:avLst/>
          </a:prstGeom>
          <a:ln w="3175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24666" y="1930000"/>
            <a:ext cx="120000" cy="0"/>
          </a:xfrm>
          <a:prstGeom prst="line">
            <a:avLst/>
          </a:prstGeom>
          <a:ln w="3175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0000" y="4270000"/>
            <a:ext cx="11192000" cy="12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0000" y="4370000"/>
            <a:ext cx="10792000" cy="3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300" b="1">
                <a:solidFill>
                  <a:srgbClr val="355071"/>
                </a:solidFill>
                <a:latin typeface="游ゴシック Medium"/>
                <a:ea typeface="游ゴシック Medium"/>
              </a:rPr>
              <a:t>■ 設計上のポイント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000" y="4690000"/>
            <a:ext cx="10792000" cy="7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・C# は「意味付け前の生抽出」までを担当する（業務ルールを抱えさせない）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・Django は「正規化・タグ・保存・連携」を担当する（辞書改善を高速に回せる）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・Python から C# へは細かい往復をせず、ファイル単位の一括呼び出しに絞る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図面登録から保存までの処理フロー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05  Processing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「抽出→正規化→タグ生成→保存」を分離し、各工程を独立して改善できる構造にする。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000" y="1900000"/>
            <a:ext cx="400000" cy="40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6584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登録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000" y="2350000"/>
            <a:ext cx="2058400" cy="1150000"/>
          </a:xfrm>
          <a:prstGeom prst="rect">
            <a:avLst/>
          </a:prstGeom>
          <a:solidFill>
            <a:srgbClr val="F2F2F2"/>
          </a:solidFill>
          <a:ln w="19050">
            <a:solidFill>
              <a:srgbClr val="2FA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00" y="2450000"/>
            <a:ext cx="1858400" cy="9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図面アップロード
抽出ジョブ作成（queued）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400" y="2700000"/>
            <a:ext cx="160000" cy="0"/>
          </a:xfrm>
          <a:prstGeom prst="line">
            <a:avLst/>
          </a:prstGeom>
          <a:ln w="2540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08400" y="1900000"/>
            <a:ext cx="400000" cy="40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8400" y="1900000"/>
            <a:ext cx="16584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抽出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8400" y="2350000"/>
            <a:ext cx="2058400" cy="1150000"/>
          </a:xfrm>
          <a:prstGeom prst="rect">
            <a:avLst/>
          </a:prstGeom>
          <a:solidFill>
            <a:srgbClr val="F2F2F2"/>
          </a:solidFill>
          <a:ln w="19050">
            <a:solidFill>
              <a:srgbClr val="4BC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8400" y="2450000"/>
            <a:ext cx="1858400" cy="9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C# 抽出コア起動
sxnet で一括取得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6800" y="2700000"/>
            <a:ext cx="160000" cy="0"/>
          </a:xfrm>
          <a:prstGeom prst="line">
            <a:avLst/>
          </a:prstGeom>
          <a:ln w="2540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66800" y="1900000"/>
            <a:ext cx="400000" cy="400000"/>
          </a:xfrm>
          <a:prstGeom prst="roundRect">
            <a:avLst/>
          </a:prstGeom>
          <a:solidFill>
            <a:srgbClr val="86C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6800" y="1900000"/>
            <a:ext cx="16584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正規化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6800" y="2350000"/>
            <a:ext cx="2058400" cy="1150000"/>
          </a:xfrm>
          <a:prstGeom prst="rect">
            <a:avLst/>
          </a:prstGeom>
          <a:solidFill>
            <a:srgbClr val="F2F2F2"/>
          </a:solidFill>
          <a:ln w="19050">
            <a:solidFill>
              <a:srgbClr val="86C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6800" y="2450000"/>
            <a:ext cx="1858400" cy="9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辞書で表記ゆれ吸収
canonical_attributes 生成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95200" y="2700000"/>
            <a:ext cx="160000" cy="0"/>
          </a:xfrm>
          <a:prstGeom prst="line">
            <a:avLst/>
          </a:prstGeom>
          <a:ln w="2540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25200" y="1900000"/>
            <a:ext cx="400000" cy="40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5200" y="1900000"/>
            <a:ext cx="16584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タグ生成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5200" y="2350000"/>
            <a:ext cx="2058400" cy="1150000"/>
          </a:xfrm>
          <a:prstGeom prst="rect">
            <a:avLst/>
          </a:prstGeom>
          <a:solidFill>
            <a:srgbClr val="F2F2F2"/>
          </a:solidFill>
          <a:ln w="19050">
            <a:solidFill>
              <a:srgbClr val="D99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5200" y="2450000"/>
            <a:ext cx="1858400" cy="9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属性から derived_tags 生成
信頼度・出典を付与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53600" y="2700000"/>
            <a:ext cx="160000" cy="0"/>
          </a:xfrm>
          <a:prstGeom prst="line">
            <a:avLst/>
          </a:prstGeom>
          <a:ln w="25400">
            <a:solidFill>
              <a:srgbClr val="355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83600" y="1900000"/>
            <a:ext cx="400000" cy="400000"/>
          </a:xfrm>
          <a:prstGeom prst="roundRect">
            <a:avLst/>
          </a:prstGeom>
          <a:solidFill>
            <a:srgbClr val="A35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3600" y="1900000"/>
            <a:ext cx="16584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保存・連携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3600" y="2350000"/>
            <a:ext cx="2058400" cy="1150000"/>
          </a:xfrm>
          <a:prstGeom prst="rect">
            <a:avLst/>
          </a:prstGeom>
          <a:solidFill>
            <a:srgbClr val="F2F2F2"/>
          </a:solidFill>
          <a:ln w="19050">
            <a:solidFill>
              <a:srgbClr val="A35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3600" y="2450000"/>
            <a:ext cx="1858400" cy="9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PDM保存→RAG更新
ビューワーdetail更新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3900000"/>
            <a:ext cx="3000000" cy="2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300" b="1">
                <a:solidFill>
                  <a:srgbClr val="355071"/>
                </a:solidFill>
                <a:latin typeface="游ゴシック Medium"/>
                <a:ea typeface="游ゴシック Medium"/>
              </a:rPr>
              <a:t>■ 同期／非同期の切り分け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0000" y="4220000"/>
            <a:ext cx="5546000" cy="36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 Medium"/>
                <a:ea typeface="游ゴシック Medium"/>
              </a:rPr>
              <a:t>同期：ICAD 2D/3D 抽出、軽量取得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6000" y="4220000"/>
            <a:ext cx="5546000" cy="360000"/>
          </a:xfrm>
          <a:prstGeom prst="roundRect">
            <a:avLst/>
          </a:prstGeom>
          <a:solidFill>
            <a:srgbClr val="CE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 Medium"/>
                <a:ea typeface="游ゴシック Medium"/>
              </a:rPr>
              <a:t>非同期：OCR、STEP重解析、RAG再インデックス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タグ・属性管理 UI 構成案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05  Management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「閲覧」ではなく「抽出結果の確認と補正」が目的。最小セット（一覧／詳細／補正／再抽出）から作る。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700000"/>
            <a:ext cx="3597333" cy="50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① 図面一覧画面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2220000"/>
            <a:ext cx="3597333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2370000"/>
            <a:ext cx="3197333" cy="29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・客先・案件・装置で絞り込み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・抽出状態（成功／部分／失敗）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・形式・文書種別フィルタ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・主要タグでの絞り込み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5580000"/>
            <a:ext cx="3597333" cy="42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5580000"/>
            <a:ext cx="359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 Medium"/>
                <a:ea typeface="游ゴシック Medium"/>
              </a:rPr>
              <a:t>登録図面の検索と状態確認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333" y="1700000"/>
            <a:ext cx="3597333" cy="50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② 図面詳細管理画面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333" y="2220000"/>
            <a:ext cx="3597333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7333" y="2370000"/>
            <a:ext cx="3197333" cy="29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・基本情報（客先／案件／装置）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・属性情報（共通／3D／2D／業務）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・タグ一覧（自動／手動の表示分離）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・抽出根拠（なぜそのタグか）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・手動補正・補正履歴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333" y="5580000"/>
            <a:ext cx="3597333" cy="420000"/>
          </a:xfrm>
          <a:prstGeom prst="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333" y="5580000"/>
            <a:ext cx="359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 Medium"/>
                <a:ea typeface="游ゴシック Medium"/>
              </a:rPr>
              <a:t>確認と補正の中心画面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4666" y="1700000"/>
            <a:ext cx="3597333" cy="50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③ 再抽出ジョブ画面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4666" y="2220000"/>
            <a:ext cx="3597333" cy="32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4666" y="2370000"/>
            <a:ext cx="3197333" cy="29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・ジョブ状態（実行中／完了／失敗）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・extractor version・実行時刻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・warnings 件数・エラーログ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・強制再実行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4666" y="5580000"/>
            <a:ext cx="3597333" cy="420000"/>
          </a:xfrm>
          <a:prstGeom prst="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4666" y="5580000"/>
            <a:ext cx="3597333" cy="4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 Medium"/>
                <a:ea typeface="游ゴシック Medium"/>
              </a:rPr>
              <a:t>失敗時のリカバリ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40000" cy="6858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1700000"/>
            <a:ext cx="4500000" cy="7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400" b="1">
                <a:solidFill>
                  <a:srgbClr val="AABED7"/>
                </a:solidFill>
                <a:latin typeface="游ゴシック Medium"/>
                <a:ea typeface="游ゴシック Medium"/>
              </a:rPr>
              <a:t>CHAPTER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500000"/>
            <a:ext cx="4800000" cy="11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游ゴシック Medium"/>
                <a:ea typeface="游ゴシック Medium"/>
              </a:rPr>
              <a:t>進め方とご相談事項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000000"/>
            <a:ext cx="4800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800" b="0">
                <a:solidFill>
                  <a:srgbClr val="AABED7"/>
                </a:solidFill>
                <a:latin typeface="游ゴシック Medium"/>
                <a:ea typeface="游ゴシック Medium"/>
              </a:rPr>
              <a:t>Roadmap and open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6000" y="2700000"/>
            <a:ext cx="5096000" cy="20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実装は4フェーズに分けて段階的に進める。
また、本格着手の前に共同開発先（創屋様）と
責任分界・保存先・OCR範囲などの確認事項を整理する。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実装ロードマップ（4フェーズ分割）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06 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PoC → 正本化 → ビューワー連携 → RAG連携 の順で進め、各フェーズに受入条件を設定する。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1750000"/>
            <a:ext cx="2685500" cy="40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750000"/>
            <a:ext cx="26855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Phase 1　抽出 PoC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2170000"/>
            <a:ext cx="2685500" cy="6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00" y="2250000"/>
            <a:ext cx="2385500" cy="5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・ICAD 3D 抽出 PoC（B01）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・ICAD 2D 抽出 PoC（B02）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・抽出JSON契約の仮固定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2930000"/>
            <a:ext cx="2685500" cy="5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000" y="2930000"/>
            <a:ext cx="25255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游ゴシック Medium"/>
                <a:ea typeface="游ゴシック Medium"/>
              </a:rPr>
              <a:t>実データで何が安定取得できるかを確定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5500" y="1750000"/>
            <a:ext cx="2685500" cy="400000"/>
          </a:xfrm>
          <a:prstGeom prst="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5500" y="1750000"/>
            <a:ext cx="26855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Phase 2　図面管理 保存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5500" y="2170000"/>
            <a:ext cx="2685500" cy="6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5500" y="2250000"/>
            <a:ext cx="2385500" cy="5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・canonical attribute 確定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・保存先仕様の確認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・手動補正フロー定義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・タグ辞書 初版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5500" y="2930000"/>
            <a:ext cx="2685500" cy="5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5500" y="2930000"/>
            <a:ext cx="25255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游ゴシック Medium"/>
                <a:ea typeface="游ゴシック Medium"/>
              </a:rPr>
              <a:t>図面管理を「正本」として動かす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1000" y="1750000"/>
            <a:ext cx="2685500" cy="400000"/>
          </a:xfrm>
          <a:prstGeom prst="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1000" y="1750000"/>
            <a:ext cx="26855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Phase 3　ビューワー連携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1000" y="2170000"/>
            <a:ext cx="2685500" cy="6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1000" y="2250000"/>
            <a:ext cx="2385500" cy="5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・detail API 契約定義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・mock detail 差し替え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・実データ表示への置換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1000" y="2930000"/>
            <a:ext cx="2685500" cy="5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1000" y="2930000"/>
            <a:ext cx="25255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游ゴシック Medium"/>
                <a:ea typeface="游ゴシック Medium"/>
              </a:rPr>
              <a:t>ビューワーが実属性を見せられる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500" y="1750000"/>
            <a:ext cx="2685500" cy="400000"/>
          </a:xfrm>
          <a:prstGeom prst="rect">
            <a:avLst/>
          </a:prstGeom>
          <a:solidFill>
            <a:srgbClr val="A35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500" y="1750000"/>
            <a:ext cx="2685500" cy="40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Phase 4　RAG 連携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500" y="2170000"/>
            <a:ext cx="2685500" cy="68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6500" y="2250000"/>
            <a:ext cx="2385500" cy="52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・インデックス投入項目決定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・事前フィルタ／再ランキング接続</a:t>
            </a:r>
          </a:p>
          <a:p>
            <a:pPr>
              <a:lnSpc>
                <a:spcPct val="130000"/>
              </a:lnSpc>
            </a:pPr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・既存失敗シナリオで再評価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500" y="2930000"/>
            <a:ext cx="2685500" cy="5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86500" y="2930000"/>
            <a:ext cx="2525500" cy="55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游ゴシック Medium"/>
                <a:ea typeface="游ゴシック Medium"/>
              </a:rPr>
              <a:t>RAG精度の改善を測定可能にする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3650000"/>
            <a:ext cx="11192000" cy="2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300" b="1">
                <a:solidFill>
                  <a:srgbClr val="355071"/>
                </a:solidFill>
                <a:latin typeface="游ゴシック Medium"/>
                <a:ea typeface="游ゴシック Medium"/>
              </a:rPr>
              <a:t>■ 依存関係（守るべき順序）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0000" y="3970000"/>
            <a:ext cx="11192000" cy="80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0000" y="4050000"/>
            <a:ext cx="10792000" cy="64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・Phase 1 が終わるまでビューワー実装に進まない（抽出スキーマが固まらないため）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・Phase 2 が終わるまでDB・API実装を確定しない（保存先・補正フローの前提が固まらないため）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・Phase 3 が終わるまでビューワーの mock detail 差し替えを始めない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55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游ゴシック Medium"/>
                <a:ea typeface="游ゴシック Medium"/>
              </a:rPr>
              <a:t>共同開発先（創屋様）への確認事項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000" y="280000"/>
            <a:ext cx="2000000" cy="38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r"/>
            <a:r>
              <a:rPr sz="1400" b="0">
                <a:solidFill>
                  <a:srgbClr val="AABED7"/>
                </a:solidFill>
                <a:latin typeface="游ゴシック Medium"/>
                <a:ea typeface="游ゴシック Medium"/>
              </a:rPr>
              <a:t>06  Open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00000"/>
            <a:ext cx="12192000" cy="4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50000"/>
            <a:ext cx="11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r>
              <a:rPr sz="1400" b="1">
                <a:solidFill>
                  <a:srgbClr val="355071"/>
                </a:solidFill>
                <a:latin typeface="游ゴシック Medium"/>
                <a:ea typeface="游ゴシック Medium"/>
              </a:rPr>
              <a:t>本格着手の前に、責任分界と保存先・OCR範囲・viewer detail API を確定したい。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700000"/>
            <a:ext cx="700000" cy="62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0000" y="170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0000" y="170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「図面管理」をタグ・属性の正本にする前提で進めて問題ないか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410000"/>
            <a:ext cx="700000" cy="62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0000" y="241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0000" y="241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抽出結果の保存先は何か（テーブル／JSON／検索インデックス直書き）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00" y="3120000"/>
            <a:ext cx="700000" cy="620000"/>
          </a:xfrm>
          <a:prstGeom prst="roundRect">
            <a:avLst/>
          </a:prstGeom>
          <a:solidFill>
            <a:srgbClr val="D99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0000" y="312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0000" y="312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ICADネイティブ抽出はアルパイン側、保存・検索接続は創屋側で責任分界して良いか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830000"/>
            <a:ext cx="700000" cy="620000"/>
          </a:xfrm>
          <a:prstGeom prst="roundRect">
            <a:avLst/>
          </a:prstGeom>
          <a:solidFill>
            <a:srgbClr val="CE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0000" y="383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0000" y="383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OCR（PDF／TIFF／JPEG／PNG）は正式対象に含めるか、将来課題にするか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4540000"/>
            <a:ext cx="700000" cy="620000"/>
          </a:xfrm>
          <a:prstGeom prst="roundRect">
            <a:avLst/>
          </a:prstGeom>
          <a:solidFill>
            <a:srgbClr val="A35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20000" y="454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0000" y="454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STEP は検索属性抽出も対象か、viewer 表示変換用途だけか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" y="5250000"/>
            <a:ext cx="700000" cy="620000"/>
          </a:xfrm>
          <a:prstGeom prst="roundRect">
            <a:avLst/>
          </a:prstGeom>
          <a:solidFill>
            <a:srgbClr val="2FA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20000" y="525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00000" y="525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viewer 詳細情報は別 detail API で返す想定にして良いか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000" y="5960000"/>
            <a:ext cx="700000" cy="620000"/>
          </a:xfrm>
          <a:prstGeom prst="roundRect">
            <a:avLst/>
          </a:prstGeom>
          <a:solidFill>
            <a:srgbClr val="4BC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Q7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0000" y="5960000"/>
            <a:ext cx="10472000" cy="6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0000" y="5960000"/>
            <a:ext cx="10192000" cy="62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游ゴシック Medium"/>
                <a:ea typeface="游ゴシック Medium"/>
              </a:rPr>
              <a:t>手動補正履歴（誰が／いつ／何を）の保持要否と、アクセス権設計はどうするか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000" y="6478000"/>
            <a:ext cx="800000" cy="280000"/>
          </a:xfrm>
          <a:prstGeom prst="rect">
            <a:avLst/>
          </a:prstGeom>
          <a:noFill/>
        </p:spPr>
        <p:txBody>
          <a:bodyPr wrap="square" lIns="60000" rIns="60000" tIns="40000" bIns="40000" anchor="ctr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游ゴシック Medium"/>
                <a:ea typeface="游ゴシック Medium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9000"/>
            <a:ext cx="12192000" cy="8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29000"/>
            <a:ext cx="12192000" cy="8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游ゴシック Medium"/>
                <a:ea typeface="游ゴシック Medium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79000"/>
            <a:ext cx="12192000" cy="5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ctr"/>
            <a:r>
              <a:rPr sz="2200" b="0">
                <a:solidFill>
                  <a:srgbClr val="AABED7"/>
                </a:solidFill>
                <a:latin typeface="游ゴシック Medium"/>
                <a:ea typeface="游ゴシック Medium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58000"/>
            <a:ext cx="12192000" cy="400000"/>
          </a:xfrm>
          <a:prstGeom prst="rect">
            <a:avLst/>
          </a:prstGeom>
          <a:noFill/>
        </p:spPr>
        <p:txBody>
          <a:bodyPr wrap="square" lIns="60000" rIns="60000" tIns="40000" bIns="4000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游ゴシック Medium"/>
                <a:ea typeface="游ゴシック Medium"/>
              </a:rPr>
              <a:t>株式会社アルパイン設計事務所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