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0"/>
  </p:notesMasterIdLst>
  <p:sldIdLst>
    <p:sldId id="256" r:id="rId7"/>
    <p:sldId id="257" r:id="rId8"/>
    <p:sldId id="258" r:id="rId9"/>
    <p:sldId id="259" r:id="rId6"/>
    <p:sldId id="260" r:id="rId5"/>
    <p:sldId id="261" r:id="rId4"/>
    <p:sldId id="262" r:id="rId3"/>
    <p:sldId id="263" r:id="rId2"/>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A8E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25" autoAdjust="0"/>
    <p:restoredTop sz="94660"/>
  </p:normalViewPr>
  <p:slideViewPr>
    <p:cSldViewPr snapToGrid="0">
      <p:cViewPr varScale="1">
        <p:scale>
          <a:sx n="115" d="100"/>
          <a:sy n="115" d="100"/>
        </p:scale>
        <p:origin x="14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8.xml"/><Relationship Id="rId3" Type="http://schemas.openxmlformats.org/officeDocument/2006/relationships/slide" Target="slides/slide7.xml"/><Relationship Id="rId4" Type="http://schemas.openxmlformats.org/officeDocument/2006/relationships/slide" Target="slides/slide6.xml"/><Relationship Id="rId5" Type="http://schemas.openxmlformats.org/officeDocument/2006/relationships/slide" Target="slides/slide5.xml"/><Relationship Id="rId6" Type="http://schemas.openxmlformats.org/officeDocument/2006/relationships/slide" Target="slides/slide4.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3EDE7CC-BA49-441A-954A-D7313BCB9DA5}" type="datetimeFigureOut">
              <a:rPr kumimoji="1" lang="ja-JP" altLang="en-US" smtClean="0"/>
              <a:t>2026/5/25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C8C8AF-17B2-4669-92EE-079BEB01048F}" type="slidenum">
              <a:rPr kumimoji="1" lang="ja-JP" altLang="en-US" smtClean="0"/>
              <a:t>‹#›</a:t>
            </a:fld>
            <a:endParaRPr kumimoji="1" lang="ja-JP" altLang="en-US"/>
          </a:p>
        </p:txBody>
      </p:sp>
    </p:spTree>
    <p:extLst>
      <p:ext uri="{BB962C8B-B14F-4D97-AF65-F5344CB8AC3E}">
        <p14:creationId xmlns:p14="http://schemas.microsoft.com/office/powerpoint/2010/main" val="74698194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pic>
        <p:nvPicPr>
          <p:cNvPr id="17" name="Picture 2" descr="logo_large.jpg">
            <a:extLst>
              <a:ext uri="{FF2B5EF4-FFF2-40B4-BE49-F238E27FC236}">
                <a16:creationId xmlns:a16="http://schemas.microsoft.com/office/drawing/2014/main" id="{D11579AC-7796-D80E-3CC0-C7265D79DAEC}"/>
              </a:ext>
            </a:extLst>
          </p:cNvPr>
          <p:cNvPicPr>
            <a:picLocks noChangeAspect="1"/>
          </p:cNvPicPr>
          <p:nvPr userDrawn="1"/>
        </p:nvPicPr>
        <p:blipFill>
          <a:blip r:embed="rId2"/>
          <a:stretch>
            <a:fillRect/>
          </a:stretch>
        </p:blipFill>
        <p:spPr>
          <a:xfrm>
            <a:off x="9296400" y="609600"/>
            <a:ext cx="2606040" cy="1503485"/>
          </a:xfrm>
          <a:prstGeom prst="rect">
            <a:avLst/>
          </a:prstGeom>
        </p:spPr>
      </p:pic>
      <p:sp>
        <p:nvSpPr>
          <p:cNvPr id="8" name="Rectangle 1">
            <a:extLst>
              <a:ext uri="{FF2B5EF4-FFF2-40B4-BE49-F238E27FC236}">
                <a16:creationId xmlns:a16="http://schemas.microsoft.com/office/drawing/2014/main" id="{DEFC902B-A52D-C521-E9E5-3F94762B39EF}"/>
              </a:ext>
            </a:extLst>
          </p:cNvPr>
          <p:cNvSpPr/>
          <p:nvPr userDrawn="1"/>
        </p:nvSpPr>
        <p:spPr>
          <a:xfrm>
            <a:off x="0" y="0"/>
            <a:ext cx="320040" cy="6858000"/>
          </a:xfrm>
          <a:prstGeom prst="rect">
            <a:avLst/>
          </a:prstGeom>
          <a:solidFill>
            <a:srgbClr val="00A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cap="none" baseline="0"/>
          </a:p>
        </p:txBody>
      </p:sp>
      <p:sp>
        <p:nvSpPr>
          <p:cNvPr id="9" name="Rectangle 7">
            <a:extLst>
              <a:ext uri="{FF2B5EF4-FFF2-40B4-BE49-F238E27FC236}">
                <a16:creationId xmlns:a16="http://schemas.microsoft.com/office/drawing/2014/main" id="{43DC2CAB-9CE7-E662-77B8-5B3C6DB80BCD}"/>
              </a:ext>
            </a:extLst>
          </p:cNvPr>
          <p:cNvSpPr/>
          <p:nvPr userDrawn="1"/>
        </p:nvSpPr>
        <p:spPr>
          <a:xfrm>
            <a:off x="0" y="6080760"/>
            <a:ext cx="12191695" cy="777240"/>
          </a:xfrm>
          <a:prstGeom prst="rect">
            <a:avLst/>
          </a:prstGeom>
          <a:solidFill>
            <a:srgbClr val="00A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cap="none" baseline="0"/>
          </a:p>
        </p:txBody>
      </p:sp>
      <p:sp>
        <p:nvSpPr>
          <p:cNvPr id="2" name="Title 1"/>
          <p:cNvSpPr>
            <a:spLocks noGrp="1"/>
          </p:cNvSpPr>
          <p:nvPr>
            <p:ph type="ctrTitle"/>
          </p:nvPr>
        </p:nvSpPr>
        <p:spPr>
          <a:xfrm>
            <a:off x="914400" y="833329"/>
            <a:ext cx="8689976" cy="2509213"/>
          </a:xfrm>
        </p:spPr>
        <p:txBody>
          <a:bodyPr anchor="b">
            <a:normAutofit/>
          </a:bodyPr>
          <a:lstStyle>
            <a:lvl1pPr algn="l">
              <a:defRPr sz="4800" b="1" cap="none" baseline="0">
                <a:solidFill>
                  <a:schemeClr val="tx2">
                    <a:lumMod val="75000"/>
                  </a:schemeClr>
                </a:solidFill>
              </a:defRPr>
            </a:lvl1pPr>
          </a:lstStyle>
          <a:p>
            <a:r>
              <a:rPr lang="ja-JP" altLang="en-US" dirty="0"/>
              <a:t>マスター タイトルの書式設定</a:t>
            </a:r>
            <a:endParaRPr lang="en-US" dirty="0"/>
          </a:p>
        </p:txBody>
      </p:sp>
      <p:sp>
        <p:nvSpPr>
          <p:cNvPr id="3" name="Subtitle 2"/>
          <p:cNvSpPr>
            <a:spLocks noGrp="1"/>
          </p:cNvSpPr>
          <p:nvPr>
            <p:ph type="subTitle" idx="1"/>
          </p:nvPr>
        </p:nvSpPr>
        <p:spPr>
          <a:xfrm>
            <a:off x="914400" y="3470949"/>
            <a:ext cx="8689976" cy="652995"/>
          </a:xfrm>
        </p:spPr>
        <p:txBody>
          <a:bodyPr>
            <a:normAutofit/>
          </a:bodyPr>
          <a:lstStyle>
            <a:lvl1pPr marL="0" indent="0" algn="l">
              <a:buNone/>
              <a:defRPr sz="2200" cap="none" baseline="0">
                <a:solidFill>
                  <a:srgbClr val="00A8E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dirty="0"/>
              <a:t>マスター サブタイトルの書式設定</a:t>
            </a:r>
            <a:endParaRPr lang="en-US" dirty="0"/>
          </a:p>
        </p:txBody>
      </p:sp>
      <p:sp>
        <p:nvSpPr>
          <p:cNvPr id="19" name="Rectangle 5">
            <a:extLst>
              <a:ext uri="{FF2B5EF4-FFF2-40B4-BE49-F238E27FC236}">
                <a16:creationId xmlns:a16="http://schemas.microsoft.com/office/drawing/2014/main" id="{60FBCDE1-018F-99EB-0276-8FFC2E77ED96}"/>
              </a:ext>
            </a:extLst>
          </p:cNvPr>
          <p:cNvSpPr/>
          <p:nvPr userDrawn="1"/>
        </p:nvSpPr>
        <p:spPr>
          <a:xfrm>
            <a:off x="914400" y="4160520"/>
            <a:ext cx="2011680" cy="36576"/>
          </a:xfrm>
          <a:prstGeom prst="rect">
            <a:avLst/>
          </a:prstGeom>
          <a:solidFill>
            <a:srgbClr val="FF7A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cap="none" baseline="0"/>
          </a:p>
        </p:txBody>
      </p:sp>
      <p:sp>
        <p:nvSpPr>
          <p:cNvPr id="24" name="テキスト プレースホルダー 23">
            <a:extLst>
              <a:ext uri="{FF2B5EF4-FFF2-40B4-BE49-F238E27FC236}">
                <a16:creationId xmlns:a16="http://schemas.microsoft.com/office/drawing/2014/main" id="{4F424697-34D8-E67D-84F2-7DBFA5AD7DD2}"/>
              </a:ext>
            </a:extLst>
          </p:cNvPr>
          <p:cNvSpPr>
            <a:spLocks noGrp="1"/>
          </p:cNvSpPr>
          <p:nvPr>
            <p:ph type="body" sz="quarter" idx="10" hasCustomPrompt="1"/>
          </p:nvPr>
        </p:nvSpPr>
        <p:spPr>
          <a:xfrm>
            <a:off x="914400" y="4343400"/>
            <a:ext cx="5166028" cy="914400"/>
          </a:xfrm>
        </p:spPr>
        <p:txBody>
          <a:bodyPr>
            <a:normAutofit/>
          </a:bodyPr>
          <a:lstStyle>
            <a:lvl1pPr>
              <a:buNone/>
              <a:defRPr sz="1600" cap="none" baseline="0">
                <a:solidFill>
                  <a:schemeClr val="tx1">
                    <a:lumMod val="65000"/>
                    <a:lumOff val="35000"/>
                  </a:schemeClr>
                </a:solidFill>
              </a:defRPr>
            </a:lvl1pPr>
            <a:lvl2pPr>
              <a:buNone/>
              <a:defRPr/>
            </a:lvl2pPr>
          </a:lstStyle>
          <a:p>
            <a:pPr lvl="0"/>
            <a:r>
              <a:rPr kumimoji="1" lang="en-US" altLang="ja-JP" dirty="0"/>
              <a:t>2026.MM.DD</a:t>
            </a:r>
            <a:r>
              <a:rPr kumimoji="1" lang="ja-JP" altLang="en-US" dirty="0"/>
              <a:t>　</a:t>
            </a:r>
            <a:r>
              <a:rPr kumimoji="1" lang="en-US" altLang="ja-JP" dirty="0"/>
              <a:t>/</a:t>
            </a:r>
            <a:r>
              <a:rPr kumimoji="1" lang="ja-JP" altLang="en-US" dirty="0"/>
              <a:t>　部署名　</a:t>
            </a:r>
            <a:r>
              <a:rPr kumimoji="1" lang="en-US" altLang="ja-JP" dirty="0"/>
              <a:t>/</a:t>
            </a:r>
            <a:r>
              <a:rPr kumimoji="1" lang="ja-JP" altLang="en-US" dirty="0"/>
              <a:t>　発表者氏名</a:t>
            </a:r>
          </a:p>
        </p:txBody>
      </p:sp>
      <p:sp>
        <p:nvSpPr>
          <p:cNvPr id="27" name="テキスト ボックス 26">
            <a:extLst>
              <a:ext uri="{FF2B5EF4-FFF2-40B4-BE49-F238E27FC236}">
                <a16:creationId xmlns:a16="http://schemas.microsoft.com/office/drawing/2014/main" id="{EC55F0FE-9421-CCC4-21CF-3EDC009B1D6C}"/>
              </a:ext>
            </a:extLst>
          </p:cNvPr>
          <p:cNvSpPr txBox="1"/>
          <p:nvPr userDrawn="1"/>
        </p:nvSpPr>
        <p:spPr>
          <a:xfrm>
            <a:off x="456228" y="6494780"/>
            <a:ext cx="8342348" cy="276999"/>
          </a:xfrm>
          <a:prstGeom prst="rect">
            <a:avLst/>
          </a:prstGeom>
          <a:noFill/>
        </p:spPr>
        <p:txBody>
          <a:bodyPr wrap="none" rtlCol="0">
            <a:spAutoFit/>
          </a:bodyPr>
          <a:lstStyle/>
          <a:p>
            <a:pPr algn="l"/>
            <a:r>
              <a:rPr kumimoji="1" lang="ja-JP" altLang="en-US" sz="1200" cap="none" baseline="0" dirty="0">
                <a:solidFill>
                  <a:schemeClr val="bg1"/>
                </a:solidFill>
              </a:rPr>
              <a:t>金石本社：〒</a:t>
            </a:r>
            <a:r>
              <a:rPr kumimoji="1" lang="en-US" altLang="ja-JP" sz="1200" cap="none" baseline="0" dirty="0">
                <a:solidFill>
                  <a:schemeClr val="bg1"/>
                </a:solidFill>
              </a:rPr>
              <a:t>920-0336</a:t>
            </a:r>
            <a:r>
              <a:rPr kumimoji="1" lang="ja-JP" altLang="en-US" sz="1200" cap="none" baseline="0" dirty="0">
                <a:solidFill>
                  <a:schemeClr val="bg1"/>
                </a:solidFill>
              </a:rPr>
              <a:t> 石川県金沢市金石本町ハ</a:t>
            </a:r>
            <a:r>
              <a:rPr kumimoji="1" lang="en-US" altLang="ja-JP" sz="1200" cap="none" baseline="0" dirty="0">
                <a:solidFill>
                  <a:schemeClr val="bg1"/>
                </a:solidFill>
              </a:rPr>
              <a:t>13</a:t>
            </a:r>
            <a:r>
              <a:rPr kumimoji="1" lang="ja-JP" altLang="en-US" sz="1200" cap="none" baseline="0" dirty="0">
                <a:solidFill>
                  <a:schemeClr val="bg1"/>
                </a:solidFill>
              </a:rPr>
              <a:t>番地</a:t>
            </a:r>
            <a:r>
              <a:rPr kumimoji="1" lang="en-US" altLang="ja-JP" sz="1200" cap="none" baseline="0" dirty="0">
                <a:solidFill>
                  <a:schemeClr val="bg1"/>
                </a:solidFill>
              </a:rPr>
              <a:t>2</a:t>
            </a:r>
            <a:r>
              <a:rPr kumimoji="1" lang="ja-JP" altLang="en-US" sz="1200" cap="none" baseline="0" dirty="0">
                <a:solidFill>
                  <a:schemeClr val="bg1"/>
                </a:solidFill>
              </a:rPr>
              <a:t>　</a:t>
            </a:r>
            <a:r>
              <a:rPr kumimoji="1" lang="en-US" altLang="ja-JP" sz="1200" cap="none" baseline="0" dirty="0">
                <a:solidFill>
                  <a:schemeClr val="bg1"/>
                </a:solidFill>
              </a:rPr>
              <a:t>/</a:t>
            </a:r>
            <a:r>
              <a:rPr kumimoji="1" lang="ja-JP" altLang="en-US" sz="1200" cap="none" baseline="0" dirty="0">
                <a:solidFill>
                  <a:schemeClr val="bg1"/>
                </a:solidFill>
              </a:rPr>
              <a:t>　小矢部事務所：〒</a:t>
            </a:r>
            <a:r>
              <a:rPr kumimoji="1" lang="en-US" altLang="ja-JP" sz="1200" cap="none" baseline="0" dirty="0">
                <a:solidFill>
                  <a:schemeClr val="bg1"/>
                </a:solidFill>
              </a:rPr>
              <a:t>932-0132</a:t>
            </a:r>
            <a:r>
              <a:rPr kumimoji="1" lang="ja-JP" altLang="en-US" sz="1200" cap="none" baseline="0" dirty="0">
                <a:solidFill>
                  <a:schemeClr val="bg1"/>
                </a:solidFill>
              </a:rPr>
              <a:t> 富山県小矢部市小森谷</a:t>
            </a:r>
            <a:r>
              <a:rPr kumimoji="1" lang="en-US" altLang="ja-JP" sz="1200" cap="none" baseline="0" dirty="0">
                <a:solidFill>
                  <a:schemeClr val="bg1"/>
                </a:solidFill>
              </a:rPr>
              <a:t>19</a:t>
            </a:r>
            <a:r>
              <a:rPr kumimoji="1" lang="ja-JP" altLang="en-US" sz="1200" cap="none" baseline="0" dirty="0">
                <a:solidFill>
                  <a:schemeClr val="bg1"/>
                </a:solidFill>
              </a:rPr>
              <a:t>番地</a:t>
            </a:r>
          </a:p>
        </p:txBody>
      </p:sp>
      <p:sp>
        <p:nvSpPr>
          <p:cNvPr id="28" name="テキスト ボックス 27">
            <a:extLst>
              <a:ext uri="{FF2B5EF4-FFF2-40B4-BE49-F238E27FC236}">
                <a16:creationId xmlns:a16="http://schemas.microsoft.com/office/drawing/2014/main" id="{3DC65298-5B5E-1D40-2C58-080E3E98BC90}"/>
              </a:ext>
            </a:extLst>
          </p:cNvPr>
          <p:cNvSpPr txBox="1"/>
          <p:nvPr userDrawn="1"/>
        </p:nvSpPr>
        <p:spPr>
          <a:xfrm>
            <a:off x="456228" y="6182577"/>
            <a:ext cx="3113353" cy="338554"/>
          </a:xfrm>
          <a:prstGeom prst="rect">
            <a:avLst/>
          </a:prstGeom>
          <a:noFill/>
        </p:spPr>
        <p:txBody>
          <a:bodyPr wrap="none" rtlCol="0">
            <a:spAutoFit/>
          </a:bodyPr>
          <a:lstStyle/>
          <a:p>
            <a:pPr algn="l"/>
            <a:r>
              <a:rPr kumimoji="1" lang="ja-JP" altLang="en-US" sz="1600" cap="none" baseline="0" dirty="0">
                <a:solidFill>
                  <a:schemeClr val="bg1"/>
                </a:solidFill>
              </a:rPr>
              <a:t>株式会社 アルパイン設計事務所</a:t>
            </a:r>
          </a:p>
        </p:txBody>
      </p:sp>
    </p:spTree>
    <p:extLst>
      <p:ext uri="{BB962C8B-B14F-4D97-AF65-F5344CB8AC3E}">
        <p14:creationId xmlns:p14="http://schemas.microsoft.com/office/powerpoint/2010/main" val="15336153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15" name="Rectangle 35">
            <a:extLst>
              <a:ext uri="{FF2B5EF4-FFF2-40B4-BE49-F238E27FC236}">
                <a16:creationId xmlns:a16="http://schemas.microsoft.com/office/drawing/2014/main" id="{7A9930C5-9CE5-CD3F-0B34-BA742C592203}"/>
              </a:ext>
            </a:extLst>
          </p:cNvPr>
          <p:cNvSpPr/>
          <p:nvPr userDrawn="1"/>
        </p:nvSpPr>
        <p:spPr>
          <a:xfrm>
            <a:off x="0" y="6729984"/>
            <a:ext cx="12191695" cy="128016"/>
          </a:xfrm>
          <a:prstGeom prst="rect">
            <a:avLst/>
          </a:prstGeom>
          <a:solidFill>
            <a:srgbClr val="00A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itle 1"/>
          <p:cNvSpPr>
            <a:spLocks noGrp="1"/>
          </p:cNvSpPr>
          <p:nvPr>
            <p:ph type="title"/>
          </p:nvPr>
        </p:nvSpPr>
        <p:spPr>
          <a:xfrm>
            <a:off x="566928" y="411481"/>
            <a:ext cx="10364451" cy="502919"/>
          </a:xfrm>
        </p:spPr>
        <p:txBody>
          <a:bodyPr anchor="t"/>
          <a:lstStyle>
            <a:lvl1pPr algn="l">
              <a:defRPr>
                <a:solidFill>
                  <a:schemeClr val="tx2">
                    <a:lumMod val="75000"/>
                  </a:schemeClr>
                </a:solidFill>
              </a:defRPr>
            </a:lvl1pPr>
          </a:lstStyle>
          <a:p>
            <a:r>
              <a:rPr lang="ja-JP" altLang="en-US" dirty="0"/>
              <a:t>マスター タイトルの書式設定</a:t>
            </a:r>
            <a:endParaRPr lang="en-US" dirty="0"/>
          </a:p>
        </p:txBody>
      </p:sp>
      <p:sp>
        <p:nvSpPr>
          <p:cNvPr id="9" name="スライド番号プレースホルダー 8">
            <a:extLst>
              <a:ext uri="{FF2B5EF4-FFF2-40B4-BE49-F238E27FC236}">
                <a16:creationId xmlns:a16="http://schemas.microsoft.com/office/drawing/2014/main" id="{769DF8EF-F888-3401-8278-4FAF9AF9F249}"/>
              </a:ext>
            </a:extLst>
          </p:cNvPr>
          <p:cNvSpPr>
            <a:spLocks noGrp="1"/>
          </p:cNvSpPr>
          <p:nvPr>
            <p:ph type="sldNum" sz="quarter" idx="16"/>
          </p:nvPr>
        </p:nvSpPr>
        <p:spPr>
          <a:xfrm>
            <a:off x="11398601" y="6463691"/>
            <a:ext cx="764215" cy="365125"/>
          </a:xfrm>
        </p:spPr>
        <p:txBody>
          <a:bodyPr/>
          <a:lstStyle>
            <a:lvl1pPr>
              <a:defRPr>
                <a:solidFill>
                  <a:schemeClr val="tx1">
                    <a:lumMod val="65000"/>
                    <a:lumOff val="35000"/>
                  </a:schemeClr>
                </a:solidFill>
              </a:defRPr>
            </a:lvl1pPr>
          </a:lstStyle>
          <a:p>
            <a:fld id="{7744AD22-693D-4773-9028-20E660F2F223}" type="slidenum">
              <a:rPr kumimoji="1" lang="ja-JP" altLang="en-US" smtClean="0"/>
              <a:pPr/>
              <a:t>‹#›</a:t>
            </a:fld>
            <a:endParaRPr kumimoji="1" lang="ja-JP" altLang="en-US" dirty="0"/>
          </a:p>
        </p:txBody>
      </p:sp>
      <p:sp>
        <p:nvSpPr>
          <p:cNvPr id="10" name="Rectangle 1">
            <a:extLst>
              <a:ext uri="{FF2B5EF4-FFF2-40B4-BE49-F238E27FC236}">
                <a16:creationId xmlns:a16="http://schemas.microsoft.com/office/drawing/2014/main" id="{273C56A4-895E-D5C5-3104-BF85ABACF34C}"/>
              </a:ext>
            </a:extLst>
          </p:cNvPr>
          <p:cNvSpPr/>
          <p:nvPr userDrawn="1"/>
        </p:nvSpPr>
        <p:spPr>
          <a:xfrm>
            <a:off x="457200" y="411480"/>
            <a:ext cx="109728" cy="502920"/>
          </a:xfrm>
          <a:prstGeom prst="rect">
            <a:avLst/>
          </a:prstGeom>
          <a:solidFill>
            <a:srgbClr val="00A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4">
            <a:extLst>
              <a:ext uri="{FF2B5EF4-FFF2-40B4-BE49-F238E27FC236}">
                <a16:creationId xmlns:a16="http://schemas.microsoft.com/office/drawing/2014/main" id="{2EECE7D1-9EB4-934E-9375-5673AE1CDFA5}"/>
              </a:ext>
            </a:extLst>
          </p:cNvPr>
          <p:cNvSpPr/>
          <p:nvPr userDrawn="1"/>
        </p:nvSpPr>
        <p:spPr>
          <a:xfrm>
            <a:off x="457200" y="1235016"/>
            <a:ext cx="11274552" cy="16459"/>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テキスト プレースホルダー 52">
            <a:extLst>
              <a:ext uri="{FF2B5EF4-FFF2-40B4-BE49-F238E27FC236}">
                <a16:creationId xmlns:a16="http://schemas.microsoft.com/office/drawing/2014/main" id="{F8CF3099-468C-D418-D6F8-EC2CC9B3FAEC}"/>
              </a:ext>
            </a:extLst>
          </p:cNvPr>
          <p:cNvSpPr>
            <a:spLocks noGrp="1"/>
          </p:cNvSpPr>
          <p:nvPr>
            <p:ph type="body" sz="quarter" idx="17"/>
          </p:nvPr>
        </p:nvSpPr>
        <p:spPr>
          <a:xfrm>
            <a:off x="566927" y="923635"/>
            <a:ext cx="3679148" cy="248005"/>
          </a:xfrm>
        </p:spPr>
        <p:txBody>
          <a:bodyPr anchor="ctr">
            <a:noAutofit/>
          </a:bodyPr>
          <a:lstStyle>
            <a:lvl1pPr>
              <a:buNone/>
              <a:defRPr sz="1400">
                <a:solidFill>
                  <a:schemeClr val="tx1">
                    <a:lumMod val="65000"/>
                    <a:lumOff val="35000"/>
                  </a:schemeClr>
                </a:solidFill>
              </a:defRPr>
            </a:lvl1pPr>
          </a:lstStyle>
          <a:p>
            <a:pPr lvl="0"/>
            <a:r>
              <a:rPr kumimoji="1" lang="ja-JP" altLang="en-US" dirty="0"/>
              <a:t>マスター テキストの書式設定</a:t>
            </a:r>
          </a:p>
        </p:txBody>
      </p:sp>
      <p:pic>
        <p:nvPicPr>
          <p:cNvPr id="54" name="図 53">
            <a:extLst>
              <a:ext uri="{FF2B5EF4-FFF2-40B4-BE49-F238E27FC236}">
                <a16:creationId xmlns:a16="http://schemas.microsoft.com/office/drawing/2014/main" id="{CAA03307-0E99-F9A7-C662-A5190938DBD3}"/>
              </a:ext>
            </a:extLst>
          </p:cNvPr>
          <p:cNvPicPr>
            <a:picLocks noChangeAspect="1"/>
          </p:cNvPicPr>
          <p:nvPr userDrawn="1"/>
        </p:nvPicPr>
        <p:blipFill rotWithShape="1">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b="23070"/>
          <a:stretch/>
        </p:blipFill>
        <p:spPr>
          <a:xfrm>
            <a:off x="11021882" y="169471"/>
            <a:ext cx="1090555" cy="484017"/>
          </a:xfrm>
          <a:prstGeom prst="rect">
            <a:avLst/>
          </a:prstGeom>
          <a:effectLst>
            <a:glow>
              <a:schemeClr val="bg1"/>
            </a:glow>
          </a:effectLst>
        </p:spPr>
      </p:pic>
      <p:sp>
        <p:nvSpPr>
          <p:cNvPr id="56" name="コンテンツ プレースホルダー 55">
            <a:extLst>
              <a:ext uri="{FF2B5EF4-FFF2-40B4-BE49-F238E27FC236}">
                <a16:creationId xmlns:a16="http://schemas.microsoft.com/office/drawing/2014/main" id="{96E4A612-04F1-1448-C938-8AAFF71EA8FC}"/>
              </a:ext>
            </a:extLst>
          </p:cNvPr>
          <p:cNvSpPr>
            <a:spLocks noGrp="1"/>
          </p:cNvSpPr>
          <p:nvPr>
            <p:ph sz="quarter" idx="18"/>
          </p:nvPr>
        </p:nvSpPr>
        <p:spPr>
          <a:xfrm>
            <a:off x="457200" y="1364228"/>
            <a:ext cx="11352213" cy="5069910"/>
          </a:xfrm>
        </p:spPr>
        <p:txBody>
          <a:bodyPr>
            <a:normAutofit/>
          </a:bodyPr>
          <a:lstStyle>
            <a:lvl1pPr>
              <a:lnSpc>
                <a:spcPct val="100000"/>
              </a:lnSpc>
              <a:buClr>
                <a:srgbClr val="00A8E6"/>
              </a:buClr>
              <a:buFont typeface="Wingdings" panose="05000000000000000000" pitchFamily="2" charset="2"/>
              <a:buChar char="n"/>
              <a:defRPr sz="2800">
                <a:solidFill>
                  <a:srgbClr val="00A8E6"/>
                </a:solidFill>
              </a:defRPr>
            </a:lvl1pPr>
            <a:lvl2pPr>
              <a:lnSpc>
                <a:spcPct val="100000"/>
              </a:lnSpc>
              <a:buClr>
                <a:schemeClr val="tx1"/>
              </a:buClr>
              <a:buFont typeface="Wingdings" panose="05000000000000000000" pitchFamily="2" charset="2"/>
              <a:buChar char="l"/>
              <a:defRPr sz="2400">
                <a:solidFill>
                  <a:schemeClr val="tx2">
                    <a:lumMod val="75000"/>
                  </a:schemeClr>
                </a:solidFill>
              </a:defRPr>
            </a:lvl2pPr>
            <a:lvl3pPr>
              <a:lnSpc>
                <a:spcPct val="100000"/>
              </a:lnSpc>
              <a:buClrTx/>
              <a:buFont typeface="Wingdings" panose="05000000000000000000" pitchFamily="2" charset="2"/>
              <a:buChar char="ü"/>
              <a:defRPr sz="2000">
                <a:solidFill>
                  <a:schemeClr val="tx2">
                    <a:lumMod val="75000"/>
                  </a:schemeClr>
                </a:solidFill>
              </a:defRPr>
            </a:lvl3pPr>
            <a:lvl4pPr>
              <a:lnSpc>
                <a:spcPct val="100000"/>
              </a:lnSpc>
              <a:buClrTx/>
              <a:defRPr sz="1800">
                <a:solidFill>
                  <a:schemeClr val="tx2">
                    <a:lumMod val="75000"/>
                  </a:schemeClr>
                </a:solidFill>
              </a:defRPr>
            </a:lvl4pPr>
            <a:lvl5pPr>
              <a:lnSpc>
                <a:spcPct val="100000"/>
              </a:lnSpc>
              <a:buClrTx/>
              <a:defRPr sz="1800">
                <a:solidFill>
                  <a:schemeClr val="tx2">
                    <a:lumMod val="75000"/>
                  </a:schemeClr>
                </a:solidFill>
              </a:defRPr>
            </a:lvl5p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Tree>
    <p:extLst>
      <p:ext uri="{BB962C8B-B14F-4D97-AF65-F5344CB8AC3E}">
        <p14:creationId xmlns:p14="http://schemas.microsoft.com/office/powerpoint/2010/main" val="11337496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 つのコンテンツ">
    <p:spTree>
      <p:nvGrpSpPr>
        <p:cNvPr id="1" name=""/>
        <p:cNvGrpSpPr/>
        <p:nvPr/>
      </p:nvGrpSpPr>
      <p:grpSpPr>
        <a:xfrm>
          <a:off x="0" y="0"/>
          <a:ext cx="0" cy="0"/>
          <a:chOff x="0" y="0"/>
          <a:chExt cx="0" cy="0"/>
        </a:xfrm>
      </p:grpSpPr>
      <p:sp>
        <p:nvSpPr>
          <p:cNvPr id="12" name="Content Placeholder 2"/>
          <p:cNvSpPr>
            <a:spLocks noGrp="1"/>
          </p:cNvSpPr>
          <p:nvPr>
            <p:ph sz="quarter" idx="13"/>
          </p:nvPr>
        </p:nvSpPr>
        <p:spPr>
          <a:xfrm>
            <a:off x="578863" y="2254861"/>
            <a:ext cx="5314214" cy="4105132"/>
          </a:xfrm>
          <a:ln>
            <a:noFill/>
          </a:ln>
        </p:spPr>
        <p:txBody>
          <a:body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sp>
        <p:nvSpPr>
          <p:cNvPr id="13" name="Content Placeholder 3"/>
          <p:cNvSpPr>
            <a:spLocks noGrp="1"/>
          </p:cNvSpPr>
          <p:nvPr>
            <p:ph sz="quarter" idx="14"/>
          </p:nvPr>
        </p:nvSpPr>
        <p:spPr>
          <a:xfrm>
            <a:off x="6293796" y="2254861"/>
            <a:ext cx="5311302" cy="4105132"/>
          </a:xfrm>
          <a:ln>
            <a:no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2" name="スライド番号プレースホルダー 8">
            <a:extLst>
              <a:ext uri="{FF2B5EF4-FFF2-40B4-BE49-F238E27FC236}">
                <a16:creationId xmlns:a16="http://schemas.microsoft.com/office/drawing/2014/main" id="{ED4643BD-04A4-AAD5-193A-DD596DEDF432}"/>
              </a:ext>
            </a:extLst>
          </p:cNvPr>
          <p:cNvSpPr>
            <a:spLocks noGrp="1"/>
          </p:cNvSpPr>
          <p:nvPr>
            <p:ph type="sldNum" sz="quarter" idx="16"/>
          </p:nvPr>
        </p:nvSpPr>
        <p:spPr>
          <a:xfrm>
            <a:off x="11398601" y="6463691"/>
            <a:ext cx="764215" cy="365125"/>
          </a:xfrm>
        </p:spPr>
        <p:txBody>
          <a:bodyPr/>
          <a:lstStyle>
            <a:lvl1pPr>
              <a:defRPr>
                <a:solidFill>
                  <a:schemeClr val="tx1">
                    <a:lumMod val="65000"/>
                    <a:lumOff val="35000"/>
                  </a:schemeClr>
                </a:solidFill>
              </a:defRPr>
            </a:lvl1pPr>
          </a:lstStyle>
          <a:p>
            <a:fld id="{7744AD22-693D-4773-9028-20E660F2F223}" type="slidenum">
              <a:rPr kumimoji="1" lang="ja-JP" altLang="en-US" smtClean="0"/>
              <a:pPr/>
              <a:t>‹#›</a:t>
            </a:fld>
            <a:endParaRPr kumimoji="1" lang="ja-JP" altLang="en-US"/>
          </a:p>
        </p:txBody>
      </p:sp>
      <p:pic>
        <p:nvPicPr>
          <p:cNvPr id="3" name="図 2">
            <a:extLst>
              <a:ext uri="{FF2B5EF4-FFF2-40B4-BE49-F238E27FC236}">
                <a16:creationId xmlns:a16="http://schemas.microsoft.com/office/drawing/2014/main" id="{97661BAC-0965-CE22-FC5F-315F9C011DA3}"/>
              </a:ext>
            </a:extLst>
          </p:cNvPr>
          <p:cNvPicPr>
            <a:picLocks noChangeAspect="1"/>
          </p:cNvPicPr>
          <p:nvPr userDrawn="1"/>
        </p:nvPicPr>
        <p:blipFill rotWithShape="1">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b="23070"/>
          <a:stretch/>
        </p:blipFill>
        <p:spPr>
          <a:xfrm>
            <a:off x="11021882" y="169471"/>
            <a:ext cx="1090555" cy="484017"/>
          </a:xfrm>
          <a:prstGeom prst="rect">
            <a:avLst/>
          </a:prstGeom>
          <a:effectLst>
            <a:glow>
              <a:schemeClr val="bg1"/>
            </a:glow>
          </a:effectLst>
        </p:spPr>
      </p:pic>
      <p:sp>
        <p:nvSpPr>
          <p:cNvPr id="8" name="Rectangle 1">
            <a:extLst>
              <a:ext uri="{FF2B5EF4-FFF2-40B4-BE49-F238E27FC236}">
                <a16:creationId xmlns:a16="http://schemas.microsoft.com/office/drawing/2014/main" id="{F75F8A81-F90D-2AC3-0758-21B5A019D68D}"/>
              </a:ext>
            </a:extLst>
          </p:cNvPr>
          <p:cNvSpPr/>
          <p:nvPr userDrawn="1"/>
        </p:nvSpPr>
        <p:spPr>
          <a:xfrm>
            <a:off x="457200" y="411480"/>
            <a:ext cx="109728" cy="502920"/>
          </a:xfrm>
          <a:prstGeom prst="rect">
            <a:avLst/>
          </a:prstGeom>
          <a:solidFill>
            <a:srgbClr val="00A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4">
            <a:extLst>
              <a:ext uri="{FF2B5EF4-FFF2-40B4-BE49-F238E27FC236}">
                <a16:creationId xmlns:a16="http://schemas.microsoft.com/office/drawing/2014/main" id="{9155C07D-C31C-4422-BF59-9288C1D406E6}"/>
              </a:ext>
            </a:extLst>
          </p:cNvPr>
          <p:cNvSpPr/>
          <p:nvPr userDrawn="1"/>
        </p:nvSpPr>
        <p:spPr>
          <a:xfrm>
            <a:off x="457200" y="1235016"/>
            <a:ext cx="11274552" cy="16459"/>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テキスト プレースホルダー 52">
            <a:extLst>
              <a:ext uri="{FF2B5EF4-FFF2-40B4-BE49-F238E27FC236}">
                <a16:creationId xmlns:a16="http://schemas.microsoft.com/office/drawing/2014/main" id="{AC66AFE9-42C5-EE6E-B6B2-8EA75548D399}"/>
              </a:ext>
            </a:extLst>
          </p:cNvPr>
          <p:cNvSpPr>
            <a:spLocks noGrp="1"/>
          </p:cNvSpPr>
          <p:nvPr>
            <p:ph type="body" sz="quarter" idx="17"/>
          </p:nvPr>
        </p:nvSpPr>
        <p:spPr>
          <a:xfrm>
            <a:off x="566927" y="923635"/>
            <a:ext cx="3679148" cy="248005"/>
          </a:xfrm>
        </p:spPr>
        <p:txBody>
          <a:bodyPr anchor="ctr">
            <a:noAutofit/>
          </a:bodyPr>
          <a:lstStyle>
            <a:lvl1pPr>
              <a:buNone/>
              <a:defRPr sz="1400">
                <a:solidFill>
                  <a:schemeClr val="tx1">
                    <a:lumMod val="65000"/>
                    <a:lumOff val="35000"/>
                  </a:schemeClr>
                </a:solidFill>
              </a:defRPr>
            </a:lvl1pPr>
          </a:lstStyle>
          <a:p>
            <a:pPr lvl="0"/>
            <a:r>
              <a:rPr kumimoji="1" lang="ja-JP" altLang="en-US" dirty="0"/>
              <a:t>マスター テキストの書式設定</a:t>
            </a:r>
          </a:p>
        </p:txBody>
      </p:sp>
      <p:sp>
        <p:nvSpPr>
          <p:cNvPr id="15" name="Rectangle 35">
            <a:extLst>
              <a:ext uri="{FF2B5EF4-FFF2-40B4-BE49-F238E27FC236}">
                <a16:creationId xmlns:a16="http://schemas.microsoft.com/office/drawing/2014/main" id="{23617758-0468-2D94-736E-042159DAECEF}"/>
              </a:ext>
            </a:extLst>
          </p:cNvPr>
          <p:cNvSpPr/>
          <p:nvPr userDrawn="1"/>
        </p:nvSpPr>
        <p:spPr>
          <a:xfrm>
            <a:off x="0" y="6729984"/>
            <a:ext cx="12191695" cy="128016"/>
          </a:xfrm>
          <a:prstGeom prst="rect">
            <a:avLst/>
          </a:prstGeom>
          <a:solidFill>
            <a:srgbClr val="00A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正方形/長方形 20">
            <a:extLst>
              <a:ext uri="{FF2B5EF4-FFF2-40B4-BE49-F238E27FC236}">
                <a16:creationId xmlns:a16="http://schemas.microsoft.com/office/drawing/2014/main" id="{9C7D1CD9-9C02-E9DE-D16A-ED000EBB426D}"/>
              </a:ext>
            </a:extLst>
          </p:cNvPr>
          <p:cNvSpPr/>
          <p:nvPr userDrawn="1"/>
        </p:nvSpPr>
        <p:spPr>
          <a:xfrm>
            <a:off x="463297" y="1377086"/>
            <a:ext cx="5553456" cy="5086605"/>
          </a:xfrm>
          <a:prstGeom prst="rect">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AE71A640-007B-2631-D5F9-60E543D46707}"/>
              </a:ext>
            </a:extLst>
          </p:cNvPr>
          <p:cNvSpPr/>
          <p:nvPr userDrawn="1"/>
        </p:nvSpPr>
        <p:spPr>
          <a:xfrm>
            <a:off x="6166104" y="1362578"/>
            <a:ext cx="5562600" cy="5103325"/>
          </a:xfrm>
          <a:prstGeom prst="rect">
            <a:avLst/>
          </a:prstGeom>
          <a:no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Title 1">
            <a:extLst>
              <a:ext uri="{FF2B5EF4-FFF2-40B4-BE49-F238E27FC236}">
                <a16:creationId xmlns:a16="http://schemas.microsoft.com/office/drawing/2014/main" id="{9172225F-2066-1B77-8C65-F715719351AA}"/>
              </a:ext>
            </a:extLst>
          </p:cNvPr>
          <p:cNvSpPr>
            <a:spLocks noGrp="1"/>
          </p:cNvSpPr>
          <p:nvPr>
            <p:ph type="title"/>
          </p:nvPr>
        </p:nvSpPr>
        <p:spPr>
          <a:xfrm>
            <a:off x="566928" y="411481"/>
            <a:ext cx="10364451" cy="502919"/>
          </a:xfrm>
        </p:spPr>
        <p:txBody>
          <a:bodyPr anchor="t"/>
          <a:lstStyle>
            <a:lvl1pPr algn="l">
              <a:defRPr>
                <a:solidFill>
                  <a:schemeClr val="tx2">
                    <a:lumMod val="75000"/>
                  </a:schemeClr>
                </a:solidFill>
              </a:defRPr>
            </a:lvl1pPr>
          </a:lstStyle>
          <a:p>
            <a:r>
              <a:rPr lang="ja-JP" altLang="en-US" dirty="0"/>
              <a:t>マスター タイトルの書式設定</a:t>
            </a:r>
            <a:endParaRPr lang="en-US" dirty="0"/>
          </a:p>
        </p:txBody>
      </p:sp>
      <p:sp>
        <p:nvSpPr>
          <p:cNvPr id="19" name="テキスト プレースホルダー 18">
            <a:extLst>
              <a:ext uri="{FF2B5EF4-FFF2-40B4-BE49-F238E27FC236}">
                <a16:creationId xmlns:a16="http://schemas.microsoft.com/office/drawing/2014/main" id="{0F5C33EA-A7A6-0093-1CFC-5DE6B341E6BF}"/>
              </a:ext>
            </a:extLst>
          </p:cNvPr>
          <p:cNvSpPr>
            <a:spLocks noGrp="1"/>
          </p:cNvSpPr>
          <p:nvPr>
            <p:ph type="body" sz="quarter" idx="18"/>
          </p:nvPr>
        </p:nvSpPr>
        <p:spPr>
          <a:xfrm>
            <a:off x="457200" y="1362578"/>
            <a:ext cx="5559552" cy="781179"/>
          </a:xfrm>
          <a:solidFill>
            <a:schemeClr val="tx1">
              <a:lumMod val="50000"/>
              <a:lumOff val="50000"/>
            </a:schemeClr>
          </a:solidFill>
        </p:spPr>
        <p:txBody>
          <a:bodyPr anchor="ctr"/>
          <a:lstStyle>
            <a:lvl1pPr algn="ctr">
              <a:buNone/>
              <a:defRPr b="1">
                <a:solidFill>
                  <a:schemeClr val="bg1"/>
                </a:solidFill>
              </a:defRPr>
            </a:lvl1pPr>
          </a:lstStyle>
          <a:p>
            <a:pPr lvl="0"/>
            <a:r>
              <a:rPr kumimoji="1" lang="ja-JP" altLang="en-US" dirty="0"/>
              <a:t>マスター テキストの書式設定</a:t>
            </a:r>
          </a:p>
        </p:txBody>
      </p:sp>
      <p:sp>
        <p:nvSpPr>
          <p:cNvPr id="20" name="テキスト プレースホルダー 18">
            <a:extLst>
              <a:ext uri="{FF2B5EF4-FFF2-40B4-BE49-F238E27FC236}">
                <a16:creationId xmlns:a16="http://schemas.microsoft.com/office/drawing/2014/main" id="{295F1E9E-2E02-71DD-4D1F-FAFBE4409FE5}"/>
              </a:ext>
            </a:extLst>
          </p:cNvPr>
          <p:cNvSpPr>
            <a:spLocks noGrp="1"/>
          </p:cNvSpPr>
          <p:nvPr>
            <p:ph type="body" sz="quarter" idx="19"/>
          </p:nvPr>
        </p:nvSpPr>
        <p:spPr>
          <a:xfrm>
            <a:off x="6169152" y="1362578"/>
            <a:ext cx="5559552" cy="781179"/>
          </a:xfrm>
          <a:solidFill>
            <a:srgbClr val="00A8E6"/>
          </a:solidFill>
        </p:spPr>
        <p:txBody>
          <a:bodyPr anchor="ctr"/>
          <a:lstStyle>
            <a:lvl1pPr algn="ctr">
              <a:buNone/>
              <a:defRPr b="1">
                <a:solidFill>
                  <a:schemeClr val="bg1"/>
                </a:solidFill>
              </a:defRPr>
            </a:lvl1pPr>
          </a:lstStyle>
          <a:p>
            <a:pPr lvl="0"/>
            <a:r>
              <a:rPr kumimoji="1" lang="ja-JP" altLang="en-US" dirty="0"/>
              <a:t>マスター テキストの書式設定</a:t>
            </a:r>
          </a:p>
        </p:txBody>
      </p:sp>
    </p:spTree>
    <p:extLst>
      <p:ext uri="{BB962C8B-B14F-4D97-AF65-F5344CB8AC3E}">
        <p14:creationId xmlns:p14="http://schemas.microsoft.com/office/powerpoint/2010/main" val="3494569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タイトル付きの図">
    <p:spTree>
      <p:nvGrpSpPr>
        <p:cNvPr id="1" name=""/>
        <p:cNvGrpSpPr/>
        <p:nvPr/>
      </p:nvGrpSpPr>
      <p:grpSpPr>
        <a:xfrm>
          <a:off x="0" y="0"/>
          <a:ext cx="0" cy="0"/>
          <a:chOff x="0" y="0"/>
          <a:chExt cx="0" cy="0"/>
        </a:xfrm>
      </p:grpSpPr>
      <p:sp>
        <p:nvSpPr>
          <p:cNvPr id="3" name="Picture Placeholder 2"/>
          <p:cNvSpPr>
            <a:spLocks noGrp="1" noChangeAspect="1"/>
          </p:cNvSpPr>
          <p:nvPr>
            <p:ph type="pic" idx="1"/>
          </p:nvPr>
        </p:nvSpPr>
        <p:spPr>
          <a:xfrm>
            <a:off x="457200" y="1399929"/>
            <a:ext cx="6138154" cy="5181600"/>
          </a:xfrm>
          <a:prstGeom prst="roundRect">
            <a:avLst>
              <a:gd name="adj" fmla="val 4943"/>
            </a:avLst>
          </a:prstGeom>
          <a:noFill/>
          <a:ln w="19050" cap="sq">
            <a:solidFill>
              <a:srgbClr val="00A8E6"/>
            </a:solidFill>
            <a:miter lim="800000"/>
          </a:ln>
          <a:effectLst/>
          <a:scene3d>
            <a:camera prst="orthographicFront"/>
            <a:lightRig rig="threePt" dir="t">
              <a:rot lat="0" lon="0" rev="2700000"/>
            </a:lightRig>
          </a:scene3d>
          <a:sp3d contourW="6350" prstMaterial="matte">
            <a:contourClr>
              <a:srgbClr val="C0C0C0"/>
            </a:contourClr>
          </a:sp3d>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6776042" y="2931911"/>
            <a:ext cx="4709159" cy="3514608"/>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8" name="スライド番号プレースホルダー 8">
            <a:extLst>
              <a:ext uri="{FF2B5EF4-FFF2-40B4-BE49-F238E27FC236}">
                <a16:creationId xmlns:a16="http://schemas.microsoft.com/office/drawing/2014/main" id="{A6A0EC3A-8208-2F63-BA4C-FE456AB7AFED}"/>
              </a:ext>
            </a:extLst>
          </p:cNvPr>
          <p:cNvSpPr>
            <a:spLocks noGrp="1"/>
          </p:cNvSpPr>
          <p:nvPr>
            <p:ph type="sldNum" sz="quarter" idx="16"/>
          </p:nvPr>
        </p:nvSpPr>
        <p:spPr>
          <a:xfrm>
            <a:off x="11398601" y="6463691"/>
            <a:ext cx="764215" cy="365125"/>
          </a:xfrm>
        </p:spPr>
        <p:txBody>
          <a:bodyPr/>
          <a:lstStyle>
            <a:lvl1pPr>
              <a:defRPr>
                <a:solidFill>
                  <a:schemeClr val="tx1">
                    <a:lumMod val="65000"/>
                    <a:lumOff val="35000"/>
                  </a:schemeClr>
                </a:solidFill>
              </a:defRPr>
            </a:lvl1pPr>
          </a:lstStyle>
          <a:p>
            <a:fld id="{7744AD22-693D-4773-9028-20E660F2F223}" type="slidenum">
              <a:rPr kumimoji="1" lang="ja-JP" altLang="en-US" smtClean="0"/>
              <a:pPr/>
              <a:t>‹#›</a:t>
            </a:fld>
            <a:endParaRPr kumimoji="1" lang="ja-JP" altLang="en-US"/>
          </a:p>
        </p:txBody>
      </p:sp>
      <p:pic>
        <p:nvPicPr>
          <p:cNvPr id="9" name="図 8">
            <a:extLst>
              <a:ext uri="{FF2B5EF4-FFF2-40B4-BE49-F238E27FC236}">
                <a16:creationId xmlns:a16="http://schemas.microsoft.com/office/drawing/2014/main" id="{63A2F520-B158-CC14-8966-4D18A9D95E98}"/>
              </a:ext>
            </a:extLst>
          </p:cNvPr>
          <p:cNvPicPr>
            <a:picLocks noChangeAspect="1"/>
          </p:cNvPicPr>
          <p:nvPr userDrawn="1"/>
        </p:nvPicPr>
        <p:blipFill rotWithShape="1">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b="23070"/>
          <a:stretch/>
        </p:blipFill>
        <p:spPr>
          <a:xfrm>
            <a:off x="11021882" y="169471"/>
            <a:ext cx="1090555" cy="484017"/>
          </a:xfrm>
          <a:prstGeom prst="rect">
            <a:avLst/>
          </a:prstGeom>
          <a:effectLst>
            <a:glow>
              <a:schemeClr val="bg1"/>
            </a:glow>
          </a:effectLst>
        </p:spPr>
      </p:pic>
      <p:sp>
        <p:nvSpPr>
          <p:cNvPr id="11" name="Rectangle 1">
            <a:extLst>
              <a:ext uri="{FF2B5EF4-FFF2-40B4-BE49-F238E27FC236}">
                <a16:creationId xmlns:a16="http://schemas.microsoft.com/office/drawing/2014/main" id="{3B41F546-F6F6-79FF-2DF9-0F26E1F2D298}"/>
              </a:ext>
            </a:extLst>
          </p:cNvPr>
          <p:cNvSpPr/>
          <p:nvPr userDrawn="1"/>
        </p:nvSpPr>
        <p:spPr>
          <a:xfrm>
            <a:off x="457200" y="411480"/>
            <a:ext cx="109728" cy="502920"/>
          </a:xfrm>
          <a:prstGeom prst="rect">
            <a:avLst/>
          </a:prstGeom>
          <a:solidFill>
            <a:srgbClr val="00A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4">
            <a:extLst>
              <a:ext uri="{FF2B5EF4-FFF2-40B4-BE49-F238E27FC236}">
                <a16:creationId xmlns:a16="http://schemas.microsoft.com/office/drawing/2014/main" id="{98711BEE-A631-6371-0A47-BCE73CC8F679}"/>
              </a:ext>
            </a:extLst>
          </p:cNvPr>
          <p:cNvSpPr/>
          <p:nvPr userDrawn="1"/>
        </p:nvSpPr>
        <p:spPr>
          <a:xfrm>
            <a:off x="457200" y="1235016"/>
            <a:ext cx="11274552" cy="16459"/>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テキスト プレースホルダー 52">
            <a:extLst>
              <a:ext uri="{FF2B5EF4-FFF2-40B4-BE49-F238E27FC236}">
                <a16:creationId xmlns:a16="http://schemas.microsoft.com/office/drawing/2014/main" id="{93543058-FC54-28CC-6D04-0980939B6B7D}"/>
              </a:ext>
            </a:extLst>
          </p:cNvPr>
          <p:cNvSpPr>
            <a:spLocks noGrp="1"/>
          </p:cNvSpPr>
          <p:nvPr>
            <p:ph type="body" sz="quarter" idx="17"/>
          </p:nvPr>
        </p:nvSpPr>
        <p:spPr>
          <a:xfrm>
            <a:off x="566927" y="923635"/>
            <a:ext cx="3679148" cy="248005"/>
          </a:xfrm>
        </p:spPr>
        <p:txBody>
          <a:bodyPr anchor="ctr">
            <a:noAutofit/>
          </a:bodyPr>
          <a:lstStyle>
            <a:lvl1pPr>
              <a:buNone/>
              <a:defRPr sz="1400">
                <a:solidFill>
                  <a:schemeClr val="tx1">
                    <a:lumMod val="65000"/>
                    <a:lumOff val="35000"/>
                  </a:schemeClr>
                </a:solidFill>
              </a:defRPr>
            </a:lvl1pPr>
          </a:lstStyle>
          <a:p>
            <a:pPr lvl="0"/>
            <a:r>
              <a:rPr kumimoji="1" lang="ja-JP" altLang="en-US" dirty="0"/>
              <a:t>マスター テキストの書式設定</a:t>
            </a:r>
          </a:p>
        </p:txBody>
      </p:sp>
      <p:sp>
        <p:nvSpPr>
          <p:cNvPr id="14" name="Rectangle 35">
            <a:extLst>
              <a:ext uri="{FF2B5EF4-FFF2-40B4-BE49-F238E27FC236}">
                <a16:creationId xmlns:a16="http://schemas.microsoft.com/office/drawing/2014/main" id="{565548AB-4F85-1922-397A-15828B82CD68}"/>
              </a:ext>
            </a:extLst>
          </p:cNvPr>
          <p:cNvSpPr/>
          <p:nvPr userDrawn="1"/>
        </p:nvSpPr>
        <p:spPr>
          <a:xfrm>
            <a:off x="0" y="6729984"/>
            <a:ext cx="12191695" cy="128016"/>
          </a:xfrm>
          <a:prstGeom prst="rect">
            <a:avLst/>
          </a:prstGeom>
          <a:solidFill>
            <a:srgbClr val="00A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0">
            <a:extLst>
              <a:ext uri="{FF2B5EF4-FFF2-40B4-BE49-F238E27FC236}">
                <a16:creationId xmlns:a16="http://schemas.microsoft.com/office/drawing/2014/main" id="{4F66BA0C-576F-D7DD-05AB-7247A3CE95EF}"/>
              </a:ext>
            </a:extLst>
          </p:cNvPr>
          <p:cNvSpPr/>
          <p:nvPr userDrawn="1"/>
        </p:nvSpPr>
        <p:spPr>
          <a:xfrm>
            <a:off x="6858000" y="2710303"/>
            <a:ext cx="640080" cy="36576"/>
          </a:xfrm>
          <a:prstGeom prst="rect">
            <a:avLst/>
          </a:prstGeom>
          <a:solidFill>
            <a:srgbClr val="00A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テキスト プレースホルダー 52">
            <a:extLst>
              <a:ext uri="{FF2B5EF4-FFF2-40B4-BE49-F238E27FC236}">
                <a16:creationId xmlns:a16="http://schemas.microsoft.com/office/drawing/2014/main" id="{860C1474-869A-0810-7EF3-9014B952FCAD}"/>
              </a:ext>
            </a:extLst>
          </p:cNvPr>
          <p:cNvSpPr>
            <a:spLocks noGrp="1"/>
          </p:cNvSpPr>
          <p:nvPr>
            <p:ph type="body" sz="quarter" idx="18"/>
          </p:nvPr>
        </p:nvSpPr>
        <p:spPr>
          <a:xfrm>
            <a:off x="6776042" y="1466743"/>
            <a:ext cx="3679148" cy="248005"/>
          </a:xfrm>
        </p:spPr>
        <p:txBody>
          <a:bodyPr anchor="ctr">
            <a:noAutofit/>
          </a:bodyPr>
          <a:lstStyle>
            <a:lvl1pPr>
              <a:buNone/>
              <a:defRPr sz="1400" b="1">
                <a:solidFill>
                  <a:schemeClr val="accent4"/>
                </a:solidFill>
              </a:defRPr>
            </a:lvl1pPr>
          </a:lstStyle>
          <a:p>
            <a:pPr lvl="0"/>
            <a:r>
              <a:rPr kumimoji="1" lang="ja-JP" altLang="en-US" dirty="0"/>
              <a:t>マスター テキストの書式設定</a:t>
            </a:r>
          </a:p>
        </p:txBody>
      </p:sp>
      <p:sp>
        <p:nvSpPr>
          <p:cNvPr id="21" name="Title 1">
            <a:extLst>
              <a:ext uri="{FF2B5EF4-FFF2-40B4-BE49-F238E27FC236}">
                <a16:creationId xmlns:a16="http://schemas.microsoft.com/office/drawing/2014/main" id="{65C7C5BC-539B-2087-C4DA-65CC2040FC37}"/>
              </a:ext>
            </a:extLst>
          </p:cNvPr>
          <p:cNvSpPr>
            <a:spLocks noGrp="1"/>
          </p:cNvSpPr>
          <p:nvPr>
            <p:ph type="title"/>
          </p:nvPr>
        </p:nvSpPr>
        <p:spPr>
          <a:xfrm>
            <a:off x="566928" y="411481"/>
            <a:ext cx="10364451" cy="502919"/>
          </a:xfrm>
        </p:spPr>
        <p:txBody>
          <a:bodyPr anchor="t"/>
          <a:lstStyle>
            <a:lvl1pPr algn="l">
              <a:defRPr>
                <a:solidFill>
                  <a:schemeClr val="tx2">
                    <a:lumMod val="75000"/>
                  </a:schemeClr>
                </a:solidFill>
              </a:defRPr>
            </a:lvl1pPr>
          </a:lstStyle>
          <a:p>
            <a:r>
              <a:rPr lang="ja-JP" altLang="en-US" dirty="0"/>
              <a:t>マスター タイトルの書式設定</a:t>
            </a:r>
            <a:endParaRPr lang="en-US" dirty="0"/>
          </a:p>
        </p:txBody>
      </p:sp>
      <p:sp>
        <p:nvSpPr>
          <p:cNvPr id="22" name="Text Placeholder 3">
            <a:extLst>
              <a:ext uri="{FF2B5EF4-FFF2-40B4-BE49-F238E27FC236}">
                <a16:creationId xmlns:a16="http://schemas.microsoft.com/office/drawing/2014/main" id="{407AECB8-4D72-3F83-4F09-8BB49A8F946F}"/>
              </a:ext>
            </a:extLst>
          </p:cNvPr>
          <p:cNvSpPr>
            <a:spLocks noGrp="1"/>
          </p:cNvSpPr>
          <p:nvPr>
            <p:ph type="body" sz="half" idx="19"/>
          </p:nvPr>
        </p:nvSpPr>
        <p:spPr>
          <a:xfrm>
            <a:off x="6776042" y="1859448"/>
            <a:ext cx="4709159" cy="544230"/>
          </a:xfrm>
        </p:spPr>
        <p:txBody>
          <a:bodyPr>
            <a:normAutofit/>
          </a:bodyPr>
          <a:lstStyle>
            <a:lvl1pPr marL="0" indent="0" algn="l">
              <a:buNone/>
              <a:defRPr sz="2400" b="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Tree>
    <p:extLst>
      <p:ext uri="{BB962C8B-B14F-4D97-AF65-F5344CB8AC3E}">
        <p14:creationId xmlns:p14="http://schemas.microsoft.com/office/powerpoint/2010/main" val="37673525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タイトル付きのコンテンツ">
    <p:spTree>
      <p:nvGrpSpPr>
        <p:cNvPr id="1" name=""/>
        <p:cNvGrpSpPr/>
        <p:nvPr/>
      </p:nvGrpSpPr>
      <p:grpSpPr>
        <a:xfrm>
          <a:off x="0" y="0"/>
          <a:ext cx="0" cy="0"/>
          <a:chOff x="0" y="0"/>
          <a:chExt cx="0" cy="0"/>
        </a:xfrm>
      </p:grpSpPr>
      <p:sp>
        <p:nvSpPr>
          <p:cNvPr id="3" name="Rectangle 1">
            <a:extLst>
              <a:ext uri="{FF2B5EF4-FFF2-40B4-BE49-F238E27FC236}">
                <a16:creationId xmlns:a16="http://schemas.microsoft.com/office/drawing/2014/main" id="{70C0DB40-5F2F-F35A-86C4-01E32B225B0D}"/>
              </a:ext>
            </a:extLst>
          </p:cNvPr>
          <p:cNvSpPr/>
          <p:nvPr userDrawn="1"/>
        </p:nvSpPr>
        <p:spPr>
          <a:xfrm>
            <a:off x="0" y="0"/>
            <a:ext cx="4389120" cy="6858000"/>
          </a:xfrm>
          <a:prstGeom prst="rect">
            <a:avLst/>
          </a:prstGeom>
          <a:solidFill>
            <a:srgbClr val="00A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8">
            <a:extLst>
              <a:ext uri="{FF2B5EF4-FFF2-40B4-BE49-F238E27FC236}">
                <a16:creationId xmlns:a16="http://schemas.microsoft.com/office/drawing/2014/main" id="{568D18EB-93BD-0FF9-EB13-FAC166CC8116}"/>
              </a:ext>
            </a:extLst>
          </p:cNvPr>
          <p:cNvSpPr/>
          <p:nvPr userDrawn="1"/>
        </p:nvSpPr>
        <p:spPr>
          <a:xfrm>
            <a:off x="4389120" y="6729984"/>
            <a:ext cx="7802575" cy="128016"/>
          </a:xfrm>
          <a:prstGeom prst="rect">
            <a:avLst/>
          </a:prstGeom>
          <a:solidFill>
            <a:srgbClr val="0A3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itle 1"/>
          <p:cNvSpPr>
            <a:spLocks noGrp="1"/>
          </p:cNvSpPr>
          <p:nvPr>
            <p:ph type="title"/>
          </p:nvPr>
        </p:nvSpPr>
        <p:spPr>
          <a:xfrm>
            <a:off x="567731" y="3242452"/>
            <a:ext cx="3676119" cy="2023252"/>
          </a:xfrm>
        </p:spPr>
        <p:txBody>
          <a:bodyPr anchor="t">
            <a:normAutofit/>
          </a:bodyPr>
          <a:lstStyle>
            <a:lvl1pPr algn="l">
              <a:defRPr sz="3600" b="1">
                <a:solidFill>
                  <a:schemeClr val="bg1"/>
                </a:solidFill>
              </a:defRPr>
            </a:lvl1pPr>
          </a:lstStyle>
          <a:p>
            <a:r>
              <a:rPr lang="ja-JP" altLang="en-US" dirty="0"/>
              <a:t>マスター タイトルの書式設定</a:t>
            </a:r>
            <a:endParaRPr lang="en-US" dirty="0"/>
          </a:p>
        </p:txBody>
      </p:sp>
      <p:sp>
        <p:nvSpPr>
          <p:cNvPr id="4" name="Text Placeholder 3"/>
          <p:cNvSpPr>
            <a:spLocks noGrp="1"/>
          </p:cNvSpPr>
          <p:nvPr>
            <p:ph type="body" sz="half" idx="2"/>
          </p:nvPr>
        </p:nvSpPr>
        <p:spPr>
          <a:xfrm>
            <a:off x="567731" y="2423769"/>
            <a:ext cx="3676120" cy="418166"/>
          </a:xfrm>
        </p:spPr>
        <p:txBody>
          <a:bodyPr>
            <a:normAutofit/>
          </a:bodyPr>
          <a:lstStyle>
            <a:lvl1pPr marL="0" indent="0" algn="l">
              <a:buNone/>
              <a:defRPr sz="1800" b="1">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dirty="0"/>
              <a:t>マスター テキストの書式設定</a:t>
            </a:r>
          </a:p>
        </p:txBody>
      </p:sp>
      <p:sp>
        <p:nvSpPr>
          <p:cNvPr id="9" name="スライド番号プレースホルダー 8">
            <a:extLst>
              <a:ext uri="{FF2B5EF4-FFF2-40B4-BE49-F238E27FC236}">
                <a16:creationId xmlns:a16="http://schemas.microsoft.com/office/drawing/2014/main" id="{6751F391-8EE4-1296-D5AE-03886A4EE68B}"/>
              </a:ext>
            </a:extLst>
          </p:cNvPr>
          <p:cNvSpPr>
            <a:spLocks noGrp="1"/>
          </p:cNvSpPr>
          <p:nvPr>
            <p:ph type="sldNum" sz="quarter" idx="16"/>
          </p:nvPr>
        </p:nvSpPr>
        <p:spPr>
          <a:xfrm>
            <a:off x="11398601" y="6463691"/>
            <a:ext cx="764215" cy="365125"/>
          </a:xfrm>
        </p:spPr>
        <p:txBody>
          <a:bodyPr/>
          <a:lstStyle>
            <a:lvl1pPr>
              <a:defRPr>
                <a:solidFill>
                  <a:schemeClr val="tx1">
                    <a:lumMod val="65000"/>
                    <a:lumOff val="35000"/>
                  </a:schemeClr>
                </a:solidFill>
              </a:defRPr>
            </a:lvl1pPr>
          </a:lstStyle>
          <a:p>
            <a:fld id="{7744AD22-693D-4773-9028-20E660F2F223}" type="slidenum">
              <a:rPr kumimoji="1" lang="ja-JP" altLang="en-US" smtClean="0"/>
              <a:pPr/>
              <a:t>‹#›</a:t>
            </a:fld>
            <a:endParaRPr kumimoji="1" lang="ja-JP" altLang="en-US"/>
          </a:p>
        </p:txBody>
      </p:sp>
      <p:pic>
        <p:nvPicPr>
          <p:cNvPr id="12" name="図 11">
            <a:extLst>
              <a:ext uri="{FF2B5EF4-FFF2-40B4-BE49-F238E27FC236}">
                <a16:creationId xmlns:a16="http://schemas.microsoft.com/office/drawing/2014/main" id="{C28693DB-7C05-F742-72BD-AAE7D00BDB28}"/>
              </a:ext>
            </a:extLst>
          </p:cNvPr>
          <p:cNvPicPr>
            <a:picLocks noChangeAspect="1"/>
          </p:cNvPicPr>
          <p:nvPr userDrawn="1"/>
        </p:nvPicPr>
        <p:blipFill rotWithShape="1">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b="23070"/>
          <a:stretch/>
        </p:blipFill>
        <p:spPr>
          <a:xfrm>
            <a:off x="11021882" y="169471"/>
            <a:ext cx="1090555" cy="484017"/>
          </a:xfrm>
          <a:prstGeom prst="rect">
            <a:avLst/>
          </a:prstGeom>
          <a:effectLst>
            <a:glow>
              <a:schemeClr val="bg1"/>
            </a:glow>
          </a:effectLst>
        </p:spPr>
      </p:pic>
      <p:sp>
        <p:nvSpPr>
          <p:cNvPr id="13" name="Rectangle 3">
            <a:extLst>
              <a:ext uri="{FF2B5EF4-FFF2-40B4-BE49-F238E27FC236}">
                <a16:creationId xmlns:a16="http://schemas.microsoft.com/office/drawing/2014/main" id="{E6212A41-BD99-9E37-D686-4516D7835ED0}"/>
              </a:ext>
            </a:extLst>
          </p:cNvPr>
          <p:cNvSpPr/>
          <p:nvPr userDrawn="1"/>
        </p:nvSpPr>
        <p:spPr>
          <a:xfrm>
            <a:off x="640080" y="3063240"/>
            <a:ext cx="548640" cy="365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 Placeholder 3">
            <a:extLst>
              <a:ext uri="{FF2B5EF4-FFF2-40B4-BE49-F238E27FC236}">
                <a16:creationId xmlns:a16="http://schemas.microsoft.com/office/drawing/2014/main" id="{B0575233-4969-A31B-6759-06E9D74CF34A}"/>
              </a:ext>
            </a:extLst>
          </p:cNvPr>
          <p:cNvSpPr>
            <a:spLocks noGrp="1"/>
          </p:cNvSpPr>
          <p:nvPr>
            <p:ph type="body" sz="half" idx="17"/>
          </p:nvPr>
        </p:nvSpPr>
        <p:spPr>
          <a:xfrm>
            <a:off x="5078062" y="2681650"/>
            <a:ext cx="3676120" cy="418166"/>
          </a:xfrm>
        </p:spPr>
        <p:txBody>
          <a:bodyPr/>
          <a:lstStyle>
            <a:lvl1pPr marL="0" indent="0" algn="l">
              <a:buNone/>
              <a:defRPr sz="1600" b="0">
                <a:solidFill>
                  <a:srgbClr val="00A8E6"/>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dirty="0"/>
              <a:t>マスター テキストの書式設定</a:t>
            </a:r>
          </a:p>
        </p:txBody>
      </p:sp>
      <p:sp>
        <p:nvSpPr>
          <p:cNvPr id="18" name="コンテンツ プレースホルダー 17">
            <a:extLst>
              <a:ext uri="{FF2B5EF4-FFF2-40B4-BE49-F238E27FC236}">
                <a16:creationId xmlns:a16="http://schemas.microsoft.com/office/drawing/2014/main" id="{11E6EC22-F40F-ADE9-9D6F-63DED8B28503}"/>
              </a:ext>
            </a:extLst>
          </p:cNvPr>
          <p:cNvSpPr>
            <a:spLocks noGrp="1"/>
          </p:cNvSpPr>
          <p:nvPr>
            <p:ph sz="quarter" idx="18"/>
          </p:nvPr>
        </p:nvSpPr>
        <p:spPr>
          <a:xfrm>
            <a:off x="5078061" y="3242451"/>
            <a:ext cx="6320539" cy="2944339"/>
          </a:xfrm>
        </p:spPr>
        <p:txBody>
          <a:bodyPr>
            <a:normAutofit/>
          </a:bodyPr>
          <a:lstStyle>
            <a:lvl1pPr marL="0">
              <a:lnSpc>
                <a:spcPct val="100000"/>
              </a:lnSpc>
              <a:buNone/>
              <a:defRPr sz="2800" b="1">
                <a:solidFill>
                  <a:schemeClr val="tx2">
                    <a:lumMod val="75000"/>
                  </a:schemeClr>
                </a:solidFill>
              </a:defRPr>
            </a:lvl1pPr>
            <a:lvl2pPr>
              <a:defRPr sz="2000" b="1"/>
            </a:lvl2pPr>
            <a:lvl3pPr>
              <a:defRPr sz="1800" b="1"/>
            </a:lvl3pPr>
            <a:lvl4pPr>
              <a:defRPr sz="1600" b="1"/>
            </a:lvl4pPr>
            <a:lvl5pPr>
              <a:defRPr sz="1600" b="1"/>
            </a:lvl5pPr>
          </a:lstStyle>
          <a:p>
            <a:pPr lvl="0"/>
            <a:r>
              <a:rPr kumimoji="1" lang="ja-JP" altLang="en-US" dirty="0"/>
              <a:t>マスター テキストの書式設定</a:t>
            </a:r>
          </a:p>
        </p:txBody>
      </p:sp>
    </p:spTree>
    <p:extLst>
      <p:ext uri="{BB962C8B-B14F-4D97-AF65-F5344CB8AC3E}">
        <p14:creationId xmlns:p14="http://schemas.microsoft.com/office/powerpoint/2010/main" val="41050113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spTree>
      <p:nvGrpSpPr>
        <p:cNvPr id="1" name=""/>
        <p:cNvGrpSpPr/>
        <p:nvPr/>
      </p:nvGrpSpPr>
      <p:grpSpPr>
        <a:xfrm>
          <a:off x="0" y="0"/>
          <a:ext cx="0" cy="0"/>
          <a:chOff x="0" y="0"/>
          <a:chExt cx="0" cy="0"/>
        </a:xfrm>
      </p:grpSpPr>
      <p:sp>
        <p:nvSpPr>
          <p:cNvPr id="15" name="Rectangle 35">
            <a:extLst>
              <a:ext uri="{FF2B5EF4-FFF2-40B4-BE49-F238E27FC236}">
                <a16:creationId xmlns:a16="http://schemas.microsoft.com/office/drawing/2014/main" id="{7A9930C5-9CE5-CD3F-0B34-BA742C592203}"/>
              </a:ext>
            </a:extLst>
          </p:cNvPr>
          <p:cNvSpPr/>
          <p:nvPr userDrawn="1"/>
        </p:nvSpPr>
        <p:spPr>
          <a:xfrm>
            <a:off x="0" y="6729984"/>
            <a:ext cx="12191695" cy="128016"/>
          </a:xfrm>
          <a:prstGeom prst="rect">
            <a:avLst/>
          </a:prstGeom>
          <a:solidFill>
            <a:srgbClr val="00A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itle 1"/>
          <p:cNvSpPr>
            <a:spLocks noGrp="1"/>
          </p:cNvSpPr>
          <p:nvPr>
            <p:ph type="title"/>
          </p:nvPr>
        </p:nvSpPr>
        <p:spPr>
          <a:xfrm>
            <a:off x="353117" y="590117"/>
            <a:ext cx="10364451" cy="502919"/>
          </a:xfrm>
        </p:spPr>
        <p:txBody>
          <a:bodyPr anchor="t"/>
          <a:lstStyle>
            <a:lvl1pPr algn="l">
              <a:defRPr b="1">
                <a:solidFill>
                  <a:schemeClr val="tx2">
                    <a:lumMod val="75000"/>
                  </a:schemeClr>
                </a:solidFill>
              </a:defRPr>
            </a:lvl1pPr>
          </a:lstStyle>
          <a:p>
            <a:r>
              <a:rPr lang="ja-JP" altLang="en-US" dirty="0"/>
              <a:t>マスター タイトルの書式設定</a:t>
            </a:r>
            <a:endParaRPr lang="en-US" dirty="0"/>
          </a:p>
        </p:txBody>
      </p:sp>
      <p:sp>
        <p:nvSpPr>
          <p:cNvPr id="9" name="スライド番号プレースホルダー 8">
            <a:extLst>
              <a:ext uri="{FF2B5EF4-FFF2-40B4-BE49-F238E27FC236}">
                <a16:creationId xmlns:a16="http://schemas.microsoft.com/office/drawing/2014/main" id="{769DF8EF-F888-3401-8278-4FAF9AF9F249}"/>
              </a:ext>
            </a:extLst>
          </p:cNvPr>
          <p:cNvSpPr>
            <a:spLocks noGrp="1"/>
          </p:cNvSpPr>
          <p:nvPr>
            <p:ph type="sldNum" sz="quarter" idx="16"/>
          </p:nvPr>
        </p:nvSpPr>
        <p:spPr>
          <a:xfrm>
            <a:off x="11398601" y="6463691"/>
            <a:ext cx="764215" cy="365125"/>
          </a:xfrm>
        </p:spPr>
        <p:txBody>
          <a:bodyPr/>
          <a:lstStyle>
            <a:lvl1pPr>
              <a:defRPr>
                <a:solidFill>
                  <a:schemeClr val="tx1">
                    <a:lumMod val="65000"/>
                    <a:lumOff val="35000"/>
                  </a:schemeClr>
                </a:solidFill>
              </a:defRPr>
            </a:lvl1pPr>
          </a:lstStyle>
          <a:p>
            <a:fld id="{7744AD22-693D-4773-9028-20E660F2F223}" type="slidenum">
              <a:rPr kumimoji="1" lang="ja-JP" altLang="en-US" smtClean="0"/>
              <a:pPr/>
              <a:t>‹#›</a:t>
            </a:fld>
            <a:endParaRPr kumimoji="1" lang="ja-JP" altLang="en-US"/>
          </a:p>
        </p:txBody>
      </p:sp>
      <p:sp>
        <p:nvSpPr>
          <p:cNvPr id="53" name="テキスト プレースホルダー 52">
            <a:extLst>
              <a:ext uri="{FF2B5EF4-FFF2-40B4-BE49-F238E27FC236}">
                <a16:creationId xmlns:a16="http://schemas.microsoft.com/office/drawing/2014/main" id="{F8CF3099-468C-D418-D6F8-EC2CC9B3FAEC}"/>
              </a:ext>
            </a:extLst>
          </p:cNvPr>
          <p:cNvSpPr>
            <a:spLocks noGrp="1"/>
          </p:cNvSpPr>
          <p:nvPr>
            <p:ph type="body" sz="quarter" idx="17"/>
          </p:nvPr>
        </p:nvSpPr>
        <p:spPr>
          <a:xfrm>
            <a:off x="353117" y="277487"/>
            <a:ext cx="3679148" cy="248005"/>
          </a:xfrm>
        </p:spPr>
        <p:txBody>
          <a:bodyPr anchor="ctr">
            <a:noAutofit/>
          </a:bodyPr>
          <a:lstStyle>
            <a:lvl1pPr>
              <a:buNone/>
              <a:defRPr sz="1200" b="1">
                <a:solidFill>
                  <a:srgbClr val="0070C0"/>
                </a:solidFill>
              </a:defRPr>
            </a:lvl1pPr>
          </a:lstStyle>
          <a:p>
            <a:pPr lvl="0"/>
            <a:r>
              <a:rPr kumimoji="1" lang="ja-JP" altLang="en-US" dirty="0"/>
              <a:t>マスター テキストの書式設定</a:t>
            </a:r>
          </a:p>
        </p:txBody>
      </p:sp>
      <p:pic>
        <p:nvPicPr>
          <p:cNvPr id="54" name="図 53">
            <a:extLst>
              <a:ext uri="{FF2B5EF4-FFF2-40B4-BE49-F238E27FC236}">
                <a16:creationId xmlns:a16="http://schemas.microsoft.com/office/drawing/2014/main" id="{CAA03307-0E99-F9A7-C662-A5190938DBD3}"/>
              </a:ext>
            </a:extLst>
          </p:cNvPr>
          <p:cNvPicPr>
            <a:picLocks noChangeAspect="1"/>
          </p:cNvPicPr>
          <p:nvPr userDrawn="1"/>
        </p:nvPicPr>
        <p:blipFill rotWithShape="1">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b="23070"/>
          <a:stretch/>
        </p:blipFill>
        <p:spPr>
          <a:xfrm>
            <a:off x="11021882" y="169471"/>
            <a:ext cx="1090555" cy="484017"/>
          </a:xfrm>
          <a:prstGeom prst="rect">
            <a:avLst/>
          </a:prstGeom>
          <a:effectLst>
            <a:glow>
              <a:schemeClr val="bg1"/>
            </a:glow>
          </a:effectLst>
        </p:spPr>
      </p:pic>
      <p:sp>
        <p:nvSpPr>
          <p:cNvPr id="3" name="Shape 3">
            <a:extLst>
              <a:ext uri="{FF2B5EF4-FFF2-40B4-BE49-F238E27FC236}">
                <a16:creationId xmlns:a16="http://schemas.microsoft.com/office/drawing/2014/main" id="{B0E02CB6-6242-8B4F-E9ED-2424F73EEA9F}"/>
              </a:ext>
            </a:extLst>
          </p:cNvPr>
          <p:cNvSpPr/>
          <p:nvPr userDrawn="1"/>
        </p:nvSpPr>
        <p:spPr>
          <a:xfrm>
            <a:off x="457200" y="1234440"/>
            <a:ext cx="914400" cy="0"/>
          </a:xfrm>
          <a:prstGeom prst="line">
            <a:avLst/>
          </a:prstGeom>
          <a:noFill/>
          <a:ln w="38100">
            <a:solidFill>
              <a:srgbClr val="00A8E6"/>
            </a:solidFill>
            <a:prstDash val="solid"/>
          </a:ln>
        </p:spPr>
        <p:txBody>
          <a:bodyPr/>
          <a:lstStyle/>
          <a:p>
            <a:endParaRPr lang="ja-JP" altLang="en-US"/>
          </a:p>
        </p:txBody>
      </p:sp>
      <p:sp>
        <p:nvSpPr>
          <p:cNvPr id="16" name="Rectangle 35">
            <a:extLst>
              <a:ext uri="{FF2B5EF4-FFF2-40B4-BE49-F238E27FC236}">
                <a16:creationId xmlns:a16="http://schemas.microsoft.com/office/drawing/2014/main" id="{D4D631C2-ED8A-15C5-915E-0BE64E42497C}"/>
              </a:ext>
            </a:extLst>
          </p:cNvPr>
          <p:cNvSpPr/>
          <p:nvPr userDrawn="1"/>
        </p:nvSpPr>
        <p:spPr>
          <a:xfrm>
            <a:off x="0" y="0"/>
            <a:ext cx="12191695" cy="72000"/>
          </a:xfrm>
          <a:prstGeom prst="rect">
            <a:avLst/>
          </a:prstGeom>
          <a:solidFill>
            <a:srgbClr val="00A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コンテンツ プレースホルダー 55">
            <a:extLst>
              <a:ext uri="{FF2B5EF4-FFF2-40B4-BE49-F238E27FC236}">
                <a16:creationId xmlns:a16="http://schemas.microsoft.com/office/drawing/2014/main" id="{0683C0E1-DA8A-EE7F-FB55-CFD653A4BB18}"/>
              </a:ext>
            </a:extLst>
          </p:cNvPr>
          <p:cNvSpPr>
            <a:spLocks noGrp="1"/>
          </p:cNvSpPr>
          <p:nvPr>
            <p:ph sz="quarter" idx="18"/>
          </p:nvPr>
        </p:nvSpPr>
        <p:spPr>
          <a:xfrm>
            <a:off x="457200" y="1364228"/>
            <a:ext cx="11352213" cy="5069910"/>
          </a:xfrm>
        </p:spPr>
        <p:txBody>
          <a:bodyPr>
            <a:normAutofit/>
          </a:bodyPr>
          <a:lstStyle>
            <a:lvl1pPr>
              <a:lnSpc>
                <a:spcPct val="100000"/>
              </a:lnSpc>
              <a:buClr>
                <a:srgbClr val="00A8E6"/>
              </a:buClr>
              <a:buFont typeface="Wingdings" panose="05000000000000000000" pitchFamily="2" charset="2"/>
              <a:buChar char="n"/>
              <a:defRPr sz="2800">
                <a:solidFill>
                  <a:srgbClr val="00A8E6"/>
                </a:solidFill>
              </a:defRPr>
            </a:lvl1pPr>
            <a:lvl2pPr>
              <a:lnSpc>
                <a:spcPct val="100000"/>
              </a:lnSpc>
              <a:buClr>
                <a:schemeClr val="tx1"/>
              </a:buClr>
              <a:buFont typeface="Wingdings" panose="05000000000000000000" pitchFamily="2" charset="2"/>
              <a:buChar char="l"/>
              <a:defRPr sz="2400">
                <a:solidFill>
                  <a:schemeClr val="tx2">
                    <a:lumMod val="75000"/>
                  </a:schemeClr>
                </a:solidFill>
              </a:defRPr>
            </a:lvl2pPr>
            <a:lvl3pPr>
              <a:lnSpc>
                <a:spcPct val="100000"/>
              </a:lnSpc>
              <a:buClrTx/>
              <a:buFont typeface="Wingdings" panose="05000000000000000000" pitchFamily="2" charset="2"/>
              <a:buChar char="ü"/>
              <a:defRPr sz="2000">
                <a:solidFill>
                  <a:schemeClr val="tx2">
                    <a:lumMod val="75000"/>
                  </a:schemeClr>
                </a:solidFill>
              </a:defRPr>
            </a:lvl3pPr>
            <a:lvl4pPr>
              <a:lnSpc>
                <a:spcPct val="100000"/>
              </a:lnSpc>
              <a:buClrTx/>
              <a:defRPr sz="1800">
                <a:solidFill>
                  <a:schemeClr val="tx2">
                    <a:lumMod val="75000"/>
                  </a:schemeClr>
                </a:solidFill>
              </a:defRPr>
            </a:lvl4pPr>
            <a:lvl5pPr>
              <a:lnSpc>
                <a:spcPct val="100000"/>
              </a:lnSpc>
              <a:buClrTx/>
              <a:defRPr sz="1800">
                <a:solidFill>
                  <a:schemeClr val="tx2">
                    <a:lumMod val="75000"/>
                  </a:schemeClr>
                </a:solidFill>
              </a:defRPr>
            </a:lvl5p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Tree>
    <p:extLst>
      <p:ext uri="{BB962C8B-B14F-4D97-AF65-F5344CB8AC3E}">
        <p14:creationId xmlns:p14="http://schemas.microsoft.com/office/powerpoint/2010/main" val="13919374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5" name="スライド番号プレースホルダー 8">
            <a:extLst>
              <a:ext uri="{FF2B5EF4-FFF2-40B4-BE49-F238E27FC236}">
                <a16:creationId xmlns:a16="http://schemas.microsoft.com/office/drawing/2014/main" id="{E34F8C15-2E77-C57B-CF55-C0A99E1EBA92}"/>
              </a:ext>
            </a:extLst>
          </p:cNvPr>
          <p:cNvSpPr>
            <a:spLocks noGrp="1"/>
          </p:cNvSpPr>
          <p:nvPr>
            <p:ph type="sldNum" sz="quarter" idx="16"/>
          </p:nvPr>
        </p:nvSpPr>
        <p:spPr>
          <a:xfrm>
            <a:off x="11398601" y="6463691"/>
            <a:ext cx="764215" cy="365125"/>
          </a:xfrm>
        </p:spPr>
        <p:txBody>
          <a:bodyPr/>
          <a:lstStyle>
            <a:lvl1pPr>
              <a:defRPr>
                <a:solidFill>
                  <a:schemeClr val="tx1">
                    <a:lumMod val="65000"/>
                    <a:lumOff val="35000"/>
                  </a:schemeClr>
                </a:solidFill>
              </a:defRPr>
            </a:lvl1pPr>
          </a:lstStyle>
          <a:p>
            <a:fld id="{7744AD22-693D-4773-9028-20E660F2F223}" type="slidenum">
              <a:rPr kumimoji="1" lang="ja-JP" altLang="en-US" smtClean="0"/>
              <a:pPr/>
              <a:t>‹#›</a:t>
            </a:fld>
            <a:endParaRPr kumimoji="1" lang="ja-JP" altLang="en-US"/>
          </a:p>
        </p:txBody>
      </p:sp>
    </p:spTree>
    <p:extLst>
      <p:ext uri="{BB962C8B-B14F-4D97-AF65-F5344CB8AC3E}">
        <p14:creationId xmlns:p14="http://schemas.microsoft.com/office/powerpoint/2010/main" val="24953812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最終スライド">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3BC1721-93D6-7F2B-8921-5DD357B79065}"/>
              </a:ext>
            </a:extLst>
          </p:cNvPr>
          <p:cNvSpPr/>
          <p:nvPr userDrawn="1"/>
        </p:nvSpPr>
        <p:spPr>
          <a:xfrm>
            <a:off x="0" y="3840480"/>
            <a:ext cx="12191695" cy="3017520"/>
          </a:xfrm>
          <a:prstGeom prst="rect">
            <a:avLst/>
          </a:prstGeom>
          <a:solidFill>
            <a:srgbClr val="00A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2">
            <a:extLst>
              <a:ext uri="{FF2B5EF4-FFF2-40B4-BE49-F238E27FC236}">
                <a16:creationId xmlns:a16="http://schemas.microsoft.com/office/drawing/2014/main" id="{A76C3186-35FC-3408-4D37-4586EDD08488}"/>
              </a:ext>
            </a:extLst>
          </p:cNvPr>
          <p:cNvSpPr txBox="1"/>
          <p:nvPr userDrawn="1"/>
        </p:nvSpPr>
        <p:spPr>
          <a:xfrm>
            <a:off x="457200" y="1182753"/>
            <a:ext cx="11274552" cy="1109214"/>
          </a:xfrm>
          <a:prstGeom prst="rect">
            <a:avLst/>
          </a:prstGeom>
          <a:noFill/>
        </p:spPr>
        <p:txBody>
          <a:bodyPr wrap="square" lIns="0" tIns="0" rIns="0" bIns="0" anchor="ctr">
            <a:spAutoFit/>
          </a:bodyPr>
          <a:lstStyle/>
          <a:p>
            <a:pPr algn="ctr">
              <a:lnSpc>
                <a:spcPct val="125000"/>
              </a:lnSpc>
            </a:pPr>
            <a:r>
              <a:rPr sz="6400" b="1" dirty="0">
                <a:solidFill>
                  <a:srgbClr val="0A3D62"/>
                </a:solidFill>
                <a:latin typeface="+mn-lt"/>
              </a:rPr>
              <a:t>Thank you.</a:t>
            </a:r>
          </a:p>
        </p:txBody>
      </p:sp>
      <p:sp>
        <p:nvSpPr>
          <p:cNvPr id="6" name="TextBox 3">
            <a:extLst>
              <a:ext uri="{FF2B5EF4-FFF2-40B4-BE49-F238E27FC236}">
                <a16:creationId xmlns:a16="http://schemas.microsoft.com/office/drawing/2014/main" id="{861A40CE-BF53-2C94-0A7D-049A2403DB0A}"/>
              </a:ext>
            </a:extLst>
          </p:cNvPr>
          <p:cNvSpPr txBox="1"/>
          <p:nvPr userDrawn="1"/>
        </p:nvSpPr>
        <p:spPr>
          <a:xfrm>
            <a:off x="457200" y="2468880"/>
            <a:ext cx="11274552" cy="359522"/>
          </a:xfrm>
          <a:prstGeom prst="rect">
            <a:avLst/>
          </a:prstGeom>
          <a:noFill/>
        </p:spPr>
        <p:txBody>
          <a:bodyPr wrap="square" lIns="0" tIns="0" rIns="0" bIns="0" anchor="t">
            <a:spAutoFit/>
          </a:bodyPr>
          <a:lstStyle/>
          <a:p>
            <a:pPr algn="ctr">
              <a:lnSpc>
                <a:spcPct val="125000"/>
              </a:lnSpc>
            </a:pPr>
            <a:r>
              <a:rPr sz="2000" b="0" dirty="0">
                <a:solidFill>
                  <a:srgbClr val="1F2937"/>
                </a:solidFill>
                <a:latin typeface="+mj-ea"/>
                <a:ea typeface="+mj-ea"/>
              </a:rPr>
              <a:t>ご清聴ありがとうございました。</a:t>
            </a:r>
          </a:p>
        </p:txBody>
      </p:sp>
      <p:sp>
        <p:nvSpPr>
          <p:cNvPr id="10" name="Rectangle 4">
            <a:extLst>
              <a:ext uri="{FF2B5EF4-FFF2-40B4-BE49-F238E27FC236}">
                <a16:creationId xmlns:a16="http://schemas.microsoft.com/office/drawing/2014/main" id="{9FA7DD3F-EDCA-0FF7-58CA-A09625313264}"/>
              </a:ext>
            </a:extLst>
          </p:cNvPr>
          <p:cNvSpPr/>
          <p:nvPr userDrawn="1"/>
        </p:nvSpPr>
        <p:spPr>
          <a:xfrm>
            <a:off x="5733288" y="3200400"/>
            <a:ext cx="731520" cy="45720"/>
          </a:xfrm>
          <a:prstGeom prst="rect">
            <a:avLst/>
          </a:prstGeom>
          <a:solidFill>
            <a:srgbClr val="FF7A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5">
            <a:extLst>
              <a:ext uri="{FF2B5EF4-FFF2-40B4-BE49-F238E27FC236}">
                <a16:creationId xmlns:a16="http://schemas.microsoft.com/office/drawing/2014/main" id="{D7BAF6BC-2072-52CE-218A-71338896F250}"/>
              </a:ext>
            </a:extLst>
          </p:cNvPr>
          <p:cNvSpPr/>
          <p:nvPr userDrawn="1"/>
        </p:nvSpPr>
        <p:spPr>
          <a:xfrm>
            <a:off x="1371600" y="4206240"/>
            <a:ext cx="9445752" cy="219456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6">
            <a:extLst>
              <a:ext uri="{FF2B5EF4-FFF2-40B4-BE49-F238E27FC236}">
                <a16:creationId xmlns:a16="http://schemas.microsoft.com/office/drawing/2014/main" id="{93C7BDA9-7A09-6783-3614-0BD781D1880A}"/>
              </a:ext>
            </a:extLst>
          </p:cNvPr>
          <p:cNvSpPr txBox="1"/>
          <p:nvPr userDrawn="1"/>
        </p:nvSpPr>
        <p:spPr>
          <a:xfrm>
            <a:off x="1691640" y="4434840"/>
            <a:ext cx="8686800" cy="395493"/>
          </a:xfrm>
          <a:prstGeom prst="rect">
            <a:avLst/>
          </a:prstGeom>
          <a:noFill/>
        </p:spPr>
        <p:txBody>
          <a:bodyPr wrap="square" lIns="0" tIns="0" rIns="0" bIns="0" anchor="t">
            <a:spAutoFit/>
          </a:bodyPr>
          <a:lstStyle/>
          <a:p>
            <a:pPr algn="l">
              <a:lnSpc>
                <a:spcPct val="125000"/>
              </a:lnSpc>
            </a:pPr>
            <a:r>
              <a:rPr lang="ja-JP" altLang="en-US" sz="2200" b="1" dirty="0">
                <a:solidFill>
                  <a:srgbClr val="0A3D62"/>
                </a:solidFill>
                <a:latin typeface="+mn-ea"/>
                <a:ea typeface="+mn-ea"/>
              </a:rPr>
              <a:t>株式会社 アルパイン設計事務所</a:t>
            </a:r>
            <a:endParaRPr sz="2200" b="1" dirty="0">
              <a:solidFill>
                <a:srgbClr val="0A3D62"/>
              </a:solidFill>
              <a:latin typeface="+mn-ea"/>
              <a:ea typeface="+mn-ea"/>
            </a:endParaRPr>
          </a:p>
        </p:txBody>
      </p:sp>
      <p:sp>
        <p:nvSpPr>
          <p:cNvPr id="17" name="Rectangle 7">
            <a:extLst>
              <a:ext uri="{FF2B5EF4-FFF2-40B4-BE49-F238E27FC236}">
                <a16:creationId xmlns:a16="http://schemas.microsoft.com/office/drawing/2014/main" id="{4D61C277-9045-F328-47B3-539A732094C4}"/>
              </a:ext>
            </a:extLst>
          </p:cNvPr>
          <p:cNvSpPr/>
          <p:nvPr userDrawn="1"/>
        </p:nvSpPr>
        <p:spPr>
          <a:xfrm>
            <a:off x="1691640" y="4983480"/>
            <a:ext cx="640080" cy="36576"/>
          </a:xfrm>
          <a:prstGeom prst="rect">
            <a:avLst/>
          </a:prstGeom>
          <a:solidFill>
            <a:srgbClr val="00A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8">
            <a:extLst>
              <a:ext uri="{FF2B5EF4-FFF2-40B4-BE49-F238E27FC236}">
                <a16:creationId xmlns:a16="http://schemas.microsoft.com/office/drawing/2014/main" id="{523E39DE-E3DD-E236-8E59-A7EEB3599882}"/>
              </a:ext>
            </a:extLst>
          </p:cNvPr>
          <p:cNvSpPr txBox="1"/>
          <p:nvPr userDrawn="1"/>
        </p:nvSpPr>
        <p:spPr>
          <a:xfrm>
            <a:off x="1691640" y="5166360"/>
            <a:ext cx="4114800" cy="215765"/>
          </a:xfrm>
          <a:prstGeom prst="rect">
            <a:avLst/>
          </a:prstGeom>
          <a:noFill/>
        </p:spPr>
        <p:txBody>
          <a:bodyPr wrap="square" lIns="0" tIns="0" rIns="0" bIns="0" anchor="t">
            <a:spAutoFit/>
          </a:bodyPr>
          <a:lstStyle/>
          <a:p>
            <a:pPr algn="l">
              <a:lnSpc>
                <a:spcPct val="125000"/>
              </a:lnSpc>
            </a:pPr>
            <a:r>
              <a:rPr sz="1200" b="1" dirty="0">
                <a:solidFill>
                  <a:srgbClr val="00A8E6"/>
                </a:solidFill>
                <a:latin typeface="+mn-ea"/>
                <a:ea typeface="+mn-ea"/>
              </a:rPr>
              <a:t>■</a:t>
            </a:r>
            <a:r>
              <a:rPr lang="ja-JP" altLang="en-US" sz="1200" b="1" dirty="0">
                <a:solidFill>
                  <a:srgbClr val="00A8E6"/>
                </a:solidFill>
                <a:latin typeface="+mn-ea"/>
                <a:ea typeface="+mn-ea"/>
              </a:rPr>
              <a:t> 金石本社</a:t>
            </a:r>
            <a:endParaRPr sz="1200" b="1" dirty="0">
              <a:solidFill>
                <a:srgbClr val="00A8E6"/>
              </a:solidFill>
              <a:latin typeface="+mn-ea"/>
              <a:ea typeface="+mn-ea"/>
            </a:endParaRPr>
          </a:p>
        </p:txBody>
      </p:sp>
      <p:sp>
        <p:nvSpPr>
          <p:cNvPr id="21" name="TextBox 11">
            <a:extLst>
              <a:ext uri="{FF2B5EF4-FFF2-40B4-BE49-F238E27FC236}">
                <a16:creationId xmlns:a16="http://schemas.microsoft.com/office/drawing/2014/main" id="{D11AEF3F-2467-563E-5E97-CF56FDB96122}"/>
              </a:ext>
            </a:extLst>
          </p:cNvPr>
          <p:cNvSpPr txBox="1"/>
          <p:nvPr userDrawn="1"/>
        </p:nvSpPr>
        <p:spPr>
          <a:xfrm>
            <a:off x="6400800" y="5166360"/>
            <a:ext cx="4114800" cy="215765"/>
          </a:xfrm>
          <a:prstGeom prst="rect">
            <a:avLst/>
          </a:prstGeom>
          <a:noFill/>
        </p:spPr>
        <p:txBody>
          <a:bodyPr wrap="square" lIns="0" tIns="0" rIns="0" bIns="0" anchor="t">
            <a:spAutoFit/>
          </a:bodyPr>
          <a:lstStyle/>
          <a:p>
            <a:pPr algn="l">
              <a:lnSpc>
                <a:spcPct val="125000"/>
              </a:lnSpc>
            </a:pPr>
            <a:r>
              <a:rPr sz="1200" b="1">
                <a:solidFill>
                  <a:srgbClr val="00A8E6"/>
                </a:solidFill>
                <a:latin typeface="+mn-ea"/>
                <a:ea typeface="+mn-ea"/>
              </a:rPr>
              <a:t>■ 小矢部事務所</a:t>
            </a:r>
          </a:p>
        </p:txBody>
      </p:sp>
      <p:pic>
        <p:nvPicPr>
          <p:cNvPr id="24" name="図 23">
            <a:extLst>
              <a:ext uri="{FF2B5EF4-FFF2-40B4-BE49-F238E27FC236}">
                <a16:creationId xmlns:a16="http://schemas.microsoft.com/office/drawing/2014/main" id="{F7C33A59-B42F-91B1-2F9C-878473A282B2}"/>
              </a:ext>
            </a:extLst>
          </p:cNvPr>
          <p:cNvPicPr>
            <a:picLocks noChangeAspect="1"/>
          </p:cNvPicPr>
          <p:nvPr userDrawn="1"/>
        </p:nvPicPr>
        <p:blipFill rotWithShape="1">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b="23070"/>
          <a:stretch/>
        </p:blipFill>
        <p:spPr>
          <a:xfrm>
            <a:off x="9554022" y="4394615"/>
            <a:ext cx="1090555" cy="484017"/>
          </a:xfrm>
          <a:prstGeom prst="rect">
            <a:avLst/>
          </a:prstGeom>
          <a:effectLst>
            <a:glow>
              <a:schemeClr val="bg1"/>
            </a:glow>
          </a:effectLst>
        </p:spPr>
      </p:pic>
      <p:sp>
        <p:nvSpPr>
          <p:cNvPr id="25" name="テキスト ボックス 24">
            <a:extLst>
              <a:ext uri="{FF2B5EF4-FFF2-40B4-BE49-F238E27FC236}">
                <a16:creationId xmlns:a16="http://schemas.microsoft.com/office/drawing/2014/main" id="{94BDC41E-A9A8-8CD5-68F4-58D64142BE20}"/>
              </a:ext>
            </a:extLst>
          </p:cNvPr>
          <p:cNvSpPr txBox="1"/>
          <p:nvPr userDrawn="1"/>
        </p:nvSpPr>
        <p:spPr>
          <a:xfrm>
            <a:off x="1691640" y="5486400"/>
            <a:ext cx="3204723" cy="261610"/>
          </a:xfrm>
          <a:prstGeom prst="rect">
            <a:avLst/>
          </a:prstGeom>
          <a:noFill/>
        </p:spPr>
        <p:txBody>
          <a:bodyPr wrap="none" rtlCol="0">
            <a:spAutoFit/>
          </a:bodyPr>
          <a:lstStyle/>
          <a:p>
            <a:r>
              <a:rPr kumimoji="1" lang="ja-JP" altLang="en-US" sz="1100" dirty="0"/>
              <a:t>〒</a:t>
            </a:r>
            <a:r>
              <a:rPr kumimoji="1" lang="en-US" altLang="ja-JP" sz="1100" dirty="0"/>
              <a:t>920-0336</a:t>
            </a:r>
            <a:r>
              <a:rPr kumimoji="1" lang="ja-JP" altLang="en-US" sz="1100" dirty="0"/>
              <a:t> 石川県金沢市金石本町ハ１３番地２</a:t>
            </a:r>
          </a:p>
        </p:txBody>
      </p:sp>
      <p:sp>
        <p:nvSpPr>
          <p:cNvPr id="26" name="テキスト ボックス 25">
            <a:extLst>
              <a:ext uri="{FF2B5EF4-FFF2-40B4-BE49-F238E27FC236}">
                <a16:creationId xmlns:a16="http://schemas.microsoft.com/office/drawing/2014/main" id="{DE2A9F2B-0B5C-392B-AFEE-E738FCE5AD70}"/>
              </a:ext>
            </a:extLst>
          </p:cNvPr>
          <p:cNvSpPr txBox="1"/>
          <p:nvPr userDrawn="1"/>
        </p:nvSpPr>
        <p:spPr>
          <a:xfrm>
            <a:off x="6400800" y="5486400"/>
            <a:ext cx="2922595" cy="261610"/>
          </a:xfrm>
          <a:prstGeom prst="rect">
            <a:avLst/>
          </a:prstGeom>
          <a:noFill/>
        </p:spPr>
        <p:txBody>
          <a:bodyPr wrap="none" rtlCol="0">
            <a:spAutoFit/>
          </a:bodyPr>
          <a:lstStyle/>
          <a:p>
            <a:r>
              <a:rPr kumimoji="1" lang="ja-JP" altLang="en-US" sz="1100" dirty="0"/>
              <a:t>〒</a:t>
            </a:r>
            <a:r>
              <a:rPr kumimoji="1" lang="en-US" altLang="ja-JP" sz="1100" dirty="0"/>
              <a:t>932-0132</a:t>
            </a:r>
            <a:r>
              <a:rPr kumimoji="1" lang="ja-JP" altLang="en-US" sz="1100" dirty="0"/>
              <a:t> 富山県小矢部市小森谷１９番地</a:t>
            </a:r>
          </a:p>
        </p:txBody>
      </p:sp>
      <p:sp>
        <p:nvSpPr>
          <p:cNvPr id="27" name="テキスト ボックス 26">
            <a:extLst>
              <a:ext uri="{FF2B5EF4-FFF2-40B4-BE49-F238E27FC236}">
                <a16:creationId xmlns:a16="http://schemas.microsoft.com/office/drawing/2014/main" id="{73DFDEB9-B4E2-8305-A9E5-B26B232CAC63}"/>
              </a:ext>
            </a:extLst>
          </p:cNvPr>
          <p:cNvSpPr txBox="1"/>
          <p:nvPr userDrawn="1"/>
        </p:nvSpPr>
        <p:spPr>
          <a:xfrm>
            <a:off x="1691640" y="5806440"/>
            <a:ext cx="1548822" cy="261610"/>
          </a:xfrm>
          <a:prstGeom prst="rect">
            <a:avLst/>
          </a:prstGeom>
          <a:noFill/>
        </p:spPr>
        <p:txBody>
          <a:bodyPr wrap="none" rtlCol="0">
            <a:spAutoFit/>
          </a:bodyPr>
          <a:lstStyle/>
          <a:p>
            <a:r>
              <a:rPr kumimoji="1" lang="en-US" altLang="ja-JP" sz="1100" dirty="0"/>
              <a:t>TEL</a:t>
            </a:r>
            <a:r>
              <a:rPr kumimoji="1" lang="ja-JP" altLang="en-US" sz="1100" dirty="0"/>
              <a:t>　</a:t>
            </a:r>
            <a:r>
              <a:rPr kumimoji="1" lang="en-US" altLang="ja-JP" sz="1100" dirty="0"/>
              <a:t>( 076</a:t>
            </a:r>
            <a:r>
              <a:rPr kumimoji="1" lang="ja-JP" altLang="en-US" sz="1100" dirty="0"/>
              <a:t> </a:t>
            </a:r>
            <a:r>
              <a:rPr kumimoji="1" lang="en-US" altLang="ja-JP" sz="1100" dirty="0"/>
              <a:t>) 266-3467</a:t>
            </a:r>
            <a:endParaRPr kumimoji="1" lang="ja-JP" altLang="en-US" sz="1100" dirty="0"/>
          </a:p>
        </p:txBody>
      </p:sp>
      <p:sp>
        <p:nvSpPr>
          <p:cNvPr id="29" name="テキスト ボックス 28">
            <a:extLst>
              <a:ext uri="{FF2B5EF4-FFF2-40B4-BE49-F238E27FC236}">
                <a16:creationId xmlns:a16="http://schemas.microsoft.com/office/drawing/2014/main" id="{6EE78410-AC80-F986-CA08-D27FFD5E0C0F}"/>
              </a:ext>
            </a:extLst>
          </p:cNvPr>
          <p:cNvSpPr txBox="1"/>
          <p:nvPr userDrawn="1"/>
        </p:nvSpPr>
        <p:spPr>
          <a:xfrm>
            <a:off x="6400800" y="5806440"/>
            <a:ext cx="1548822" cy="261610"/>
          </a:xfrm>
          <a:prstGeom prst="rect">
            <a:avLst/>
          </a:prstGeom>
          <a:noFill/>
        </p:spPr>
        <p:txBody>
          <a:bodyPr wrap="none" rtlCol="0">
            <a:spAutoFit/>
          </a:bodyPr>
          <a:lstStyle/>
          <a:p>
            <a:r>
              <a:rPr kumimoji="1" lang="en-US" altLang="ja-JP" sz="1100" dirty="0"/>
              <a:t>TEL</a:t>
            </a:r>
            <a:r>
              <a:rPr kumimoji="1" lang="ja-JP" altLang="en-US" sz="1100" dirty="0"/>
              <a:t>　</a:t>
            </a:r>
            <a:r>
              <a:rPr kumimoji="1" lang="en-US" altLang="ja-JP" sz="1100" dirty="0"/>
              <a:t>( 0766</a:t>
            </a:r>
            <a:r>
              <a:rPr kumimoji="1" lang="ja-JP" altLang="en-US" sz="1100" dirty="0"/>
              <a:t> </a:t>
            </a:r>
            <a:r>
              <a:rPr kumimoji="1" lang="en-US" altLang="ja-JP" sz="1100" dirty="0"/>
              <a:t>) 69-7888</a:t>
            </a:r>
            <a:endParaRPr kumimoji="1" lang="ja-JP" altLang="en-US" sz="1100" dirty="0"/>
          </a:p>
        </p:txBody>
      </p:sp>
    </p:spTree>
    <p:extLst>
      <p:ext uri="{BB962C8B-B14F-4D97-AF65-F5344CB8AC3E}">
        <p14:creationId xmlns:p14="http://schemas.microsoft.com/office/powerpoint/2010/main" val="512302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7744AD22-693D-4773-9028-20E660F2F223}" type="slidenum">
              <a:rPr kumimoji="1" lang="ja-JP" altLang="en-US" smtClean="0"/>
              <a:t>‹#›</a:t>
            </a:fld>
            <a:endParaRPr kumimoji="1" lang="ja-JP" altLang="en-US"/>
          </a:p>
        </p:txBody>
      </p:sp>
    </p:spTree>
    <p:extLst>
      <p:ext uri="{BB962C8B-B14F-4D97-AF65-F5344CB8AC3E}">
        <p14:creationId xmlns:p14="http://schemas.microsoft.com/office/powerpoint/2010/main" val="5323293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パノラマ写真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913794" y="4289374"/>
            <a:ext cx="10364432" cy="811610"/>
          </a:xfrm>
        </p:spPr>
        <p:txBody>
          <a:bodyPr anchor="b"/>
          <a:lstStyle>
            <a:lvl1pPr>
              <a:defRPr sz="32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1184744" y="698261"/>
            <a:ext cx="9822532" cy="3214136"/>
          </a:xfrm>
          <a:prstGeom prst="roundRect">
            <a:avLst>
              <a:gd name="adj" fmla="val 4944"/>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913774" y="5108728"/>
            <a:ext cx="10364452" cy="682472"/>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7744AD22-693D-4773-9028-20E660F2F223}" type="slidenum">
              <a:rPr kumimoji="1" lang="ja-JP" altLang="en-US" smtClean="0"/>
              <a:t>‹#›</a:t>
            </a:fld>
            <a:endParaRPr kumimoji="1" lang="ja-JP" altLang="en-US"/>
          </a:p>
        </p:txBody>
      </p:sp>
    </p:spTree>
    <p:extLst>
      <p:ext uri="{BB962C8B-B14F-4D97-AF65-F5344CB8AC3E}">
        <p14:creationId xmlns:p14="http://schemas.microsoft.com/office/powerpoint/2010/main" val="4057489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タイトルとキャプション">
    <p:spTree>
      <p:nvGrpSpPr>
        <p:cNvPr id="1" name=""/>
        <p:cNvGrpSpPr/>
        <p:nvPr/>
      </p:nvGrpSpPr>
      <p:grpSpPr>
        <a:xfrm>
          <a:off x="0" y="0"/>
          <a:ext cx="0" cy="0"/>
          <a:chOff x="0" y="0"/>
          <a:chExt cx="0" cy="0"/>
        </a:xfrm>
      </p:grpSpPr>
      <p:sp>
        <p:nvSpPr>
          <p:cNvPr id="2" name="Title 1"/>
          <p:cNvSpPr>
            <a:spLocks noGrp="1"/>
          </p:cNvSpPr>
          <p:nvPr>
            <p:ph type="title"/>
          </p:nvPr>
        </p:nvSpPr>
        <p:spPr>
          <a:xfrm>
            <a:off x="913774" y="609599"/>
            <a:ext cx="10364452" cy="3427245"/>
          </a:xfrm>
        </p:spPr>
        <p:txBody>
          <a:bodyPr anchor="ctr"/>
          <a:lstStyle>
            <a:lvl1pPr algn="ctr">
              <a:defRPr sz="3200"/>
            </a:lvl1pPr>
          </a:lstStyle>
          <a:p>
            <a:r>
              <a:rPr lang="ja-JP" altLang="en-US"/>
              <a:t>マスター タイトルの書式設定</a:t>
            </a:r>
            <a:endParaRPr lang="en-US" dirty="0"/>
          </a:p>
        </p:txBody>
      </p:sp>
      <p:sp>
        <p:nvSpPr>
          <p:cNvPr id="4" name="Text Placeholder 3"/>
          <p:cNvSpPr>
            <a:spLocks noGrp="1"/>
          </p:cNvSpPr>
          <p:nvPr>
            <p:ph type="body" sz="half" idx="2"/>
          </p:nvPr>
        </p:nvSpPr>
        <p:spPr>
          <a:xfrm>
            <a:off x="913775" y="4204821"/>
            <a:ext cx="10364452" cy="1586380"/>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7744AD22-693D-4773-9028-20E660F2F223}" type="slidenum">
              <a:rPr kumimoji="1" lang="ja-JP" altLang="en-US" smtClean="0"/>
              <a:t>‹#›</a:t>
            </a:fld>
            <a:endParaRPr kumimoji="1" lang="ja-JP" altLang="en-US"/>
          </a:p>
        </p:txBody>
      </p:sp>
    </p:spTree>
    <p:extLst>
      <p:ext uri="{BB962C8B-B14F-4D97-AF65-F5344CB8AC3E}">
        <p14:creationId xmlns:p14="http://schemas.microsoft.com/office/powerpoint/2010/main" val="307726350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3 段">
    <p:spTree>
      <p:nvGrpSpPr>
        <p:cNvPr id="1" name=""/>
        <p:cNvGrpSpPr/>
        <p:nvPr/>
      </p:nvGrpSpPr>
      <p:grpSpPr>
        <a:xfrm>
          <a:off x="0" y="0"/>
          <a:ext cx="0" cy="0"/>
          <a:chOff x="0" y="0"/>
          <a:chExt cx="0" cy="0"/>
        </a:xfrm>
      </p:grpSpPr>
      <p:sp>
        <p:nvSpPr>
          <p:cNvPr id="15" name="Title 1"/>
          <p:cNvSpPr>
            <a:spLocks noGrp="1"/>
          </p:cNvSpPr>
          <p:nvPr>
            <p:ph type="title"/>
          </p:nvPr>
        </p:nvSpPr>
        <p:spPr>
          <a:xfrm>
            <a:off x="913774" y="609600"/>
            <a:ext cx="10364452" cy="1605094"/>
          </a:xfrm>
        </p:spPr>
        <p:txBody>
          <a:bodyPr/>
          <a:lstStyle/>
          <a:p>
            <a:r>
              <a:rPr lang="ja-JP" altLang="en-US"/>
              <a:t>マスター タイトルの書式設定</a:t>
            </a:r>
            <a:endParaRPr lang="en-US" dirty="0"/>
          </a:p>
        </p:txBody>
      </p:sp>
      <p:sp>
        <p:nvSpPr>
          <p:cNvPr id="7" name="Text Placeholder 2"/>
          <p:cNvSpPr>
            <a:spLocks noGrp="1"/>
          </p:cNvSpPr>
          <p:nvPr>
            <p:ph type="body" idx="1"/>
          </p:nvPr>
        </p:nvSpPr>
        <p:spPr>
          <a:xfrm>
            <a:off x="913774" y="2367093"/>
            <a:ext cx="3298976"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8" name="Text Placeholder 3"/>
          <p:cNvSpPr>
            <a:spLocks noGrp="1"/>
          </p:cNvSpPr>
          <p:nvPr>
            <p:ph type="body" sz="half" idx="15"/>
          </p:nvPr>
        </p:nvSpPr>
        <p:spPr>
          <a:xfrm>
            <a:off x="913774" y="2943355"/>
            <a:ext cx="3298976"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9" name="Text Placeholder 4"/>
          <p:cNvSpPr>
            <a:spLocks noGrp="1"/>
          </p:cNvSpPr>
          <p:nvPr>
            <p:ph type="body" sz="quarter" idx="3"/>
          </p:nvPr>
        </p:nvSpPr>
        <p:spPr>
          <a:xfrm>
            <a:off x="4452389" y="2367093"/>
            <a:ext cx="3291521"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10" name="Text Placeholder 3"/>
          <p:cNvSpPr>
            <a:spLocks noGrp="1"/>
          </p:cNvSpPr>
          <p:nvPr>
            <p:ph type="body" sz="half" idx="16"/>
          </p:nvPr>
        </p:nvSpPr>
        <p:spPr>
          <a:xfrm>
            <a:off x="4441348" y="2943355"/>
            <a:ext cx="3303351"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11" name="Text Placeholder 4"/>
          <p:cNvSpPr>
            <a:spLocks noGrp="1"/>
          </p:cNvSpPr>
          <p:nvPr>
            <p:ph type="body" sz="quarter" idx="13"/>
          </p:nvPr>
        </p:nvSpPr>
        <p:spPr>
          <a:xfrm>
            <a:off x="7973298" y="2367093"/>
            <a:ext cx="3304928"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12" name="Text Placeholder 3"/>
          <p:cNvSpPr>
            <a:spLocks noGrp="1"/>
          </p:cNvSpPr>
          <p:nvPr>
            <p:ph type="body" sz="half" idx="17"/>
          </p:nvPr>
        </p:nvSpPr>
        <p:spPr>
          <a:xfrm>
            <a:off x="7973298" y="2943355"/>
            <a:ext cx="3304928"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3" name="Date Placeholder 2"/>
          <p:cNvSpPr>
            <a:spLocks noGrp="1"/>
          </p:cNvSpPr>
          <p:nvPr>
            <p:ph type="dt" sz="half" idx="10"/>
          </p:nvPr>
        </p:nvSpPr>
        <p:spPr/>
        <p:txBody>
          <a:bodyPr/>
          <a:lstStyle/>
          <a:p>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7744AD22-693D-4773-9028-20E660F2F223}" type="slidenum">
              <a:rPr kumimoji="1" lang="ja-JP" altLang="en-US" smtClean="0"/>
              <a:t>‹#›</a:t>
            </a:fld>
            <a:endParaRPr kumimoji="1" lang="ja-JP" altLang="en-US"/>
          </a:p>
        </p:txBody>
      </p:sp>
    </p:spTree>
    <p:extLst>
      <p:ext uri="{BB962C8B-B14F-4D97-AF65-F5344CB8AC3E}">
        <p14:creationId xmlns:p14="http://schemas.microsoft.com/office/powerpoint/2010/main" val="325799399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3 つの画像列">
    <p:spTree>
      <p:nvGrpSpPr>
        <p:cNvPr id="1" name=""/>
        <p:cNvGrpSpPr/>
        <p:nvPr/>
      </p:nvGrpSpPr>
      <p:grpSpPr>
        <a:xfrm>
          <a:off x="0" y="0"/>
          <a:ext cx="0" cy="0"/>
          <a:chOff x="0" y="0"/>
          <a:chExt cx="0" cy="0"/>
        </a:xfrm>
      </p:grpSpPr>
      <p:sp>
        <p:nvSpPr>
          <p:cNvPr id="30" name="Title 1"/>
          <p:cNvSpPr>
            <a:spLocks noGrp="1"/>
          </p:cNvSpPr>
          <p:nvPr>
            <p:ph type="title"/>
          </p:nvPr>
        </p:nvSpPr>
        <p:spPr>
          <a:xfrm>
            <a:off x="913774" y="610772"/>
            <a:ext cx="10364452" cy="1603922"/>
          </a:xfrm>
        </p:spPr>
        <p:txBody>
          <a:bodyPr/>
          <a:lstStyle/>
          <a:p>
            <a:r>
              <a:rPr lang="ja-JP" altLang="en-US"/>
              <a:t>マスター タイトルの書式設定</a:t>
            </a:r>
            <a:endParaRPr lang="en-US" dirty="0"/>
          </a:p>
        </p:txBody>
      </p:sp>
      <p:sp>
        <p:nvSpPr>
          <p:cNvPr id="19" name="Text Placeholder 2"/>
          <p:cNvSpPr>
            <a:spLocks noGrp="1"/>
          </p:cNvSpPr>
          <p:nvPr>
            <p:ph type="body" idx="1"/>
          </p:nvPr>
        </p:nvSpPr>
        <p:spPr>
          <a:xfrm>
            <a:off x="913774" y="4204820"/>
            <a:ext cx="3296409"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20" name="Picture Placeholder 2"/>
          <p:cNvSpPr>
            <a:spLocks noGrp="1" noChangeAspect="1"/>
          </p:cNvSpPr>
          <p:nvPr>
            <p:ph type="pic" idx="15"/>
          </p:nvPr>
        </p:nvSpPr>
        <p:spPr>
          <a:xfrm>
            <a:off x="913774" y="2367093"/>
            <a:ext cx="3296409" cy="1524000"/>
          </a:xfrm>
          <a:prstGeom prst="roundRect">
            <a:avLst>
              <a:gd name="adj" fmla="val 936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ja-JP" altLang="en-US"/>
              <a:t>アイコンをクリックして図を追加</a:t>
            </a:r>
            <a:endParaRPr lang="en-US" dirty="0"/>
          </a:p>
        </p:txBody>
      </p:sp>
      <p:sp>
        <p:nvSpPr>
          <p:cNvPr id="21" name="Text Placeholder 3"/>
          <p:cNvSpPr>
            <a:spLocks noGrp="1"/>
          </p:cNvSpPr>
          <p:nvPr>
            <p:ph type="body" sz="half" idx="18"/>
          </p:nvPr>
        </p:nvSpPr>
        <p:spPr>
          <a:xfrm>
            <a:off x="913774" y="4781082"/>
            <a:ext cx="3296409" cy="101011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22" name="Text Placeholder 4"/>
          <p:cNvSpPr>
            <a:spLocks noGrp="1"/>
          </p:cNvSpPr>
          <p:nvPr>
            <p:ph type="body" sz="quarter" idx="3"/>
          </p:nvPr>
        </p:nvSpPr>
        <p:spPr>
          <a:xfrm>
            <a:off x="4442759" y="4204820"/>
            <a:ext cx="3301828"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23" name="Picture Placeholder 2"/>
          <p:cNvSpPr>
            <a:spLocks noGrp="1" noChangeAspect="1"/>
          </p:cNvSpPr>
          <p:nvPr>
            <p:ph type="pic" idx="21"/>
          </p:nvPr>
        </p:nvSpPr>
        <p:spPr>
          <a:xfrm>
            <a:off x="4441348" y="2367093"/>
            <a:ext cx="3303352"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ja-JP" altLang="en-US"/>
              <a:t>アイコンをクリックして図を追加</a:t>
            </a:r>
            <a:endParaRPr lang="en-US" dirty="0"/>
          </a:p>
        </p:txBody>
      </p:sp>
      <p:sp>
        <p:nvSpPr>
          <p:cNvPr id="24" name="Text Placeholder 3"/>
          <p:cNvSpPr>
            <a:spLocks noGrp="1"/>
          </p:cNvSpPr>
          <p:nvPr>
            <p:ph type="body" sz="half" idx="19"/>
          </p:nvPr>
        </p:nvSpPr>
        <p:spPr>
          <a:xfrm>
            <a:off x="4441348" y="4781080"/>
            <a:ext cx="3303352" cy="101011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25" name="Text Placeholder 4"/>
          <p:cNvSpPr>
            <a:spLocks noGrp="1"/>
          </p:cNvSpPr>
          <p:nvPr>
            <p:ph type="body" sz="quarter" idx="13"/>
          </p:nvPr>
        </p:nvSpPr>
        <p:spPr>
          <a:xfrm>
            <a:off x="7973298" y="4204820"/>
            <a:ext cx="3300681"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26" name="Picture Placeholder 2"/>
          <p:cNvSpPr>
            <a:spLocks noGrp="1" noChangeAspect="1"/>
          </p:cNvSpPr>
          <p:nvPr>
            <p:ph type="pic" idx="22"/>
          </p:nvPr>
        </p:nvSpPr>
        <p:spPr>
          <a:xfrm>
            <a:off x="7973298" y="2367093"/>
            <a:ext cx="3304928"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ja-JP" altLang="en-US"/>
              <a:t>アイコンをクリックして図を追加</a:t>
            </a:r>
            <a:endParaRPr lang="en-US" dirty="0"/>
          </a:p>
        </p:txBody>
      </p:sp>
      <p:sp>
        <p:nvSpPr>
          <p:cNvPr id="27" name="Text Placeholder 3"/>
          <p:cNvSpPr>
            <a:spLocks noGrp="1"/>
          </p:cNvSpPr>
          <p:nvPr>
            <p:ph type="body" sz="half" idx="20"/>
          </p:nvPr>
        </p:nvSpPr>
        <p:spPr>
          <a:xfrm>
            <a:off x="7973173" y="4781078"/>
            <a:ext cx="3305053" cy="1010121"/>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3" name="Date Placeholder 2"/>
          <p:cNvSpPr>
            <a:spLocks noGrp="1"/>
          </p:cNvSpPr>
          <p:nvPr>
            <p:ph type="dt" sz="half" idx="10"/>
          </p:nvPr>
        </p:nvSpPr>
        <p:spPr/>
        <p:txBody>
          <a:bodyPr/>
          <a:lstStyle/>
          <a:p>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7744AD22-693D-4773-9028-20E660F2F223}" type="slidenum">
              <a:rPr kumimoji="1" lang="ja-JP" altLang="en-US" smtClean="0"/>
              <a:t>‹#›</a:t>
            </a:fld>
            <a:endParaRPr kumimoji="1" lang="ja-JP" altLang="en-US"/>
          </a:p>
        </p:txBody>
      </p:sp>
    </p:spTree>
    <p:extLst>
      <p:ext uri="{BB962C8B-B14F-4D97-AF65-F5344CB8AC3E}">
        <p14:creationId xmlns:p14="http://schemas.microsoft.com/office/powerpoint/2010/main" val="298790909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11" name="Vertical Text Placeholder 2"/>
          <p:cNvSpPr>
            <a:spLocks noGrp="1"/>
          </p:cNvSpPr>
          <p:nvPr>
            <p:ph type="body" orient="vert" sz="quarter" idx="13"/>
          </p:nvPr>
        </p:nvSpPr>
        <p:spPr>
          <a:xfrm>
            <a:off x="913775" y="2367093"/>
            <a:ext cx="10364452" cy="3424107"/>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744AD22-693D-4773-9028-20E660F2F223}" type="slidenum">
              <a:rPr kumimoji="1" lang="ja-JP" altLang="en-US" smtClean="0"/>
              <a:t>‹#›</a:t>
            </a:fld>
            <a:endParaRPr kumimoji="1" lang="ja-JP" altLang="en-US"/>
          </a:p>
        </p:txBody>
      </p:sp>
    </p:spTree>
    <p:extLst>
      <p:ext uri="{BB962C8B-B14F-4D97-AF65-F5344CB8AC3E}">
        <p14:creationId xmlns:p14="http://schemas.microsoft.com/office/powerpoint/2010/main" val="11487677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609601"/>
            <a:ext cx="2553326" cy="5181599"/>
          </a:xfrm>
        </p:spPr>
        <p:txBody>
          <a:bodyPr vert="eaVert"/>
          <a:lstStyle>
            <a:lvl1pPr algn="l">
              <a:defRPr/>
            </a:lvl1pPr>
          </a:lstStyle>
          <a:p>
            <a:r>
              <a:rPr lang="ja-JP" altLang="en-US"/>
              <a:t>マスター タイトルの書式設定</a:t>
            </a:r>
            <a:endParaRPr lang="en-US" dirty="0"/>
          </a:p>
        </p:txBody>
      </p:sp>
      <p:sp>
        <p:nvSpPr>
          <p:cNvPr id="8" name="Vertical Text Placeholder 2"/>
          <p:cNvSpPr>
            <a:spLocks noGrp="1"/>
          </p:cNvSpPr>
          <p:nvPr>
            <p:ph type="body" orient="vert" sz="quarter" idx="13"/>
          </p:nvPr>
        </p:nvSpPr>
        <p:spPr>
          <a:xfrm>
            <a:off x="913775" y="609601"/>
            <a:ext cx="7658724" cy="5181599"/>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744AD22-693D-4773-9028-20E660F2F223}" type="slidenum">
              <a:rPr kumimoji="1" lang="ja-JP" altLang="en-US" smtClean="0"/>
              <a:t>‹#›</a:t>
            </a:fld>
            <a:endParaRPr kumimoji="1" lang="ja-JP" altLang="en-US"/>
          </a:p>
        </p:txBody>
      </p:sp>
    </p:spTree>
    <p:extLst>
      <p:ext uri="{BB962C8B-B14F-4D97-AF65-F5344CB8AC3E}">
        <p14:creationId xmlns:p14="http://schemas.microsoft.com/office/powerpoint/2010/main" val="4601820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75" y="618517"/>
            <a:ext cx="10364451" cy="1596177"/>
          </a:xfrm>
          <a:prstGeom prst="rect">
            <a:avLst/>
          </a:prstGeom>
        </p:spPr>
        <p:txBody>
          <a:bodyPr vert="horz" lIns="91440" tIns="45720" rIns="91440" bIns="45720" rtlCol="0" anchor="ctr">
            <a:normAutofit/>
          </a:bodyPr>
          <a:lstStyle/>
          <a:p>
            <a:r>
              <a:rPr lang="ja-JP" altLang="en-US" dirty="0"/>
              <a:t>マスター タイトルの書式設定</a:t>
            </a:r>
            <a:endParaRPr lang="en-US" dirty="0"/>
          </a:p>
        </p:txBody>
      </p:sp>
      <p:sp>
        <p:nvSpPr>
          <p:cNvPr id="3" name="Text Placeholder 2"/>
          <p:cNvSpPr>
            <a:spLocks noGrp="1"/>
          </p:cNvSpPr>
          <p:nvPr>
            <p:ph type="body" idx="1"/>
          </p:nvPr>
        </p:nvSpPr>
        <p:spPr>
          <a:xfrm>
            <a:off x="913775" y="2367093"/>
            <a:ext cx="10364452" cy="3424107"/>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7678737" y="5883275"/>
            <a:ext cx="2743200" cy="365125"/>
          </a:xfrm>
          <a:prstGeom prst="rect">
            <a:avLst/>
          </a:prstGeom>
        </p:spPr>
        <p:txBody>
          <a:bodyPr vert="horz" lIns="91440" tIns="45720" rIns="91440" bIns="45720" rtlCol="0" anchor="ctr"/>
          <a:lstStyle>
            <a:lvl1pPr algn="r">
              <a:defRPr sz="1000" cap="none" baseline="0">
                <a:solidFill>
                  <a:schemeClr val="tx1"/>
                </a:solidFill>
              </a:defRPr>
            </a:lvl1pPr>
          </a:lstStyle>
          <a:p>
            <a:endParaRPr kumimoji="1" lang="ja-JP" altLang="en-US"/>
          </a:p>
        </p:txBody>
      </p:sp>
      <p:sp>
        <p:nvSpPr>
          <p:cNvPr id="5" name="Footer Placeholder 4"/>
          <p:cNvSpPr>
            <a:spLocks noGrp="1"/>
          </p:cNvSpPr>
          <p:nvPr>
            <p:ph type="ftr" sz="quarter" idx="3"/>
          </p:nvPr>
        </p:nvSpPr>
        <p:spPr>
          <a:xfrm>
            <a:off x="913774" y="5883275"/>
            <a:ext cx="6672887" cy="365125"/>
          </a:xfrm>
          <a:prstGeom prst="rect">
            <a:avLst/>
          </a:prstGeom>
        </p:spPr>
        <p:txBody>
          <a:bodyPr vert="horz" lIns="91440" tIns="45720" rIns="91440" bIns="45720" rtlCol="0" anchor="ctr"/>
          <a:lstStyle>
            <a:lvl1pPr algn="l">
              <a:defRPr sz="1000" cap="none" baseline="0">
                <a:solidFill>
                  <a:schemeClr val="tx1"/>
                </a:solidFill>
              </a:defRPr>
            </a:lvl1pPr>
          </a:lstStyle>
          <a:p>
            <a:endParaRPr kumimoji="1" lang="ja-JP" altLang="en-US"/>
          </a:p>
        </p:txBody>
      </p:sp>
      <p:sp>
        <p:nvSpPr>
          <p:cNvPr id="6" name="Slide Number Placeholder 5"/>
          <p:cNvSpPr>
            <a:spLocks noGrp="1"/>
          </p:cNvSpPr>
          <p:nvPr>
            <p:ph type="sldNum" sz="quarter" idx="4"/>
          </p:nvPr>
        </p:nvSpPr>
        <p:spPr>
          <a:xfrm>
            <a:off x="10514011" y="5883275"/>
            <a:ext cx="764215" cy="365125"/>
          </a:xfrm>
          <a:prstGeom prst="rect">
            <a:avLst/>
          </a:prstGeom>
        </p:spPr>
        <p:txBody>
          <a:bodyPr vert="horz" lIns="91440" tIns="45720" rIns="91440" bIns="45720" rtlCol="0" anchor="ctr"/>
          <a:lstStyle>
            <a:lvl1pPr algn="r">
              <a:defRPr sz="1000" cap="none" baseline="0">
                <a:solidFill>
                  <a:schemeClr val="tx1"/>
                </a:solidFill>
              </a:defRPr>
            </a:lvl1pPr>
          </a:lstStyle>
          <a:p>
            <a:fld id="{7744AD22-693D-4773-9028-20E660F2F223}" type="slidenum">
              <a:rPr kumimoji="1" lang="ja-JP" altLang="en-US" smtClean="0"/>
              <a:pPr/>
              <a:t>‹#›</a:t>
            </a:fld>
            <a:endParaRPr kumimoji="1" lang="ja-JP" altLang="en-US"/>
          </a:p>
        </p:txBody>
      </p:sp>
    </p:spTree>
    <p:extLst>
      <p:ext uri="{BB962C8B-B14F-4D97-AF65-F5344CB8AC3E}">
        <p14:creationId xmlns:p14="http://schemas.microsoft.com/office/powerpoint/2010/main" val="385256560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4" r:id="rId3"/>
    <p:sldLayoutId id="2147483669" r:id="rId4"/>
    <p:sldLayoutId id="2147483668" r:id="rId5"/>
    <p:sldLayoutId id="2147483678" r:id="rId6"/>
    <p:sldLayoutId id="2147483667" r:id="rId7"/>
    <p:sldLayoutId id="2147483665" r:id="rId8"/>
    <p:sldLayoutId id="2147483666" r:id="rId9"/>
    <p:sldLayoutId id="2147483670" r:id="rId10"/>
    <p:sldLayoutId id="2147483671" r:id="rId11"/>
    <p:sldLayoutId id="2147483674" r:id="rId12"/>
    <p:sldLayoutId id="2147483675" r:id="rId13"/>
    <p:sldLayoutId id="2147483676" r:id="rId14"/>
    <p:sldLayoutId id="2147483677" r:id="rId15"/>
  </p:sldLayoutIdLst>
  <p:hf hdr="0" ftr="0" dt="0"/>
  <p:txStyles>
    <p:titleStyle>
      <a:lvl1pPr algn="ctr" defTabSz="914400" rtl="0" eaLnBrk="1" latinLnBrk="0" hangingPunct="1">
        <a:lnSpc>
          <a:spcPct val="90000"/>
        </a:lnSpc>
        <a:spcBef>
          <a:spcPct val="0"/>
        </a:spcBef>
        <a:buNone/>
        <a:defRPr kumimoji="1" sz="3600" kern="1200" cap="none" baseline="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kumimoji="1" sz="2000" kern="1200" cap="none"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kumimoji="1"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kumimoji="1" sz="1600" kern="1200" cap="none"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kumimoji="1"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kumimoji="1" sz="1400" kern="1200" cap="none"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kumimoji="1"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kumimoji="1"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kumimoji="1"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kumimoji="1" sz="1400" kern="1200" cap="all" baseline="0">
          <a:solidFill>
            <a:schemeClr val="tx1"/>
          </a:solidFill>
          <a:effectLst/>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3600" b="1">
                <a:solidFill>
                  <a:srgbClr val="1F1F1F"/>
                </a:solidFill>
                <a:latin typeface="游ゴシック Medium"/>
              </a:rPr>
              <a:t>CADタグ・属性の自動抽出</a:t>
            </a:r>
          </a:p>
          <a:p>
            <a:r>
              <a:rPr sz="3600" b="1">
                <a:solidFill>
                  <a:srgbClr val="1F1F1F"/>
                </a:solidFill>
                <a:latin typeface="游ゴシック Medium"/>
              </a:rPr>
              <a:t>抽出元と具体例のご説明</a:t>
            </a:r>
          </a:p>
        </p:txBody>
      </p:sp>
      <p:sp>
        <p:nvSpPr>
          <p:cNvPr id="3" name="Subtitle 2"/>
          <p:cNvSpPr>
            <a:spLocks noGrp="1"/>
          </p:cNvSpPr>
          <p:nvPr>
            <p:ph type="subTitle" idx="1"/>
          </p:nvPr>
        </p:nvSpPr>
        <p:spPr/>
        <p:txBody>
          <a:bodyPr/>
          <a:lstStyle/>
          <a:p>
            <a:r>
              <a:rPr sz="1800">
                <a:solidFill>
                  <a:srgbClr val="5A5A5A"/>
                </a:solidFill>
                <a:latin typeface="游ゴシック Medium"/>
              </a:rPr>
              <a:t>ICAD／STEP／DXFから何をどう抜き出し、どこまでお渡しできるか</a:t>
            </a:r>
          </a:p>
        </p:txBody>
      </p:sp>
      <p:sp>
        <p:nvSpPr>
          <p:cNvPr id="4" name="Text Placeholder 3"/>
          <p:cNvSpPr>
            <a:spLocks noGrp="1"/>
          </p:cNvSpPr>
          <p:nvPr>
            <p:ph type="body" idx="10" sz="quarter"/>
          </p:nvPr>
        </p:nvSpPr>
        <p:spPr/>
        <p:txBody>
          <a:bodyPr/>
          <a:lstStyle/>
          <a:p>
            <a:r>
              <a:rPr sz="1200">
                <a:solidFill>
                  <a:srgbClr val="5A5A5A"/>
                </a:solidFill>
                <a:latin typeface="游ゴシック Medium"/>
              </a:rPr>
              <a:t>2026.07.28　/　株式会社アルパイン設計事務所　/　創屋様ご説明用</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1F1F1F"/>
                </a:solidFill>
                <a:latin typeface="游ゴシック Medium"/>
              </a:rPr>
              <a:t>本日ご説明する内容</a:t>
            </a:r>
          </a:p>
        </p:txBody>
      </p:sp>
      <p:sp>
        <p:nvSpPr>
          <p:cNvPr id="3" name="Text Placeholder 2"/>
          <p:cNvSpPr>
            <a:spLocks noGrp="1"/>
          </p:cNvSpPr>
          <p:nvPr>
            <p:ph type="body" idx="17" sz="quarter"/>
          </p:nvPr>
        </p:nvSpPr>
        <p:spPr/>
        <p:txBody>
          <a:bodyPr/>
          <a:lstStyle/>
          <a:p>
            <a:r>
              <a:rPr sz="1100" b="1">
                <a:solidFill>
                  <a:srgbClr val="005BAC"/>
                </a:solidFill>
                <a:latin typeface="游ゴシック Medium"/>
              </a:rPr>
              <a:t>いただいた4つのご質問への回答</a:t>
            </a:r>
          </a:p>
        </p:txBody>
      </p:sp>
      <p:graphicFrame>
        <p:nvGraphicFramePr>
          <p:cNvPr id="4" name="Table 3"/>
          <p:cNvGraphicFramePr>
            <a:graphicFrameLocks noGrp="1"/>
          </p:cNvGraphicFramePr>
          <p:nvPr/>
        </p:nvGraphicFramePr>
        <p:xfrm>
          <a:off x="457200" y="1364228"/>
          <a:ext cx="11352212" cy="2600000"/>
        </p:xfrm>
        <a:graphic>
          <a:graphicData uri="http://schemas.openxmlformats.org/drawingml/2006/table">
            <a:tbl>
              <a:tblPr firstRow="1" bandRow="1">
                <a:tableStyleId>{5C22544A-7EE6-4342-B048-85BDC9FD1C3A}</a:tableStyleId>
              </a:tblPr>
              <a:tblGrid>
                <a:gridCol w="5676106"/>
                <a:gridCol w="5676106"/>
              </a:tblGrid>
              <a:tr h="520000">
                <a:tc>
                  <a:txBody>
                    <a:bodyPr/>
                    <a:lstStyle/>
                    <a:p>
                      <a:r>
                        <a:rPr sz="1200" b="1">
                          <a:solidFill>
                            <a:srgbClr val="FFFFFF"/>
                          </a:solidFill>
                          <a:latin typeface="游ゴシック Medium"/>
                        </a:rPr>
                        <a:t>いただいたご質問</a:t>
                      </a:r>
                    </a:p>
                  </a:txBody>
                  <a:tcPr anchor="ctr" marL="64000" marR="64000">
                    <a:solidFill>
                      <a:srgbClr val="005BAC"/>
                    </a:solidFill>
                  </a:tcPr>
                </a:tc>
                <a:tc>
                  <a:txBody>
                    <a:bodyPr/>
                    <a:lstStyle/>
                    <a:p>
                      <a:r>
                        <a:rPr sz="1200" b="1">
                          <a:solidFill>
                            <a:srgbClr val="FFFFFF"/>
                          </a:solidFill>
                          <a:latin typeface="游ゴシック Medium"/>
                        </a:rPr>
                        <a:t>本資料での回答箇所</a:t>
                      </a:r>
                    </a:p>
                  </a:txBody>
                  <a:tcPr anchor="ctr" marL="64000" marR="64000">
                    <a:solidFill>
                      <a:srgbClr val="005BAC"/>
                    </a:solidFill>
                  </a:tcPr>
                </a:tc>
              </a:tr>
              <a:tr h="520000">
                <a:tc>
                  <a:txBody>
                    <a:bodyPr/>
                    <a:lstStyle/>
                    <a:p>
                      <a:pPr>
                        <a:lnSpc>
                          <a:spcPct val="100000"/>
                        </a:lnSpc>
                      </a:pPr>
                      <a:r>
                        <a:rPr sz="1300" b="0">
                          <a:solidFill>
                            <a:srgbClr val="1F1F1F"/>
                          </a:solidFill>
                          <a:latin typeface="游ゴシック Medium"/>
                        </a:rPr>
                        <a:t>どこからどういったものを抜き出すのかが事前に分かるとありがたい</a:t>
                      </a:r>
                    </a:p>
                  </a:txBody>
                  <a:tcPr anchor="ctr" marL="64000" marR="64000" marT="24000" marB="24000">
                    <a:solidFill>
                      <a:srgbClr val="FFFFFF"/>
                    </a:solidFill>
                  </a:tcPr>
                </a:tc>
                <a:tc>
                  <a:txBody>
                    <a:bodyPr/>
                    <a:lstStyle/>
                    <a:p>
                      <a:pPr>
                        <a:lnSpc>
                          <a:spcPct val="100000"/>
                        </a:lnSpc>
                      </a:pPr>
                      <a:r>
                        <a:rPr sz="1300" b="0">
                          <a:solidFill>
                            <a:srgbClr val="1F1F1F"/>
                          </a:solidFill>
                          <a:latin typeface="游ゴシック Medium"/>
                        </a:rPr>
                        <a:t>CHAPTER 01・02　抽出元カタログと正規化・タグ生成ルール</a:t>
                      </a:r>
                    </a:p>
                  </a:txBody>
                  <a:tcPr anchor="ctr" marL="64000" marR="64000" marT="24000" marB="24000">
                    <a:solidFill>
                      <a:srgbClr val="FFFFFF"/>
                    </a:solidFill>
                  </a:tcPr>
                </a:tc>
              </a:tr>
              <a:tr h="520000">
                <a:tc>
                  <a:txBody>
                    <a:bodyPr/>
                    <a:lstStyle/>
                    <a:p>
                      <a:pPr>
                        <a:lnSpc>
                          <a:spcPct val="100000"/>
                        </a:lnSpc>
                      </a:pPr>
                      <a:r>
                        <a:rPr sz="1300" b="0">
                          <a:solidFill>
                            <a:srgbClr val="1F1F1F"/>
                          </a:solidFill>
                          <a:latin typeface="游ゴシック Medium"/>
                        </a:rPr>
                        <a:t>どういったものが抜き出されるのか、具体例が欲しい</a:t>
                      </a:r>
                    </a:p>
                  </a:txBody>
                  <a:tcPr anchor="ctr" marL="64000" marR="64000" marT="24000" marB="24000">
                    <a:solidFill>
                      <a:srgbClr val="F5F7FA"/>
                    </a:solidFill>
                  </a:tcPr>
                </a:tc>
                <a:tc>
                  <a:txBody>
                    <a:bodyPr/>
                    <a:lstStyle/>
                    <a:p>
                      <a:pPr>
                        <a:lnSpc>
                          <a:spcPct val="100000"/>
                        </a:lnSpc>
                      </a:pPr>
                      <a:r>
                        <a:rPr sz="1300" b="0">
                          <a:solidFill>
                            <a:srgbClr val="1F1F1F"/>
                          </a:solidFill>
                          <a:latin typeface="游ゴシック Medium"/>
                        </a:rPr>
                        <a:t>CHAPTER 03　実ICAD 39件の実測結果と実ファイル5例</a:t>
                      </a:r>
                    </a:p>
                  </a:txBody>
                  <a:tcPr anchor="ctr" marL="64000" marR="64000" marT="24000" marB="24000">
                    <a:solidFill>
                      <a:srgbClr val="F5F7FA"/>
                    </a:solidFill>
                  </a:tcPr>
                </a:tc>
              </a:tr>
              <a:tr h="520000">
                <a:tc>
                  <a:txBody>
                    <a:bodyPr/>
                    <a:lstStyle/>
                    <a:p>
                      <a:pPr>
                        <a:lnSpc>
                          <a:spcPct val="100000"/>
                        </a:lnSpc>
                      </a:pPr>
                      <a:r>
                        <a:rPr sz="1300" b="0">
                          <a:solidFill>
                            <a:srgbClr val="1F1F1F"/>
                          </a:solidFill>
                          <a:latin typeface="游ゴシック Medium"/>
                        </a:rPr>
                        <a:t>完成後はタグ・属性抽出の部分のソースだけ頂けるとありがたい</a:t>
                      </a:r>
                    </a:p>
                  </a:txBody>
                  <a:tcPr anchor="ctr" marL="64000" marR="64000" marT="24000" marB="24000">
                    <a:solidFill>
                      <a:srgbClr val="FFFFFF"/>
                    </a:solidFill>
                  </a:tcPr>
                </a:tc>
                <a:tc>
                  <a:txBody>
                    <a:bodyPr/>
                    <a:lstStyle/>
                    <a:p>
                      <a:pPr>
                        <a:lnSpc>
                          <a:spcPct val="100000"/>
                        </a:lnSpc>
                      </a:pPr>
                      <a:r>
                        <a:rPr sz="1300" b="0">
                          <a:solidFill>
                            <a:srgbClr val="1F1F1F"/>
                          </a:solidFill>
                          <a:latin typeface="游ゴシック Medium"/>
                        </a:rPr>
                        <a:t>CHAPTER 04　切り出し範囲とモジュール境界</a:t>
                      </a:r>
                    </a:p>
                  </a:txBody>
                  <a:tcPr anchor="ctr" marL="64000" marR="64000" marT="24000" marB="24000">
                    <a:solidFill>
                      <a:srgbClr val="FFFFFF"/>
                    </a:solidFill>
                  </a:tcPr>
                </a:tc>
              </a:tr>
              <a:tr h="520000">
                <a:tc>
                  <a:txBody>
                    <a:bodyPr/>
                    <a:lstStyle/>
                    <a:p>
                      <a:pPr>
                        <a:lnSpc>
                          <a:spcPct val="100000"/>
                        </a:lnSpc>
                      </a:pPr>
                      <a:r>
                        <a:rPr sz="1300" b="0">
                          <a:solidFill>
                            <a:srgbClr val="1F1F1F"/>
                          </a:solidFill>
                          <a:latin typeface="游ゴシック Medium"/>
                        </a:rPr>
                        <a:t>ICAD→STEP変換／ナレッジシステム専用ICADライセンスの用意</a:t>
                      </a:r>
                    </a:p>
                  </a:txBody>
                  <a:tcPr anchor="ctr" marL="64000" marR="64000" marT="24000" marB="24000">
                    <a:solidFill>
                      <a:srgbClr val="F5F7FA"/>
                    </a:solidFill>
                  </a:tcPr>
                </a:tc>
                <a:tc>
                  <a:txBody>
                    <a:bodyPr/>
                    <a:lstStyle/>
                    <a:p>
                      <a:pPr>
                        <a:lnSpc>
                          <a:spcPct val="100000"/>
                        </a:lnSpc>
                      </a:pPr>
                      <a:r>
                        <a:rPr sz="1300" b="0">
                          <a:solidFill>
                            <a:srgbClr val="1F1F1F"/>
                          </a:solidFill>
                          <a:latin typeface="游ゴシック Medium"/>
                        </a:rPr>
                        <a:t>CHAPTER 05　変換の実測結果とライセンスの論点</a:t>
                      </a:r>
                    </a:p>
                  </a:txBody>
                  <a:tcPr anchor="ctr" marL="64000" marR="64000" marT="24000" marB="24000">
                    <a:solidFill>
                      <a:srgbClr val="F5F7FA"/>
                    </a:solidFill>
                  </a:tcPr>
                </a:tc>
              </a:tr>
            </a:tbl>
          </a:graphicData>
        </a:graphic>
      </p:graphicFrame>
      <p:sp>
        <p:nvSpPr>
          <p:cNvPr id="5" name="TextBox 4"/>
          <p:cNvSpPr txBox="1"/>
          <p:nvPr/>
        </p:nvSpPr>
        <p:spPr>
          <a:xfrm>
            <a:off x="457200" y="4024228"/>
            <a:ext cx="11352213" cy="400000"/>
          </a:xfrm>
          <a:prstGeom prst="rect">
            <a:avLst/>
          </a:prstGeom>
          <a:noFill/>
        </p:spPr>
        <p:txBody>
          <a:bodyPr wrap="square">
            <a:spAutoFit/>
          </a:bodyPr>
          <a:lstStyle/>
          <a:p>
            <a:r>
              <a:rPr sz="1000">
                <a:solidFill>
                  <a:srgbClr val="5A5A5A"/>
                </a:solidFill>
                <a:latin typeface="游ゴシック Medium"/>
              </a:rPr>
              <a:t>本資料の事実は、実機ICADでの抽出結果および実装コードに基づいています。未確認の事項は「要確認」と明記しています。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1F1F"/>
                </a:solidFill>
                <a:latin typeface="游ゴシック Medium"/>
              </a:rPr>
              <a:t>全体像</a:t>
            </a:r>
          </a:p>
        </p:txBody>
      </p:sp>
      <p:sp>
        <p:nvSpPr>
          <p:cNvPr id="3" name="Text Placeholder 2"/>
          <p:cNvSpPr>
            <a:spLocks noGrp="1"/>
          </p:cNvSpPr>
          <p:nvPr>
            <p:ph type="body" idx="2" sz="half"/>
          </p:nvPr>
        </p:nvSpPr>
        <p:spPr/>
        <p:txBody>
          <a:bodyPr/>
          <a:lstStyle/>
          <a:p>
            <a:r>
              <a:rPr sz="1400" b="1">
                <a:solidFill>
                  <a:srgbClr val="005BAC"/>
                </a:solidFill>
                <a:latin typeface="游ゴシック Medium"/>
              </a:rPr>
              <a:t>CHAPTER　01</a:t>
            </a:r>
          </a:p>
        </p:txBody>
      </p:sp>
      <p:sp>
        <p:nvSpPr>
          <p:cNvPr id="4" name="Text Placeholder 3"/>
          <p:cNvSpPr>
            <a:spLocks noGrp="1"/>
          </p:cNvSpPr>
          <p:nvPr>
            <p:ph type="body" idx="17" sz="half"/>
          </p:nvPr>
        </p:nvSpPr>
        <p:spPr/>
        <p:txBody>
          <a:bodyPr/>
          <a:lstStyle/>
          <a:p>
            <a:r>
              <a:rPr sz="1200" b="1">
                <a:solidFill>
                  <a:srgbClr val="005BAC"/>
                </a:solidFill>
                <a:latin typeface="游ゴシック Medium"/>
              </a:rPr>
              <a:t>Overview</a:t>
            </a:r>
          </a:p>
        </p:txBody>
      </p:sp>
      <p:sp>
        <p:nvSpPr>
          <p:cNvPr id="5" name="Content Placeholder 4"/>
          <p:cNvSpPr>
            <a:spLocks noGrp="1"/>
          </p:cNvSpPr>
          <p:nvPr>
            <p:ph idx="18" sz="quarter"/>
          </p:nvPr>
        </p:nvSpPr>
        <p:spPr/>
        <p:txBody>
          <a:bodyPr wrap="square"/>
          <a:lstStyle/>
          <a:p>
            <a:pPr>
              <a:spcAft>
                <a:spcPts val="600"/>
              </a:spcAft>
            </a:pPr>
            <a:r>
              <a:rPr sz="1400" b="0">
                <a:solidFill>
                  <a:srgbClr val="1F1F1F"/>
                </a:solidFill>
                <a:latin typeface="游ゴシック Medium"/>
              </a:rPr>
              <a:t>抽出 → 正規化 → タグ生成 の3段構成</a:t>
            </a:r>
          </a:p>
          <a:p>
            <a:pPr>
              <a:spcAft>
                <a:spcPts val="600"/>
              </a:spcAft>
            </a:pPr>
            <a:r>
              <a:rPr sz="1400" b="0">
                <a:solidFill>
                  <a:srgbClr val="1F1F1F"/>
                </a:solidFill>
                <a:latin typeface="游ゴシック Medium"/>
              </a:rPr>
              <a:t>入力は3経路。ICAD正本／ICADから変換したSTEP・DXF／既存のSTEP・DXF</a:t>
            </a:r>
          </a:p>
          <a:p>
            <a:pPr>
              <a:spcAft>
                <a:spcPts val="600"/>
              </a:spcAft>
            </a:pPr>
            <a:r>
              <a:rPr sz="1400" b="0">
                <a:solidFill>
                  <a:srgbClr val="1F1F1F"/>
                </a:solidFill>
                <a:latin typeface="游ゴシック Medium"/>
              </a:rPr>
              <a:t>抽出器は意味付けをせず、生の値だけを出す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1F1F1F"/>
                </a:solidFill>
                <a:latin typeface="游ゴシック Medium"/>
              </a:rPr>
              <a:t>処理の流れ</a:t>
            </a:r>
          </a:p>
        </p:txBody>
      </p:sp>
      <p:sp>
        <p:nvSpPr>
          <p:cNvPr id="3" name="Text Placeholder 2"/>
          <p:cNvSpPr>
            <a:spLocks noGrp="1"/>
          </p:cNvSpPr>
          <p:nvPr>
            <p:ph type="body" idx="17" sz="quarter"/>
          </p:nvPr>
        </p:nvSpPr>
        <p:spPr/>
        <p:txBody>
          <a:bodyPr/>
          <a:lstStyle/>
          <a:p>
            <a:r>
              <a:rPr sz="1100" b="1">
                <a:solidFill>
                  <a:srgbClr val="005BAC"/>
                </a:solidFill>
                <a:latin typeface="游ゴシック Medium"/>
              </a:rPr>
              <a:t>責務を3層に分け、層ごとに切り出せる形にしています</a:t>
            </a:r>
          </a:p>
        </p:txBody>
      </p:sp>
      <p:sp>
        <p:nvSpPr>
          <p:cNvPr id="4" name="TextBox 3"/>
          <p:cNvSpPr txBox="1"/>
          <p:nvPr/>
        </p:nvSpPr>
        <p:spPr>
          <a:xfrm>
            <a:off x="457200" y="1364228"/>
            <a:ext cx="3650737" cy="4461520"/>
          </a:xfrm>
          <a:prstGeom prst="rect">
            <a:avLst/>
          </a:prstGeom>
          <a:solidFill>
            <a:srgbClr val="FFFFFF"/>
          </a:solidFill>
          <a:ln w="12700">
            <a:solidFill>
              <a:srgbClr val="C9D3DD"/>
            </a:solidFill>
          </a:ln>
        </p:spPr>
        <p:txBody>
          <a:bodyPr wrap="square" lIns="140000" rIns="120000" tIns="110000">
            <a:spAutoFit/>
          </a:bodyPr>
          <a:lstStyle/>
          <a:p>
            <a:pPr>
              <a:spcAft>
                <a:spcPts val="600"/>
              </a:spcAft>
            </a:pPr>
            <a:r>
              <a:rPr sz="1400" b="1">
                <a:solidFill>
                  <a:srgbClr val="005BAC"/>
                </a:solidFill>
                <a:latin typeface="游ゴシック Medium"/>
              </a:rPr>
              <a:t>① 抽出（C#）</a:t>
            </a:r>
          </a:p>
          <a:p>
            <a:pPr>
              <a:spcAft>
                <a:spcPts val="400"/>
              </a:spcAft>
            </a:pPr>
            <a:r>
              <a:rPr sz="1200">
                <a:solidFill>
                  <a:srgbClr val="1F1F1F"/>
                </a:solidFill>
                <a:latin typeface="游ゴシック Medium"/>
              </a:rPr>
              <a:t>SXNET経由でICADから生の値だけを取得</a:t>
            </a:r>
          </a:p>
          <a:p>
            <a:pPr>
              <a:spcAft>
                <a:spcPts val="400"/>
              </a:spcAft>
            </a:pPr>
            <a:r>
              <a:rPr sz="1200">
                <a:solidFill>
                  <a:srgbClr val="1F1F1F"/>
                </a:solidFill>
                <a:latin typeface="游ゴシック Medium"/>
              </a:rPr>
              <a:t>意味付け・推測は一切しない</a:t>
            </a:r>
          </a:p>
          <a:p>
            <a:pPr>
              <a:spcAft>
                <a:spcPts val="400"/>
              </a:spcAft>
            </a:pPr>
            <a:r>
              <a:rPr sz="1200">
                <a:solidFill>
                  <a:srgbClr val="1F1F1F"/>
                </a:solidFill>
                <a:latin typeface="游ゴシック Medium"/>
              </a:rPr>
              <a:t>1図面 = 1回のプロセス呼び出し</a:t>
            </a:r>
          </a:p>
          <a:p>
            <a:pPr>
              <a:spcAft>
                <a:spcPts val="400"/>
              </a:spcAft>
            </a:pPr>
            <a:r>
              <a:rPr sz="1200">
                <a:solidFill>
                  <a:srgbClr val="1F1F1F"/>
                </a:solidFill>
                <a:latin typeface="游ゴシック Medium"/>
              </a:rPr>
              <a:t>入出力はJSONファイル</a:t>
            </a:r>
          </a:p>
          <a:p>
            <a:pPr>
              <a:spcAft>
                <a:spcPts val="400"/>
              </a:spcAft>
            </a:pPr>
            <a:r>
              <a:rPr sz="1200">
                <a:solidFill>
                  <a:srgbClr val="1F1F1F"/>
                </a:solidFill>
                <a:latin typeface="游ゴシック Medium"/>
              </a:rPr>
              <a:t>出力キー: raw_extract</a:t>
            </a:r>
          </a:p>
        </p:txBody>
      </p:sp>
      <p:sp>
        <p:nvSpPr>
          <p:cNvPr id="5" name="TextBox 4"/>
          <p:cNvSpPr txBox="1"/>
          <p:nvPr/>
        </p:nvSpPr>
        <p:spPr>
          <a:xfrm>
            <a:off x="4307937" y="1364228"/>
            <a:ext cx="3650737" cy="4461520"/>
          </a:xfrm>
          <a:prstGeom prst="rect">
            <a:avLst/>
          </a:prstGeom>
          <a:solidFill>
            <a:srgbClr val="FFFFFF"/>
          </a:solidFill>
          <a:ln w="12700">
            <a:solidFill>
              <a:srgbClr val="C9D3DD"/>
            </a:solidFill>
          </a:ln>
        </p:spPr>
        <p:txBody>
          <a:bodyPr wrap="square" lIns="140000" rIns="120000" tIns="110000">
            <a:spAutoFit/>
          </a:bodyPr>
          <a:lstStyle/>
          <a:p>
            <a:pPr>
              <a:spcAft>
                <a:spcPts val="600"/>
              </a:spcAft>
            </a:pPr>
            <a:r>
              <a:rPr sz="1400" b="1">
                <a:solidFill>
                  <a:srgbClr val="005BAC"/>
                </a:solidFill>
                <a:latin typeface="游ゴシック Medium"/>
              </a:rPr>
              <a:t>② 正規化（Python）</a:t>
            </a:r>
          </a:p>
          <a:p>
            <a:pPr>
              <a:spcAft>
                <a:spcPts val="400"/>
              </a:spcAft>
            </a:pPr>
            <a:r>
              <a:rPr sz="1200">
                <a:solidFill>
                  <a:srgbClr val="1F1F1F"/>
                </a:solidFill>
                <a:latin typeface="游ゴシック Medium"/>
              </a:rPr>
              <a:t>raw_extract を固定スキーマへ整形</a:t>
            </a:r>
          </a:p>
          <a:p>
            <a:pPr>
              <a:spcAft>
                <a:spcPts val="400"/>
              </a:spcAft>
            </a:pPr>
            <a:r>
              <a:rPr sz="1200">
                <a:solidFill>
                  <a:srgbClr val="1F1F1F"/>
                </a:solidFill>
                <a:latin typeface="游ゴシック Medium"/>
              </a:rPr>
              <a:t>2D: 133キー / 3D: 97キー</a:t>
            </a:r>
          </a:p>
          <a:p>
            <a:pPr>
              <a:spcAft>
                <a:spcPts val="400"/>
              </a:spcAft>
            </a:pPr>
            <a:r>
              <a:rPr sz="1200">
                <a:solidFill>
                  <a:srgbClr val="1F1F1F"/>
                </a:solidFill>
                <a:latin typeface="游ゴシック Medium"/>
              </a:rPr>
              <a:t>取れなかった値は null / 空配列のまま残す</a:t>
            </a:r>
          </a:p>
          <a:p>
            <a:pPr>
              <a:spcAft>
                <a:spcPts val="400"/>
              </a:spcAft>
            </a:pPr>
            <a:r>
              <a:rPr sz="1200">
                <a:solidFill>
                  <a:srgbClr val="1F1F1F"/>
                </a:solidFill>
                <a:latin typeface="游ゴシック Medium"/>
              </a:rPr>
              <a:t>「取れなかった」ことも情報として保持</a:t>
            </a:r>
          </a:p>
          <a:p>
            <a:pPr>
              <a:spcAft>
                <a:spcPts val="400"/>
              </a:spcAft>
            </a:pPr>
            <a:r>
              <a:rPr sz="1200">
                <a:solidFill>
                  <a:srgbClr val="1F1F1F"/>
                </a:solidFill>
                <a:latin typeface="游ゴシック Medium"/>
              </a:rPr>
              <a:t>出力キー: canonical_attributes</a:t>
            </a:r>
          </a:p>
        </p:txBody>
      </p:sp>
      <p:sp>
        <p:nvSpPr>
          <p:cNvPr id="6" name="TextBox 5"/>
          <p:cNvSpPr txBox="1"/>
          <p:nvPr/>
        </p:nvSpPr>
        <p:spPr>
          <a:xfrm>
            <a:off x="8158674" y="1364228"/>
            <a:ext cx="3650737" cy="4461520"/>
          </a:xfrm>
          <a:prstGeom prst="rect">
            <a:avLst/>
          </a:prstGeom>
          <a:solidFill>
            <a:srgbClr val="FFFFFF"/>
          </a:solidFill>
          <a:ln w="12700">
            <a:solidFill>
              <a:srgbClr val="C9D3DD"/>
            </a:solidFill>
          </a:ln>
        </p:spPr>
        <p:txBody>
          <a:bodyPr wrap="square" lIns="140000" rIns="120000" tIns="110000">
            <a:spAutoFit/>
          </a:bodyPr>
          <a:lstStyle/>
          <a:p>
            <a:pPr>
              <a:spcAft>
                <a:spcPts val="600"/>
              </a:spcAft>
            </a:pPr>
            <a:r>
              <a:rPr sz="1400" b="1">
                <a:solidFill>
                  <a:srgbClr val="005BAC"/>
                </a:solidFill>
                <a:latin typeface="游ゴシック Medium"/>
              </a:rPr>
              <a:t>③ タグ生成（Python）</a:t>
            </a:r>
          </a:p>
          <a:p>
            <a:pPr>
              <a:spcAft>
                <a:spcPts val="400"/>
              </a:spcAft>
            </a:pPr>
            <a:r>
              <a:rPr sz="1200">
                <a:solidFill>
                  <a:srgbClr val="1F1F1F"/>
                </a:solidFill>
                <a:latin typeface="游ゴシック Medium"/>
              </a:rPr>
              <a:t>canonical_attributes から11種類のタグを生成</a:t>
            </a:r>
          </a:p>
          <a:p>
            <a:pPr>
              <a:spcAft>
                <a:spcPts val="400"/>
              </a:spcAft>
            </a:pPr>
            <a:r>
              <a:rPr sz="1200">
                <a:solidFill>
                  <a:srgbClr val="1F1F1F"/>
                </a:solidFill>
                <a:latin typeface="游ゴシック Medium"/>
              </a:rPr>
              <a:t>辞書はDB化済み。画面から編集可能</a:t>
            </a:r>
          </a:p>
          <a:p>
            <a:pPr>
              <a:spcAft>
                <a:spcPts val="400"/>
              </a:spcAft>
            </a:pPr>
            <a:r>
              <a:rPr sz="1200">
                <a:solidFill>
                  <a:srgbClr val="1F1F1F"/>
                </a:solidFill>
                <a:latin typeface="游ゴシック Medium"/>
              </a:rPr>
              <a:t>各タグに source / evidence / confidence /</a:t>
            </a:r>
          </a:p>
          <a:p>
            <a:pPr>
              <a:spcAft>
                <a:spcPts val="400"/>
              </a:spcAft>
            </a:pPr>
            <a:r>
              <a:rPr sz="1200">
                <a:solidFill>
                  <a:srgbClr val="1F1F1F"/>
                </a:solidFill>
                <a:latin typeface="游ゴシック Medium"/>
              </a:rPr>
              <a:t>reason / tag_rule_version を付与</a:t>
            </a:r>
          </a:p>
          <a:p>
            <a:pPr>
              <a:spcAft>
                <a:spcPts val="400"/>
              </a:spcAft>
            </a:pPr>
            <a:r>
              <a:rPr sz="1200">
                <a:solidFill>
                  <a:srgbClr val="1F1F1F"/>
                </a:solidFill>
                <a:latin typeface="游ゴシック Medium"/>
              </a:rPr>
              <a:t>出力キー: derived_tags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1F1F1F"/>
                </a:solidFill>
                <a:latin typeface="游ゴシック Medium"/>
              </a:rPr>
              <a:t>3つの入力経路</a:t>
            </a:r>
          </a:p>
        </p:txBody>
      </p:sp>
      <p:sp>
        <p:nvSpPr>
          <p:cNvPr id="3" name="Text Placeholder 2"/>
          <p:cNvSpPr>
            <a:spLocks noGrp="1"/>
          </p:cNvSpPr>
          <p:nvPr>
            <p:ph type="body" idx="17" sz="quarter"/>
          </p:nvPr>
        </p:nvSpPr>
        <p:spPr/>
        <p:txBody>
          <a:bodyPr/>
          <a:lstStyle/>
          <a:p>
            <a:r>
              <a:rPr sz="1100" b="1">
                <a:solidFill>
                  <a:srgbClr val="005BAC"/>
                </a:solidFill>
                <a:latin typeface="游ゴシック Medium"/>
              </a:rPr>
              <a:t>ICAD本体が必要になるのは経路Aと、経路Bの変換の瞬間だけ</a:t>
            </a:r>
          </a:p>
        </p:txBody>
      </p:sp>
      <p:graphicFrame>
        <p:nvGraphicFramePr>
          <p:cNvPr id="4" name="Table 3"/>
          <p:cNvGraphicFramePr>
            <a:graphicFrameLocks noGrp="1"/>
          </p:cNvGraphicFramePr>
          <p:nvPr/>
        </p:nvGraphicFramePr>
        <p:xfrm>
          <a:off x="457200" y="1364228"/>
          <a:ext cx="11352211" cy="2100000"/>
        </p:xfrm>
        <a:graphic>
          <a:graphicData uri="http://schemas.openxmlformats.org/drawingml/2006/table">
            <a:tbl>
              <a:tblPr firstRow="1" bandRow="1">
                <a:tableStyleId>{5C22544A-7EE6-4342-B048-85BDC9FD1C3A}</a:tableStyleId>
              </a:tblPr>
              <a:tblGrid>
                <a:gridCol w="908177"/>
                <a:gridCol w="2906166"/>
                <a:gridCol w="1997989"/>
                <a:gridCol w="1453083"/>
                <a:gridCol w="4086796"/>
              </a:tblGrid>
              <a:tr h="525000">
                <a:tc>
                  <a:txBody>
                    <a:bodyPr/>
                    <a:lstStyle/>
                    <a:p>
                      <a:r>
                        <a:rPr sz="1100" b="1">
                          <a:solidFill>
                            <a:srgbClr val="FFFFFF"/>
                          </a:solidFill>
                          <a:latin typeface="游ゴシック Medium"/>
                        </a:rPr>
                        <a:t>経路</a:t>
                      </a:r>
                    </a:p>
                  </a:txBody>
                  <a:tcPr anchor="ctr" marL="64000" marR="64000">
                    <a:solidFill>
                      <a:srgbClr val="005BAC"/>
                    </a:solidFill>
                  </a:tcPr>
                </a:tc>
                <a:tc>
                  <a:txBody>
                    <a:bodyPr/>
                    <a:lstStyle/>
                    <a:p>
                      <a:r>
                        <a:rPr sz="1100" b="1">
                          <a:solidFill>
                            <a:srgbClr val="FFFFFF"/>
                          </a:solidFill>
                          <a:latin typeface="游ゴシック Medium"/>
                        </a:rPr>
                        <a:t>入力</a:t>
                      </a:r>
                    </a:p>
                  </a:txBody>
                  <a:tcPr anchor="ctr" marL="64000" marR="64000">
                    <a:solidFill>
                      <a:srgbClr val="005BAC"/>
                    </a:solidFill>
                  </a:tcPr>
                </a:tc>
                <a:tc>
                  <a:txBody>
                    <a:bodyPr/>
                    <a:lstStyle/>
                    <a:p>
                      <a:r>
                        <a:rPr sz="1100" b="1">
                          <a:solidFill>
                            <a:srgbClr val="FFFFFF"/>
                          </a:solidFill>
                          <a:latin typeface="游ゴシック Medium"/>
                        </a:rPr>
                        <a:t>抽出器</a:t>
                      </a:r>
                    </a:p>
                  </a:txBody>
                  <a:tcPr anchor="ctr" marL="64000" marR="64000">
                    <a:solidFill>
                      <a:srgbClr val="005BAC"/>
                    </a:solidFill>
                  </a:tcPr>
                </a:tc>
                <a:tc>
                  <a:txBody>
                    <a:bodyPr/>
                    <a:lstStyle/>
                    <a:p>
                      <a:r>
                        <a:rPr sz="1100" b="1">
                          <a:solidFill>
                            <a:srgbClr val="FFFFFF"/>
                          </a:solidFill>
                          <a:latin typeface="游ゴシック Medium"/>
                        </a:rPr>
                        <a:t>ICAD本体</a:t>
                      </a:r>
                    </a:p>
                  </a:txBody>
                  <a:tcPr anchor="ctr" marL="64000" marR="64000">
                    <a:solidFill>
                      <a:srgbClr val="005BAC"/>
                    </a:solidFill>
                  </a:tcPr>
                </a:tc>
                <a:tc>
                  <a:txBody>
                    <a:bodyPr/>
                    <a:lstStyle/>
                    <a:p>
                      <a:r>
                        <a:rPr sz="1100" b="1">
                          <a:solidFill>
                            <a:srgbClr val="FFFFFF"/>
                          </a:solidFill>
                          <a:latin typeface="游ゴシック Medium"/>
                        </a:rPr>
                        <a:t>取得できる情報量</a:t>
                      </a:r>
                    </a:p>
                  </a:txBody>
                  <a:tcPr anchor="ctr" marL="64000" marR="64000">
                    <a:solidFill>
                      <a:srgbClr val="005BAC"/>
                    </a:solidFill>
                  </a:tcPr>
                </a:tc>
              </a:tr>
              <a:tr h="525000">
                <a:tc>
                  <a:txBody>
                    <a:bodyPr/>
                    <a:lstStyle/>
                    <a:p>
                      <a:pPr>
                        <a:lnSpc>
                          <a:spcPct val="100000"/>
                        </a:lnSpc>
                      </a:pPr>
                      <a:r>
                        <a:rPr sz="1300" b="0">
                          <a:solidFill>
                            <a:srgbClr val="1F1F1F"/>
                          </a:solidFill>
                          <a:latin typeface="游ゴシック Medium"/>
                        </a:rPr>
                        <a:t>A</a:t>
                      </a:r>
                    </a:p>
                  </a:txBody>
                  <a:tcPr anchor="ctr" marL="64000" marR="64000" marT="24000" marB="24000">
                    <a:solidFill>
                      <a:srgbClr val="FFFFFF"/>
                    </a:solidFill>
                  </a:tcPr>
                </a:tc>
                <a:tc>
                  <a:txBody>
                    <a:bodyPr/>
                    <a:lstStyle/>
                    <a:p>
                      <a:pPr>
                        <a:lnSpc>
                          <a:spcPct val="100000"/>
                        </a:lnSpc>
                      </a:pPr>
                      <a:r>
                        <a:rPr sz="1300" b="0">
                          <a:solidFill>
                            <a:srgbClr val="1F1F1F"/>
                          </a:solidFill>
                          <a:latin typeface="游ゴシック Medium"/>
                        </a:rPr>
                        <a:t>ICAD .icd 正本</a:t>
                      </a:r>
                    </a:p>
                  </a:txBody>
                  <a:tcPr anchor="ctr" marL="64000" marR="64000" marT="24000" marB="24000">
                    <a:solidFill>
                      <a:srgbClr val="FFFFFF"/>
                    </a:solidFill>
                  </a:tcPr>
                </a:tc>
                <a:tc>
                  <a:txBody>
                    <a:bodyPr/>
                    <a:lstStyle/>
                    <a:p>
                      <a:pPr>
                        <a:lnSpc>
                          <a:spcPct val="100000"/>
                        </a:lnSpc>
                      </a:pPr>
                      <a:r>
                        <a:rPr sz="1300" b="0">
                          <a:solidFill>
                            <a:srgbClr val="1F1F1F"/>
                          </a:solidFill>
                          <a:latin typeface="游ゴシック Medium"/>
                        </a:rPr>
                        <a:t>C# + SXNET</a:t>
                      </a:r>
                    </a:p>
                  </a:txBody>
                  <a:tcPr anchor="ctr" marL="64000" marR="64000" marT="24000" marB="24000">
                    <a:solidFill>
                      <a:srgbClr val="FFFFFF"/>
                    </a:solidFill>
                  </a:tcPr>
                </a:tc>
                <a:tc>
                  <a:txBody>
                    <a:bodyPr/>
                    <a:lstStyle/>
                    <a:p>
                      <a:pPr>
                        <a:lnSpc>
                          <a:spcPct val="100000"/>
                        </a:lnSpc>
                      </a:pPr>
                      <a:r>
                        <a:rPr sz="1300" b="0">
                          <a:solidFill>
                            <a:srgbClr val="1F1F1F"/>
                          </a:solidFill>
                          <a:latin typeface="游ゴシック Medium"/>
                        </a:rPr>
                        <a:t>必要</a:t>
                      </a:r>
                    </a:p>
                  </a:txBody>
                  <a:tcPr anchor="ctr" marL="64000" marR="64000" marT="24000" marB="24000">
                    <a:solidFill>
                      <a:srgbClr val="FFFFFF"/>
                    </a:solidFill>
                  </a:tcPr>
                </a:tc>
                <a:tc>
                  <a:txBody>
                    <a:bodyPr/>
                    <a:lstStyle/>
                    <a:p>
                      <a:pPr>
                        <a:lnSpc>
                          <a:spcPct val="100000"/>
                        </a:lnSpc>
                      </a:pPr>
                      <a:r>
                        <a:rPr sz="1300" b="0">
                          <a:solidFill>
                            <a:srgbClr val="1F1F1F"/>
                          </a:solidFill>
                          <a:latin typeface="游ゴシック Medium"/>
                        </a:rPr>
                        <a:t>最大（材質・質量・部品階層・2D注記まで）</a:t>
                      </a:r>
                    </a:p>
                  </a:txBody>
                  <a:tcPr anchor="ctr" marL="64000" marR="64000" marT="24000" marB="24000">
                    <a:solidFill>
                      <a:srgbClr val="FFFFFF"/>
                    </a:solidFill>
                  </a:tcPr>
                </a:tc>
              </a:tr>
              <a:tr h="525000">
                <a:tc>
                  <a:txBody>
                    <a:bodyPr/>
                    <a:lstStyle/>
                    <a:p>
                      <a:pPr>
                        <a:lnSpc>
                          <a:spcPct val="100000"/>
                        </a:lnSpc>
                      </a:pPr>
                      <a:r>
                        <a:rPr sz="1300" b="0">
                          <a:solidFill>
                            <a:srgbClr val="1F1F1F"/>
                          </a:solidFill>
                          <a:latin typeface="游ゴシック Medium"/>
                        </a:rPr>
                        <a:t>B</a:t>
                      </a:r>
                    </a:p>
                  </a:txBody>
                  <a:tcPr anchor="ctr" marL="64000" marR="64000" marT="24000" marB="24000">
                    <a:solidFill>
                      <a:srgbClr val="F5F7FA"/>
                    </a:solidFill>
                  </a:tcPr>
                </a:tc>
                <a:tc>
                  <a:txBody>
                    <a:bodyPr/>
                    <a:lstStyle/>
                    <a:p>
                      <a:pPr>
                        <a:lnSpc>
                          <a:spcPct val="100000"/>
                        </a:lnSpc>
                      </a:pPr>
                      <a:r>
                        <a:rPr sz="1300" b="0">
                          <a:solidFill>
                            <a:srgbClr val="1F1F1F"/>
                          </a:solidFill>
                          <a:latin typeface="游ゴシック Medium"/>
                        </a:rPr>
                        <a:t>ICADから変換したSTEP / DXF</a:t>
                      </a:r>
                    </a:p>
                  </a:txBody>
                  <a:tcPr anchor="ctr" marL="64000" marR="64000" marT="24000" marB="24000">
                    <a:solidFill>
                      <a:srgbClr val="F5F7FA"/>
                    </a:solidFill>
                  </a:tcPr>
                </a:tc>
                <a:tc>
                  <a:txBody>
                    <a:bodyPr/>
                    <a:lstStyle/>
                    <a:p>
                      <a:pPr>
                        <a:lnSpc>
                          <a:spcPct val="100000"/>
                        </a:lnSpc>
                      </a:pPr>
                      <a:r>
                        <a:rPr sz="1300" b="0">
                          <a:solidFill>
                            <a:srgbClr val="1F1F1F"/>
                          </a:solidFill>
                          <a:latin typeface="游ゴシック Medium"/>
                        </a:rPr>
                        <a:t>Python 汎用抽出器</a:t>
                      </a:r>
                    </a:p>
                  </a:txBody>
                  <a:tcPr anchor="ctr" marL="64000" marR="64000" marT="24000" marB="24000">
                    <a:solidFill>
                      <a:srgbClr val="F5F7FA"/>
                    </a:solidFill>
                  </a:tcPr>
                </a:tc>
                <a:tc>
                  <a:txBody>
                    <a:bodyPr/>
                    <a:lstStyle/>
                    <a:p>
                      <a:pPr>
                        <a:lnSpc>
                          <a:spcPct val="100000"/>
                        </a:lnSpc>
                      </a:pPr>
                      <a:r>
                        <a:rPr sz="1300" b="0">
                          <a:solidFill>
                            <a:srgbClr val="1F1F1F"/>
                          </a:solidFill>
                          <a:latin typeface="游ゴシック Medium"/>
                        </a:rPr>
                        <a:t>変換時のみ必要</a:t>
                      </a:r>
                    </a:p>
                  </a:txBody>
                  <a:tcPr anchor="ctr" marL="64000" marR="64000" marT="24000" marB="24000">
                    <a:solidFill>
                      <a:srgbClr val="F5F7FA"/>
                    </a:solidFill>
                  </a:tcPr>
                </a:tc>
                <a:tc>
                  <a:txBody>
                    <a:bodyPr/>
                    <a:lstStyle/>
                    <a:p>
                      <a:pPr>
                        <a:lnSpc>
                          <a:spcPct val="100000"/>
                        </a:lnSpc>
                      </a:pPr>
                      <a:r>
                        <a:rPr sz="1300" b="0">
                          <a:solidFill>
                            <a:srgbClr val="1F1F1F"/>
                          </a:solidFill>
                          <a:latin typeface="游ゴシック Medium"/>
                        </a:rPr>
                        <a:t>中（部品名・階層・レイヤー・文字）</a:t>
                      </a:r>
                    </a:p>
                  </a:txBody>
                  <a:tcPr anchor="ctr" marL="64000" marR="64000" marT="24000" marB="24000">
                    <a:solidFill>
                      <a:srgbClr val="F5F7FA"/>
                    </a:solidFill>
                  </a:tcPr>
                </a:tc>
              </a:tr>
              <a:tr h="525000">
                <a:tc>
                  <a:txBody>
                    <a:bodyPr/>
                    <a:lstStyle/>
                    <a:p>
                      <a:pPr>
                        <a:lnSpc>
                          <a:spcPct val="100000"/>
                        </a:lnSpc>
                      </a:pPr>
                      <a:r>
                        <a:rPr sz="1300" b="0">
                          <a:solidFill>
                            <a:srgbClr val="1F1F1F"/>
                          </a:solidFill>
                          <a:latin typeface="游ゴシック Medium"/>
                        </a:rPr>
                        <a:t>C</a:t>
                      </a:r>
                    </a:p>
                  </a:txBody>
                  <a:tcPr anchor="ctr" marL="64000" marR="64000" marT="24000" marB="24000">
                    <a:solidFill>
                      <a:srgbClr val="FFFFFF"/>
                    </a:solidFill>
                  </a:tcPr>
                </a:tc>
                <a:tc>
                  <a:txBody>
                    <a:bodyPr/>
                    <a:lstStyle/>
                    <a:p>
                      <a:pPr>
                        <a:lnSpc>
                          <a:spcPct val="100000"/>
                        </a:lnSpc>
                      </a:pPr>
                      <a:r>
                        <a:rPr sz="1300" b="0">
                          <a:solidFill>
                            <a:srgbClr val="1F1F1F"/>
                          </a:solidFill>
                          <a:latin typeface="游ゴシック Medium"/>
                        </a:rPr>
                        <a:t>客先支給などの既存STEP / DXF</a:t>
                      </a:r>
                    </a:p>
                  </a:txBody>
                  <a:tcPr anchor="ctr" marL="64000" marR="64000" marT="24000" marB="24000">
                    <a:solidFill>
                      <a:srgbClr val="FFFFFF"/>
                    </a:solidFill>
                  </a:tcPr>
                </a:tc>
                <a:tc>
                  <a:txBody>
                    <a:bodyPr/>
                    <a:lstStyle/>
                    <a:p>
                      <a:pPr>
                        <a:lnSpc>
                          <a:spcPct val="100000"/>
                        </a:lnSpc>
                      </a:pPr>
                      <a:r>
                        <a:rPr sz="1300" b="0">
                          <a:solidFill>
                            <a:srgbClr val="1F1F1F"/>
                          </a:solidFill>
                          <a:latin typeface="游ゴシック Medium"/>
                        </a:rPr>
                        <a:t>Python 汎用抽出器</a:t>
                      </a:r>
                    </a:p>
                  </a:txBody>
                  <a:tcPr anchor="ctr" marL="64000" marR="64000" marT="24000" marB="24000">
                    <a:solidFill>
                      <a:srgbClr val="FFFFFF"/>
                    </a:solidFill>
                  </a:tcPr>
                </a:tc>
                <a:tc>
                  <a:txBody>
                    <a:bodyPr/>
                    <a:lstStyle/>
                    <a:p>
                      <a:pPr>
                        <a:lnSpc>
                          <a:spcPct val="100000"/>
                        </a:lnSpc>
                      </a:pPr>
                      <a:r>
                        <a:rPr sz="1300" b="0">
                          <a:solidFill>
                            <a:srgbClr val="1F1F1F"/>
                          </a:solidFill>
                          <a:latin typeface="游ゴシック Medium"/>
                        </a:rPr>
                        <a:t>不要</a:t>
                      </a:r>
                    </a:p>
                  </a:txBody>
                  <a:tcPr anchor="ctr" marL="64000" marR="64000" marT="24000" marB="24000">
                    <a:solidFill>
                      <a:srgbClr val="FFFFFF"/>
                    </a:solidFill>
                  </a:tcPr>
                </a:tc>
                <a:tc>
                  <a:txBody>
                    <a:bodyPr/>
                    <a:lstStyle/>
                    <a:p>
                      <a:pPr>
                        <a:lnSpc>
                          <a:spcPct val="100000"/>
                        </a:lnSpc>
                      </a:pPr>
                      <a:r>
                        <a:rPr sz="1300" b="0">
                          <a:solidFill>
                            <a:srgbClr val="1F1F1F"/>
                          </a:solidFill>
                          <a:latin typeface="游ゴシック Medium"/>
                        </a:rPr>
                        <a:t>中</a:t>
                      </a:r>
                    </a:p>
                  </a:txBody>
                  <a:tcPr anchor="ctr" marL="64000" marR="64000" marT="24000" marB="24000">
                    <a:solidFill>
                      <a:srgbClr val="FFFFFF"/>
                    </a:solidFill>
                  </a:tcPr>
                </a:tc>
              </a:tr>
            </a:tbl>
          </a:graphicData>
        </a:graphic>
      </p:graphicFrame>
      <p:sp>
        <p:nvSpPr>
          <p:cNvPr id="5" name="TextBox 4"/>
          <p:cNvSpPr txBox="1"/>
          <p:nvPr/>
        </p:nvSpPr>
        <p:spPr>
          <a:xfrm>
            <a:off x="457200" y="3524228"/>
            <a:ext cx="11352213" cy="400000"/>
          </a:xfrm>
          <a:prstGeom prst="rect">
            <a:avLst/>
          </a:prstGeom>
          <a:noFill/>
        </p:spPr>
        <p:txBody>
          <a:bodyPr wrap="square">
            <a:spAutoFit/>
          </a:bodyPr>
          <a:lstStyle/>
          <a:p>
            <a:r>
              <a:rPr sz="1000">
                <a:solidFill>
                  <a:srgbClr val="5A5A5A"/>
                </a:solidFill>
                <a:latin typeface="游ゴシック Medium"/>
              </a:rPr>
              <a:t>経路Bと経路Cは同じ抽出器を使います。経路B・Cでは、ICAD本体がなくても抽出処理そのものは動きます（CHAPTER 05のライセンス論点に直結します）。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1F1F"/>
                </a:solidFill>
                <a:latin typeface="游ゴシック Medium"/>
              </a:rPr>
              <a:t>抽出元カタログ</a:t>
            </a:r>
          </a:p>
        </p:txBody>
      </p:sp>
      <p:sp>
        <p:nvSpPr>
          <p:cNvPr id="3" name="Text Placeholder 2"/>
          <p:cNvSpPr>
            <a:spLocks noGrp="1"/>
          </p:cNvSpPr>
          <p:nvPr>
            <p:ph type="body" idx="2" sz="half"/>
          </p:nvPr>
        </p:nvSpPr>
        <p:spPr/>
        <p:txBody>
          <a:bodyPr/>
          <a:lstStyle/>
          <a:p>
            <a:r>
              <a:rPr sz="1400" b="1">
                <a:solidFill>
                  <a:srgbClr val="005BAC"/>
                </a:solidFill>
                <a:latin typeface="游ゴシック Medium"/>
              </a:rPr>
              <a:t>CHAPTER　02</a:t>
            </a:r>
          </a:p>
        </p:txBody>
      </p:sp>
      <p:sp>
        <p:nvSpPr>
          <p:cNvPr id="4" name="Text Placeholder 3"/>
          <p:cNvSpPr>
            <a:spLocks noGrp="1"/>
          </p:cNvSpPr>
          <p:nvPr>
            <p:ph type="body" idx="17" sz="half"/>
          </p:nvPr>
        </p:nvSpPr>
        <p:spPr/>
        <p:txBody>
          <a:bodyPr/>
          <a:lstStyle/>
          <a:p>
            <a:r>
              <a:rPr sz="1200" b="1">
                <a:solidFill>
                  <a:srgbClr val="005BAC"/>
                </a:solidFill>
                <a:latin typeface="游ゴシック Medium"/>
              </a:rPr>
              <a:t>Extraction Sources</a:t>
            </a:r>
          </a:p>
        </p:txBody>
      </p:sp>
      <p:sp>
        <p:nvSpPr>
          <p:cNvPr id="5" name="Content Placeholder 4"/>
          <p:cNvSpPr>
            <a:spLocks noGrp="1"/>
          </p:cNvSpPr>
          <p:nvPr>
            <p:ph idx="18" sz="quarter"/>
          </p:nvPr>
        </p:nvSpPr>
        <p:spPr/>
        <p:txBody>
          <a:bodyPr wrap="square"/>
          <a:lstStyle/>
          <a:p>
            <a:pPr>
              <a:spcAft>
                <a:spcPts val="600"/>
              </a:spcAft>
            </a:pPr>
            <a:r>
              <a:rPr sz="1400" b="0">
                <a:solidFill>
                  <a:srgbClr val="1F1F1F"/>
                </a:solidFill>
                <a:latin typeface="游ゴシック Medium"/>
              </a:rPr>
              <a:t>ICAD 3D／ICAD 2D／STEP／DXF それぞれの抽出元</a:t>
            </a:r>
          </a:p>
          <a:p>
            <a:pPr>
              <a:spcAft>
                <a:spcPts val="600"/>
              </a:spcAft>
            </a:pPr>
            <a:r>
              <a:rPr sz="1400" b="0">
                <a:solidFill>
                  <a:srgbClr val="1F1F1F"/>
                </a:solidFill>
                <a:latin typeface="游ゴシック Medium"/>
              </a:rPr>
              <a:t>正規化後の属性キー（2D:133 / 3D:97）</a:t>
            </a:r>
          </a:p>
          <a:p>
            <a:pPr>
              <a:spcAft>
                <a:spcPts val="600"/>
              </a:spcAft>
            </a:pPr>
            <a:r>
              <a:rPr sz="1400" b="0">
                <a:solidFill>
                  <a:srgbClr val="1F1F1F"/>
                </a:solidFill>
                <a:latin typeface="游ゴシック Medium"/>
              </a:rPr>
              <a:t>自動タグ11種類と、その生成に使う辞書</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1F1F1F"/>
                </a:solidFill>
                <a:latin typeface="游ゴシック Medium"/>
              </a:rPr>
              <a:t>ICAD 3D の抽出元</a:t>
            </a:r>
          </a:p>
        </p:txBody>
      </p:sp>
      <p:sp>
        <p:nvSpPr>
          <p:cNvPr id="3" name="Text Placeholder 2"/>
          <p:cNvSpPr>
            <a:spLocks noGrp="1"/>
          </p:cNvSpPr>
          <p:nvPr>
            <p:ph type="body" idx="17" sz="quarter"/>
          </p:nvPr>
        </p:nvSpPr>
        <p:spPr/>
        <p:txBody>
          <a:bodyPr/>
          <a:lstStyle/>
          <a:p>
            <a:r>
              <a:rPr sz="1100" b="1">
                <a:solidFill>
                  <a:srgbClr val="005BAC"/>
                </a:solidFill>
                <a:latin typeface="游ゴシック Medium"/>
              </a:rPr>
              <a:t>SXNETに型付きAPIがあり、取得方針が明確な項目</a:t>
            </a:r>
          </a:p>
        </p:txBody>
      </p:sp>
      <p:graphicFrame>
        <p:nvGraphicFramePr>
          <p:cNvPr id="4" name="Table 3"/>
          <p:cNvGraphicFramePr>
            <a:graphicFrameLocks noGrp="1"/>
          </p:cNvGraphicFramePr>
          <p:nvPr/>
        </p:nvGraphicFramePr>
        <p:xfrm>
          <a:off x="457200" y="1364228"/>
          <a:ext cx="11352211" cy="4562919"/>
        </p:xfrm>
        <a:graphic>
          <a:graphicData uri="http://schemas.openxmlformats.org/drawingml/2006/table">
            <a:tbl>
              <a:tblPr firstRow="1" bandRow="1">
                <a:tableStyleId>{5C22544A-7EE6-4342-B048-85BDC9FD1C3A}</a:tableStyleId>
              </a:tblPr>
              <a:tblGrid>
                <a:gridCol w="3027256"/>
                <a:gridCol w="4067876"/>
                <a:gridCol w="4257079"/>
              </a:tblGrid>
              <a:tr h="456291">
                <a:tc>
                  <a:txBody>
                    <a:bodyPr/>
                    <a:lstStyle/>
                    <a:p>
                      <a:r>
                        <a:rPr sz="1100" b="1">
                          <a:solidFill>
                            <a:srgbClr val="FFFFFF"/>
                          </a:solidFill>
                          <a:latin typeface="游ゴシック Medium"/>
                        </a:rPr>
                        <a:t>抽出元</a:t>
                      </a:r>
                    </a:p>
                  </a:txBody>
                  <a:tcPr anchor="ctr" marL="64000" marR="64000">
                    <a:solidFill>
                      <a:srgbClr val="005BAC"/>
                    </a:solidFill>
                  </a:tcPr>
                </a:tc>
                <a:tc>
                  <a:txBody>
                    <a:bodyPr/>
                    <a:lstStyle/>
                    <a:p>
                      <a:r>
                        <a:rPr sz="1100" b="1">
                          <a:solidFill>
                            <a:srgbClr val="FFFFFF"/>
                          </a:solidFill>
                          <a:latin typeface="游ゴシック Medium"/>
                        </a:rPr>
                        <a:t>SXNET根拠</a:t>
                      </a:r>
                    </a:p>
                  </a:txBody>
                  <a:tcPr anchor="ctr" marL="64000" marR="64000">
                    <a:solidFill>
                      <a:srgbClr val="005BAC"/>
                    </a:solidFill>
                  </a:tcPr>
                </a:tc>
                <a:tc>
                  <a:txBody>
                    <a:bodyPr/>
                    <a:lstStyle/>
                    <a:p>
                      <a:r>
                        <a:rPr sz="1100" b="1">
                          <a:solidFill>
                            <a:srgbClr val="FFFFFF"/>
                          </a:solidFill>
                          <a:latin typeface="游ゴシック Medium"/>
                        </a:rPr>
                        <a:t>正規化先（canonical）</a:t>
                      </a:r>
                    </a:p>
                  </a:txBody>
                  <a:tcPr anchor="ctr" marL="64000" marR="64000">
                    <a:solidFill>
                      <a:srgbClr val="005BAC"/>
                    </a:solidFill>
                  </a:tcPr>
                </a:tc>
              </a:tr>
              <a:tr h="456291">
                <a:tc>
                  <a:txBody>
                    <a:bodyPr/>
                    <a:lstStyle/>
                    <a:p>
                      <a:pPr>
                        <a:lnSpc>
                          <a:spcPct val="100000"/>
                        </a:lnSpc>
                      </a:pPr>
                      <a:r>
                        <a:rPr sz="1050" b="0">
                          <a:solidFill>
                            <a:srgbClr val="1F1F1F"/>
                          </a:solidFill>
                          <a:latin typeface="游ゴシック Medium"/>
                        </a:rPr>
                        <a:t>モデル名・格納フォルダ・コメント</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SxModel.getInf() → SxInfModel.name/path/comment</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model_name, model_path, model_comment</a:t>
                      </a:r>
                    </a:p>
                  </a:txBody>
                  <a:tcPr anchor="ctr" marL="64000" marR="64000" marT="24000" marB="24000">
                    <a:solidFill>
                      <a:srgbClr val="FFFFFF"/>
                    </a:solidFill>
                  </a:tcPr>
                </a:tc>
              </a:tr>
              <a:tr h="456291">
                <a:tc>
                  <a:txBody>
                    <a:bodyPr/>
                    <a:lstStyle/>
                    <a:p>
                      <a:pPr>
                        <a:lnSpc>
                          <a:spcPct val="100000"/>
                        </a:lnSpc>
                      </a:pPr>
                      <a:r>
                        <a:rPr sz="1050" b="0">
                          <a:solidFill>
                            <a:srgbClr val="1F1F1F"/>
                          </a:solidFill>
                          <a:latin typeface="游ゴシック Medium"/>
                        </a:rPr>
                        <a:t>パーツ階層</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SxWF.getInfPartTree()</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part_tree_paths</a:t>
                      </a:r>
                    </a:p>
                  </a:txBody>
                  <a:tcPr anchor="ctr" marL="64000" marR="64000" marT="24000" marB="24000">
                    <a:solidFill>
                      <a:srgbClr val="F5F7FA"/>
                    </a:solidFill>
                  </a:tcPr>
                </a:tc>
              </a:tr>
              <a:tr h="456291">
                <a:tc>
                  <a:txBody>
                    <a:bodyPr/>
                    <a:lstStyle/>
                    <a:p>
                      <a:pPr>
                        <a:lnSpc>
                          <a:spcPct val="100000"/>
                        </a:lnSpc>
                      </a:pPr>
                      <a:r>
                        <a:rPr sz="1050" b="0">
                          <a:solidFill>
                            <a:srgbClr val="1F1F1F"/>
                          </a:solidFill>
                          <a:latin typeface="游ゴシック Medium"/>
                        </a:rPr>
                        <a:t>パーツ名・コメント</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SxInfPart.name / comment</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part_names, part_comments</a:t>
                      </a:r>
                    </a:p>
                  </a:txBody>
                  <a:tcPr anchor="ctr" marL="64000" marR="64000" marT="24000" marB="24000">
                    <a:solidFill>
                      <a:srgbClr val="FFFFFF"/>
                    </a:solidFill>
                  </a:tcPr>
                </a:tc>
              </a:tr>
              <a:tr h="456291">
                <a:tc>
                  <a:txBody>
                    <a:bodyPr/>
                    <a:lstStyle/>
                    <a:p>
                      <a:pPr>
                        <a:lnSpc>
                          <a:spcPct val="100000"/>
                        </a:lnSpc>
                      </a:pPr>
                      <a:r>
                        <a:rPr sz="1050" b="0">
                          <a:solidFill>
                            <a:srgbClr val="1F1F1F"/>
                          </a:solidFill>
                          <a:latin typeface="游ゴシック Medium"/>
                        </a:rPr>
                        <a:t>外部参照・ミラー・未解決参照</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SxInfPart.is_external / is_mirror / is_unloaded</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external_part_exists ほか</a:t>
                      </a:r>
                    </a:p>
                  </a:txBody>
                  <a:tcPr anchor="ctr" marL="64000" marR="64000" marT="24000" marB="24000">
                    <a:solidFill>
                      <a:srgbClr val="F5F7FA"/>
                    </a:solidFill>
                  </a:tcPr>
                </a:tc>
              </a:tr>
              <a:tr h="456291">
                <a:tc>
                  <a:txBody>
                    <a:bodyPr/>
                    <a:lstStyle/>
                    <a:p>
                      <a:pPr>
                        <a:lnSpc>
                          <a:spcPct val="100000"/>
                        </a:lnSpc>
                      </a:pPr>
                      <a:r>
                        <a:rPr sz="1050" b="0">
                          <a:solidFill>
                            <a:srgbClr val="1F1F1F"/>
                          </a:solidFill>
                          <a:latin typeface="游ゴシック Medium"/>
                        </a:rPr>
                        <a:t>参照図面名・参照先パス</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SxInfPart.ref_model_name / path</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ref_model_names, ref_model_paths</a:t>
                      </a:r>
                    </a:p>
                  </a:txBody>
                  <a:tcPr anchor="ctr" marL="64000" marR="64000" marT="24000" marB="24000">
                    <a:solidFill>
                      <a:srgbClr val="FFFFFF"/>
                    </a:solidFill>
                  </a:tcPr>
                </a:tc>
              </a:tr>
              <a:tr h="456291">
                <a:tc>
                  <a:txBody>
                    <a:bodyPr/>
                    <a:lstStyle/>
                    <a:p>
                      <a:pPr>
                        <a:lnSpc>
                          <a:spcPct val="100000"/>
                        </a:lnSpc>
                      </a:pPr>
                      <a:r>
                        <a:rPr sz="1050" b="0">
                          <a:solidFill>
                            <a:srgbClr val="1F1F1F"/>
                          </a:solidFill>
                          <a:latin typeface="游ゴシック Medium"/>
                        </a:rPr>
                        <a:t>材質（全体・部品単位）</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SxEnt.getInfMaterialList(), SxEntPart.getInfMaterialList()</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material_ids, material_names, material_keywords, part_material_candidates</a:t>
                      </a:r>
                    </a:p>
                  </a:txBody>
                  <a:tcPr anchor="ctr" marL="64000" marR="64000" marT="24000" marB="24000">
                    <a:solidFill>
                      <a:srgbClr val="F5F7FA"/>
                    </a:solidFill>
                  </a:tcPr>
                </a:tc>
              </a:tr>
              <a:tr h="456291">
                <a:tc>
                  <a:txBody>
                    <a:bodyPr/>
                    <a:lstStyle/>
                    <a:p>
                      <a:pPr>
                        <a:lnSpc>
                          <a:spcPct val="100000"/>
                        </a:lnSpc>
                      </a:pPr>
                      <a:r>
                        <a:rPr sz="1050" b="0">
                          <a:solidFill>
                            <a:srgbClr val="1F1F1F"/>
                          </a:solidFill>
                          <a:latin typeface="游ゴシック Medium"/>
                        </a:rPr>
                        <a:t>質量・重量・体積・面積・密度</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SxEnt.getMass() → SxInfMass</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mass_value, weight_value, volume_value, area_value, density_value</a:t>
                      </a:r>
                    </a:p>
                  </a:txBody>
                  <a:tcPr anchor="ctr" marL="64000" marR="64000" marT="24000" marB="24000">
                    <a:solidFill>
                      <a:srgbClr val="FFFFFF"/>
                    </a:solidFill>
                  </a:tcPr>
                </a:tc>
              </a:tr>
              <a:tr h="456291">
                <a:tc>
                  <a:txBody>
                    <a:bodyPr/>
                    <a:lstStyle/>
                    <a:p>
                      <a:pPr>
                        <a:lnSpc>
                          <a:spcPct val="100000"/>
                        </a:lnSpc>
                      </a:pPr>
                      <a:r>
                        <a:rPr sz="1050" b="0">
                          <a:solidFill>
                            <a:srgbClr val="1F1F1F"/>
                          </a:solidFill>
                          <a:latin typeface="游ゴシック Medium"/>
                        </a:rPr>
                        <a:t>重心・慣性モーメント</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SxInfMass.pos, inf_global_moment ほか</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center_of_gravity, global_moment, inertia_moment_candidates</a:t>
                      </a:r>
                    </a:p>
                  </a:txBody>
                  <a:tcPr anchor="ctr" marL="64000" marR="64000" marT="24000" marB="24000">
                    <a:solidFill>
                      <a:srgbClr val="F5F7FA"/>
                    </a:solidFill>
                  </a:tcPr>
                </a:tc>
              </a:tr>
              <a:tr h="456300">
                <a:tc>
                  <a:txBody>
                    <a:bodyPr/>
                    <a:lstStyle/>
                    <a:p>
                      <a:pPr>
                        <a:lnSpc>
                          <a:spcPct val="100000"/>
                        </a:lnSpc>
                      </a:pPr>
                      <a:r>
                        <a:rPr sz="1050" b="0">
                          <a:solidFill>
                            <a:srgbClr val="1F1F1F"/>
                          </a:solidFill>
                          <a:latin typeface="游ゴシック Medium"/>
                        </a:rPr>
                        <a:t>トップパーツ付加情報</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SxWF.getInfExTopPart(), SxInfPartTree.ex_inf</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top_part_ex_info, part_ex_info_fields</a:t>
                      </a:r>
                    </a:p>
                  </a:txBody>
                  <a:tcPr anchor="ctr" marL="64000" marR="64000" marT="24000" marB="24000">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1F1F1F"/>
                </a:solidFill>
                <a:latin typeface="游ゴシック Medium"/>
              </a:rPr>
              <a:t>ICAD 2D の抽出元</a:t>
            </a:r>
          </a:p>
        </p:txBody>
      </p:sp>
      <p:sp>
        <p:nvSpPr>
          <p:cNvPr id="3" name="Text Placeholder 2"/>
          <p:cNvSpPr>
            <a:spLocks noGrp="1"/>
          </p:cNvSpPr>
          <p:nvPr>
            <p:ph type="body" idx="17" sz="quarter"/>
          </p:nvPr>
        </p:nvSpPr>
        <p:spPr/>
        <p:txBody>
          <a:bodyPr/>
          <a:lstStyle/>
          <a:p>
            <a:r>
              <a:rPr sz="1100" b="1">
                <a:solidFill>
                  <a:srgbClr val="005BAC"/>
                </a:solidFill>
                <a:latin typeface="游ゴシック Medium"/>
              </a:rPr>
              <a:t>図枠は固定フィールドではなく、文字・注記・座標から候補化する</a:t>
            </a:r>
          </a:p>
        </p:txBody>
      </p:sp>
      <p:graphicFrame>
        <p:nvGraphicFramePr>
          <p:cNvPr id="4" name="Table 3"/>
          <p:cNvGraphicFramePr>
            <a:graphicFrameLocks noGrp="1"/>
          </p:cNvGraphicFramePr>
          <p:nvPr/>
        </p:nvGraphicFramePr>
        <p:xfrm>
          <a:off x="457200" y="1364228"/>
          <a:ext cx="11352211" cy="4562919"/>
        </p:xfrm>
        <a:graphic>
          <a:graphicData uri="http://schemas.openxmlformats.org/drawingml/2006/table">
            <a:tbl>
              <a:tblPr firstRow="1" bandRow="1">
                <a:tableStyleId>{5C22544A-7EE6-4342-B048-85BDC9FD1C3A}</a:tableStyleId>
              </a:tblPr>
              <a:tblGrid>
                <a:gridCol w="3027256"/>
                <a:gridCol w="3405663"/>
                <a:gridCol w="4919292"/>
              </a:tblGrid>
              <a:tr h="380243">
                <a:tc>
                  <a:txBody>
                    <a:bodyPr/>
                    <a:lstStyle/>
                    <a:p>
                      <a:r>
                        <a:rPr sz="1100" b="1">
                          <a:solidFill>
                            <a:srgbClr val="FFFFFF"/>
                          </a:solidFill>
                          <a:latin typeface="游ゴシック Medium"/>
                        </a:rPr>
                        <a:t>抽出元</a:t>
                      </a:r>
                    </a:p>
                  </a:txBody>
                  <a:tcPr anchor="ctr" marL="64000" marR="64000">
                    <a:solidFill>
                      <a:srgbClr val="005BAC"/>
                    </a:solidFill>
                  </a:tcPr>
                </a:tc>
                <a:tc>
                  <a:txBody>
                    <a:bodyPr/>
                    <a:lstStyle/>
                    <a:p>
                      <a:r>
                        <a:rPr sz="1100" b="1">
                          <a:solidFill>
                            <a:srgbClr val="FFFFFF"/>
                          </a:solidFill>
                          <a:latin typeface="游ゴシック Medium"/>
                        </a:rPr>
                        <a:t>raw_extract</a:t>
                      </a:r>
                    </a:p>
                  </a:txBody>
                  <a:tcPr anchor="ctr" marL="64000" marR="64000">
                    <a:solidFill>
                      <a:srgbClr val="005BAC"/>
                    </a:solidFill>
                  </a:tcPr>
                </a:tc>
                <a:tc>
                  <a:txBody>
                    <a:bodyPr/>
                    <a:lstStyle/>
                    <a:p>
                      <a:r>
                        <a:rPr sz="1100" b="1">
                          <a:solidFill>
                            <a:srgbClr val="FFFFFF"/>
                          </a:solidFill>
                          <a:latin typeface="游ゴシック Medium"/>
                        </a:rPr>
                        <a:t>正規化先（canonical）</a:t>
                      </a:r>
                    </a:p>
                  </a:txBody>
                  <a:tcPr anchor="ctr" marL="64000" marR="64000">
                    <a:solidFill>
                      <a:srgbClr val="005BAC"/>
                    </a:solidFill>
                  </a:tcPr>
                </a:tc>
              </a:tr>
              <a:tr h="380243">
                <a:tc>
                  <a:txBody>
                    <a:bodyPr/>
                    <a:lstStyle/>
                    <a:p>
                      <a:pPr>
                        <a:lnSpc>
                          <a:spcPct val="100000"/>
                        </a:lnSpc>
                      </a:pPr>
                      <a:r>
                        <a:rPr sz="1000" b="0">
                          <a:solidFill>
                            <a:srgbClr val="1F1F1F"/>
                          </a:solidFill>
                          <a:latin typeface="游ゴシック Medium"/>
                        </a:rPr>
                        <a:t>ビューシート名・尺度・種別</a:t>
                      </a:r>
                    </a:p>
                  </a:txBody>
                  <a:tcPr anchor="ctr" marL="64000" marR="64000" marT="24000" marB="24000">
                    <a:solidFill>
                      <a:srgbClr val="FFFFFF"/>
                    </a:solidFill>
                  </a:tcPr>
                </a:tc>
                <a:tc>
                  <a:txBody>
                    <a:bodyPr/>
                    <a:lstStyle/>
                    <a:p>
                      <a:pPr>
                        <a:lnSpc>
                          <a:spcPct val="100000"/>
                        </a:lnSpc>
                      </a:pPr>
                      <a:r>
                        <a:rPr sz="1000" b="0">
                          <a:solidFill>
                            <a:srgbClr val="1F1F1F"/>
                          </a:solidFill>
                          <a:latin typeface="游ゴシック Medium"/>
                        </a:rPr>
                        <a:t>view_sheets[]</a:t>
                      </a:r>
                    </a:p>
                  </a:txBody>
                  <a:tcPr anchor="ctr" marL="64000" marR="64000" marT="24000" marB="24000">
                    <a:solidFill>
                      <a:srgbClr val="FFFFFF"/>
                    </a:solidFill>
                  </a:tcPr>
                </a:tc>
                <a:tc>
                  <a:txBody>
                    <a:bodyPr/>
                    <a:lstStyle/>
                    <a:p>
                      <a:pPr>
                        <a:lnSpc>
                          <a:spcPct val="100000"/>
                        </a:lnSpc>
                      </a:pPr>
                      <a:r>
                        <a:rPr sz="1000" b="0">
                          <a:solidFill>
                            <a:srgbClr val="1F1F1F"/>
                          </a:solidFill>
                          <a:latin typeface="游ゴシック Medium"/>
                        </a:rPr>
                        <a:t>model_view_sheet_count, scale_candidates</a:t>
                      </a:r>
                    </a:p>
                  </a:txBody>
                  <a:tcPr anchor="ctr" marL="64000" marR="64000" marT="24000" marB="24000">
                    <a:solidFill>
                      <a:srgbClr val="FFFFFF"/>
                    </a:solidFill>
                  </a:tcPr>
                </a:tc>
              </a:tr>
              <a:tr h="380243">
                <a:tc>
                  <a:txBody>
                    <a:bodyPr/>
                    <a:lstStyle/>
                    <a:p>
                      <a:pPr>
                        <a:lnSpc>
                          <a:spcPct val="100000"/>
                        </a:lnSpc>
                      </a:pPr>
                      <a:r>
                        <a:rPr sz="1000" b="0">
                          <a:solidFill>
                            <a:srgbClr val="1F1F1F"/>
                          </a:solidFill>
                          <a:latin typeface="游ゴシック Medium"/>
                        </a:rPr>
                        <a:t>出図範囲枠・用紙サイズ</a:t>
                      </a:r>
                    </a:p>
                  </a:txBody>
                  <a:tcPr anchor="ctr" marL="64000" marR="64000" marT="24000" marB="24000">
                    <a:solidFill>
                      <a:srgbClr val="F5F7FA"/>
                    </a:solidFill>
                  </a:tcPr>
                </a:tc>
                <a:tc>
                  <a:txBody>
                    <a:bodyPr/>
                    <a:lstStyle/>
                    <a:p>
                      <a:pPr>
                        <a:lnSpc>
                          <a:spcPct val="100000"/>
                        </a:lnSpc>
                      </a:pPr>
                      <a:r>
                        <a:rPr sz="1000" b="0">
                          <a:solidFill>
                            <a:srgbClr val="1F1F1F"/>
                          </a:solidFill>
                          <a:latin typeface="游ゴシック Medium"/>
                        </a:rPr>
                        <a:t>print_frames[]</a:t>
                      </a:r>
                    </a:p>
                  </a:txBody>
                  <a:tcPr anchor="ctr" marL="64000" marR="64000" marT="24000" marB="24000">
                    <a:solidFill>
                      <a:srgbClr val="F5F7FA"/>
                    </a:solidFill>
                  </a:tcPr>
                </a:tc>
                <a:tc>
                  <a:txBody>
                    <a:bodyPr/>
                    <a:lstStyle/>
                    <a:p>
                      <a:pPr>
                        <a:lnSpc>
                          <a:spcPct val="100000"/>
                        </a:lnSpc>
                      </a:pPr>
                      <a:r>
                        <a:rPr sz="1000" b="0">
                          <a:solidFill>
                            <a:srgbClr val="1F1F1F"/>
                          </a:solidFill>
                          <a:latin typeface="游ゴシック Medium"/>
                        </a:rPr>
                        <a:t>paper_size, 印刷枠内外判定</a:t>
                      </a:r>
                    </a:p>
                  </a:txBody>
                  <a:tcPr anchor="ctr" marL="64000" marR="64000" marT="24000" marB="24000">
                    <a:solidFill>
                      <a:srgbClr val="F5F7FA"/>
                    </a:solidFill>
                  </a:tcPr>
                </a:tc>
              </a:tr>
              <a:tr h="380243">
                <a:tc>
                  <a:txBody>
                    <a:bodyPr/>
                    <a:lstStyle/>
                    <a:p>
                      <a:pPr>
                        <a:lnSpc>
                          <a:spcPct val="100000"/>
                        </a:lnSpc>
                      </a:pPr>
                      <a:r>
                        <a:rPr sz="1000" b="0">
                          <a:solidFill>
                            <a:srgbClr val="1F1F1F"/>
                          </a:solidFill>
                          <a:latin typeface="游ゴシック Medium"/>
                        </a:rPr>
                        <a:t>文字・注記</a:t>
                      </a:r>
                    </a:p>
                  </a:txBody>
                  <a:tcPr anchor="ctr" marL="64000" marR="64000" marT="24000" marB="24000">
                    <a:solidFill>
                      <a:srgbClr val="FFFFFF"/>
                    </a:solidFill>
                  </a:tcPr>
                </a:tc>
                <a:tc>
                  <a:txBody>
                    <a:bodyPr/>
                    <a:lstStyle/>
                    <a:p>
                      <a:pPr>
                        <a:lnSpc>
                          <a:spcPct val="100000"/>
                        </a:lnSpc>
                      </a:pPr>
                      <a:r>
                        <a:rPr sz="1000" b="0">
                          <a:solidFill>
                            <a:srgbClr val="1F1F1F"/>
                          </a:solidFill>
                          <a:latin typeface="游ゴシック Medium"/>
                        </a:rPr>
                        <a:t>texts[]</a:t>
                      </a:r>
                    </a:p>
                  </a:txBody>
                  <a:tcPr anchor="ctr" marL="64000" marR="64000" marT="24000" marB="24000">
                    <a:solidFill>
                      <a:srgbClr val="FFFFFF"/>
                    </a:solidFill>
                  </a:tcPr>
                </a:tc>
                <a:tc>
                  <a:txBody>
                    <a:bodyPr/>
                    <a:lstStyle/>
                    <a:p>
                      <a:pPr>
                        <a:lnSpc>
                          <a:spcPct val="100000"/>
                        </a:lnSpc>
                      </a:pPr>
                      <a:r>
                        <a:rPr sz="1000" b="0">
                          <a:solidFill>
                            <a:srgbClr val="1F1F1F"/>
                          </a:solidFill>
                          <a:latin typeface="游ゴシック Medium"/>
                        </a:rPr>
                        <a:t>text_tokens, label_texts</a:t>
                      </a:r>
                    </a:p>
                  </a:txBody>
                  <a:tcPr anchor="ctr" marL="64000" marR="64000" marT="24000" marB="24000">
                    <a:solidFill>
                      <a:srgbClr val="FFFFFF"/>
                    </a:solidFill>
                  </a:tcPr>
                </a:tc>
              </a:tr>
              <a:tr h="380243">
                <a:tc>
                  <a:txBody>
                    <a:bodyPr/>
                    <a:lstStyle/>
                    <a:p>
                      <a:pPr>
                        <a:lnSpc>
                          <a:spcPct val="100000"/>
                        </a:lnSpc>
                      </a:pPr>
                      <a:r>
                        <a:rPr sz="1000" b="0">
                          <a:solidFill>
                            <a:srgbClr val="1F1F1F"/>
                          </a:solidFill>
                          <a:latin typeface="游ゴシック Medium"/>
                        </a:rPr>
                        <a:t>図枠のラベルと値</a:t>
                      </a:r>
                    </a:p>
                  </a:txBody>
                  <a:tcPr anchor="ctr" marL="64000" marR="64000" marT="24000" marB="24000">
                    <a:solidFill>
                      <a:srgbClr val="F5F7FA"/>
                    </a:solidFill>
                  </a:tcPr>
                </a:tc>
                <a:tc>
                  <a:txBody>
                    <a:bodyPr/>
                    <a:lstStyle/>
                    <a:p>
                      <a:pPr>
                        <a:lnSpc>
                          <a:spcPct val="100000"/>
                        </a:lnSpc>
                      </a:pPr>
                      <a:r>
                        <a:rPr sz="1000" b="0">
                          <a:solidFill>
                            <a:srgbClr val="1F1F1F"/>
                          </a:solidFill>
                          <a:latin typeface="游ゴシック Medium"/>
                        </a:rPr>
                        <a:t>texts[]（座標・並びから判定）</a:t>
                      </a:r>
                    </a:p>
                  </a:txBody>
                  <a:tcPr anchor="ctr" marL="64000" marR="64000" marT="24000" marB="24000">
                    <a:solidFill>
                      <a:srgbClr val="F5F7FA"/>
                    </a:solidFill>
                  </a:tcPr>
                </a:tc>
                <a:tc>
                  <a:txBody>
                    <a:bodyPr/>
                    <a:lstStyle/>
                    <a:p>
                      <a:pPr>
                        <a:lnSpc>
                          <a:spcPct val="100000"/>
                        </a:lnSpc>
                      </a:pPr>
                      <a:r>
                        <a:rPr sz="1000" b="0">
                          <a:solidFill>
                            <a:srgbClr val="1F1F1F"/>
                          </a:solidFill>
                          <a:latin typeface="游ゴシック Medium"/>
                        </a:rPr>
                        <a:t>title_block_candidates → title_block_fields</a:t>
                      </a:r>
                    </a:p>
                  </a:txBody>
                  <a:tcPr anchor="ctr" marL="64000" marR="64000" marT="24000" marB="24000">
                    <a:solidFill>
                      <a:srgbClr val="F5F7FA"/>
                    </a:solidFill>
                  </a:tcPr>
                </a:tc>
              </a:tr>
              <a:tr h="380243">
                <a:tc>
                  <a:txBody>
                    <a:bodyPr/>
                    <a:lstStyle/>
                    <a:p>
                      <a:pPr>
                        <a:lnSpc>
                          <a:spcPct val="100000"/>
                        </a:lnSpc>
                      </a:pPr>
                      <a:r>
                        <a:rPr sz="1000" b="0">
                          <a:solidFill>
                            <a:srgbClr val="1F1F1F"/>
                          </a:solidFill>
                          <a:latin typeface="游ゴシック Medium"/>
                        </a:rPr>
                        <a:t>寸法</a:t>
                      </a:r>
                    </a:p>
                  </a:txBody>
                  <a:tcPr anchor="ctr" marL="64000" marR="64000" marT="24000" marB="24000">
                    <a:solidFill>
                      <a:srgbClr val="FFFFFF"/>
                    </a:solidFill>
                  </a:tcPr>
                </a:tc>
                <a:tc>
                  <a:txBody>
                    <a:bodyPr/>
                    <a:lstStyle/>
                    <a:p>
                      <a:pPr>
                        <a:lnSpc>
                          <a:spcPct val="100000"/>
                        </a:lnSpc>
                      </a:pPr>
                      <a:r>
                        <a:rPr sz="1000" b="0">
                          <a:solidFill>
                            <a:srgbClr val="1F1F1F"/>
                          </a:solidFill>
                          <a:latin typeface="游ゴシック Medium"/>
                        </a:rPr>
                        <a:t>dimensions[]</a:t>
                      </a:r>
                    </a:p>
                  </a:txBody>
                  <a:tcPr anchor="ctr" marL="64000" marR="64000" marT="24000" marB="24000">
                    <a:solidFill>
                      <a:srgbClr val="FFFFFF"/>
                    </a:solidFill>
                  </a:tcPr>
                </a:tc>
                <a:tc>
                  <a:txBody>
                    <a:bodyPr/>
                    <a:lstStyle/>
                    <a:p>
                      <a:pPr>
                        <a:lnSpc>
                          <a:spcPct val="100000"/>
                        </a:lnSpc>
                      </a:pPr>
                      <a:r>
                        <a:rPr sz="1000" b="0">
                          <a:solidFill>
                            <a:srgbClr val="1F1F1F"/>
                          </a:solidFill>
                          <a:latin typeface="游ゴシック Medium"/>
                        </a:rPr>
                        <a:t>dimension_values, dimension_symbols</a:t>
                      </a:r>
                    </a:p>
                  </a:txBody>
                  <a:tcPr anchor="ctr" marL="64000" marR="64000" marT="24000" marB="24000">
                    <a:solidFill>
                      <a:srgbClr val="FFFFFF"/>
                    </a:solidFill>
                  </a:tcPr>
                </a:tc>
              </a:tr>
              <a:tr h="380243">
                <a:tc>
                  <a:txBody>
                    <a:bodyPr/>
                    <a:lstStyle/>
                    <a:p>
                      <a:pPr>
                        <a:lnSpc>
                          <a:spcPct val="100000"/>
                        </a:lnSpc>
                      </a:pPr>
                      <a:r>
                        <a:rPr sz="1000" b="0">
                          <a:solidFill>
                            <a:srgbClr val="1F1F1F"/>
                          </a:solidFill>
                          <a:latin typeface="游ゴシック Medium"/>
                        </a:rPr>
                        <a:t>公差・幾何公差</a:t>
                      </a:r>
                    </a:p>
                  </a:txBody>
                  <a:tcPr anchor="ctr" marL="64000" marR="64000" marT="24000" marB="24000">
                    <a:solidFill>
                      <a:srgbClr val="F5F7FA"/>
                    </a:solidFill>
                  </a:tcPr>
                </a:tc>
                <a:tc>
                  <a:txBody>
                    <a:bodyPr/>
                    <a:lstStyle/>
                    <a:p>
                      <a:pPr>
                        <a:lnSpc>
                          <a:spcPct val="100000"/>
                        </a:lnSpc>
                      </a:pPr>
                      <a:r>
                        <a:rPr sz="1000" b="0">
                          <a:solidFill>
                            <a:srgbClr val="1F1F1F"/>
                          </a:solidFill>
                          <a:latin typeface="游ゴシック Medium"/>
                        </a:rPr>
                        <a:t>tolerances[]</a:t>
                      </a:r>
                    </a:p>
                  </a:txBody>
                  <a:tcPr anchor="ctr" marL="64000" marR="64000" marT="24000" marB="24000">
                    <a:solidFill>
                      <a:srgbClr val="F5F7FA"/>
                    </a:solidFill>
                  </a:tcPr>
                </a:tc>
                <a:tc>
                  <a:txBody>
                    <a:bodyPr/>
                    <a:lstStyle/>
                    <a:p>
                      <a:pPr>
                        <a:lnSpc>
                          <a:spcPct val="100000"/>
                        </a:lnSpc>
                      </a:pPr>
                      <a:r>
                        <a:rPr sz="1000" b="0">
                          <a:solidFill>
                            <a:srgbClr val="1F1F1F"/>
                          </a:solidFill>
                          <a:latin typeface="游ゴシック Medium"/>
                        </a:rPr>
                        <a:t>tolerance_candidates</a:t>
                      </a:r>
                    </a:p>
                  </a:txBody>
                  <a:tcPr anchor="ctr" marL="64000" marR="64000" marT="24000" marB="24000">
                    <a:solidFill>
                      <a:srgbClr val="F5F7FA"/>
                    </a:solidFill>
                  </a:tcPr>
                </a:tc>
              </a:tr>
              <a:tr h="380243">
                <a:tc>
                  <a:txBody>
                    <a:bodyPr/>
                    <a:lstStyle/>
                    <a:p>
                      <a:pPr>
                        <a:lnSpc>
                          <a:spcPct val="100000"/>
                        </a:lnSpc>
                      </a:pPr>
                      <a:r>
                        <a:rPr sz="1000" b="0">
                          <a:solidFill>
                            <a:srgbClr val="1F1F1F"/>
                          </a:solidFill>
                          <a:latin typeface="游ゴシック Medium"/>
                        </a:rPr>
                        <a:t>溶接記号・注記</a:t>
                      </a:r>
                    </a:p>
                  </a:txBody>
                  <a:tcPr anchor="ctr" marL="64000" marR="64000" marT="24000" marB="24000">
                    <a:solidFill>
                      <a:srgbClr val="FFFFFF"/>
                    </a:solidFill>
                  </a:tcPr>
                </a:tc>
                <a:tc>
                  <a:txBody>
                    <a:bodyPr/>
                    <a:lstStyle/>
                    <a:p>
                      <a:pPr>
                        <a:lnSpc>
                          <a:spcPct val="100000"/>
                        </a:lnSpc>
                      </a:pPr>
                      <a:r>
                        <a:rPr sz="1000" b="0">
                          <a:solidFill>
                            <a:srgbClr val="1F1F1F"/>
                          </a:solidFill>
                          <a:latin typeface="游ゴシック Medium"/>
                        </a:rPr>
                        <a:t>weld_notes[]</a:t>
                      </a:r>
                    </a:p>
                  </a:txBody>
                  <a:tcPr anchor="ctr" marL="64000" marR="64000" marT="24000" marB="24000">
                    <a:solidFill>
                      <a:srgbClr val="FFFFFF"/>
                    </a:solidFill>
                  </a:tcPr>
                </a:tc>
                <a:tc>
                  <a:txBody>
                    <a:bodyPr/>
                    <a:lstStyle/>
                    <a:p>
                      <a:pPr>
                        <a:lnSpc>
                          <a:spcPct val="100000"/>
                        </a:lnSpc>
                      </a:pPr>
                      <a:r>
                        <a:rPr sz="1000" b="0">
                          <a:solidFill>
                            <a:srgbClr val="1F1F1F"/>
                          </a:solidFill>
                          <a:latin typeface="游ゴシック Medium"/>
                        </a:rPr>
                        <a:t>weld_note_candidates</a:t>
                      </a:r>
                    </a:p>
                  </a:txBody>
                  <a:tcPr anchor="ctr" marL="64000" marR="64000" marT="24000" marB="24000">
                    <a:solidFill>
                      <a:srgbClr val="FFFFFF"/>
                    </a:solidFill>
                  </a:tcPr>
                </a:tc>
              </a:tr>
              <a:tr h="380243">
                <a:tc>
                  <a:txBody>
                    <a:bodyPr/>
                    <a:lstStyle/>
                    <a:p>
                      <a:pPr>
                        <a:lnSpc>
                          <a:spcPct val="100000"/>
                        </a:lnSpc>
                      </a:pPr>
                      <a:r>
                        <a:rPr sz="1000" b="0">
                          <a:solidFill>
                            <a:srgbClr val="1F1F1F"/>
                          </a:solidFill>
                          <a:latin typeface="游ゴシック Medium"/>
                        </a:rPr>
                        <a:t>バルーン</a:t>
                      </a:r>
                    </a:p>
                  </a:txBody>
                  <a:tcPr anchor="ctr" marL="64000" marR="64000" marT="24000" marB="24000">
                    <a:solidFill>
                      <a:srgbClr val="F5F7FA"/>
                    </a:solidFill>
                  </a:tcPr>
                </a:tc>
                <a:tc>
                  <a:txBody>
                    <a:bodyPr/>
                    <a:lstStyle/>
                    <a:p>
                      <a:pPr>
                        <a:lnSpc>
                          <a:spcPct val="100000"/>
                        </a:lnSpc>
                      </a:pPr>
                      <a:r>
                        <a:rPr sz="1000" b="0">
                          <a:solidFill>
                            <a:srgbClr val="1F1F1F"/>
                          </a:solidFill>
                          <a:latin typeface="游ゴシック Medium"/>
                        </a:rPr>
                        <a:t>balloons[]</a:t>
                      </a:r>
                    </a:p>
                  </a:txBody>
                  <a:tcPr anchor="ctr" marL="64000" marR="64000" marT="24000" marB="24000">
                    <a:solidFill>
                      <a:srgbClr val="F5F7FA"/>
                    </a:solidFill>
                  </a:tcPr>
                </a:tc>
                <a:tc>
                  <a:txBody>
                    <a:bodyPr/>
                    <a:lstStyle/>
                    <a:p>
                      <a:pPr>
                        <a:lnSpc>
                          <a:spcPct val="100000"/>
                        </a:lnSpc>
                      </a:pPr>
                      <a:r>
                        <a:rPr sz="1000" b="0">
                          <a:solidFill>
                            <a:srgbClr val="1F1F1F"/>
                          </a:solidFill>
                          <a:latin typeface="游ゴシック Medium"/>
                        </a:rPr>
                        <a:t>balloon_candidates</a:t>
                      </a:r>
                    </a:p>
                  </a:txBody>
                  <a:tcPr anchor="ctr" marL="64000" marR="64000" marT="24000" marB="24000">
                    <a:solidFill>
                      <a:srgbClr val="F5F7FA"/>
                    </a:solidFill>
                  </a:tcPr>
                </a:tc>
              </a:tr>
              <a:tr h="380243">
                <a:tc>
                  <a:txBody>
                    <a:bodyPr/>
                    <a:lstStyle/>
                    <a:p>
                      <a:pPr>
                        <a:lnSpc>
                          <a:spcPct val="100000"/>
                        </a:lnSpc>
                      </a:pPr>
                      <a:r>
                        <a:rPr sz="1000" b="0">
                          <a:solidFill>
                            <a:srgbClr val="1F1F1F"/>
                          </a:solidFill>
                          <a:latin typeface="游ゴシック Medium"/>
                        </a:rPr>
                        <a:t>面粗さ・仕上げ記号</a:t>
                      </a:r>
                    </a:p>
                  </a:txBody>
                  <a:tcPr anchor="ctr" marL="64000" marR="64000" marT="24000" marB="24000">
                    <a:solidFill>
                      <a:srgbClr val="FFFFFF"/>
                    </a:solidFill>
                  </a:tcPr>
                </a:tc>
                <a:tc>
                  <a:txBody>
                    <a:bodyPr/>
                    <a:lstStyle/>
                    <a:p>
                      <a:pPr>
                        <a:lnSpc>
                          <a:spcPct val="100000"/>
                        </a:lnSpc>
                      </a:pPr>
                      <a:r>
                        <a:rPr sz="1000" b="0">
                          <a:solidFill>
                            <a:srgbClr val="1F1F1F"/>
                          </a:solidFill>
                          <a:latin typeface="游ゴシック Medium"/>
                        </a:rPr>
                        <a:t>geometry_primitives[]</a:t>
                      </a:r>
                    </a:p>
                  </a:txBody>
                  <a:tcPr anchor="ctr" marL="64000" marR="64000" marT="24000" marB="24000">
                    <a:solidFill>
                      <a:srgbClr val="FFFFFF"/>
                    </a:solidFill>
                  </a:tcPr>
                </a:tc>
                <a:tc>
                  <a:txBody>
                    <a:bodyPr/>
                    <a:lstStyle/>
                    <a:p>
                      <a:pPr>
                        <a:lnSpc>
                          <a:spcPct val="100000"/>
                        </a:lnSpc>
                      </a:pPr>
                      <a:r>
                        <a:rPr sz="1000" b="0">
                          <a:solidFill>
                            <a:srgbClr val="1F1F1F"/>
                          </a:solidFill>
                          <a:latin typeface="游ゴシック Medium"/>
                        </a:rPr>
                        <a:t>surface_roughness_values, finish_mark_types</a:t>
                      </a:r>
                    </a:p>
                  </a:txBody>
                  <a:tcPr anchor="ctr" marL="64000" marR="64000" marT="24000" marB="24000">
                    <a:solidFill>
                      <a:srgbClr val="FFFFFF"/>
                    </a:solidFill>
                  </a:tcPr>
                </a:tc>
              </a:tr>
              <a:tr h="380243">
                <a:tc>
                  <a:txBody>
                    <a:bodyPr/>
                    <a:lstStyle/>
                    <a:p>
                      <a:pPr>
                        <a:lnSpc>
                          <a:spcPct val="100000"/>
                        </a:lnSpc>
                      </a:pPr>
                      <a:r>
                        <a:rPr sz="1000" b="0">
                          <a:solidFill>
                            <a:srgbClr val="1F1F1F"/>
                          </a:solidFill>
                          <a:latin typeface="游ゴシック Medium"/>
                        </a:rPr>
                        <a:t>切断線・矢視・ハッチング</a:t>
                      </a:r>
                    </a:p>
                  </a:txBody>
                  <a:tcPr anchor="ctr" marL="64000" marR="64000" marT="24000" marB="24000">
                    <a:solidFill>
                      <a:srgbClr val="F5F7FA"/>
                    </a:solidFill>
                  </a:tcPr>
                </a:tc>
                <a:tc>
                  <a:txBody>
                    <a:bodyPr/>
                    <a:lstStyle/>
                    <a:p>
                      <a:pPr>
                        <a:lnSpc>
                          <a:spcPct val="100000"/>
                        </a:lnSpc>
                      </a:pPr>
                      <a:r>
                        <a:rPr sz="1000" b="0">
                          <a:solidFill>
                            <a:srgbClr val="1F1F1F"/>
                          </a:solidFill>
                          <a:latin typeface="游ゴシック Medium"/>
                        </a:rPr>
                        <a:t>geometry_primitives[]</a:t>
                      </a:r>
                    </a:p>
                  </a:txBody>
                  <a:tcPr anchor="ctr" marL="64000" marR="64000" marT="24000" marB="24000">
                    <a:solidFill>
                      <a:srgbClr val="F5F7FA"/>
                    </a:solidFill>
                  </a:tcPr>
                </a:tc>
                <a:tc>
                  <a:txBody>
                    <a:bodyPr/>
                    <a:lstStyle/>
                    <a:p>
                      <a:pPr>
                        <a:lnSpc>
                          <a:spcPct val="100000"/>
                        </a:lnSpc>
                      </a:pPr>
                      <a:r>
                        <a:rPr sz="1000" b="0">
                          <a:solidFill>
                            <a:srgbClr val="1F1F1F"/>
                          </a:solidFill>
                          <a:latin typeface="游ゴシック Medium"/>
                        </a:rPr>
                        <a:t>curve_section_candidates, cut_line_count, hatch_or_section_count</a:t>
                      </a:r>
                    </a:p>
                  </a:txBody>
                  <a:tcPr anchor="ctr" marL="64000" marR="64000" marT="24000" marB="24000">
                    <a:solidFill>
                      <a:srgbClr val="F5F7FA"/>
                    </a:solidFill>
                  </a:tcPr>
                </a:tc>
              </a:tr>
              <a:tr h="380246">
                <a:tc>
                  <a:txBody>
                    <a:bodyPr/>
                    <a:lstStyle/>
                    <a:p>
                      <a:pPr>
                        <a:lnSpc>
                          <a:spcPct val="100000"/>
                        </a:lnSpc>
                      </a:pPr>
                      <a:r>
                        <a:rPr sz="1000" b="0">
                          <a:solidFill>
                            <a:srgbClr val="1F1F1F"/>
                          </a:solidFill>
                          <a:latin typeface="游ゴシック Medium"/>
                        </a:rPr>
                        <a:t>穴・長穴候補</a:t>
                      </a:r>
                    </a:p>
                  </a:txBody>
                  <a:tcPr anchor="ctr" marL="64000" marR="64000" marT="24000" marB="24000">
                    <a:solidFill>
                      <a:srgbClr val="FFFFFF"/>
                    </a:solidFill>
                  </a:tcPr>
                </a:tc>
                <a:tc>
                  <a:txBody>
                    <a:bodyPr/>
                    <a:lstStyle/>
                    <a:p>
                      <a:pPr>
                        <a:lnSpc>
                          <a:spcPct val="100000"/>
                        </a:lnSpc>
                      </a:pPr>
                      <a:r>
                        <a:rPr sz="1000" b="0">
                          <a:solidFill>
                            <a:srgbClr val="1F1F1F"/>
                          </a:solidFill>
                          <a:latin typeface="游ゴシック Medium"/>
                        </a:rPr>
                        <a:t>geometry_primitives[]</a:t>
                      </a:r>
                    </a:p>
                  </a:txBody>
                  <a:tcPr anchor="ctr" marL="64000" marR="64000" marT="24000" marB="24000">
                    <a:solidFill>
                      <a:srgbClr val="FFFFFF"/>
                    </a:solidFill>
                  </a:tcPr>
                </a:tc>
                <a:tc>
                  <a:txBody>
                    <a:bodyPr/>
                    <a:lstStyle/>
                    <a:p>
                      <a:pPr>
                        <a:lnSpc>
                          <a:spcPct val="100000"/>
                        </a:lnSpc>
                      </a:pPr>
                      <a:r>
                        <a:rPr sz="1000" b="0">
                          <a:solidFill>
                            <a:srgbClr val="1F1F1F"/>
                          </a:solidFill>
                          <a:latin typeface="游ゴシック Medium"/>
                        </a:rPr>
                        <a:t>hole_candidate_count, slot_candidate_count</a:t>
                      </a:r>
                    </a:p>
                  </a:txBody>
                  <a:tcPr anchor="ctr" marL="64000" marR="64000" marT="24000" marB="24000">
                    <a:solidFill>
                      <a:srgbClr val="FFFFFF"/>
                    </a:solidFill>
                  </a:tcPr>
                </a:tc>
              </a:tr>
            </a:tbl>
          </a:graphicData>
        </a:graphic>
      </p:graphicFrame>
      <p:sp>
        <p:nvSpPr>
          <p:cNvPr id="5" name="TextBox 4"/>
          <p:cNvSpPr txBox="1"/>
          <p:nvPr/>
        </p:nvSpPr>
        <p:spPr>
          <a:xfrm>
            <a:off x="457200" y="5987147"/>
            <a:ext cx="11352213" cy="400000"/>
          </a:xfrm>
          <a:prstGeom prst="rect">
            <a:avLst/>
          </a:prstGeom>
          <a:noFill/>
        </p:spPr>
        <p:txBody>
          <a:bodyPr wrap="square">
            <a:spAutoFit/>
          </a:bodyPr>
          <a:lstStyle/>
          <a:p>
            <a:r>
              <a:rPr sz="1000">
                <a:solidFill>
                  <a:srgbClr val="5A5A5A"/>
                </a:solidFill>
                <a:latin typeface="游ゴシック Medium"/>
              </a:rPr>
              <a:t>図番・図面名・担当者・承認者・日付・材質・重量・表面処理・塗装指示・PRFX・ユニット番号は、SXNETの固定フィールドとしては存在しません。会社ごとの図枠差が大きいため、title_block_fields は固定列ではなく key-value 候補として持ち、採用条件を通ったものだけを確定値に上げています。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1F1F1F"/>
                </a:solidFill>
                <a:latin typeface="游ゴシック Medium"/>
              </a:rPr>
              <a:t>STEP / DXF の抽出元</a:t>
            </a:r>
          </a:p>
        </p:txBody>
      </p:sp>
      <p:sp>
        <p:nvSpPr>
          <p:cNvPr id="3" name="Text Placeholder 2"/>
          <p:cNvSpPr>
            <a:spLocks noGrp="1"/>
          </p:cNvSpPr>
          <p:nvPr>
            <p:ph type="body" idx="17" sz="quarter"/>
          </p:nvPr>
        </p:nvSpPr>
        <p:spPr/>
        <p:txBody>
          <a:bodyPr/>
          <a:lstStyle/>
          <a:p>
            <a:r>
              <a:rPr sz="1100" b="1">
                <a:solidFill>
                  <a:srgbClr val="005BAC"/>
                </a:solidFill>
                <a:latin typeface="游ゴシック Medium"/>
              </a:rPr>
              <a:t>外部CADライブラリを使わず、標準ライブラリだけで解析しています</a:t>
            </a:r>
          </a:p>
        </p:txBody>
      </p:sp>
      <p:graphicFrame>
        <p:nvGraphicFramePr>
          <p:cNvPr id="4" name="Table 3"/>
          <p:cNvGraphicFramePr>
            <a:graphicFrameLocks noGrp="1"/>
          </p:cNvGraphicFramePr>
          <p:nvPr/>
        </p:nvGraphicFramePr>
        <p:xfrm>
          <a:off x="457200" y="1364228"/>
          <a:ext cx="11352212" cy="4562919"/>
        </p:xfrm>
        <a:graphic>
          <a:graphicData uri="http://schemas.openxmlformats.org/drawingml/2006/table">
            <a:tbl>
              <a:tblPr firstRow="1" bandRow="1">
                <a:tableStyleId>{5C22544A-7EE6-4342-B048-85BDC9FD1C3A}</a:tableStyleId>
              </a:tblPr>
              <a:tblGrid>
                <a:gridCol w="900969"/>
                <a:gridCol w="3603877"/>
                <a:gridCol w="3243489"/>
                <a:gridCol w="3603877"/>
              </a:tblGrid>
              <a:tr h="456291">
                <a:tc>
                  <a:txBody>
                    <a:bodyPr/>
                    <a:lstStyle/>
                    <a:p>
                      <a:r>
                        <a:rPr sz="1100" b="1">
                          <a:solidFill>
                            <a:srgbClr val="FFFFFF"/>
                          </a:solidFill>
                          <a:latin typeface="游ゴシック Medium"/>
                        </a:rPr>
                        <a:t>形式</a:t>
                      </a:r>
                    </a:p>
                  </a:txBody>
                  <a:tcPr anchor="ctr" marL="64000" marR="64000">
                    <a:solidFill>
                      <a:srgbClr val="005BAC"/>
                    </a:solidFill>
                  </a:tcPr>
                </a:tc>
                <a:tc>
                  <a:txBody>
                    <a:bodyPr/>
                    <a:lstStyle/>
                    <a:p>
                      <a:r>
                        <a:rPr sz="1100" b="1">
                          <a:solidFill>
                            <a:srgbClr val="FFFFFF"/>
                          </a:solidFill>
                          <a:latin typeface="游ゴシック Medium"/>
                        </a:rPr>
                        <a:t>抽出元</a:t>
                      </a:r>
                    </a:p>
                  </a:txBody>
                  <a:tcPr anchor="ctr" marL="64000" marR="64000">
                    <a:solidFill>
                      <a:srgbClr val="005BAC"/>
                    </a:solidFill>
                  </a:tcPr>
                </a:tc>
                <a:tc>
                  <a:txBody>
                    <a:bodyPr/>
                    <a:lstStyle/>
                    <a:p>
                      <a:r>
                        <a:rPr sz="1100" b="1">
                          <a:solidFill>
                            <a:srgbClr val="FFFFFF"/>
                          </a:solidFill>
                          <a:latin typeface="游ゴシック Medium"/>
                        </a:rPr>
                        <a:t>raw_extract</a:t>
                      </a:r>
                    </a:p>
                  </a:txBody>
                  <a:tcPr anchor="ctr" marL="64000" marR="64000">
                    <a:solidFill>
                      <a:srgbClr val="005BAC"/>
                    </a:solidFill>
                  </a:tcPr>
                </a:tc>
                <a:tc>
                  <a:txBody>
                    <a:bodyPr/>
                    <a:lstStyle/>
                    <a:p>
                      <a:r>
                        <a:rPr sz="1100" b="1">
                          <a:solidFill>
                            <a:srgbClr val="FFFFFF"/>
                          </a:solidFill>
                          <a:latin typeface="游ゴシック Medium"/>
                        </a:rPr>
                        <a:t>正規化先（canonical）</a:t>
                      </a:r>
                    </a:p>
                  </a:txBody>
                  <a:tcPr anchor="ctr" marL="64000" marR="64000">
                    <a:solidFill>
                      <a:srgbClr val="005BAC"/>
                    </a:solidFill>
                  </a:tcPr>
                </a:tc>
              </a:tr>
              <a:tr h="456291">
                <a:tc>
                  <a:txBody>
                    <a:bodyPr/>
                    <a:lstStyle/>
                    <a:p>
                      <a:pPr>
                        <a:lnSpc>
                          <a:spcPct val="100000"/>
                        </a:lnSpc>
                      </a:pPr>
                      <a:r>
                        <a:rPr sz="1050" b="0">
                          <a:solidFill>
                            <a:srgbClr val="1F1F1F"/>
                          </a:solidFill>
                          <a:latin typeface="游ゴシック Medium"/>
                        </a:rPr>
                        <a:t>STEP</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ヘッダ（FILE_NAME, FILE_DESCRIPTION）</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model_info.name / comment</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model_name, model_comment</a:t>
                      </a:r>
                    </a:p>
                  </a:txBody>
                  <a:tcPr anchor="ctr" marL="64000" marR="64000" marT="24000" marB="24000">
                    <a:solidFill>
                      <a:srgbClr val="FFFFFF"/>
                    </a:solidFill>
                  </a:tcPr>
                </a:tc>
              </a:tr>
              <a:tr h="456291">
                <a:tc>
                  <a:txBody>
                    <a:bodyPr/>
                    <a:lstStyle/>
                    <a:p>
                      <a:pPr>
                        <a:lnSpc>
                          <a:spcPct val="100000"/>
                        </a:lnSpc>
                      </a:pPr>
                      <a:r>
                        <a:rPr sz="1050" b="0">
                          <a:solidFill>
                            <a:srgbClr val="1F1F1F"/>
                          </a:solidFill>
                          <a:latin typeface="游ゴシック Medium"/>
                        </a:rPr>
                        <a:t>STEP</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PRODUCT / PRODUCT_DEFINITION</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step_products[]</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step_product_names</a:t>
                      </a:r>
                    </a:p>
                  </a:txBody>
                  <a:tcPr anchor="ctr" marL="64000" marR="64000" marT="24000" marB="24000">
                    <a:solidFill>
                      <a:srgbClr val="F5F7FA"/>
                    </a:solidFill>
                  </a:tcPr>
                </a:tc>
              </a:tr>
              <a:tr h="456291">
                <a:tc>
                  <a:txBody>
                    <a:bodyPr/>
                    <a:lstStyle/>
                    <a:p>
                      <a:pPr>
                        <a:lnSpc>
                          <a:spcPct val="100000"/>
                        </a:lnSpc>
                      </a:pPr>
                      <a:r>
                        <a:rPr sz="1050" b="0">
                          <a:solidFill>
                            <a:srgbClr val="1F1F1F"/>
                          </a:solidFill>
                          <a:latin typeface="游ゴシック Medium"/>
                        </a:rPr>
                        <a:t>STEP</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NEXT_ASSEMBLY_USAGE_OCCURRENCE</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step_assembly_relationships[]</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step_assembly_relationship_count, parts[].tree_path</a:t>
                      </a:r>
                    </a:p>
                  </a:txBody>
                  <a:tcPr anchor="ctr" marL="64000" marR="64000" marT="24000" marB="24000">
                    <a:solidFill>
                      <a:srgbClr val="FFFFFF"/>
                    </a:solidFill>
                  </a:tcPr>
                </a:tc>
              </a:tr>
              <a:tr h="456291">
                <a:tc>
                  <a:txBody>
                    <a:bodyPr/>
                    <a:lstStyle/>
                    <a:p>
                      <a:pPr>
                        <a:lnSpc>
                          <a:spcPct val="100000"/>
                        </a:lnSpc>
                      </a:pPr>
                      <a:r>
                        <a:rPr sz="1050" b="0">
                          <a:solidFill>
                            <a:srgbClr val="1F1F1F"/>
                          </a:solidFill>
                          <a:latin typeface="游ゴシック Medium"/>
                        </a:rPr>
                        <a:t>STEP</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文字列中の材質パターン</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materials[]</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material_keywords</a:t>
                      </a:r>
                    </a:p>
                  </a:txBody>
                  <a:tcPr anchor="ctr" marL="64000" marR="64000" marT="24000" marB="24000">
                    <a:solidFill>
                      <a:srgbClr val="F5F7FA"/>
                    </a:solidFill>
                  </a:tcPr>
                </a:tc>
              </a:tr>
              <a:tr h="456291">
                <a:tc>
                  <a:txBody>
                    <a:bodyPr/>
                    <a:lstStyle/>
                    <a:p>
                      <a:pPr>
                        <a:lnSpc>
                          <a:spcPct val="100000"/>
                        </a:lnSpc>
                      </a:pPr>
                      <a:r>
                        <a:rPr sz="1050" b="0">
                          <a:solidFill>
                            <a:srgbClr val="1F1F1F"/>
                          </a:solidFill>
                          <a:latin typeface="游ゴシック Medium"/>
                        </a:rPr>
                        <a:t>DXF</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TEXT / MTEXT / ATTRIB / ATTDEF</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texts[]</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text_tokens, title_block_candidates</a:t>
                      </a:r>
                    </a:p>
                  </a:txBody>
                  <a:tcPr anchor="ctr" marL="64000" marR="64000" marT="24000" marB="24000">
                    <a:solidFill>
                      <a:srgbClr val="FFFFFF"/>
                    </a:solidFill>
                  </a:tcPr>
                </a:tc>
              </a:tr>
              <a:tr h="456291">
                <a:tc>
                  <a:txBody>
                    <a:bodyPr/>
                    <a:lstStyle/>
                    <a:p>
                      <a:pPr>
                        <a:lnSpc>
                          <a:spcPct val="100000"/>
                        </a:lnSpc>
                      </a:pPr>
                      <a:r>
                        <a:rPr sz="1050" b="0">
                          <a:solidFill>
                            <a:srgbClr val="1F1F1F"/>
                          </a:solidFill>
                          <a:latin typeface="游ゴシック Medium"/>
                        </a:rPr>
                        <a:t>DXF</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INSERT + ATTRIB のブロック参照</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block_references[].attributes[]</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dxf_block_references, dxf_block_attribute_tokens</a:t>
                      </a:r>
                    </a:p>
                  </a:txBody>
                  <a:tcPr anchor="ctr" marL="64000" marR="64000" marT="24000" marB="24000">
                    <a:solidFill>
                      <a:srgbClr val="F5F7FA"/>
                    </a:solidFill>
                  </a:tcPr>
                </a:tc>
              </a:tr>
              <a:tr h="456291">
                <a:tc>
                  <a:txBody>
                    <a:bodyPr/>
                    <a:lstStyle/>
                    <a:p>
                      <a:pPr>
                        <a:lnSpc>
                          <a:spcPct val="100000"/>
                        </a:lnSpc>
                      </a:pPr>
                      <a:r>
                        <a:rPr sz="1050" b="0">
                          <a:solidFill>
                            <a:srgbClr val="1F1F1F"/>
                          </a:solidFill>
                          <a:latin typeface="游ゴシック Medium"/>
                        </a:rPr>
                        <a:t>DXF</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DIMENSION の表示値候補</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dimensions[]</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dimension_values</a:t>
                      </a:r>
                    </a:p>
                  </a:txBody>
                  <a:tcPr anchor="ctr" marL="64000" marR="64000" marT="24000" marB="24000">
                    <a:solidFill>
                      <a:srgbClr val="FFFFFF"/>
                    </a:solidFill>
                  </a:tcPr>
                </a:tc>
              </a:tr>
              <a:tr h="456291">
                <a:tc>
                  <a:txBody>
                    <a:bodyPr/>
                    <a:lstStyle/>
                    <a:p>
                      <a:pPr>
                        <a:lnSpc>
                          <a:spcPct val="100000"/>
                        </a:lnSpc>
                      </a:pPr>
                      <a:r>
                        <a:rPr sz="1050" b="0">
                          <a:solidFill>
                            <a:srgbClr val="1F1F1F"/>
                          </a:solidFill>
                          <a:latin typeface="游ゴシック Medium"/>
                        </a:rPr>
                        <a:t>DXF</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LINE / CIRCLE / ARC / LWPOLYLINE / HATCH ほか</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geometry_primitives[]</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形状特徴候補</a:t>
                      </a:r>
                    </a:p>
                  </a:txBody>
                  <a:tcPr anchor="ctr" marL="64000" marR="64000" marT="24000" marB="24000">
                    <a:solidFill>
                      <a:srgbClr val="F5F7FA"/>
                    </a:solidFill>
                  </a:tcPr>
                </a:tc>
              </a:tr>
              <a:tr h="456300">
                <a:tc>
                  <a:txBody>
                    <a:bodyPr/>
                    <a:lstStyle/>
                    <a:p>
                      <a:pPr>
                        <a:lnSpc>
                          <a:spcPct val="100000"/>
                        </a:lnSpc>
                      </a:pPr>
                      <a:r>
                        <a:rPr sz="1050" b="0">
                          <a:solidFill>
                            <a:srgbClr val="1F1F1F"/>
                          </a:solidFill>
                          <a:latin typeface="游ゴシック Medium"/>
                        </a:rPr>
                        <a:t>DXF</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レイヤー一覧</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layers[]</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dxf_layers</a:t>
                      </a:r>
                    </a:p>
                  </a:txBody>
                  <a:tcPr anchor="ctr" marL="64000" marR="64000" marT="24000" marB="24000">
                    <a:solidFill>
                      <a:srgbClr val="FFFFFF"/>
                    </a:solidFill>
                  </a:tcPr>
                </a:tc>
              </a:tr>
            </a:tbl>
          </a:graphicData>
        </a:graphic>
      </p:graphicFrame>
      <p:sp>
        <p:nvSpPr>
          <p:cNvPr id="5" name="TextBox 4"/>
          <p:cNvSpPr txBox="1"/>
          <p:nvPr/>
        </p:nvSpPr>
        <p:spPr>
          <a:xfrm>
            <a:off x="457200" y="5987147"/>
            <a:ext cx="11352213" cy="400000"/>
          </a:xfrm>
          <a:prstGeom prst="rect">
            <a:avLst/>
          </a:prstGeom>
          <a:noFill/>
        </p:spPr>
        <p:txBody>
          <a:bodyPr wrap="square">
            <a:spAutoFit/>
          </a:bodyPr>
          <a:lstStyle/>
          <a:p>
            <a:r>
              <a:rPr sz="1000">
                <a:solidFill>
                  <a:srgbClr val="5A5A5A"/>
                </a:solidFill>
                <a:latin typeface="游ゴシック Medium"/>
              </a:rPr>
              <a:t>両形式ともファイルパス・ファイル名を source_path_tokens として保持し、客先・案件・装置カテゴリの辞書照合に使います。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1F1F1F"/>
                </a:solidFill>
                <a:latin typeface="游ゴシック Medium"/>
              </a:rPr>
              <a:t>正規化後の属性キー</a:t>
            </a:r>
          </a:p>
        </p:txBody>
      </p:sp>
      <p:sp>
        <p:nvSpPr>
          <p:cNvPr id="3" name="Text Placeholder 2"/>
          <p:cNvSpPr>
            <a:spLocks noGrp="1"/>
          </p:cNvSpPr>
          <p:nvPr>
            <p:ph type="body" idx="17" sz="quarter"/>
          </p:nvPr>
        </p:nvSpPr>
        <p:spPr/>
        <p:txBody>
          <a:bodyPr/>
          <a:lstStyle/>
          <a:p>
            <a:r>
              <a:rPr sz="1100" b="1">
                <a:solidFill>
                  <a:srgbClr val="005BAC"/>
                </a:solidFill>
                <a:latin typeface="游ゴシック Medium"/>
              </a:rPr>
              <a:t>固定スキーマ。2D snapshot で133キー、3D snapshot で97キー</a:t>
            </a:r>
          </a:p>
        </p:txBody>
      </p:sp>
      <p:sp>
        <p:nvSpPr>
          <p:cNvPr id="4" name="Content Placeholder 3"/>
          <p:cNvSpPr>
            <a:spLocks noGrp="1"/>
          </p:cNvSpPr>
          <p:nvPr>
            <p:ph idx="18" sz="quarter"/>
          </p:nvPr>
        </p:nvSpPr>
        <p:spPr/>
        <p:txBody>
          <a:bodyPr wrap="square"/>
          <a:lstStyle/>
          <a:p>
            <a:pPr>
              <a:spcAft>
                <a:spcPts val="600"/>
              </a:spcAft>
            </a:pPr>
            <a:r>
              <a:rPr sz="1200" b="0">
                <a:solidFill>
                  <a:srgbClr val="1F1F1F"/>
                </a:solidFill>
                <a:latin typeface="游ゴシック Medium"/>
              </a:rPr>
              <a:t>図面識別　drawing_number, drawing_name, revision, drawing_size, paper_size, scale, document_kind</a:t>
            </a:r>
          </a:p>
          <a:p>
            <a:pPr>
              <a:spcAft>
                <a:spcPts val="600"/>
              </a:spcAft>
            </a:pPr>
            <a:r>
              <a:rPr sz="1200" b="0">
                <a:solidFill>
                  <a:srgbClr val="1F1F1F"/>
                </a:solidFill>
                <a:latin typeface="游ゴシック Medium"/>
              </a:rPr>
              <a:t>担当・日付　designer, checker, approver, drawing_date, created_date, checked_date, approved_date, revision_date</a:t>
            </a:r>
          </a:p>
          <a:p>
            <a:pPr>
              <a:spcAft>
                <a:spcPts val="600"/>
              </a:spcAft>
            </a:pPr>
            <a:r>
              <a:rPr sz="1200" b="0">
                <a:solidFill>
                  <a:srgbClr val="1F1F1F"/>
                </a:solidFill>
                <a:latin typeface="游ゴシック Medium"/>
              </a:rPr>
              <a:t>分類　customer_name, project_name, equipment_name, equipment_category, module_name, prfx, unit_number, owner, status</a:t>
            </a:r>
          </a:p>
          <a:p>
            <a:pPr>
              <a:spcAft>
                <a:spcPts val="600"/>
              </a:spcAft>
            </a:pPr>
            <a:r>
              <a:rPr sz="1200" b="0">
                <a:solidFill>
                  <a:srgbClr val="1F1F1F"/>
                </a:solidFill>
                <a:latin typeface="游ゴシック Medium"/>
              </a:rPr>
              <a:t>ファイル出所　source_full_path, source_directory_path, source_file_name, source_file_stem, source_path_tokens</a:t>
            </a:r>
          </a:p>
          <a:p>
            <a:pPr>
              <a:spcAft>
                <a:spcPts val="600"/>
              </a:spcAft>
            </a:pPr>
            <a:r>
              <a:rPr sz="1200" b="0">
                <a:solidFill>
                  <a:srgbClr val="1F1F1F"/>
                </a:solidFill>
                <a:latin typeface="游ゴシック Medium"/>
              </a:rPr>
              <a:t>質量特性（3D）　mass_value, weight_value, volume_value, area_value, density_value, center_of_gravity, global_moment, inertia_moment_candidates</a:t>
            </a:r>
          </a:p>
          <a:p>
            <a:pPr>
              <a:spcAft>
                <a:spcPts val="600"/>
              </a:spcAft>
            </a:pPr>
            <a:r>
              <a:rPr sz="1200" b="0">
                <a:solidFill>
                  <a:srgbClr val="1F1F1F"/>
                </a:solidFill>
                <a:latin typeface="游ゴシック Medium"/>
              </a:rPr>
              <a:t>材質　material_ids, material_names, material_keywords, unresolved_material_keywords, part_material_candidates</a:t>
            </a:r>
          </a:p>
          <a:p>
            <a:pPr>
              <a:spcAft>
                <a:spcPts val="600"/>
              </a:spcAft>
            </a:pPr>
            <a:r>
              <a:rPr sz="1200" b="0">
                <a:solidFill>
                  <a:srgbClr val="1F1F1F"/>
                </a:solidFill>
                <a:latin typeface="游ゴシック Medium"/>
              </a:rPr>
              <a:t>部品構成　part_names, part_comments, part_tree_paths, ref_model_names, external_part_exists, mirror_part_exists, unresolved_part_exists</a:t>
            </a:r>
          </a:p>
          <a:p>
            <a:pPr>
              <a:spcAft>
                <a:spcPts val="600"/>
              </a:spcAft>
            </a:pPr>
            <a:r>
              <a:rPr sz="1200" b="0">
                <a:solidFill>
                  <a:srgbClr val="1F1F1F"/>
                </a:solidFill>
                <a:latin typeface="游ゴシック Medium"/>
              </a:rPr>
              <a:t>2D注記・図枠　title_block_fields, title_block_candidates, revision_note_candidates, text_tokens, raw_2d_sections</a:t>
            </a:r>
          </a:p>
          <a:p>
            <a:pPr>
              <a:spcAft>
                <a:spcPts val="600"/>
              </a:spcAft>
            </a:pPr>
            <a:r>
              <a:rPr sz="1200" b="0">
                <a:solidFill>
                  <a:srgbClr val="1F1F1F"/>
                </a:solidFill>
                <a:latin typeface="游ゴシック Medium"/>
              </a:rPr>
              <a:t>2D寸法・記号　dimension_values, tolerance_candidates, weld_note_candidates, balloon_candidates, surface_roughness_values, hole_candidate_count, slot_candidate_count</a:t>
            </a:r>
          </a:p>
          <a:p>
            <a:pPr>
              <a:spcAft>
                <a:spcPts val="600"/>
              </a:spcAft>
            </a:pPr>
            <a:r>
              <a:rPr sz="1200" b="0">
                <a:solidFill>
                  <a:srgbClr val="1F1F1F"/>
                </a:solidFill>
                <a:latin typeface="游ゴシック Medium"/>
              </a:rPr>
              <a:t>加工・処理　surface_treatment_tokens, paint, heat_treatment_keywords, hardness_spec_values, process_keywords</a:t>
            </a:r>
          </a:p>
          <a:p>
            <a:pPr>
              <a:spcAft>
                <a:spcPts val="600"/>
              </a:spcAft>
            </a:pPr>
            <a:r>
              <a:rPr sz="1200" b="0">
                <a:solidFill>
                  <a:srgbClr val="1F1F1F"/>
                </a:solidFill>
                <a:latin typeface="游ゴシック Medium"/>
              </a:rPr>
              <a:t>キーワード　part_keywords, maker_keywords, spec_tokens, inspection_keywords, change_keywords, issue_keywords</a:t>
            </a:r>
          </a:p>
          <a:p>
            <a:pPr>
              <a:spcAft>
                <a:spcPts val="600"/>
              </a:spcAft>
            </a:pPr>
            <a:r>
              <a:rPr sz="1200" b="0">
                <a:solidFill>
                  <a:srgbClr val="1F1F1F"/>
                </a:solidFill>
                <a:latin typeface="游ゴシック Medium"/>
              </a:rPr>
              <a:t>STEP/DXF固有　step_products, step_product_names, step_assembly_relationships, dxf_layers, dxf_block_references</a:t>
            </a:r>
          </a:p>
          <a:p>
            <a:pPr>
              <a:spcAft>
                <a:spcPts val="600"/>
              </a:spcAft>
            </a:pPr>
            <a:r>
              <a:rPr sz="1200" b="0">
                <a:solidFill>
                  <a:srgbClr val="1F1F1F"/>
                </a:solidFill>
                <a:latin typeface="游ゴシック Medium"/>
              </a:rPr>
              <a:t>抽出メタ　extraction_status, ocr_used, confidence_summary, normalizer_version</a:t>
            </a:r>
          </a:p>
          <a:p>
            <a:pPr lvl="1">
              <a:spcAft>
                <a:spcPts val="300"/>
              </a:spcAft>
            </a:pPr>
            <a:r>
              <a:rPr sz="1000" b="0">
                <a:solidFill>
                  <a:srgbClr val="5A5A5A"/>
                </a:solidFill>
                <a:latin typeface="游ゴシック Medium"/>
              </a:rPr>
              <a:t>値が取れなかったキーは null / 空配列のまま残します。「取れなかった」ことも情報として扱う方針です。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1F1F1F"/>
                </a:solidFill>
                <a:latin typeface="游ゴシック Medium"/>
              </a:rPr>
              <a:t>自動タグ11種類と辞書</a:t>
            </a:r>
          </a:p>
        </p:txBody>
      </p:sp>
      <p:sp>
        <p:nvSpPr>
          <p:cNvPr id="3" name="Text Placeholder 2"/>
          <p:cNvSpPr>
            <a:spLocks noGrp="1"/>
          </p:cNvSpPr>
          <p:nvPr>
            <p:ph type="body" idx="17" sz="quarter"/>
          </p:nvPr>
        </p:nvSpPr>
        <p:spPr/>
        <p:txBody>
          <a:bodyPr/>
          <a:lstStyle/>
          <a:p>
            <a:r>
              <a:rPr sz="1100" b="1">
                <a:solidFill>
                  <a:srgbClr val="005BAC"/>
                </a:solidFill>
                <a:latin typeface="游ゴシック Medium"/>
              </a:rPr>
              <a:t>各タグに source / evidence / confidence / reason を付与。根拠なしのタグは作らない</a:t>
            </a:r>
          </a:p>
        </p:txBody>
      </p:sp>
      <p:graphicFrame>
        <p:nvGraphicFramePr>
          <p:cNvPr id="4" name="Table 3"/>
          <p:cNvGraphicFramePr>
            <a:graphicFrameLocks noGrp="1"/>
          </p:cNvGraphicFramePr>
          <p:nvPr/>
        </p:nvGraphicFramePr>
        <p:xfrm>
          <a:off x="457200" y="1364228"/>
          <a:ext cx="11352211" cy="4562919"/>
        </p:xfrm>
        <a:graphic>
          <a:graphicData uri="http://schemas.openxmlformats.org/drawingml/2006/table">
            <a:tbl>
              <a:tblPr firstRow="1" bandRow="1">
                <a:tableStyleId>{5C22544A-7EE6-4342-B048-85BDC9FD1C3A}</a:tableStyleId>
              </a:tblPr>
              <a:tblGrid>
                <a:gridCol w="1513628"/>
                <a:gridCol w="4351681"/>
                <a:gridCol w="1135221"/>
                <a:gridCol w="4351681"/>
              </a:tblGrid>
              <a:tr h="380243">
                <a:tc>
                  <a:txBody>
                    <a:bodyPr/>
                    <a:lstStyle/>
                    <a:p>
                      <a:r>
                        <a:rPr sz="1100" b="1">
                          <a:solidFill>
                            <a:srgbClr val="FFFFFF"/>
                          </a:solidFill>
                          <a:latin typeface="游ゴシック Medium"/>
                        </a:rPr>
                        <a:t>タグ接頭辞</a:t>
                      </a:r>
                    </a:p>
                  </a:txBody>
                  <a:tcPr anchor="ctr" marL="64000" marR="64000">
                    <a:solidFill>
                      <a:srgbClr val="005BAC"/>
                    </a:solidFill>
                  </a:tcPr>
                </a:tc>
                <a:tc>
                  <a:txBody>
                    <a:bodyPr/>
                    <a:lstStyle/>
                    <a:p>
                      <a:r>
                        <a:rPr sz="1100" b="1">
                          <a:solidFill>
                            <a:srgbClr val="FFFFFF"/>
                          </a:solidFill>
                          <a:latin typeface="游ゴシック Medium"/>
                        </a:rPr>
                        <a:t>生成元の属性キー</a:t>
                      </a:r>
                    </a:p>
                  </a:txBody>
                  <a:tcPr anchor="ctr" marL="64000" marR="64000">
                    <a:solidFill>
                      <a:srgbClr val="005BAC"/>
                    </a:solidFill>
                  </a:tcPr>
                </a:tc>
                <a:tc>
                  <a:txBody>
                    <a:bodyPr/>
                    <a:lstStyle/>
                    <a:p>
                      <a:r>
                        <a:rPr sz="1100" b="1">
                          <a:solidFill>
                            <a:srgbClr val="FFFFFF"/>
                          </a:solidFill>
                          <a:latin typeface="游ゴシック Medium"/>
                        </a:rPr>
                        <a:t>確度</a:t>
                      </a:r>
                    </a:p>
                  </a:txBody>
                  <a:tcPr anchor="ctr" marL="64000" marR="64000">
                    <a:solidFill>
                      <a:srgbClr val="005BAC"/>
                    </a:solidFill>
                  </a:tcPr>
                </a:tc>
                <a:tc>
                  <a:txBody>
                    <a:bodyPr/>
                    <a:lstStyle/>
                    <a:p>
                      <a:r>
                        <a:rPr sz="1100" b="1">
                          <a:solidFill>
                            <a:srgbClr val="FFFFFF"/>
                          </a:solidFill>
                          <a:latin typeface="游ゴシック Medium"/>
                        </a:rPr>
                        <a:t>辞書エントリ数（初期値）</a:t>
                      </a:r>
                    </a:p>
                  </a:txBody>
                  <a:tcPr anchor="ctr" marL="64000" marR="64000">
                    <a:solidFill>
                      <a:srgbClr val="005BAC"/>
                    </a:solidFill>
                  </a:tcPr>
                </a:tc>
              </a:tr>
              <a:tr h="380243">
                <a:tc>
                  <a:txBody>
                    <a:bodyPr/>
                    <a:lstStyle/>
                    <a:p>
                      <a:pPr>
                        <a:lnSpc>
                          <a:spcPct val="100000"/>
                        </a:lnSpc>
                      </a:pPr>
                      <a:r>
                        <a:rPr sz="1050" b="0">
                          <a:solidFill>
                            <a:srgbClr val="1F1F1F"/>
                          </a:solidFill>
                          <a:latin typeface="游ゴシック Medium"/>
                        </a:rPr>
                        <a:t>客先:</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customer_name</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high</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3（コマツ小山、広島アルミ、澁谷工業）</a:t>
                      </a:r>
                    </a:p>
                  </a:txBody>
                  <a:tcPr anchor="ctr" marL="64000" marR="64000" marT="24000" marB="24000">
                    <a:solidFill>
                      <a:srgbClr val="FFFFFF"/>
                    </a:solidFill>
                  </a:tcPr>
                </a:tc>
              </a:tr>
              <a:tr h="380243">
                <a:tc>
                  <a:txBody>
                    <a:bodyPr/>
                    <a:lstStyle/>
                    <a:p>
                      <a:pPr>
                        <a:lnSpc>
                          <a:spcPct val="100000"/>
                        </a:lnSpc>
                      </a:pPr>
                      <a:r>
                        <a:rPr sz="1050" b="0">
                          <a:solidFill>
                            <a:srgbClr val="1F1F1F"/>
                          </a:solidFill>
                          <a:latin typeface="游ゴシック Medium"/>
                        </a:rPr>
                        <a:t>案件:</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project_name</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high</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初期0件（画面から登録）</a:t>
                      </a:r>
                    </a:p>
                  </a:txBody>
                  <a:tcPr anchor="ctr" marL="64000" marR="64000" marT="24000" marB="24000">
                    <a:solidFill>
                      <a:srgbClr val="F5F7FA"/>
                    </a:solidFill>
                  </a:tcPr>
                </a:tc>
              </a:tr>
              <a:tr h="380243">
                <a:tc>
                  <a:txBody>
                    <a:bodyPr/>
                    <a:lstStyle/>
                    <a:p>
                      <a:pPr>
                        <a:lnSpc>
                          <a:spcPct val="100000"/>
                        </a:lnSpc>
                      </a:pPr>
                      <a:r>
                        <a:rPr sz="1050" b="0">
                          <a:solidFill>
                            <a:srgbClr val="1F1F1F"/>
                          </a:solidFill>
                          <a:latin typeface="游ゴシック Medium"/>
                        </a:rPr>
                        <a:t>装置:</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equipment_category</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high</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30（ガントリー、治具、コンベア、架台 ほか）</a:t>
                      </a:r>
                    </a:p>
                  </a:txBody>
                  <a:tcPr anchor="ctr" marL="64000" marR="64000" marT="24000" marB="24000">
                    <a:solidFill>
                      <a:srgbClr val="FFFFFF"/>
                    </a:solidFill>
                  </a:tcPr>
                </a:tc>
              </a:tr>
              <a:tr h="380243">
                <a:tc>
                  <a:txBody>
                    <a:bodyPr/>
                    <a:lstStyle/>
                    <a:p>
                      <a:pPr>
                        <a:lnSpc>
                          <a:spcPct val="100000"/>
                        </a:lnSpc>
                      </a:pPr>
                      <a:r>
                        <a:rPr sz="1050" b="0">
                          <a:solidFill>
                            <a:srgbClr val="1F1F1F"/>
                          </a:solidFill>
                          <a:latin typeface="游ゴシック Medium"/>
                        </a:rPr>
                        <a:t>メーカー:</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maker_keywords</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medium</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40（SMC、ミスミ、THK、NSK ほか）</a:t>
                      </a:r>
                    </a:p>
                  </a:txBody>
                  <a:tcPr anchor="ctr" marL="64000" marR="64000" marT="24000" marB="24000">
                    <a:solidFill>
                      <a:srgbClr val="F5F7FA"/>
                    </a:solidFill>
                  </a:tcPr>
                </a:tc>
              </a:tr>
              <a:tr h="380243">
                <a:tc>
                  <a:txBody>
                    <a:bodyPr/>
                    <a:lstStyle/>
                    <a:p>
                      <a:pPr>
                        <a:lnSpc>
                          <a:spcPct val="100000"/>
                        </a:lnSpc>
                      </a:pPr>
                      <a:r>
                        <a:rPr sz="1050" b="0">
                          <a:solidFill>
                            <a:srgbClr val="1F1F1F"/>
                          </a:solidFill>
                          <a:latin typeface="游ゴシック Medium"/>
                        </a:rPr>
                        <a:t>材質:</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material_keywords, title_block_fields.material</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medium</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68（SS400、SUS304、S45C、FC300 ほか）</a:t>
                      </a:r>
                    </a:p>
                  </a:txBody>
                  <a:tcPr anchor="ctr" marL="64000" marR="64000" marT="24000" marB="24000">
                    <a:solidFill>
                      <a:srgbClr val="FFFFFF"/>
                    </a:solidFill>
                  </a:tcPr>
                </a:tc>
              </a:tr>
              <a:tr h="380243">
                <a:tc>
                  <a:txBody>
                    <a:bodyPr/>
                    <a:lstStyle/>
                    <a:p>
                      <a:pPr>
                        <a:lnSpc>
                          <a:spcPct val="100000"/>
                        </a:lnSpc>
                      </a:pPr>
                      <a:r>
                        <a:rPr sz="1050" b="0">
                          <a:solidFill>
                            <a:srgbClr val="1F1F1F"/>
                          </a:solidFill>
                          <a:latin typeface="游ゴシック Medium"/>
                        </a:rPr>
                        <a:t>表面処理:</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surface_treatment_tokens</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medium</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a:t>
                      </a:r>
                    </a:p>
                  </a:txBody>
                  <a:tcPr anchor="ctr" marL="64000" marR="64000" marT="24000" marB="24000">
                    <a:solidFill>
                      <a:srgbClr val="F5F7FA"/>
                    </a:solidFill>
                  </a:tcPr>
                </a:tc>
              </a:tr>
              <a:tr h="380243">
                <a:tc>
                  <a:txBody>
                    <a:bodyPr/>
                    <a:lstStyle/>
                    <a:p>
                      <a:pPr>
                        <a:lnSpc>
                          <a:spcPct val="100000"/>
                        </a:lnSpc>
                      </a:pPr>
                      <a:r>
                        <a:rPr sz="1050" b="0">
                          <a:solidFill>
                            <a:srgbClr val="1F1F1F"/>
                          </a:solidFill>
                          <a:latin typeface="游ゴシック Medium"/>
                        </a:rPr>
                        <a:t>塗装:</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paint_instruction_tokens</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medium</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a:t>
                      </a:r>
                    </a:p>
                  </a:txBody>
                  <a:tcPr anchor="ctr" marL="64000" marR="64000" marT="24000" marB="24000">
                    <a:solidFill>
                      <a:srgbClr val="FFFFFF"/>
                    </a:solidFill>
                  </a:tcPr>
                </a:tc>
              </a:tr>
              <a:tr h="380243">
                <a:tc>
                  <a:txBody>
                    <a:bodyPr/>
                    <a:lstStyle/>
                    <a:p>
                      <a:pPr>
                        <a:lnSpc>
                          <a:spcPct val="100000"/>
                        </a:lnSpc>
                      </a:pPr>
                      <a:r>
                        <a:rPr sz="1050" b="0">
                          <a:solidFill>
                            <a:srgbClr val="1F1F1F"/>
                          </a:solidFill>
                          <a:latin typeface="游ゴシック Medium"/>
                        </a:rPr>
                        <a:t>熱処理:</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heat_treatment_keywords</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medium</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20（焼入れ、調質、浸炭、窒化 ほか）</a:t>
                      </a:r>
                    </a:p>
                  </a:txBody>
                  <a:tcPr anchor="ctr" marL="64000" marR="64000" marT="24000" marB="24000">
                    <a:solidFill>
                      <a:srgbClr val="F5F7FA"/>
                    </a:solidFill>
                  </a:tcPr>
                </a:tc>
              </a:tr>
              <a:tr h="380243">
                <a:tc>
                  <a:txBody>
                    <a:bodyPr/>
                    <a:lstStyle/>
                    <a:p>
                      <a:pPr>
                        <a:lnSpc>
                          <a:spcPct val="100000"/>
                        </a:lnSpc>
                      </a:pPr>
                      <a:r>
                        <a:rPr sz="1050" b="0">
                          <a:solidFill>
                            <a:srgbClr val="1F1F1F"/>
                          </a:solidFill>
                          <a:latin typeface="游ゴシック Medium"/>
                        </a:rPr>
                        <a:t>PRFX:</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prfx_candidates, title_block_fields.prfx</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medium</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a:t>
                      </a:r>
                    </a:p>
                  </a:txBody>
                  <a:tcPr anchor="ctr" marL="64000" marR="64000" marT="24000" marB="24000">
                    <a:solidFill>
                      <a:srgbClr val="FFFFFF"/>
                    </a:solidFill>
                  </a:tcPr>
                </a:tc>
              </a:tr>
              <a:tr h="380243">
                <a:tc>
                  <a:txBody>
                    <a:bodyPr/>
                    <a:lstStyle/>
                    <a:p>
                      <a:pPr>
                        <a:lnSpc>
                          <a:spcPct val="100000"/>
                        </a:lnSpc>
                      </a:pPr>
                      <a:r>
                        <a:rPr sz="1050" b="0">
                          <a:solidFill>
                            <a:srgbClr val="1F1F1F"/>
                          </a:solidFill>
                          <a:latin typeface="游ゴシック Medium"/>
                        </a:rPr>
                        <a:t>ユニット:</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unit_number_candidates</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medium</a:t>
                      </a:r>
                    </a:p>
                  </a:txBody>
                  <a:tcPr anchor="ctr" marL="64000" marR="64000" marT="24000" marB="24000">
                    <a:solidFill>
                      <a:srgbClr val="F5F7FA"/>
                    </a:solidFill>
                  </a:tcPr>
                </a:tc>
                <a:tc>
                  <a:txBody>
                    <a:bodyPr/>
                    <a:lstStyle/>
                    <a:p>
                      <a:pPr>
                        <a:lnSpc>
                          <a:spcPct val="100000"/>
                        </a:lnSpc>
                      </a:pPr>
                      <a:r>
                        <a:rPr sz="1050" b="0">
                          <a:solidFill>
                            <a:srgbClr val="1F1F1F"/>
                          </a:solidFill>
                          <a:latin typeface="游ゴシック Medium"/>
                        </a:rPr>
                        <a:t>―</a:t>
                      </a:r>
                    </a:p>
                  </a:txBody>
                  <a:tcPr anchor="ctr" marL="64000" marR="64000" marT="24000" marB="24000">
                    <a:solidFill>
                      <a:srgbClr val="F5F7FA"/>
                    </a:solidFill>
                  </a:tcPr>
                </a:tc>
              </a:tr>
              <a:tr h="380246">
                <a:tc>
                  <a:txBody>
                    <a:bodyPr/>
                    <a:lstStyle/>
                    <a:p>
                      <a:pPr>
                        <a:lnSpc>
                          <a:spcPct val="100000"/>
                        </a:lnSpc>
                      </a:pPr>
                      <a:r>
                        <a:rPr sz="1050" b="0">
                          <a:solidFill>
                            <a:srgbClr val="1F1F1F"/>
                          </a:solidFill>
                          <a:latin typeface="游ゴシック Medium"/>
                        </a:rPr>
                        <a:t>規格:</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spec_tokens のうち辞書一致語（現状 SES のみ）</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medium</a:t>
                      </a:r>
                    </a:p>
                  </a:txBody>
                  <a:tcPr anchor="ctr" marL="64000" marR="64000" marT="24000" marB="24000">
                    <a:solidFill>
                      <a:srgbClr val="FFFFFF"/>
                    </a:solidFill>
                  </a:tcPr>
                </a:tc>
                <a:tc>
                  <a:txBody>
                    <a:bodyPr/>
                    <a:lstStyle/>
                    <a:p>
                      <a:pPr>
                        <a:lnSpc>
                          <a:spcPct val="100000"/>
                        </a:lnSpc>
                      </a:pPr>
                      <a:r>
                        <a:rPr sz="1050" b="0">
                          <a:solidFill>
                            <a:srgbClr val="1F1F1F"/>
                          </a:solidFill>
                          <a:latin typeface="游ゴシック Medium"/>
                        </a:rPr>
                        <a:t>7（SES、JIS、ISO、DIN、ANSI ほか）</a:t>
                      </a:r>
                    </a:p>
                  </a:txBody>
                  <a:tcPr anchor="ctr" marL="64000" marR="64000" marT="24000" marB="24000">
                    <a:solidFill>
                      <a:srgbClr val="FFFFFF"/>
                    </a:solidFill>
                  </a:tcPr>
                </a:tc>
              </a:tr>
            </a:tbl>
          </a:graphicData>
        </a:graphic>
      </p:graphicFrame>
      <p:sp>
        <p:nvSpPr>
          <p:cNvPr id="5" name="TextBox 4"/>
          <p:cNvSpPr txBox="1"/>
          <p:nvPr/>
        </p:nvSpPr>
        <p:spPr>
          <a:xfrm>
            <a:off x="457200" y="5987147"/>
            <a:ext cx="11352213" cy="400000"/>
          </a:xfrm>
          <a:prstGeom prst="rect">
            <a:avLst/>
          </a:prstGeom>
          <a:noFill/>
        </p:spPr>
        <p:txBody>
          <a:bodyPr wrap="square">
            <a:spAutoFit/>
          </a:bodyPr>
          <a:lstStyle/>
          <a:p>
            <a:r>
              <a:rPr sz="1000">
                <a:solidFill>
                  <a:srgbClr val="5A5A5A"/>
                </a:solidFill>
                <a:latin typeface="游ゴシック Medium"/>
              </a:rPr>
              <a:t>辞書はDB化済みで、画面（システム設定 &gt; タグ辞書管理）と /admin から編集できます。案件辞書は初期0件で、画面からの登録が正本です。照合対象はファイルパストークンだけでなく、モデル情報・図面内文字・DXFレイヤー等を合成した検索トークン列（part_keywords）です。なお spec_tokens は2Dでは図面内文字と公差テキストの生の集合（実例で1図面112件）で、その中の辞書一致語だけを 規格: タグにしています。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1F1F1F"/>
                </a:solidFill>
                <a:latin typeface="游ゴシック Medium"/>
              </a:rPr>
              <a:t>タグ化するもの／属性保持に留めるもの</a:t>
            </a:r>
          </a:p>
        </p:txBody>
      </p:sp>
      <p:sp>
        <p:nvSpPr>
          <p:cNvPr id="3" name="Text Placeholder 2"/>
          <p:cNvSpPr>
            <a:spLocks noGrp="1"/>
          </p:cNvSpPr>
          <p:nvPr>
            <p:ph type="body" idx="17" sz="quarter"/>
          </p:nvPr>
        </p:nvSpPr>
        <p:spPr/>
        <p:txBody>
          <a:bodyPr/>
          <a:lstStyle/>
          <a:p>
            <a:r>
              <a:rPr sz="1100" b="1">
                <a:solidFill>
                  <a:srgbClr val="005BAC"/>
                </a:solidFill>
                <a:latin typeface="游ゴシック Medium"/>
              </a:rPr>
              <a:t>存在するだけでタグにすると検索ノイズが大きくなるため、意図的に分けています</a:t>
            </a:r>
          </a:p>
        </p:txBody>
      </p:sp>
      <p:sp>
        <p:nvSpPr>
          <p:cNvPr id="4" name="TextBox 3"/>
          <p:cNvSpPr txBox="1"/>
          <p:nvPr/>
        </p:nvSpPr>
        <p:spPr>
          <a:xfrm>
            <a:off x="457200" y="1364228"/>
            <a:ext cx="5576106" cy="4461520"/>
          </a:xfrm>
          <a:prstGeom prst="rect">
            <a:avLst/>
          </a:prstGeom>
          <a:solidFill>
            <a:srgbClr val="FFFFFF"/>
          </a:solidFill>
          <a:ln w="12700">
            <a:solidFill>
              <a:srgbClr val="C9D3DD"/>
            </a:solidFill>
          </a:ln>
        </p:spPr>
        <p:txBody>
          <a:bodyPr wrap="square" lIns="140000" rIns="120000" tIns="110000">
            <a:spAutoFit/>
          </a:bodyPr>
          <a:lstStyle/>
          <a:p>
            <a:pPr>
              <a:spcAft>
                <a:spcPts val="600"/>
              </a:spcAft>
            </a:pPr>
            <a:r>
              <a:rPr sz="1400" b="1">
                <a:solidFill>
                  <a:srgbClr val="005BAC"/>
                </a:solidFill>
                <a:latin typeface="游ゴシック Medium"/>
              </a:rPr>
              <a:t>自動タグ化する</a:t>
            </a:r>
          </a:p>
          <a:p>
            <a:pPr>
              <a:spcAft>
                <a:spcPts val="400"/>
              </a:spcAft>
            </a:pPr>
            <a:r>
              <a:rPr sz="1300">
                <a:solidFill>
                  <a:srgbClr val="1F1F1F"/>
                </a:solidFill>
                <a:latin typeface="游ゴシック Medium"/>
              </a:rPr>
              <a:t>客先 / 案件 / 装置カテゴリ</a:t>
            </a:r>
          </a:p>
          <a:p>
            <a:pPr>
              <a:spcAft>
                <a:spcPts val="400"/>
              </a:spcAft>
            </a:pPr>
            <a:r>
              <a:rPr sz="1300">
                <a:solidFill>
                  <a:srgbClr val="1F1F1F"/>
                </a:solidFill>
                <a:latin typeface="游ゴシック Medium"/>
              </a:rPr>
              <a:t>メーカー名</a:t>
            </a:r>
          </a:p>
          <a:p>
            <a:pPr>
              <a:spcAft>
                <a:spcPts val="400"/>
              </a:spcAft>
            </a:pPr>
            <a:r>
              <a:rPr sz="1300">
                <a:solidFill>
                  <a:srgbClr val="1F1F1F"/>
                </a:solidFill>
                <a:latin typeface="游ゴシック Medium"/>
              </a:rPr>
              <a:t>正式材質</a:t>
            </a:r>
          </a:p>
          <a:p>
            <a:pPr>
              <a:spcAft>
                <a:spcPts val="400"/>
              </a:spcAft>
            </a:pPr>
            <a:r>
              <a:rPr sz="1300">
                <a:solidFill>
                  <a:srgbClr val="1F1F1F"/>
                </a:solidFill>
                <a:latin typeface="游ゴシック Medium"/>
              </a:rPr>
              <a:t>表面処理・塗装</a:t>
            </a:r>
          </a:p>
          <a:p>
            <a:pPr>
              <a:spcAft>
                <a:spcPts val="400"/>
              </a:spcAft>
            </a:pPr>
            <a:r>
              <a:rPr sz="1300">
                <a:solidFill>
                  <a:srgbClr val="1F1F1F"/>
                </a:solidFill>
                <a:latin typeface="游ゴシック Medium"/>
              </a:rPr>
              <a:t>熱処理</a:t>
            </a:r>
          </a:p>
          <a:p>
            <a:pPr>
              <a:spcAft>
                <a:spcPts val="400"/>
              </a:spcAft>
            </a:pPr>
            <a:r>
              <a:rPr sz="1300">
                <a:solidFill>
                  <a:srgbClr val="1F1F1F"/>
                </a:solidFill>
                <a:latin typeface="游ゴシック Medium"/>
              </a:rPr>
              <a:t>PRFX・ユニット番号</a:t>
            </a:r>
          </a:p>
          <a:p>
            <a:pPr>
              <a:spcAft>
                <a:spcPts val="400"/>
              </a:spcAft>
            </a:pPr>
            <a:r>
              <a:rPr sz="1300">
                <a:solidFill>
                  <a:srgbClr val="1F1F1F"/>
                </a:solidFill>
                <a:latin typeface="游ゴシック Medium"/>
              </a:rPr>
              <a:t>SES などの明確な規格識別子</a:t>
            </a:r>
          </a:p>
        </p:txBody>
      </p:sp>
      <p:sp>
        <p:nvSpPr>
          <p:cNvPr id="5" name="TextBox 4"/>
          <p:cNvSpPr txBox="1"/>
          <p:nvPr/>
        </p:nvSpPr>
        <p:spPr>
          <a:xfrm>
            <a:off x="6233306" y="1364228"/>
            <a:ext cx="5576106" cy="4461520"/>
          </a:xfrm>
          <a:prstGeom prst="rect">
            <a:avLst/>
          </a:prstGeom>
          <a:solidFill>
            <a:srgbClr val="FFFFFF"/>
          </a:solidFill>
          <a:ln w="12700">
            <a:solidFill>
              <a:srgbClr val="C9D3DD"/>
            </a:solidFill>
          </a:ln>
        </p:spPr>
        <p:txBody>
          <a:bodyPr wrap="square" lIns="140000" rIns="120000" tIns="110000">
            <a:spAutoFit/>
          </a:bodyPr>
          <a:lstStyle/>
          <a:p>
            <a:pPr>
              <a:spcAft>
                <a:spcPts val="600"/>
              </a:spcAft>
            </a:pPr>
            <a:r>
              <a:rPr sz="1400" b="1">
                <a:solidFill>
                  <a:srgbClr val="005BAC"/>
                </a:solidFill>
                <a:latin typeface="游ゴシック Medium"/>
              </a:rPr>
              <a:t>属性として保持し、タグ化しない</a:t>
            </a:r>
          </a:p>
          <a:p>
            <a:pPr>
              <a:spcAft>
                <a:spcPts val="400"/>
              </a:spcAft>
            </a:pPr>
            <a:r>
              <a:rPr sz="1300">
                <a:solidFill>
                  <a:srgbClr val="1F1F1F"/>
                </a:solidFill>
                <a:latin typeface="游ゴシック Medium"/>
              </a:rPr>
              <a:t>寸法値・公差値</a:t>
            </a:r>
          </a:p>
          <a:p>
            <a:pPr>
              <a:spcAft>
                <a:spcPts val="400"/>
              </a:spcAft>
            </a:pPr>
            <a:r>
              <a:rPr sz="1300">
                <a:solidFill>
                  <a:srgbClr val="1F1F1F"/>
                </a:solidFill>
                <a:latin typeface="游ゴシック Medium"/>
              </a:rPr>
              <a:t>溶接記号・バルーン</a:t>
            </a:r>
          </a:p>
          <a:p>
            <a:pPr>
              <a:spcAft>
                <a:spcPts val="400"/>
              </a:spcAft>
            </a:pPr>
            <a:r>
              <a:rPr sz="1300">
                <a:solidFill>
                  <a:srgbClr val="1F1F1F"/>
                </a:solidFill>
                <a:latin typeface="游ゴシック Medium"/>
              </a:rPr>
              <a:t>穴・長穴・切断線・ハッチング等の形状特徴</a:t>
            </a:r>
          </a:p>
          <a:p>
            <a:pPr>
              <a:spcAft>
                <a:spcPts val="400"/>
              </a:spcAft>
            </a:pPr>
            <a:r>
              <a:rPr sz="1300">
                <a:solidFill>
                  <a:srgbClr val="1F1F1F"/>
                </a:solidFill>
                <a:latin typeface="游ゴシック Medium"/>
              </a:rPr>
              <a:t>質量・体積・重心・慣性モーメント</a:t>
            </a:r>
          </a:p>
          <a:p>
            <a:pPr>
              <a:spcAft>
                <a:spcPts val="400"/>
              </a:spcAft>
            </a:pPr>
            <a:r>
              <a:rPr sz="1300">
                <a:solidFill>
                  <a:srgbClr val="1F1F1F"/>
                </a:solidFill>
                <a:latin typeface="游ゴシック Medium"/>
              </a:rPr>
              <a:t/>
            </a:r>
          </a:p>
          <a:p>
            <a:pPr>
              <a:spcAft>
                <a:spcPts val="400"/>
              </a:spcAft>
            </a:pPr>
            <a:r>
              <a:rPr sz="1300">
                <a:solidFill>
                  <a:srgbClr val="1F1F1F"/>
                </a:solidFill>
                <a:latin typeface="游ゴシック Medium"/>
              </a:rPr>
              <a:t>→ 図面レビューやRAG投入時の</a:t>
            </a:r>
          </a:p>
          <a:p>
            <a:pPr>
              <a:spcAft>
                <a:spcPts val="400"/>
              </a:spcAft>
            </a:pPr>
            <a:r>
              <a:rPr sz="1300">
                <a:solidFill>
                  <a:srgbClr val="1F1F1F"/>
                </a:solidFill>
                <a:latin typeface="游ゴシック Medium"/>
              </a:rPr>
              <a:t>　 属性・根拠として保持します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1F1F"/>
                </a:solidFill>
                <a:latin typeface="游ゴシック Medium"/>
              </a:rPr>
              <a:t>具体例</a:t>
            </a:r>
          </a:p>
        </p:txBody>
      </p:sp>
      <p:sp>
        <p:nvSpPr>
          <p:cNvPr id="3" name="Text Placeholder 2"/>
          <p:cNvSpPr>
            <a:spLocks noGrp="1"/>
          </p:cNvSpPr>
          <p:nvPr>
            <p:ph type="body" idx="2" sz="half"/>
          </p:nvPr>
        </p:nvSpPr>
        <p:spPr/>
        <p:txBody>
          <a:bodyPr/>
          <a:lstStyle/>
          <a:p>
            <a:r>
              <a:rPr sz="1400" b="1">
                <a:solidFill>
                  <a:srgbClr val="005BAC"/>
                </a:solidFill>
                <a:latin typeface="游ゴシック Medium"/>
              </a:rPr>
              <a:t>CHAPTER　03</a:t>
            </a:r>
          </a:p>
        </p:txBody>
      </p:sp>
      <p:sp>
        <p:nvSpPr>
          <p:cNvPr id="4" name="Text Placeholder 3"/>
          <p:cNvSpPr>
            <a:spLocks noGrp="1"/>
          </p:cNvSpPr>
          <p:nvPr>
            <p:ph type="body" idx="17" sz="half"/>
          </p:nvPr>
        </p:nvSpPr>
        <p:spPr/>
        <p:txBody>
          <a:bodyPr/>
          <a:lstStyle/>
          <a:p>
            <a:r>
              <a:rPr sz="1200" b="1">
                <a:solidFill>
                  <a:srgbClr val="005BAC"/>
                </a:solidFill>
                <a:latin typeface="游ゴシック Medium"/>
              </a:rPr>
              <a:t>Real Extraction Results</a:t>
            </a:r>
          </a:p>
        </p:txBody>
      </p:sp>
      <p:sp>
        <p:nvSpPr>
          <p:cNvPr id="5" name="Content Placeholder 4"/>
          <p:cNvSpPr>
            <a:spLocks noGrp="1"/>
          </p:cNvSpPr>
          <p:nvPr>
            <p:ph idx="18" sz="quarter"/>
          </p:nvPr>
        </p:nvSpPr>
        <p:spPr/>
        <p:txBody>
          <a:bodyPr wrap="square"/>
          <a:lstStyle/>
          <a:p>
            <a:pPr>
              <a:spcAft>
                <a:spcPts val="600"/>
              </a:spcAft>
            </a:pPr>
            <a:r>
              <a:rPr sz="1400" b="0">
                <a:solidFill>
                  <a:srgbClr val="1F1F1F"/>
                </a:solidFill>
                <a:latin typeface="游ゴシック Medium"/>
              </a:rPr>
              <a:t>共有いただいた実ICAD 39件の実測結果</a:t>
            </a:r>
          </a:p>
          <a:p>
            <a:pPr>
              <a:spcAft>
                <a:spcPts val="600"/>
              </a:spcAft>
            </a:pPr>
            <a:r>
              <a:rPr sz="1400" b="0">
                <a:solidFill>
                  <a:srgbClr val="1F1F1F"/>
                </a:solidFill>
                <a:latin typeface="游ゴシック Medium"/>
              </a:rPr>
              <a:t>実ファイル5例の、実際の出力値（値は加工していません）</a:t>
            </a:r>
          </a:p>
          <a:p>
            <a:pPr>
              <a:spcAft>
                <a:spcPts val="600"/>
              </a:spcAft>
            </a:pPr>
            <a:r>
              <a:rPr sz="1400" b="0">
                <a:solidFill>
                  <a:srgbClr val="1F1F1F"/>
                </a:solidFill>
                <a:latin typeface="游ゴシック Medium"/>
              </a:rPr>
              <a:t>具体例から読み取れる特性と、すり合わせが必要な点</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1F1F1F"/>
                </a:solidFill>
                <a:latin typeface="游ゴシック Medium"/>
              </a:rPr>
              <a:t>実ICAD 39件の実測結果</a:t>
            </a:r>
          </a:p>
        </p:txBody>
      </p:sp>
      <p:sp>
        <p:nvSpPr>
          <p:cNvPr id="3" name="Text Placeholder 2"/>
          <p:cNvSpPr>
            <a:spLocks noGrp="1"/>
          </p:cNvSpPr>
          <p:nvPr>
            <p:ph type="body" idx="17" sz="quarter"/>
          </p:nvPr>
        </p:nvSpPr>
        <p:spPr/>
        <p:txBody>
          <a:bodyPr/>
          <a:lstStyle/>
          <a:p>
            <a:r>
              <a:rPr sz="1100" b="1">
                <a:solidFill>
                  <a:srgbClr val="005BAC"/>
                </a:solidFill>
                <a:latin typeface="游ゴシック Medium"/>
              </a:rPr>
              <a:t>共有いただいた実ICAD 39件を、抽出から画面表示まで通した結果（2026-07-17時点）</a:t>
            </a:r>
          </a:p>
        </p:txBody>
      </p:sp>
      <p:graphicFrame>
        <p:nvGraphicFramePr>
          <p:cNvPr id="4" name="Table 3"/>
          <p:cNvGraphicFramePr>
            <a:graphicFrameLocks noGrp="1"/>
          </p:cNvGraphicFramePr>
          <p:nvPr/>
        </p:nvGraphicFramePr>
        <p:xfrm>
          <a:off x="457200" y="1364228"/>
          <a:ext cx="11352212" cy="2700000"/>
        </p:xfrm>
        <a:graphic>
          <a:graphicData uri="http://schemas.openxmlformats.org/drawingml/2006/table">
            <a:tbl>
              <a:tblPr firstRow="1" bandRow="1">
                <a:tableStyleId>{5C22544A-7EE6-4342-B048-85BDC9FD1C3A}</a:tableStyleId>
              </a:tblPr>
              <a:tblGrid>
                <a:gridCol w="3385747"/>
                <a:gridCol w="7966465"/>
              </a:tblGrid>
              <a:tr h="385714">
                <a:tc>
                  <a:txBody>
                    <a:bodyPr/>
                    <a:lstStyle/>
                    <a:p>
                      <a:r>
                        <a:rPr sz="1100" b="1">
                          <a:solidFill>
                            <a:srgbClr val="FFFFFF"/>
                          </a:solidFill>
                          <a:latin typeface="游ゴシック Medium"/>
                        </a:rPr>
                        <a:t>観点</a:t>
                      </a:r>
                    </a:p>
                  </a:txBody>
                  <a:tcPr anchor="ctr" marL="64000" marR="64000">
                    <a:solidFill>
                      <a:srgbClr val="005BAC"/>
                    </a:solidFill>
                  </a:tcPr>
                </a:tc>
                <a:tc>
                  <a:txBody>
                    <a:bodyPr/>
                    <a:lstStyle/>
                    <a:p>
                      <a:r>
                        <a:rPr sz="1100" b="1">
                          <a:solidFill>
                            <a:srgbClr val="FFFFFF"/>
                          </a:solidFill>
                          <a:latin typeface="游ゴシック Medium"/>
                        </a:rPr>
                        <a:t>結果</a:t>
                      </a:r>
                    </a:p>
                  </a:txBody>
                  <a:tcPr anchor="ctr" marL="64000" marR="64000">
                    <a:solidFill>
                      <a:srgbClr val="005BAC"/>
                    </a:solidFill>
                  </a:tcPr>
                </a:tc>
              </a:tr>
              <a:tr h="385714">
                <a:tc>
                  <a:txBody>
                    <a:bodyPr/>
                    <a:lstStyle/>
                    <a:p>
                      <a:pPr>
                        <a:lnSpc>
                          <a:spcPct val="100000"/>
                        </a:lnSpc>
                      </a:pPr>
                      <a:r>
                        <a:rPr sz="1200" b="0">
                          <a:solidFill>
                            <a:srgbClr val="1F1F1F"/>
                          </a:solidFill>
                          <a:latin typeface="游ゴシック Medium"/>
                        </a:rPr>
                        <a:t>抽出完了</a:t>
                      </a:r>
                    </a:p>
                  </a:txBody>
                  <a:tcPr anchor="ctr" marL="64000" marR="64000" marT="24000" marB="24000">
                    <a:solidFill>
                      <a:srgbClr val="FFFFFF"/>
                    </a:solidFill>
                  </a:tcPr>
                </a:tc>
                <a:tc>
                  <a:txBody>
                    <a:bodyPr/>
                    <a:lstStyle/>
                    <a:p>
                      <a:pPr>
                        <a:lnSpc>
                          <a:spcPct val="100000"/>
                        </a:lnSpc>
                      </a:pPr>
                      <a:r>
                        <a:rPr sz="1200" b="0">
                          <a:solidFill>
                            <a:srgbClr val="1F1F1F"/>
                          </a:solidFill>
                          <a:latin typeface="游ゴシック Medium"/>
                        </a:rPr>
                        <a:t>39件すべてで 2D snapshot / 3D snapshot の両方を保存済み、未抽出0件</a:t>
                      </a:r>
                    </a:p>
                  </a:txBody>
                  <a:tcPr anchor="ctr" marL="64000" marR="64000" marT="24000" marB="24000">
                    <a:solidFill>
                      <a:srgbClr val="FFFFFF"/>
                    </a:solidFill>
                  </a:tcPr>
                </a:tc>
              </a:tr>
              <a:tr h="385714">
                <a:tc>
                  <a:txBody>
                    <a:bodyPr/>
                    <a:lstStyle/>
                    <a:p>
                      <a:pPr>
                        <a:lnSpc>
                          <a:spcPct val="100000"/>
                        </a:lnSpc>
                      </a:pPr>
                      <a:r>
                        <a:rPr sz="1200" b="0">
                          <a:solidFill>
                            <a:srgbClr val="1F1F1F"/>
                          </a:solidFill>
                          <a:latin typeface="游ゴシック Medium"/>
                        </a:rPr>
                        <a:t>部品名（part_names）</a:t>
                      </a:r>
                    </a:p>
                  </a:txBody>
                  <a:tcPr anchor="ctr" marL="64000" marR="64000" marT="24000" marB="24000">
                    <a:solidFill>
                      <a:srgbClr val="F5F7FA"/>
                    </a:solidFill>
                  </a:tcPr>
                </a:tc>
                <a:tc>
                  <a:txBody>
                    <a:bodyPr/>
                    <a:lstStyle/>
                    <a:p>
                      <a:pPr>
                        <a:lnSpc>
                          <a:spcPct val="100000"/>
                        </a:lnSpc>
                      </a:pPr>
                      <a:r>
                        <a:rPr sz="1200" b="0">
                          <a:solidFill>
                            <a:srgbClr val="1F1F1F"/>
                          </a:solidFill>
                          <a:latin typeface="游ゴシック Medium"/>
                        </a:rPr>
                        <a:t>39 / 39 件で取得</a:t>
                      </a:r>
                    </a:p>
                  </a:txBody>
                  <a:tcPr anchor="ctr" marL="64000" marR="64000" marT="24000" marB="24000">
                    <a:solidFill>
                      <a:srgbClr val="F5F7FA"/>
                    </a:solidFill>
                  </a:tcPr>
                </a:tc>
              </a:tr>
              <a:tr h="385714">
                <a:tc>
                  <a:txBody>
                    <a:bodyPr/>
                    <a:lstStyle/>
                    <a:p>
                      <a:pPr>
                        <a:lnSpc>
                          <a:spcPct val="100000"/>
                        </a:lnSpc>
                      </a:pPr>
                      <a:r>
                        <a:rPr sz="1200" b="0">
                          <a:solidFill>
                            <a:srgbClr val="1F1F1F"/>
                          </a:solidFill>
                          <a:latin typeface="游ゴシック Medium"/>
                        </a:rPr>
                        <a:t>質量・重量（mass_value / weight_value）</a:t>
                      </a:r>
                    </a:p>
                  </a:txBody>
                  <a:tcPr anchor="ctr" marL="64000" marR="64000" marT="24000" marB="24000">
                    <a:solidFill>
                      <a:srgbClr val="FFFFFF"/>
                    </a:solidFill>
                  </a:tcPr>
                </a:tc>
                <a:tc>
                  <a:txBody>
                    <a:bodyPr/>
                    <a:lstStyle/>
                    <a:p>
                      <a:pPr>
                        <a:lnSpc>
                          <a:spcPct val="100000"/>
                        </a:lnSpc>
                      </a:pPr>
                      <a:r>
                        <a:rPr sz="1200" b="0">
                          <a:solidFill>
                            <a:srgbClr val="1F1F1F"/>
                          </a:solidFill>
                          <a:latin typeface="游ゴシック Medium"/>
                        </a:rPr>
                        <a:t>38 / 39 件で取得</a:t>
                      </a:r>
                    </a:p>
                  </a:txBody>
                  <a:tcPr anchor="ctr" marL="64000" marR="64000" marT="24000" marB="24000">
                    <a:solidFill>
                      <a:srgbClr val="FFFFFF"/>
                    </a:solidFill>
                  </a:tcPr>
                </a:tc>
              </a:tr>
              <a:tr h="385714">
                <a:tc>
                  <a:txBody>
                    <a:bodyPr/>
                    <a:lstStyle/>
                    <a:p>
                      <a:pPr>
                        <a:lnSpc>
                          <a:spcPct val="100000"/>
                        </a:lnSpc>
                      </a:pPr>
                      <a:r>
                        <a:rPr sz="1200" b="0">
                          <a:solidFill>
                            <a:srgbClr val="1F1F1F"/>
                          </a:solidFill>
                          <a:latin typeface="游ゴシック Medium"/>
                        </a:rPr>
                        <a:t>材質（material_keywords）</a:t>
                      </a:r>
                    </a:p>
                  </a:txBody>
                  <a:tcPr anchor="ctr" marL="64000" marR="64000" marT="24000" marB="24000">
                    <a:solidFill>
                      <a:srgbClr val="F5F7FA"/>
                    </a:solidFill>
                  </a:tcPr>
                </a:tc>
                <a:tc>
                  <a:txBody>
                    <a:bodyPr/>
                    <a:lstStyle/>
                    <a:p>
                      <a:pPr>
                        <a:lnSpc>
                          <a:spcPct val="100000"/>
                        </a:lnSpc>
                      </a:pPr>
                      <a:r>
                        <a:rPr sz="1200" b="0">
                          <a:solidFill>
                            <a:srgbClr val="1F1F1F"/>
                          </a:solidFill>
                          <a:latin typeface="游ゴシック Medium"/>
                        </a:rPr>
                        <a:t>33 / 39 件で取得</a:t>
                      </a:r>
                    </a:p>
                  </a:txBody>
                  <a:tcPr anchor="ctr" marL="64000" marR="64000" marT="24000" marB="24000">
                    <a:solidFill>
                      <a:srgbClr val="F5F7FA"/>
                    </a:solidFill>
                  </a:tcPr>
                </a:tc>
              </a:tr>
              <a:tr h="385714">
                <a:tc>
                  <a:txBody>
                    <a:bodyPr/>
                    <a:lstStyle/>
                    <a:p>
                      <a:pPr>
                        <a:lnSpc>
                          <a:spcPct val="100000"/>
                        </a:lnSpc>
                      </a:pPr>
                      <a:r>
                        <a:rPr sz="1200" b="0">
                          <a:solidFill>
                            <a:srgbClr val="1F1F1F"/>
                          </a:solidFill>
                          <a:latin typeface="游ゴシック Medium"/>
                        </a:rPr>
                        <a:t>生成タグ（上位）</a:t>
                      </a:r>
                    </a:p>
                  </a:txBody>
                  <a:tcPr anchor="ctr" marL="64000" marR="64000" marT="24000" marB="24000">
                    <a:solidFill>
                      <a:srgbClr val="FFFFFF"/>
                    </a:solidFill>
                  </a:tcPr>
                </a:tc>
                <a:tc>
                  <a:txBody>
                    <a:bodyPr/>
                    <a:lstStyle/>
                    <a:p>
                      <a:pPr>
                        <a:lnSpc>
                          <a:spcPct val="100000"/>
                        </a:lnSpc>
                      </a:pPr>
                      <a:r>
                        <a:rPr sz="1200" b="0">
                          <a:solidFill>
                            <a:srgbClr val="1F1F1F"/>
                          </a:solidFill>
                          <a:latin typeface="游ゴシック Medium"/>
                        </a:rPr>
                        <a:t>材質:SS400 13件　/　材質:SUS 13件　/　材質:SUS304 12件　/　メーカー:SMC 4件　/　材質:ねずみ鋳鉄 4件</a:t>
                      </a:r>
                    </a:p>
                  </a:txBody>
                  <a:tcPr anchor="ctr" marL="64000" marR="64000" marT="24000" marB="24000">
                    <a:solidFill>
                      <a:srgbClr val="FFFFFF"/>
                    </a:solidFill>
                  </a:tcPr>
                </a:tc>
              </a:tr>
              <a:tr h="385716">
                <a:tc>
                  <a:txBody>
                    <a:bodyPr/>
                    <a:lstStyle/>
                    <a:p>
                      <a:pPr>
                        <a:lnSpc>
                          <a:spcPct val="100000"/>
                        </a:lnSpc>
                      </a:pPr>
                    </a:p>
                  </a:txBody>
                  <a:tcPr anchor="ctr" marL="64000" marR="64000" marT="24000" marB="24000">
                    <a:solidFill>
                      <a:srgbClr val="F5F7FA"/>
                    </a:solidFill>
                  </a:tcPr>
                </a:tc>
                <a:tc>
                  <a:txBody>
                    <a:bodyPr/>
                    <a:lstStyle/>
                    <a:p>
                      <a:pPr>
                        <a:lnSpc>
                          <a:spcPct val="100000"/>
                        </a:lnSpc>
                      </a:pPr>
                      <a:r>
                        <a:rPr sz="1200" b="0">
                          <a:solidFill>
                            <a:srgbClr val="1F1F1F"/>
                          </a:solidFill>
                          <a:latin typeface="游ゴシック Medium"/>
                        </a:rPr>
                        <a:t>材質:SUS304B・SUS316・SPCC・A5052P・S45C・FC300 各3件　/　規格:SES 2件　/　客先:澁谷工業 1件　/　装置:治具 1件</a:t>
                      </a:r>
                    </a:p>
                  </a:txBody>
                  <a:tcPr anchor="ctr" marL="64000" marR="64000" marT="24000" marB="24000">
                    <a:solidFill>
                      <a:srgbClr val="F5F7FA"/>
                    </a:solidFill>
                  </a:tcPr>
                </a:tc>
              </a:tr>
            </a:tbl>
          </a:graphicData>
        </a:graphic>
      </p:graphicFrame>
      <p:sp>
        <p:nvSpPr>
          <p:cNvPr id="5" name="TextBox 4"/>
          <p:cNvSpPr txBox="1"/>
          <p:nvPr/>
        </p:nvSpPr>
        <p:spPr>
          <a:xfrm>
            <a:off x="457200" y="4124228"/>
            <a:ext cx="11352213" cy="400000"/>
          </a:xfrm>
          <a:prstGeom prst="rect">
            <a:avLst/>
          </a:prstGeom>
          <a:noFill/>
        </p:spPr>
        <p:txBody>
          <a:bodyPr wrap="square">
            <a:spAutoFit/>
          </a:bodyPr>
          <a:lstStyle/>
          <a:p>
            <a:r>
              <a:rPr sz="1000">
                <a:solidFill>
                  <a:srgbClr val="5A5A5A"/>
                </a:solidFill>
                <a:latin typeface="游ゴシック Medium"/>
              </a:rPr>
              <a:t>材質タグは安定して出ます。客先・装置タグが少ないのは、この測定時点の客先辞書が3件しか入っていなかったためです（辞書のDB化は2026-07-17）。辞書を実運用の語彙で拡充すれば増える性質のもので、抽出ロジックの限界ではありません。</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1F1F1F"/>
                </a:solidFill>
                <a:latin typeface="游ゴシック Medium"/>
              </a:rPr>
              <a:t>具体例①　客先・装置がパスから確定したケース</a:t>
            </a:r>
          </a:p>
        </p:txBody>
      </p:sp>
      <p:sp>
        <p:nvSpPr>
          <p:cNvPr id="3" name="Text Placeholder 2"/>
          <p:cNvSpPr>
            <a:spLocks noGrp="1"/>
          </p:cNvSpPr>
          <p:nvPr>
            <p:ph type="body" idx="17" sz="quarter"/>
          </p:nvPr>
        </p:nvSpPr>
        <p:spPr/>
        <p:txBody>
          <a:bodyPr/>
          <a:lstStyle/>
          <a:p>
            <a:r>
              <a:rPr sz="1100" b="1">
                <a:solidFill>
                  <a:srgbClr val="005BAC"/>
                </a:solidFill>
                <a:latin typeface="游ゴシック Medium"/>
              </a:rPr>
              <a:t>実ICADファイルの実際の出力（値は未加工）</a:t>
            </a:r>
          </a:p>
        </p:txBody>
      </p:sp>
      <p:sp>
        <p:nvSpPr>
          <p:cNvPr id="4" name="TextBox 3"/>
          <p:cNvSpPr txBox="1"/>
          <p:nvPr/>
        </p:nvSpPr>
        <p:spPr>
          <a:xfrm>
            <a:off x="457200" y="1364228"/>
            <a:ext cx="11352213" cy="2242158"/>
          </a:xfrm>
          <a:prstGeom prst="rect">
            <a:avLst/>
          </a:prstGeom>
          <a:solidFill>
            <a:srgbClr val="EAF2FA"/>
          </a:solidFill>
          <a:ln w="9525">
            <a:solidFill>
              <a:srgbClr val="C9D3DD"/>
            </a:solidFill>
          </a:ln>
        </p:spPr>
        <p:txBody>
          <a:bodyPr wrap="square" lIns="150000" rIns="120000" tIns="90000" bIns="90000">
            <a:spAutoFit/>
          </a:bodyPr>
          <a:lstStyle/>
          <a:p>
            <a:pPr>
              <a:spcAft>
                <a:spcPts val="300"/>
              </a:spcAft>
            </a:pPr>
            <a:r>
              <a:rPr sz="1200" b="1">
                <a:solidFill>
                  <a:srgbClr val="005BAC"/>
                </a:solidFill>
                <a:latin typeface="游ゴシック Medium"/>
              </a:rPr>
              <a:t>U8105111315.icd</a:t>
            </a:r>
          </a:p>
          <a:p>
            <a:pPr>
              <a:lnSpc>
                <a:spcPct val="100000"/>
              </a:lnSpc>
              <a:spcAft>
                <a:spcPts val="100"/>
              </a:spcAft>
            </a:pPr>
            <a:r>
              <a:rPr sz="1000">
                <a:solidFill>
                  <a:srgbClr val="1F1F1F"/>
                </a:solidFill>
                <a:latin typeface="Consolas"/>
              </a:rPr>
              <a:t>パス   : J:\SBY\アイソレータ\210126_エーザイ_アイソレータ_RAA4844\作業フォルダ\開閉扉\U8105111315.icd</a:t>
            </a:r>
          </a:p>
          <a:p>
            <a:pPr>
              <a:lnSpc>
                <a:spcPct val="100000"/>
              </a:lnSpc>
              <a:spcAft>
                <a:spcPts val="100"/>
              </a:spcAft>
            </a:pPr>
            <a:r>
              <a:rPr sz="1000">
                <a:solidFill>
                  <a:srgbClr val="1F1F1F"/>
                </a:solidFill>
                <a:latin typeface="Consolas"/>
              </a:rPr>
              <a:t>タグ   : 客先:澁谷工業 / 材質:SUS304 / 材質:SUS / 規格:SES</a:t>
            </a:r>
          </a:p>
          <a:p>
            <a:pPr>
              <a:lnSpc>
                <a:spcPct val="100000"/>
              </a:lnSpc>
              <a:spcAft>
                <a:spcPts val="100"/>
              </a:spcAft>
            </a:pPr>
            <a:r>
              <a:rPr sz="1000">
                <a:solidFill>
                  <a:srgbClr val="1F1F1F"/>
                </a:solidFill>
                <a:latin typeface="Consolas"/>
              </a:rPr>
              <a:t> 属性  : customer_name="澁谷工業", mass_value=0.18021418, weight_value=1.7672974,</a:t>
            </a:r>
          </a:p>
          <a:p>
            <a:pPr>
              <a:lnSpc>
                <a:spcPct val="100000"/>
              </a:lnSpc>
              <a:spcAft>
                <a:spcPts val="100"/>
              </a:spcAft>
            </a:pPr>
            <a:r>
              <a:rPr sz="1000">
                <a:solidFill>
                  <a:srgbClr val="1F1F1F"/>
                </a:solidFill>
                <a:latin typeface="Consolas"/>
              </a:rPr>
              <a:t>         material_keywords=["SUS304","SUS"], part_names=["U81051113150"]</a:t>
            </a:r>
          </a:p>
        </p:txBody>
      </p:sp>
      <p:sp>
        <p:nvSpPr>
          <p:cNvPr id="5" name="TextBox 4"/>
          <p:cNvSpPr txBox="1"/>
          <p:nvPr/>
        </p:nvSpPr>
        <p:spPr>
          <a:xfrm>
            <a:off x="457200" y="3786386"/>
            <a:ext cx="11352213" cy="2242158"/>
          </a:xfrm>
          <a:prstGeom prst="rect">
            <a:avLst/>
          </a:prstGeom>
          <a:solidFill>
            <a:srgbClr val="EAF2FA"/>
          </a:solidFill>
          <a:ln w="9525">
            <a:solidFill>
              <a:srgbClr val="C9D3DD"/>
            </a:solidFill>
          </a:ln>
        </p:spPr>
        <p:txBody>
          <a:bodyPr wrap="square" lIns="150000" rIns="120000" tIns="90000" bIns="90000">
            <a:spAutoFit/>
          </a:bodyPr>
          <a:lstStyle/>
          <a:p>
            <a:pPr>
              <a:spcAft>
                <a:spcPts val="300"/>
              </a:spcAft>
            </a:pPr>
            <a:r>
              <a:rPr sz="1200" b="1">
                <a:solidFill>
                  <a:srgbClr val="005BAC"/>
                </a:solidFill>
                <a:latin typeface="游ゴシック Medium"/>
              </a:rPr>
              <a:t>XH30-A08001-R03-JP_ロードカップ部改造.icd</a:t>
            </a:r>
          </a:p>
          <a:p>
            <a:pPr>
              <a:lnSpc>
                <a:spcPct val="100000"/>
              </a:lnSpc>
              <a:spcAft>
                <a:spcPts val="100"/>
              </a:spcAft>
            </a:pPr>
            <a:r>
              <a:rPr sz="1000">
                <a:solidFill>
                  <a:srgbClr val="1F1F1F"/>
                </a:solidFill>
                <a:latin typeface="Consolas"/>
              </a:rPr>
              <a:t>パス   : J:\ZCSET\300P_210312\作業\2_ロードカップ部\XH30-A08001-R03-JP_ロードカップ部改造.icd</a:t>
            </a:r>
          </a:p>
          <a:p>
            <a:pPr>
              <a:lnSpc>
                <a:spcPct val="100000"/>
              </a:lnSpc>
              <a:spcAft>
                <a:spcPts val="100"/>
              </a:spcAft>
            </a:pPr>
            <a:r>
              <a:rPr sz="1000">
                <a:solidFill>
                  <a:srgbClr val="1F1F1F"/>
                </a:solidFill>
                <a:latin typeface="Consolas"/>
              </a:rPr>
              <a:t>タグ   : 装置:治具 / メーカー:SMC / 材質:SUS316 / 材質:PVC / 材質:PPS / 材質:PTFE /</a:t>
            </a:r>
          </a:p>
          <a:p>
            <a:pPr>
              <a:lnSpc>
                <a:spcPct val="100000"/>
              </a:lnSpc>
              <a:spcAft>
                <a:spcPts val="100"/>
              </a:spcAft>
            </a:pPr>
            <a:r>
              <a:rPr sz="1000">
                <a:solidFill>
                  <a:srgbClr val="1F1F1F"/>
                </a:solidFill>
                <a:latin typeface="Consolas"/>
              </a:rPr>
              <a:t>         材質:A5052P / 材質:SUS304 / 材質:SUS / 材質:NBR / 材質:POM</a:t>
            </a:r>
          </a:p>
          <a:p>
            <a:pPr>
              <a:lnSpc>
                <a:spcPct val="100000"/>
              </a:lnSpc>
              <a:spcAft>
                <a:spcPts val="100"/>
              </a:spcAft>
            </a:pPr>
            <a:r>
              <a:rPr sz="1000">
                <a:solidFill>
                  <a:srgbClr val="1F1F1F"/>
                </a:solidFill>
                <a:latin typeface="Consolas"/>
              </a:rPr>
              <a:t> 属性  : equipment_category="治具", mass_value=4.75944799, weight_value=46.67424068,</a:t>
            </a:r>
          </a:p>
          <a:p>
            <a:pPr>
              <a:lnSpc>
                <a:spcPct val="100000"/>
              </a:lnSpc>
              <a:spcAft>
                <a:spcPts val="100"/>
              </a:spcAft>
            </a:pPr>
            <a:r>
              <a:rPr sz="1000">
                <a:solidFill>
                  <a:srgbClr val="1F1F1F"/>
                </a:solidFill>
                <a:latin typeface="Consolas"/>
              </a:rPr>
              <a:t>         part_names 108件（"＠リフト部", "CSP300R-8012-00_ノズルブラケット-1", "Oリング(S190)" ほか）</a:t>
            </a:r>
          </a:p>
          <a:p>
            <a:pPr>
              <a:lnSpc>
                <a:spcPct val="100000"/>
              </a:lnSpc>
              <a:spcAft>
                <a:spcPts val="100"/>
              </a:spcAft>
            </a:pPr>
            <a:r>
              <a:rPr sz="1000">
                <a:solidFill>
                  <a:srgbClr val="1F1F1F"/>
                </a:solidFill>
                <a:latin typeface="Consolas"/>
              </a:rPr>
              <a:t>         unresolved_material_keywords=["75"]  ← 材質と断定できなかった値は別枠に隔離</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1F1F1F"/>
                </a:solidFill>
                <a:latin typeface="游ゴシック Medium"/>
              </a:rPr>
              <a:t>具体例②　大規模アセンブリ・規格・塗装</a:t>
            </a:r>
          </a:p>
        </p:txBody>
      </p:sp>
      <p:sp>
        <p:nvSpPr>
          <p:cNvPr id="3" name="Text Placeholder 2"/>
          <p:cNvSpPr>
            <a:spLocks noGrp="1"/>
          </p:cNvSpPr>
          <p:nvPr>
            <p:ph type="body" idx="17" sz="quarter"/>
          </p:nvPr>
        </p:nvSpPr>
        <p:spPr/>
        <p:txBody>
          <a:bodyPr/>
          <a:lstStyle/>
          <a:p>
            <a:r>
              <a:rPr sz="1100" b="1">
                <a:solidFill>
                  <a:srgbClr val="005BAC"/>
                </a:solidFill>
                <a:latin typeface="游ゴシック Medium"/>
              </a:rPr>
              <a:t>実ICADファイルの実際の出力（値は未加工）</a:t>
            </a:r>
          </a:p>
        </p:txBody>
      </p:sp>
      <p:sp>
        <p:nvSpPr>
          <p:cNvPr id="4" name="TextBox 3"/>
          <p:cNvSpPr txBox="1"/>
          <p:nvPr/>
        </p:nvSpPr>
        <p:spPr>
          <a:xfrm>
            <a:off x="457200" y="1364228"/>
            <a:ext cx="11352213" cy="1434772"/>
          </a:xfrm>
          <a:prstGeom prst="rect">
            <a:avLst/>
          </a:prstGeom>
          <a:solidFill>
            <a:srgbClr val="EAF2FA"/>
          </a:solidFill>
          <a:ln w="9525">
            <a:solidFill>
              <a:srgbClr val="C9D3DD"/>
            </a:solidFill>
          </a:ln>
        </p:spPr>
        <p:txBody>
          <a:bodyPr wrap="square" lIns="150000" rIns="120000" tIns="90000" bIns="90000">
            <a:spAutoFit/>
          </a:bodyPr>
          <a:lstStyle/>
          <a:p>
            <a:pPr>
              <a:spcAft>
                <a:spcPts val="300"/>
              </a:spcAft>
            </a:pPr>
            <a:r>
              <a:rPr sz="1200" b="1">
                <a:solidFill>
                  <a:srgbClr val="005BAC"/>
                </a:solidFill>
                <a:latin typeface="游ゴシック Medium"/>
              </a:rPr>
              <a:t>474300AC219.icd　（部品189件の大規模アセンブリ）</a:t>
            </a:r>
          </a:p>
          <a:p>
            <a:pPr>
              <a:lnSpc>
                <a:spcPct val="100000"/>
              </a:lnSpc>
              <a:spcAft>
                <a:spcPts val="100"/>
              </a:spcAft>
            </a:pPr>
            <a:r>
              <a:rPr sz="1000">
                <a:solidFill>
                  <a:srgbClr val="1F1F1F"/>
                </a:solidFill>
                <a:latin typeface="Consolas"/>
              </a:rPr>
              <a:t>パス   : \\HONSYA-FILE01\data_cad3d\SBY\CAP\260527_AAM6351_アイリスオーヤマ_宮本様\474300AC219.icd</a:t>
            </a:r>
          </a:p>
          <a:p>
            <a:pPr>
              <a:lnSpc>
                <a:spcPct val="100000"/>
              </a:lnSpc>
              <a:spcAft>
                <a:spcPts val="100"/>
              </a:spcAft>
            </a:pPr>
            <a:r>
              <a:rPr sz="1000">
                <a:solidFill>
                  <a:srgbClr val="1F1F1F"/>
                </a:solidFill>
                <a:latin typeface="Consolas"/>
              </a:rPr>
              <a:t>タグ   : メーカー:SMC / 材質:SUS304 / 材質:PET / 材質:H-PVC / 材質:NBR / 材質:EPDM ほか計19タグ</a:t>
            </a:r>
          </a:p>
          <a:p>
            <a:pPr>
              <a:lnSpc>
                <a:spcPct val="100000"/>
              </a:lnSpc>
              <a:spcAft>
                <a:spcPts val="100"/>
              </a:spcAft>
            </a:pPr>
            <a:r>
              <a:rPr sz="1000">
                <a:solidFill>
                  <a:srgbClr val="1F1F1F"/>
                </a:solidFill>
                <a:latin typeface="Consolas"/>
              </a:rPr>
              <a:t> 属性  : mass_value=17.7113085, weight_value=173.68860346, material_keywords 18種, part_names 189件</a:t>
            </a:r>
          </a:p>
          <a:p>
            <a:pPr>
              <a:lnSpc>
                <a:spcPct val="100000"/>
              </a:lnSpc>
              <a:spcAft>
                <a:spcPts val="100"/>
              </a:spcAft>
            </a:pPr>
            <a:r>
              <a:rPr sz="1000">
                <a:solidFill>
                  <a:srgbClr val="1F1F1F"/>
                </a:solidFill>
                <a:latin typeface="Consolas"/>
              </a:rPr>
              <a:t>         unresolved_material_keywords=["ZZZ"]</a:t>
            </a:r>
          </a:p>
        </p:txBody>
      </p:sp>
      <p:sp>
        <p:nvSpPr>
          <p:cNvPr id="5" name="TextBox 4"/>
          <p:cNvSpPr txBox="1"/>
          <p:nvPr/>
        </p:nvSpPr>
        <p:spPr>
          <a:xfrm>
            <a:off x="457200" y="2979000"/>
            <a:ext cx="11352213" cy="1434772"/>
          </a:xfrm>
          <a:prstGeom prst="rect">
            <a:avLst/>
          </a:prstGeom>
          <a:solidFill>
            <a:srgbClr val="EAF2FA"/>
          </a:solidFill>
          <a:ln w="9525">
            <a:solidFill>
              <a:srgbClr val="C9D3DD"/>
            </a:solidFill>
          </a:ln>
        </p:spPr>
        <p:txBody>
          <a:bodyPr wrap="square" lIns="150000" rIns="120000" tIns="90000" bIns="90000">
            <a:spAutoFit/>
          </a:bodyPr>
          <a:lstStyle/>
          <a:p>
            <a:pPr>
              <a:spcAft>
                <a:spcPts val="300"/>
              </a:spcAft>
            </a:pPr>
            <a:r>
              <a:rPr sz="1200" b="1">
                <a:solidFill>
                  <a:srgbClr val="005BAC"/>
                </a:solidFill>
                <a:latin typeface="游ゴシック Medium"/>
              </a:rPr>
              <a:t>TR1D9K99027.icd　（規格・面粗さ・公差）</a:t>
            </a:r>
          </a:p>
          <a:p>
            <a:pPr>
              <a:lnSpc>
                <a:spcPct val="100000"/>
              </a:lnSpc>
              <a:spcAft>
                <a:spcPts val="100"/>
              </a:spcAft>
            </a:pPr>
            <a:r>
              <a:rPr sz="1000">
                <a:solidFill>
                  <a:srgbClr val="1F1F1F"/>
                </a:solidFill>
                <a:latin typeface="Consolas"/>
              </a:rPr>
              <a:t>パス   : J:\シブヤパッケージングシステム\25_9R_膨潤パレットアキューム部\...\部品図(新規、訂正)\9K\TR1D9K99027.icd</a:t>
            </a:r>
          </a:p>
          <a:p>
            <a:pPr>
              <a:lnSpc>
                <a:spcPct val="100000"/>
              </a:lnSpc>
              <a:spcAft>
                <a:spcPts val="100"/>
              </a:spcAft>
            </a:pPr>
            <a:r>
              <a:rPr sz="1000">
                <a:solidFill>
                  <a:srgbClr val="1F1F1F"/>
                </a:solidFill>
                <a:latin typeface="Consolas"/>
              </a:rPr>
              <a:t>タグ   : 材質:A5000 / 材質:SUS304 / 材質:A1000 / 材質:SUS / 規格:SES</a:t>
            </a:r>
          </a:p>
          <a:p>
            <a:pPr>
              <a:lnSpc>
                <a:spcPct val="100000"/>
              </a:lnSpc>
              <a:spcAft>
                <a:spcPts val="100"/>
              </a:spcAft>
            </a:pPr>
            <a:r>
              <a:rPr sz="1000">
                <a:solidFill>
                  <a:srgbClr val="1F1F1F"/>
                </a:solidFill>
                <a:latin typeface="Consolas"/>
              </a:rPr>
              <a:t> 属性  : mass_value=2.15703985, spec_tokens 112件（"Ra 6.3", "粗級", "中級", "±4", "±8", "±2" ほか）</a:t>
            </a:r>
          </a:p>
        </p:txBody>
      </p:sp>
      <p:sp>
        <p:nvSpPr>
          <p:cNvPr id="6" name="TextBox 5"/>
          <p:cNvSpPr txBox="1"/>
          <p:nvPr/>
        </p:nvSpPr>
        <p:spPr>
          <a:xfrm>
            <a:off x="457200" y="4593772"/>
            <a:ext cx="11352213" cy="1434772"/>
          </a:xfrm>
          <a:prstGeom prst="rect">
            <a:avLst/>
          </a:prstGeom>
          <a:solidFill>
            <a:srgbClr val="EAF2FA"/>
          </a:solidFill>
          <a:ln w="9525">
            <a:solidFill>
              <a:srgbClr val="C9D3DD"/>
            </a:solidFill>
          </a:ln>
        </p:spPr>
        <p:txBody>
          <a:bodyPr wrap="square" lIns="150000" rIns="120000" tIns="90000" bIns="90000">
            <a:spAutoFit/>
          </a:bodyPr>
          <a:lstStyle/>
          <a:p>
            <a:pPr>
              <a:spcAft>
                <a:spcPts val="300"/>
              </a:spcAft>
            </a:pPr>
            <a:r>
              <a:rPr sz="1200" b="1">
                <a:solidFill>
                  <a:srgbClr val="005BAC"/>
                </a:solidFill>
                <a:latin typeface="游ゴシック Medium"/>
              </a:rPr>
              <a:t>03_20K03379P00_ｼｭｰﾄﾍﾞｰｽ(No.2FFS_XS).icd　（図枠から塗装指示）</a:t>
            </a:r>
          </a:p>
          <a:p>
            <a:pPr>
              <a:lnSpc>
                <a:spcPct val="100000"/>
              </a:lnSpc>
              <a:spcAft>
                <a:spcPts val="100"/>
              </a:spcAft>
            </a:pPr>
            <a:r>
              <a:rPr sz="1000">
                <a:solidFill>
                  <a:srgbClr val="1F1F1F"/>
                </a:solidFill>
                <a:latin typeface="Consolas"/>
              </a:rPr>
              <a:t>パス   : J:\アースエンジニアリング\251216_ツネイシカムテックス\...\AR05-A05-B04_No.2 F-FスクリーンスクリーンSシュート組立図\...</a:t>
            </a:r>
          </a:p>
          <a:p>
            <a:pPr>
              <a:lnSpc>
                <a:spcPct val="100000"/>
              </a:lnSpc>
              <a:spcAft>
                <a:spcPts val="100"/>
              </a:spcAft>
            </a:pPr>
            <a:r>
              <a:rPr sz="1000">
                <a:solidFill>
                  <a:srgbClr val="1F1F1F"/>
                </a:solidFill>
                <a:latin typeface="Consolas"/>
              </a:rPr>
              <a:t>タグ   : 材質:SS400 / 塗装:ﾊ仕様書ﾆﾖﾙ</a:t>
            </a:r>
          </a:p>
          <a:p>
            <a:pPr>
              <a:lnSpc>
                <a:spcPct val="100000"/>
              </a:lnSpc>
              <a:spcAft>
                <a:spcPts val="100"/>
              </a:spcAft>
            </a:pPr>
            <a:r>
              <a:rPr sz="1000">
                <a:solidFill>
                  <a:srgbClr val="1F1F1F"/>
                </a:solidFill>
                <a:latin typeface="Consolas"/>
              </a:rPr>
              <a:t> 属性  : mass_value=11.66198417, part_names=["03_20K03379P00_...", "溝形鋼_100*50*5*7.5"]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1F1F1F"/>
                </a:solidFill>
                <a:latin typeface="游ゴシック Medium"/>
              </a:rPr>
              <a:t>具体例から読み取れる特性</a:t>
            </a:r>
          </a:p>
        </p:txBody>
      </p:sp>
      <p:sp>
        <p:nvSpPr>
          <p:cNvPr id="3" name="Text Placeholder 2"/>
          <p:cNvSpPr>
            <a:spLocks noGrp="1"/>
          </p:cNvSpPr>
          <p:nvPr>
            <p:ph type="body" idx="17" sz="quarter"/>
          </p:nvPr>
        </p:nvSpPr>
        <p:spPr/>
        <p:txBody>
          <a:bodyPr/>
          <a:lstStyle/>
          <a:p>
            <a:r>
              <a:rPr sz="1100" b="1">
                <a:solidFill>
                  <a:srgbClr val="005BAC"/>
                </a:solidFill>
                <a:latin typeface="游ゴシック Medium"/>
              </a:rPr>
              <a:t>実データを通したうえでの所見と、すり合わせが必要な点</a:t>
            </a:r>
          </a:p>
        </p:txBody>
      </p:sp>
      <p:sp>
        <p:nvSpPr>
          <p:cNvPr id="4" name="Content Placeholder 3"/>
          <p:cNvSpPr>
            <a:spLocks noGrp="1"/>
          </p:cNvSpPr>
          <p:nvPr>
            <p:ph idx="18" sz="quarter"/>
          </p:nvPr>
        </p:nvSpPr>
        <p:spPr/>
        <p:txBody>
          <a:bodyPr wrap="square"/>
          <a:lstStyle/>
          <a:p>
            <a:pPr>
              <a:spcAft>
                <a:spcPts val="600"/>
              </a:spcAft>
            </a:pPr>
            <a:r>
              <a:rPr sz="1600" b="1">
                <a:solidFill>
                  <a:srgbClr val="1F1F1F"/>
                </a:solidFill>
                <a:latin typeface="游ゴシック Medium"/>
              </a:rPr>
              <a:t>パスは強力な情報源です</a:t>
            </a:r>
          </a:p>
          <a:p>
            <a:pPr lvl="1">
              <a:spcAft>
                <a:spcPts val="300"/>
              </a:spcAft>
            </a:pPr>
            <a:r>
              <a:rPr sz="1400" b="0">
                <a:solidFill>
                  <a:srgbClr val="5A5A5A"/>
                </a:solidFill>
                <a:latin typeface="游ゴシック Medium"/>
              </a:rPr>
              <a:t>客先・案件・装置は、図面内の文字よりフォルダ構成から確定できるケースが多い</a:t>
            </a:r>
          </a:p>
          <a:p>
            <a:pPr lvl="1">
              <a:spcAft>
                <a:spcPts val="300"/>
              </a:spcAft>
            </a:pPr>
            <a:r>
              <a:rPr sz="1400" b="0">
                <a:solidFill>
                  <a:srgbClr val="5A5A5A"/>
                </a:solidFill>
                <a:latin typeface="游ゴシック Medium"/>
              </a:rPr>
              <a:t>source_path_tokens を含む検索トークン列（part_keywords）を辞書照合しています</a:t>
            </a:r>
          </a:p>
          <a:p>
            <a:pPr>
              <a:spcAft>
                <a:spcPts val="600"/>
              </a:spcAft>
            </a:pPr>
            <a:r>
              <a:rPr sz="1600" b="1">
                <a:solidFill>
                  <a:srgbClr val="1F1F1F"/>
                </a:solidFill>
                <a:latin typeface="游ゴシック Medium"/>
              </a:rPr>
              <a:t>材質は3Dの材質APIから安定して取れます</a:t>
            </a:r>
          </a:p>
          <a:p>
            <a:pPr lvl="1">
              <a:spcAft>
                <a:spcPts val="300"/>
              </a:spcAft>
            </a:pPr>
            <a:r>
              <a:rPr sz="1400" b="0">
                <a:solidFill>
                  <a:srgbClr val="5A5A5A"/>
                </a:solidFill>
                <a:latin typeface="游ゴシック Medium"/>
              </a:rPr>
              <a:t>ただし ZZZ / CDQ / 75 のような、材質と断定できない値が混ざります</a:t>
            </a:r>
          </a:p>
          <a:p>
            <a:pPr lvl="1">
              <a:spcAft>
                <a:spcPts val="300"/>
              </a:spcAft>
            </a:pPr>
            <a:r>
              <a:rPr sz="1400" b="0">
                <a:solidFill>
                  <a:srgbClr val="5A5A5A"/>
                </a:solidFill>
                <a:latin typeface="游ゴシック Medium"/>
              </a:rPr>
              <a:t>これらは unresolved_material_keywords に隔離し、タグにはしません</a:t>
            </a:r>
          </a:p>
          <a:p>
            <a:pPr>
              <a:spcAft>
                <a:spcPts val="600"/>
              </a:spcAft>
            </a:pPr>
            <a:r>
              <a:rPr sz="1600" b="1">
                <a:solidFill>
                  <a:srgbClr val="1F1F1F"/>
                </a:solidFill>
                <a:latin typeface="游ゴシック Medium"/>
              </a:rPr>
              <a:t>質量・重量は3Dからほぼ確実に取れます（38/39）</a:t>
            </a:r>
          </a:p>
          <a:p>
            <a:pPr>
              <a:spcAft>
                <a:spcPts val="600"/>
              </a:spcAft>
            </a:pPr>
            <a:r>
              <a:rPr sz="1600" b="1">
                <a:solidFill>
                  <a:srgbClr val="1F1F1F"/>
                </a:solidFill>
                <a:latin typeface="游ゴシック Medium"/>
              </a:rPr>
              <a:t>半角カナ・機種依存文字がそのまま入ります</a:t>
            </a:r>
          </a:p>
          <a:p>
            <a:pPr lvl="1">
              <a:spcAft>
                <a:spcPts val="300"/>
              </a:spcAft>
            </a:pPr>
            <a:r>
              <a:rPr sz="1400" b="0">
                <a:solidFill>
                  <a:srgbClr val="5A5A5A"/>
                </a:solidFill>
                <a:latin typeface="游ゴシック Medium"/>
              </a:rPr>
              <a:t>実例: ｼｭｰﾄﾍﾞｰｽ、ﾊ仕様書ﾆﾖﾙ</a:t>
            </a:r>
          </a:p>
          <a:p>
            <a:pPr lvl="1">
              <a:spcAft>
                <a:spcPts val="300"/>
              </a:spcAft>
            </a:pPr>
            <a:r>
              <a:rPr sz="1400" b="0">
                <a:solidFill>
                  <a:srgbClr val="5A5A5A"/>
                </a:solidFill>
                <a:latin typeface="游ゴシック Medium"/>
              </a:rPr>
              <a:t>表示・検索時の正規化方針（半角カナの扱い、全角統一の要否）はすり合わせが必要です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1F1F"/>
                </a:solidFill>
                <a:latin typeface="游ゴシック Medium"/>
              </a:rPr>
              <a:t>ソースの</a:t>
            </a:r>
          </a:p>
          <a:p>
            <a:r>
              <a:rPr sz="2800" b="1">
                <a:solidFill>
                  <a:srgbClr val="1F1F1F"/>
                </a:solidFill>
                <a:latin typeface="游ゴシック Medium"/>
              </a:rPr>
              <a:t>切り出し範囲</a:t>
            </a:r>
          </a:p>
        </p:txBody>
      </p:sp>
      <p:sp>
        <p:nvSpPr>
          <p:cNvPr id="3" name="Text Placeholder 2"/>
          <p:cNvSpPr>
            <a:spLocks noGrp="1"/>
          </p:cNvSpPr>
          <p:nvPr>
            <p:ph type="body" idx="2" sz="half"/>
          </p:nvPr>
        </p:nvSpPr>
        <p:spPr/>
        <p:txBody>
          <a:bodyPr/>
          <a:lstStyle/>
          <a:p>
            <a:r>
              <a:rPr sz="1400" b="1">
                <a:solidFill>
                  <a:srgbClr val="005BAC"/>
                </a:solidFill>
                <a:latin typeface="游ゴシック Medium"/>
              </a:rPr>
              <a:t>CHAPTER　04</a:t>
            </a:r>
          </a:p>
        </p:txBody>
      </p:sp>
      <p:sp>
        <p:nvSpPr>
          <p:cNvPr id="4" name="Text Placeholder 3"/>
          <p:cNvSpPr>
            <a:spLocks noGrp="1"/>
          </p:cNvSpPr>
          <p:nvPr>
            <p:ph type="body" idx="17" sz="half"/>
          </p:nvPr>
        </p:nvSpPr>
        <p:spPr/>
        <p:txBody>
          <a:bodyPr/>
          <a:lstStyle/>
          <a:p>
            <a:r>
              <a:rPr sz="1200" b="1">
                <a:solidFill>
                  <a:srgbClr val="005BAC"/>
                </a:solidFill>
                <a:latin typeface="游ゴシック Medium"/>
              </a:rPr>
              <a:t>Module Boundary</a:t>
            </a:r>
          </a:p>
        </p:txBody>
      </p:sp>
      <p:sp>
        <p:nvSpPr>
          <p:cNvPr id="5" name="Content Placeholder 4"/>
          <p:cNvSpPr>
            <a:spLocks noGrp="1"/>
          </p:cNvSpPr>
          <p:nvPr>
            <p:ph idx="18" sz="quarter"/>
          </p:nvPr>
        </p:nvSpPr>
        <p:spPr/>
        <p:txBody>
          <a:bodyPr wrap="square"/>
          <a:lstStyle/>
          <a:p>
            <a:pPr>
              <a:spcAft>
                <a:spcPts val="600"/>
              </a:spcAft>
            </a:pPr>
            <a:r>
              <a:rPr sz="1400" b="0">
                <a:solidFill>
                  <a:srgbClr val="1F1F1F"/>
                </a:solidFill>
                <a:latin typeface="游ゴシック Medium"/>
              </a:rPr>
              <a:t>「タグ・属性抽出の部分だけ切り出したい」というご要望に対する回答</a:t>
            </a:r>
          </a:p>
          <a:p>
            <a:pPr>
              <a:spcAft>
                <a:spcPts val="600"/>
              </a:spcAft>
            </a:pPr>
            <a:r>
              <a:rPr sz="1400" b="0">
                <a:solidFill>
                  <a:srgbClr val="1F1F1F"/>
                </a:solidFill>
                <a:latin typeface="游ゴシック Medium"/>
              </a:rPr>
              <a:t>C#側は独立ソリューション。ナレッジシステム本体への依存なし</a:t>
            </a:r>
          </a:p>
          <a:p>
            <a:pPr>
              <a:spcAft>
                <a:spcPts val="600"/>
              </a:spcAft>
            </a:pPr>
            <a:r>
              <a:rPr sz="1400" b="0">
                <a:solidFill>
                  <a:srgbClr val="1F1F1F"/>
                </a:solidFill>
                <a:latin typeface="游ゴシック Medium"/>
              </a:rPr>
              <a:t>Python側のDjango結合は実質2点だけ</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1F1F1F"/>
                </a:solidFill>
                <a:latin typeface="游ゴシック Medium"/>
              </a:rPr>
              <a:t>C#側（ICAD抽出コア）</a:t>
            </a:r>
          </a:p>
        </p:txBody>
      </p:sp>
      <p:sp>
        <p:nvSpPr>
          <p:cNvPr id="3" name="Text Placeholder 2"/>
          <p:cNvSpPr>
            <a:spLocks noGrp="1"/>
          </p:cNvSpPr>
          <p:nvPr>
            <p:ph type="body" idx="17" sz="quarter"/>
          </p:nvPr>
        </p:nvSpPr>
        <p:spPr/>
        <p:txBody>
          <a:bodyPr/>
          <a:lstStyle/>
          <a:p>
            <a:r>
              <a:rPr sz="1100" b="1">
                <a:solidFill>
                  <a:srgbClr val="005BAC"/>
                </a:solidFill>
                <a:latin typeface="游ゴシック Medium"/>
              </a:rPr>
              <a:t>独立ソリューション（IcadExtraction.sln、約4,700行）としてそのままお渡しできます</a:t>
            </a:r>
          </a:p>
        </p:txBody>
      </p:sp>
      <p:graphicFrame>
        <p:nvGraphicFramePr>
          <p:cNvPr id="4" name="Table 3"/>
          <p:cNvGraphicFramePr>
            <a:graphicFrameLocks noGrp="1"/>
          </p:cNvGraphicFramePr>
          <p:nvPr/>
        </p:nvGraphicFramePr>
        <p:xfrm>
          <a:off x="457200" y="1364228"/>
          <a:ext cx="11352212" cy="1900000"/>
        </p:xfrm>
        <a:graphic>
          <a:graphicData uri="http://schemas.openxmlformats.org/drawingml/2006/table">
            <a:tbl>
              <a:tblPr firstRow="1" bandRow="1">
                <a:tableStyleId>{5C22544A-7EE6-4342-B048-85BDC9FD1C3A}</a:tableStyleId>
              </a:tblPr>
              <a:tblGrid>
                <a:gridCol w="3096058"/>
                <a:gridCol w="8256154"/>
              </a:tblGrid>
              <a:tr h="475000">
                <a:tc>
                  <a:txBody>
                    <a:bodyPr/>
                    <a:lstStyle/>
                    <a:p>
                      <a:r>
                        <a:rPr sz="1100" b="1">
                          <a:solidFill>
                            <a:srgbClr val="FFFFFF"/>
                          </a:solidFill>
                          <a:latin typeface="游ゴシック Medium"/>
                        </a:rPr>
                        <a:t>プロジェクト</a:t>
                      </a:r>
                    </a:p>
                  </a:txBody>
                  <a:tcPr anchor="ctr" marL="64000" marR="64000">
                    <a:solidFill>
                      <a:srgbClr val="005BAC"/>
                    </a:solidFill>
                  </a:tcPr>
                </a:tc>
                <a:tc>
                  <a:txBody>
                    <a:bodyPr/>
                    <a:lstStyle/>
                    <a:p>
                      <a:r>
                        <a:rPr sz="1100" b="1">
                          <a:solidFill>
                            <a:srgbClr val="FFFFFF"/>
                          </a:solidFill>
                          <a:latin typeface="游ゴシック Medium"/>
                        </a:rPr>
                        <a:t>役割</a:t>
                      </a:r>
                    </a:p>
                  </a:txBody>
                  <a:tcPr anchor="ctr" marL="64000" marR="64000">
                    <a:solidFill>
                      <a:srgbClr val="005BAC"/>
                    </a:solidFill>
                  </a:tcPr>
                </a:tc>
              </a:tr>
              <a:tr h="475000">
                <a:tc>
                  <a:txBody>
                    <a:bodyPr/>
                    <a:lstStyle/>
                    <a:p>
                      <a:pPr>
                        <a:lnSpc>
                          <a:spcPct val="100000"/>
                        </a:lnSpc>
                      </a:pPr>
                      <a:r>
                        <a:rPr sz="1300" b="0">
                          <a:solidFill>
                            <a:srgbClr val="1F1F1F"/>
                          </a:solidFill>
                          <a:latin typeface="游ゴシック Medium"/>
                        </a:rPr>
                        <a:t>IcadExtraction.Contracts</a:t>
                      </a:r>
                    </a:p>
                  </a:txBody>
                  <a:tcPr anchor="ctr" marL="64000" marR="64000" marT="24000" marB="24000">
                    <a:solidFill>
                      <a:srgbClr val="FFFFFF"/>
                    </a:solidFill>
                  </a:tcPr>
                </a:tc>
                <a:tc>
                  <a:txBody>
                    <a:bodyPr/>
                    <a:lstStyle/>
                    <a:p>
                      <a:pPr>
                        <a:lnSpc>
                          <a:spcPct val="100000"/>
                        </a:lnSpc>
                      </a:pPr>
                      <a:r>
                        <a:rPr sz="1300" b="0">
                          <a:solidFill>
                            <a:srgbClr val="1F1F1F"/>
                          </a:solidFill>
                          <a:latin typeface="游ゴシック Medium"/>
                        </a:rPr>
                        <a:t>入出力のデータ契約（JSONスキーマ相当）</a:t>
                      </a:r>
                    </a:p>
                  </a:txBody>
                  <a:tcPr anchor="ctr" marL="64000" marR="64000" marT="24000" marB="24000">
                    <a:solidFill>
                      <a:srgbClr val="FFFFFF"/>
                    </a:solidFill>
                  </a:tcPr>
                </a:tc>
              </a:tr>
              <a:tr h="475000">
                <a:tc>
                  <a:txBody>
                    <a:bodyPr/>
                    <a:lstStyle/>
                    <a:p>
                      <a:pPr>
                        <a:lnSpc>
                          <a:spcPct val="100000"/>
                        </a:lnSpc>
                      </a:pPr>
                      <a:r>
                        <a:rPr sz="1300" b="0">
                          <a:solidFill>
                            <a:srgbClr val="1F1F1F"/>
                          </a:solidFill>
                          <a:latin typeface="游ゴシック Medium"/>
                        </a:rPr>
                        <a:t>IcadExtraction.SxNet</a:t>
                      </a:r>
                    </a:p>
                  </a:txBody>
                  <a:tcPr anchor="ctr" marL="64000" marR="64000" marT="24000" marB="24000">
                    <a:solidFill>
                      <a:srgbClr val="F5F7FA"/>
                    </a:solidFill>
                  </a:tcPr>
                </a:tc>
                <a:tc>
                  <a:txBody>
                    <a:bodyPr/>
                    <a:lstStyle/>
                    <a:p>
                      <a:pPr>
                        <a:lnSpc>
                          <a:spcPct val="100000"/>
                        </a:lnSpc>
                      </a:pPr>
                      <a:r>
                        <a:rPr sz="1300" b="0">
                          <a:solidFill>
                            <a:srgbClr val="1F1F1F"/>
                          </a:solidFill>
                          <a:latin typeface="游ゴシック Medium"/>
                        </a:rPr>
                        <a:t>SXNET経由の2D/3D抽出、材質・質量プローブ、STL/STEP/DXF出力</a:t>
                      </a:r>
                    </a:p>
                  </a:txBody>
                  <a:tcPr anchor="ctr" marL="64000" marR="64000" marT="24000" marB="24000">
                    <a:solidFill>
                      <a:srgbClr val="F5F7FA"/>
                    </a:solidFill>
                  </a:tcPr>
                </a:tc>
              </a:tr>
              <a:tr h="475000">
                <a:tc>
                  <a:txBody>
                    <a:bodyPr/>
                    <a:lstStyle/>
                    <a:p>
                      <a:pPr>
                        <a:lnSpc>
                          <a:spcPct val="100000"/>
                        </a:lnSpc>
                      </a:pPr>
                      <a:r>
                        <a:rPr sz="1300" b="0">
                          <a:solidFill>
                            <a:srgbClr val="1F1F1F"/>
                          </a:solidFill>
                          <a:latin typeface="游ゴシック Medium"/>
                        </a:rPr>
                        <a:t>IcadExtraction.Runner</a:t>
                      </a:r>
                    </a:p>
                  </a:txBody>
                  <a:tcPr anchor="ctr" marL="64000" marR="64000" marT="24000" marB="24000">
                    <a:solidFill>
                      <a:srgbClr val="FFFFFF"/>
                    </a:solidFill>
                  </a:tcPr>
                </a:tc>
                <a:tc>
                  <a:txBody>
                    <a:bodyPr/>
                    <a:lstStyle/>
                    <a:p>
                      <a:pPr>
                        <a:lnSpc>
                          <a:spcPct val="100000"/>
                        </a:lnSpc>
                      </a:pPr>
                      <a:r>
                        <a:rPr sz="1300" b="0">
                          <a:solidFill>
                            <a:srgbClr val="1F1F1F"/>
                          </a:solidFill>
                          <a:latin typeface="游ゴシック Medium"/>
                        </a:rPr>
                        <a:t>CLIエントリ。extract / extract-batch / detect / probe-2d-print / convert-cad /</a:t>
                      </a:r>
                    </a:p>
                    <a:p>
                      <a:pPr>
                        <a:lnSpc>
                          <a:spcPct val="100000"/>
                        </a:lnSpc>
                      </a:pPr>
                      <a:r>
                        <a:rPr sz="1300" b="0">
                          <a:solidFill>
                            <a:srgbClr val="1F1F1F"/>
                          </a:solidFill>
                          <a:latin typeface="游ゴシック Medium"/>
                        </a:rPr>
                        <a:t>probe-cad-export-types / cancel / clear-command / shutdown-icad / self-check の10コマンド</a:t>
                      </a:r>
                    </a:p>
                  </a:txBody>
                  <a:tcPr anchor="ctr" marL="64000" marR="64000" marT="24000" marB="24000">
                    <a:solidFill>
                      <a:srgbClr val="FFFFFF"/>
                    </a:solidFill>
                  </a:tcPr>
                </a:tc>
              </a:tr>
            </a:tbl>
          </a:graphicData>
        </a:graphic>
      </p:graphicFrame>
      <p:sp>
        <p:nvSpPr>
          <p:cNvPr id="5" name="TextBox 4"/>
          <p:cNvSpPr txBox="1"/>
          <p:nvPr/>
        </p:nvSpPr>
        <p:spPr>
          <a:xfrm>
            <a:off x="457200" y="3324228"/>
            <a:ext cx="11352213" cy="400000"/>
          </a:xfrm>
          <a:prstGeom prst="rect">
            <a:avLst/>
          </a:prstGeom>
          <a:noFill/>
        </p:spPr>
        <p:txBody>
          <a:bodyPr wrap="square">
            <a:spAutoFit/>
          </a:bodyPr>
          <a:lstStyle/>
          <a:p>
            <a:r>
              <a:rPr sz="1000">
                <a:solidFill>
                  <a:srgbClr val="5A5A5A"/>
                </a:solidFill>
                <a:latin typeface="游ゴシック Medium"/>
              </a:rPr>
              <a:t>インターフェースは「1図面 = 1回のプロセス呼び出し」、入出力はJSONファイルです。呼び出し側の言語を選びません。ナレッジシステム本体への依存はありません。</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1F1F1F"/>
                </a:solidFill>
                <a:latin typeface="游ゴシック Medium"/>
              </a:rPr>
              <a:t>Python側（正規化・タグ生成コア）</a:t>
            </a:r>
          </a:p>
        </p:txBody>
      </p:sp>
      <p:sp>
        <p:nvSpPr>
          <p:cNvPr id="3" name="Text Placeholder 2"/>
          <p:cNvSpPr>
            <a:spLocks noGrp="1"/>
          </p:cNvSpPr>
          <p:nvPr>
            <p:ph type="body" idx="17" sz="quarter"/>
          </p:nvPr>
        </p:nvSpPr>
        <p:spPr/>
        <p:txBody>
          <a:bodyPr/>
          <a:lstStyle/>
          <a:p>
            <a:r>
              <a:rPr sz="1100" b="1">
                <a:solidFill>
                  <a:srgbClr val="005BAC"/>
                </a:solidFill>
                <a:latin typeface="游ゴシック Medium"/>
              </a:rPr>
              <a:t>この6ファイル（約2,800行）が本体です</a:t>
            </a:r>
          </a:p>
        </p:txBody>
      </p:sp>
      <p:graphicFrame>
        <p:nvGraphicFramePr>
          <p:cNvPr id="4" name="Table 3"/>
          <p:cNvGraphicFramePr>
            <a:graphicFrameLocks noGrp="1"/>
          </p:cNvGraphicFramePr>
          <p:nvPr/>
        </p:nvGraphicFramePr>
        <p:xfrm>
          <a:off x="457200" y="1364228"/>
          <a:ext cx="11352212" cy="2500000"/>
        </p:xfrm>
        <a:graphic>
          <a:graphicData uri="http://schemas.openxmlformats.org/drawingml/2006/table">
            <a:tbl>
              <a:tblPr firstRow="1" bandRow="1">
                <a:tableStyleId>{5C22544A-7EE6-4342-B048-85BDC9FD1C3A}</a:tableStyleId>
              </a:tblPr>
              <a:tblGrid>
                <a:gridCol w="3584909"/>
                <a:gridCol w="995808"/>
                <a:gridCol w="3584909"/>
                <a:gridCol w="3186586"/>
              </a:tblGrid>
              <a:tr h="357142">
                <a:tc>
                  <a:txBody>
                    <a:bodyPr/>
                    <a:lstStyle/>
                    <a:p>
                      <a:r>
                        <a:rPr sz="1100" b="1">
                          <a:solidFill>
                            <a:srgbClr val="FFFFFF"/>
                          </a:solidFill>
                          <a:latin typeface="游ゴシック Medium"/>
                        </a:rPr>
                        <a:t>ファイル</a:t>
                      </a:r>
                    </a:p>
                  </a:txBody>
                  <a:tcPr anchor="ctr" marL="64000" marR="64000">
                    <a:solidFill>
                      <a:srgbClr val="005BAC"/>
                    </a:solidFill>
                  </a:tcPr>
                </a:tc>
                <a:tc>
                  <a:txBody>
                    <a:bodyPr/>
                    <a:lstStyle/>
                    <a:p>
                      <a:r>
                        <a:rPr sz="1100" b="1">
                          <a:solidFill>
                            <a:srgbClr val="FFFFFF"/>
                          </a:solidFill>
                          <a:latin typeface="游ゴシック Medium"/>
                        </a:rPr>
                        <a:t>行数</a:t>
                      </a:r>
                    </a:p>
                  </a:txBody>
                  <a:tcPr anchor="ctr" marL="64000" marR="64000">
                    <a:solidFill>
                      <a:srgbClr val="005BAC"/>
                    </a:solidFill>
                  </a:tcPr>
                </a:tc>
                <a:tc>
                  <a:txBody>
                    <a:bodyPr/>
                    <a:lstStyle/>
                    <a:p>
                      <a:r>
                        <a:rPr sz="1100" b="1">
                          <a:solidFill>
                            <a:srgbClr val="FFFFFF"/>
                          </a:solidFill>
                          <a:latin typeface="游ゴシック Medium"/>
                        </a:rPr>
                        <a:t>役割</a:t>
                      </a:r>
                    </a:p>
                  </a:txBody>
                  <a:tcPr anchor="ctr" marL="64000" marR="64000">
                    <a:solidFill>
                      <a:srgbClr val="005BAC"/>
                    </a:solidFill>
                  </a:tcPr>
                </a:tc>
                <a:tc>
                  <a:txBody>
                    <a:bodyPr/>
                    <a:lstStyle/>
                    <a:p>
                      <a:r>
                        <a:rPr sz="1100" b="1">
                          <a:solidFill>
                            <a:srgbClr val="FFFFFF"/>
                          </a:solidFill>
                          <a:latin typeface="游ゴシック Medium"/>
                        </a:rPr>
                        <a:t>外部依存</a:t>
                      </a:r>
                    </a:p>
                  </a:txBody>
                  <a:tcPr anchor="ctr" marL="64000" marR="64000">
                    <a:solidFill>
                      <a:srgbClr val="005BAC"/>
                    </a:solidFill>
                  </a:tcPr>
                </a:tc>
              </a:tr>
              <a:tr h="357142">
                <a:tc>
                  <a:txBody>
                    <a:bodyPr/>
                    <a:lstStyle/>
                    <a:p>
                      <a:pPr>
                        <a:lnSpc>
                          <a:spcPct val="100000"/>
                        </a:lnSpc>
                      </a:pPr>
                      <a:r>
                        <a:rPr sz="1150" b="0">
                          <a:solidFill>
                            <a:srgbClr val="1F1F1F"/>
                          </a:solidFill>
                          <a:latin typeface="游ゴシック Medium"/>
                        </a:rPr>
                        <a:t>services/normalization.py</a:t>
                      </a:r>
                    </a:p>
                  </a:txBody>
                  <a:tcPr anchor="ctr" marL="64000" marR="64000" marT="24000" marB="24000">
                    <a:solidFill>
                      <a:srgbClr val="FFFFFF"/>
                    </a:solidFill>
                  </a:tcPr>
                </a:tc>
                <a:tc>
                  <a:txBody>
                    <a:bodyPr/>
                    <a:lstStyle/>
                    <a:p>
                      <a:pPr>
                        <a:lnSpc>
                          <a:spcPct val="100000"/>
                        </a:lnSpc>
                      </a:pPr>
                      <a:r>
                        <a:rPr sz="1150" b="0">
                          <a:solidFill>
                            <a:srgbClr val="1F1F1F"/>
                          </a:solidFill>
                          <a:latin typeface="游ゴシック Medium"/>
                        </a:rPr>
                        <a:t>1,860</a:t>
                      </a:r>
                    </a:p>
                  </a:txBody>
                  <a:tcPr anchor="ctr" marL="64000" marR="64000" marT="24000" marB="24000">
                    <a:solidFill>
                      <a:srgbClr val="FFFFFF"/>
                    </a:solidFill>
                  </a:tcPr>
                </a:tc>
                <a:tc>
                  <a:txBody>
                    <a:bodyPr/>
                    <a:lstStyle/>
                    <a:p>
                      <a:pPr>
                        <a:lnSpc>
                          <a:spcPct val="100000"/>
                        </a:lnSpc>
                      </a:pPr>
                      <a:r>
                        <a:rPr sz="1150" b="0">
                          <a:solidFill>
                            <a:srgbClr val="1F1F1F"/>
                          </a:solidFill>
                          <a:latin typeface="游ゴシック Medium"/>
                        </a:rPr>
                        <a:t>raw_extract → canonical_attributes</a:t>
                      </a:r>
                    </a:p>
                  </a:txBody>
                  <a:tcPr anchor="ctr" marL="64000" marR="64000" marT="24000" marB="24000">
                    <a:solidFill>
                      <a:srgbClr val="FFFFFF"/>
                    </a:solidFill>
                  </a:tcPr>
                </a:tc>
                <a:tc>
                  <a:txBody>
                    <a:bodyPr/>
                    <a:lstStyle/>
                    <a:p>
                      <a:pPr>
                        <a:lnSpc>
                          <a:spcPct val="100000"/>
                        </a:lnSpc>
                      </a:pPr>
                      <a:r>
                        <a:rPr sz="1150" b="0">
                          <a:solidFill>
                            <a:srgbClr val="1F1F1F"/>
                          </a:solidFill>
                          <a:latin typeface="游ゴシック Medium"/>
                        </a:rPr>
                        <a:t>settings 1定数、TagDictionaryEntry（定数参照のみ）</a:t>
                      </a:r>
                    </a:p>
                  </a:txBody>
                  <a:tcPr anchor="ctr" marL="64000" marR="64000" marT="24000" marB="24000">
                    <a:solidFill>
                      <a:srgbClr val="FFFFFF"/>
                    </a:solidFill>
                  </a:tcPr>
                </a:tc>
              </a:tr>
              <a:tr h="357142">
                <a:tc>
                  <a:txBody>
                    <a:bodyPr/>
                    <a:lstStyle/>
                    <a:p>
                      <a:pPr>
                        <a:lnSpc>
                          <a:spcPct val="100000"/>
                        </a:lnSpc>
                      </a:pPr>
                      <a:r>
                        <a:rPr sz="1150" b="0">
                          <a:solidFill>
                            <a:srgbClr val="1F1F1F"/>
                          </a:solidFill>
                          <a:latin typeface="游ゴシック Medium"/>
                        </a:rPr>
                        <a:t>services/generic_cad_extractor.py</a:t>
                      </a:r>
                    </a:p>
                  </a:txBody>
                  <a:tcPr anchor="ctr" marL="64000" marR="64000" marT="24000" marB="24000">
                    <a:solidFill>
                      <a:srgbClr val="F5F7FA"/>
                    </a:solidFill>
                  </a:tcPr>
                </a:tc>
                <a:tc>
                  <a:txBody>
                    <a:bodyPr/>
                    <a:lstStyle/>
                    <a:p>
                      <a:pPr>
                        <a:lnSpc>
                          <a:spcPct val="100000"/>
                        </a:lnSpc>
                      </a:pPr>
                      <a:r>
                        <a:rPr sz="1150" b="0">
                          <a:solidFill>
                            <a:srgbClr val="1F1F1F"/>
                          </a:solidFill>
                          <a:latin typeface="游ゴシック Medium"/>
                        </a:rPr>
                        <a:t>519</a:t>
                      </a:r>
                    </a:p>
                  </a:txBody>
                  <a:tcPr anchor="ctr" marL="64000" marR="64000" marT="24000" marB="24000">
                    <a:solidFill>
                      <a:srgbClr val="F5F7FA"/>
                    </a:solidFill>
                  </a:tcPr>
                </a:tc>
                <a:tc>
                  <a:txBody>
                    <a:bodyPr/>
                    <a:lstStyle/>
                    <a:p>
                      <a:pPr>
                        <a:lnSpc>
                          <a:spcPct val="100000"/>
                        </a:lnSpc>
                      </a:pPr>
                      <a:r>
                        <a:rPr sz="1150" b="0">
                          <a:solidFill>
                            <a:srgbClr val="1F1F1F"/>
                          </a:solidFill>
                          <a:latin typeface="游ゴシック Medium"/>
                        </a:rPr>
                        <a:t>STEP/DXFの抽出（外部CADライブラリ不要）</a:t>
                      </a:r>
                    </a:p>
                  </a:txBody>
                  <a:tcPr anchor="ctr" marL="64000" marR="64000" marT="24000" marB="24000">
                    <a:solidFill>
                      <a:srgbClr val="F5F7FA"/>
                    </a:solidFill>
                  </a:tcPr>
                </a:tc>
                <a:tc>
                  <a:txBody>
                    <a:bodyPr/>
                    <a:lstStyle/>
                    <a:p>
                      <a:pPr>
                        <a:lnSpc>
                          <a:spcPct val="100000"/>
                        </a:lnSpc>
                      </a:pPr>
                      <a:r>
                        <a:rPr sz="1150" b="0">
                          <a:solidFill>
                            <a:srgbClr val="1F1F1F"/>
                          </a:solidFill>
                          <a:latin typeface="游ゴシック Medium"/>
                        </a:rPr>
                        <a:t>settings 1定数</a:t>
                      </a:r>
                    </a:p>
                  </a:txBody>
                  <a:tcPr anchor="ctr" marL="64000" marR="64000" marT="24000" marB="24000">
                    <a:solidFill>
                      <a:srgbClr val="F5F7FA"/>
                    </a:solidFill>
                  </a:tcPr>
                </a:tc>
              </a:tr>
              <a:tr h="357142">
                <a:tc>
                  <a:txBody>
                    <a:bodyPr/>
                    <a:lstStyle/>
                    <a:p>
                      <a:pPr>
                        <a:lnSpc>
                          <a:spcPct val="100000"/>
                        </a:lnSpc>
                      </a:pPr>
                      <a:r>
                        <a:rPr sz="1150" b="0">
                          <a:solidFill>
                            <a:srgbClr val="1F1F1F"/>
                          </a:solidFill>
                          <a:latin typeface="游ゴシック Medium"/>
                        </a:rPr>
                        <a:t>services/seed_dictionaries.py</a:t>
                      </a:r>
                    </a:p>
                  </a:txBody>
                  <a:tcPr anchor="ctr" marL="64000" marR="64000" marT="24000" marB="24000">
                    <a:solidFill>
                      <a:srgbClr val="FFFFFF"/>
                    </a:solidFill>
                  </a:tcPr>
                </a:tc>
                <a:tc>
                  <a:txBody>
                    <a:bodyPr/>
                    <a:lstStyle/>
                    <a:p>
                      <a:pPr>
                        <a:lnSpc>
                          <a:spcPct val="100000"/>
                        </a:lnSpc>
                      </a:pPr>
                      <a:r>
                        <a:rPr sz="1150" b="0">
                          <a:solidFill>
                            <a:srgbClr val="1F1F1F"/>
                          </a:solidFill>
                          <a:latin typeface="游ゴシック Medium"/>
                        </a:rPr>
                        <a:t>222</a:t>
                      </a:r>
                    </a:p>
                  </a:txBody>
                  <a:tcPr anchor="ctr" marL="64000" marR="64000" marT="24000" marB="24000">
                    <a:solidFill>
                      <a:srgbClr val="FFFFFF"/>
                    </a:solidFill>
                  </a:tcPr>
                </a:tc>
                <a:tc>
                  <a:txBody>
                    <a:bodyPr/>
                    <a:lstStyle/>
                    <a:p>
                      <a:pPr>
                        <a:lnSpc>
                          <a:spcPct val="100000"/>
                        </a:lnSpc>
                      </a:pPr>
                      <a:r>
                        <a:rPr sz="1150" b="0">
                          <a:solidFill>
                            <a:srgbClr val="1F1F1F"/>
                          </a:solidFill>
                          <a:latin typeface="游ゴシック Medium"/>
                        </a:rPr>
                        <a:t>初期辞書（純Python）</a:t>
                      </a:r>
                    </a:p>
                  </a:txBody>
                  <a:tcPr anchor="ctr" marL="64000" marR="64000" marT="24000" marB="24000">
                    <a:solidFill>
                      <a:srgbClr val="FFFFFF"/>
                    </a:solidFill>
                  </a:tcPr>
                </a:tc>
                <a:tc>
                  <a:txBody>
                    <a:bodyPr/>
                    <a:lstStyle/>
                    <a:p>
                      <a:pPr>
                        <a:lnSpc>
                          <a:spcPct val="100000"/>
                        </a:lnSpc>
                      </a:pPr>
                      <a:r>
                        <a:rPr sz="1150" b="0">
                          <a:solidFill>
                            <a:srgbClr val="1F1F1F"/>
                          </a:solidFill>
                          <a:latin typeface="游ゴシック Medium"/>
                        </a:rPr>
                        <a:t>なし</a:t>
                      </a:r>
                    </a:p>
                  </a:txBody>
                  <a:tcPr anchor="ctr" marL="64000" marR="64000" marT="24000" marB="24000">
                    <a:solidFill>
                      <a:srgbClr val="FFFFFF"/>
                    </a:solidFill>
                  </a:tcPr>
                </a:tc>
              </a:tr>
              <a:tr h="357142">
                <a:tc>
                  <a:txBody>
                    <a:bodyPr/>
                    <a:lstStyle/>
                    <a:p>
                      <a:pPr>
                        <a:lnSpc>
                          <a:spcPct val="100000"/>
                        </a:lnSpc>
                      </a:pPr>
                      <a:r>
                        <a:rPr sz="1150" b="0">
                          <a:solidFill>
                            <a:srgbClr val="1F1F1F"/>
                          </a:solidFill>
                          <a:latin typeface="游ゴシック Medium"/>
                        </a:rPr>
                        <a:t>services/tag_builder.py</a:t>
                      </a:r>
                    </a:p>
                  </a:txBody>
                  <a:tcPr anchor="ctr" marL="64000" marR="64000" marT="24000" marB="24000">
                    <a:solidFill>
                      <a:srgbClr val="F5F7FA"/>
                    </a:solidFill>
                  </a:tcPr>
                </a:tc>
                <a:tc>
                  <a:txBody>
                    <a:bodyPr/>
                    <a:lstStyle/>
                    <a:p>
                      <a:pPr>
                        <a:lnSpc>
                          <a:spcPct val="100000"/>
                        </a:lnSpc>
                      </a:pPr>
                      <a:r>
                        <a:rPr sz="1150" b="0">
                          <a:solidFill>
                            <a:srgbClr val="1F1F1F"/>
                          </a:solidFill>
                          <a:latin typeface="游ゴシック Medium"/>
                        </a:rPr>
                        <a:t>112</a:t>
                      </a:r>
                    </a:p>
                  </a:txBody>
                  <a:tcPr anchor="ctr" marL="64000" marR="64000" marT="24000" marB="24000">
                    <a:solidFill>
                      <a:srgbClr val="F5F7FA"/>
                    </a:solidFill>
                  </a:tcPr>
                </a:tc>
                <a:tc>
                  <a:txBody>
                    <a:bodyPr/>
                    <a:lstStyle/>
                    <a:p>
                      <a:pPr>
                        <a:lnSpc>
                          <a:spcPct val="100000"/>
                        </a:lnSpc>
                      </a:pPr>
                      <a:r>
                        <a:rPr sz="1150" b="0">
                          <a:solidFill>
                            <a:srgbClr val="1F1F1F"/>
                          </a:solidFill>
                          <a:latin typeface="游ゴシック Medium"/>
                        </a:rPr>
                        <a:t>canonical_attributes → derived_tags</a:t>
                      </a:r>
                    </a:p>
                  </a:txBody>
                  <a:tcPr anchor="ctr" marL="64000" marR="64000" marT="24000" marB="24000">
                    <a:solidFill>
                      <a:srgbClr val="F5F7FA"/>
                    </a:solidFill>
                  </a:tcPr>
                </a:tc>
                <a:tc>
                  <a:txBody>
                    <a:bodyPr/>
                    <a:lstStyle/>
                    <a:p>
                      <a:pPr>
                        <a:lnSpc>
                          <a:spcPct val="100000"/>
                        </a:lnSpc>
                      </a:pPr>
                      <a:r>
                        <a:rPr sz="1150" b="0">
                          <a:solidFill>
                            <a:srgbClr val="1F1F1F"/>
                          </a:solidFill>
                          <a:latin typeface="游ゴシック Medium"/>
                        </a:rPr>
                        <a:t>settings 1定数</a:t>
                      </a:r>
                    </a:p>
                  </a:txBody>
                  <a:tcPr anchor="ctr" marL="64000" marR="64000" marT="24000" marB="24000">
                    <a:solidFill>
                      <a:srgbClr val="F5F7FA"/>
                    </a:solidFill>
                  </a:tcPr>
                </a:tc>
              </a:tr>
              <a:tr h="357142">
                <a:tc>
                  <a:txBody>
                    <a:bodyPr/>
                    <a:lstStyle/>
                    <a:p>
                      <a:pPr>
                        <a:lnSpc>
                          <a:spcPct val="100000"/>
                        </a:lnSpc>
                      </a:pPr>
                      <a:r>
                        <a:rPr sz="1150" b="0">
                          <a:solidFill>
                            <a:srgbClr val="1F1F1F"/>
                          </a:solidFill>
                          <a:latin typeface="游ゴシック Medium"/>
                        </a:rPr>
                        <a:t>services/dictionaries.py</a:t>
                      </a:r>
                    </a:p>
                  </a:txBody>
                  <a:tcPr anchor="ctr" marL="64000" marR="64000" marT="24000" marB="24000">
                    <a:solidFill>
                      <a:srgbClr val="FFFFFF"/>
                    </a:solidFill>
                  </a:tcPr>
                </a:tc>
                <a:tc>
                  <a:txBody>
                    <a:bodyPr/>
                    <a:lstStyle/>
                    <a:p>
                      <a:pPr>
                        <a:lnSpc>
                          <a:spcPct val="100000"/>
                        </a:lnSpc>
                      </a:pPr>
                      <a:r>
                        <a:rPr sz="1150" b="0">
                          <a:solidFill>
                            <a:srgbClr val="1F1F1F"/>
                          </a:solidFill>
                          <a:latin typeface="游ゴシック Medium"/>
                        </a:rPr>
                        <a:t>54</a:t>
                      </a:r>
                    </a:p>
                  </a:txBody>
                  <a:tcPr anchor="ctr" marL="64000" marR="64000" marT="24000" marB="24000">
                    <a:solidFill>
                      <a:srgbClr val="FFFFFF"/>
                    </a:solidFill>
                  </a:tcPr>
                </a:tc>
                <a:tc>
                  <a:txBody>
                    <a:bodyPr/>
                    <a:lstStyle/>
                    <a:p>
                      <a:pPr>
                        <a:lnSpc>
                          <a:spcPct val="100000"/>
                        </a:lnSpc>
                      </a:pPr>
                      <a:r>
                        <a:rPr sz="1150" b="0">
                          <a:solidFill>
                            <a:srgbClr val="1F1F1F"/>
                          </a:solidFill>
                          <a:latin typeface="游ゴシック Medium"/>
                        </a:rPr>
                        <a:t>辞書ロード（DB + 初期辞書のマージ）</a:t>
                      </a:r>
                    </a:p>
                  </a:txBody>
                  <a:tcPr anchor="ctr" marL="64000" marR="64000" marT="24000" marB="24000">
                    <a:solidFill>
                      <a:srgbClr val="FFFFFF"/>
                    </a:solidFill>
                  </a:tcPr>
                </a:tc>
                <a:tc>
                  <a:txBody>
                    <a:bodyPr/>
                    <a:lstStyle/>
                    <a:p>
                      <a:pPr>
                        <a:lnSpc>
                          <a:spcPct val="100000"/>
                        </a:lnSpc>
                      </a:pPr>
                      <a:r>
                        <a:rPr sz="1150" b="0">
                          <a:solidFill>
                            <a:srgbClr val="1F1F1F"/>
                          </a:solidFill>
                          <a:latin typeface="游ゴシック Medium"/>
                        </a:rPr>
                        <a:t>TagDictionaryEntry（ORMクエリあり）</a:t>
                      </a:r>
                    </a:p>
                  </a:txBody>
                  <a:tcPr anchor="ctr" marL="64000" marR="64000" marT="24000" marB="24000">
                    <a:solidFill>
                      <a:srgbClr val="FFFFFF"/>
                    </a:solidFill>
                  </a:tcPr>
                </a:tc>
              </a:tr>
              <a:tr h="357148">
                <a:tc>
                  <a:txBody>
                    <a:bodyPr/>
                    <a:lstStyle/>
                    <a:p>
                      <a:pPr>
                        <a:lnSpc>
                          <a:spcPct val="100000"/>
                        </a:lnSpc>
                      </a:pPr>
                      <a:r>
                        <a:rPr sz="1150" b="0">
                          <a:solidFill>
                            <a:srgbClr val="1F1F1F"/>
                          </a:solidFill>
                          <a:latin typeface="游ゴシック Medium"/>
                        </a:rPr>
                        <a:t>services/source_formats.py</a:t>
                      </a:r>
                    </a:p>
                  </a:txBody>
                  <a:tcPr anchor="ctr" marL="64000" marR="64000" marT="24000" marB="24000">
                    <a:solidFill>
                      <a:srgbClr val="F5F7FA"/>
                    </a:solidFill>
                  </a:tcPr>
                </a:tc>
                <a:tc>
                  <a:txBody>
                    <a:bodyPr/>
                    <a:lstStyle/>
                    <a:p>
                      <a:pPr>
                        <a:lnSpc>
                          <a:spcPct val="100000"/>
                        </a:lnSpc>
                      </a:pPr>
                      <a:r>
                        <a:rPr sz="1150" b="0">
                          <a:solidFill>
                            <a:srgbClr val="1F1F1F"/>
                          </a:solidFill>
                          <a:latin typeface="游ゴシック Medium"/>
                        </a:rPr>
                        <a:t>41</a:t>
                      </a:r>
                    </a:p>
                  </a:txBody>
                  <a:tcPr anchor="ctr" marL="64000" marR="64000" marT="24000" marB="24000">
                    <a:solidFill>
                      <a:srgbClr val="F5F7FA"/>
                    </a:solidFill>
                  </a:tcPr>
                </a:tc>
                <a:tc>
                  <a:txBody>
                    <a:bodyPr/>
                    <a:lstStyle/>
                    <a:p>
                      <a:pPr>
                        <a:lnSpc>
                          <a:spcPct val="100000"/>
                        </a:lnSpc>
                      </a:pPr>
                      <a:r>
                        <a:rPr sz="1150" b="0">
                          <a:solidFill>
                            <a:srgbClr val="1F1F1F"/>
                          </a:solidFill>
                          <a:latin typeface="游ゴシック Medium"/>
                        </a:rPr>
                        <a:t>拡張子→フォーマット判定（純Python）</a:t>
                      </a:r>
                    </a:p>
                  </a:txBody>
                  <a:tcPr anchor="ctr" marL="64000" marR="64000" marT="24000" marB="24000">
                    <a:solidFill>
                      <a:srgbClr val="F5F7FA"/>
                    </a:solidFill>
                  </a:tcPr>
                </a:tc>
                <a:tc>
                  <a:txBody>
                    <a:bodyPr/>
                    <a:lstStyle/>
                    <a:p>
                      <a:pPr>
                        <a:lnSpc>
                          <a:spcPct val="100000"/>
                        </a:lnSpc>
                      </a:pPr>
                      <a:r>
                        <a:rPr sz="1150" b="0">
                          <a:solidFill>
                            <a:srgbClr val="1F1F1F"/>
                          </a:solidFill>
                          <a:latin typeface="游ゴシック Medium"/>
                        </a:rPr>
                        <a:t>なし</a:t>
                      </a:r>
                    </a:p>
                  </a:txBody>
                  <a:tcPr anchor="ctr" marL="64000" marR="64000" marT="24000" marB="24000">
                    <a:solidFill>
                      <a:srgbClr val="F5F7FA"/>
                    </a:solidFill>
                  </a:tcPr>
                </a:tc>
              </a:tr>
            </a:tbl>
          </a:graphicData>
        </a:graphic>
      </p:graphicFrame>
      <p:sp>
        <p:nvSpPr>
          <p:cNvPr id="5" name="TextBox 4"/>
          <p:cNvSpPr txBox="1"/>
          <p:nvPr/>
        </p:nvSpPr>
        <p:spPr>
          <a:xfrm>
            <a:off x="457200" y="3924228"/>
            <a:ext cx="11352213" cy="400000"/>
          </a:xfrm>
          <a:prstGeom prst="rect">
            <a:avLst/>
          </a:prstGeom>
          <a:noFill/>
        </p:spPr>
        <p:txBody>
          <a:bodyPr wrap="square">
            <a:spAutoFit/>
          </a:bodyPr>
          <a:lstStyle/>
          <a:p>
            <a:r>
              <a:rPr sz="1000">
                <a:solidFill>
                  <a:srgbClr val="5A5A5A"/>
                </a:solidFill>
                <a:latin typeface="游ゴシック Medium"/>
              </a:rPr>
              <a:t>Djangoへの結合は実質2点だけです。① settings のバージョン文字列3個（NORMALIZER_VERSION / TAG_RULE_VERSION / SCHEMA_VERSION）、② TagDictionaryEntry モデル（辞書のDB読み出し）。①は引数注入で置き換えるだけです。②はDBアクセスを伴いますが、dictionaries.load_keyword_mapping の1箇所に集約されており、辞書ロード関数をインターフェース化すれば分離できます。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1F1F1F"/>
                </a:solidFill>
                <a:latin typeface="游ゴシック Medium"/>
              </a:rPr>
              <a:t>お渡しできる形と、含めないもの</a:t>
            </a:r>
          </a:p>
        </p:txBody>
      </p:sp>
      <p:sp>
        <p:nvSpPr>
          <p:cNvPr id="3" name="Text Placeholder 2"/>
          <p:cNvSpPr>
            <a:spLocks noGrp="1"/>
          </p:cNvSpPr>
          <p:nvPr>
            <p:ph type="body" idx="17" sz="quarter"/>
          </p:nvPr>
        </p:nvSpPr>
        <p:spPr/>
        <p:txBody>
          <a:bodyPr/>
          <a:lstStyle/>
          <a:p>
            <a:r>
              <a:rPr sz="1100" b="1">
                <a:solidFill>
                  <a:srgbClr val="005BAC"/>
                </a:solidFill>
                <a:latin typeface="游ゴシック Medium"/>
              </a:rPr>
              <a:t>ご希望の形に合わせます</a:t>
            </a:r>
          </a:p>
        </p:txBody>
      </p:sp>
      <p:sp>
        <p:nvSpPr>
          <p:cNvPr id="4" name="TextBox 3"/>
          <p:cNvSpPr txBox="1"/>
          <p:nvPr/>
        </p:nvSpPr>
        <p:spPr>
          <a:xfrm>
            <a:off x="457200" y="1364228"/>
            <a:ext cx="5576106" cy="4461520"/>
          </a:xfrm>
          <a:prstGeom prst="rect">
            <a:avLst/>
          </a:prstGeom>
          <a:solidFill>
            <a:srgbClr val="FFFFFF"/>
          </a:solidFill>
          <a:ln w="12700">
            <a:solidFill>
              <a:srgbClr val="C9D3DD"/>
            </a:solidFill>
          </a:ln>
        </p:spPr>
        <p:txBody>
          <a:bodyPr wrap="square" lIns="140000" rIns="120000" tIns="110000">
            <a:spAutoFit/>
          </a:bodyPr>
          <a:lstStyle/>
          <a:p>
            <a:pPr>
              <a:spcAft>
                <a:spcPts val="600"/>
              </a:spcAft>
            </a:pPr>
            <a:r>
              <a:rPr sz="1400" b="1">
                <a:solidFill>
                  <a:srgbClr val="005BAC"/>
                </a:solidFill>
                <a:latin typeface="游ゴシック Medium"/>
              </a:rPr>
              <a:t>ご希望であればこの形で納品します</a:t>
            </a:r>
          </a:p>
          <a:p>
            <a:pPr>
              <a:spcAft>
                <a:spcPts val="400"/>
              </a:spcAft>
            </a:pPr>
            <a:r>
              <a:rPr sz="1250">
                <a:solidFill>
                  <a:srgbClr val="1F1F1F"/>
                </a:solidFill>
                <a:latin typeface="游ゴシック Medium"/>
              </a:rPr>
              <a:t>icad_tag_extraction 単体パッケージ（Django非依存）</a:t>
            </a:r>
          </a:p>
          <a:p>
            <a:pPr>
              <a:spcAft>
                <a:spcPts val="400"/>
              </a:spcAft>
            </a:pPr>
            <a:r>
              <a:rPr sz="1250">
                <a:solidFill>
                  <a:srgbClr val="1F1F1F"/>
                </a:solidFill>
                <a:latin typeface="游ゴシック Medium"/>
              </a:rPr>
              <a:t>サンプル入出力JSON</a:t>
            </a:r>
          </a:p>
          <a:p>
            <a:pPr>
              <a:spcAft>
                <a:spcPts val="400"/>
              </a:spcAft>
            </a:pPr>
            <a:r>
              <a:rPr sz="1250">
                <a:solidFill>
                  <a:srgbClr val="1F1F1F"/>
                </a:solidFill>
                <a:latin typeface="游ゴシック Medium"/>
              </a:rPr>
              <a:t>単体テスト</a:t>
            </a:r>
          </a:p>
          <a:p>
            <a:pPr>
              <a:spcAft>
                <a:spcPts val="400"/>
              </a:spcAft>
            </a:pPr>
            <a:r>
              <a:rPr sz="1250">
                <a:solidFill>
                  <a:srgbClr val="1F1F1F"/>
                </a:solidFill>
                <a:latin typeface="游ゴシック Medium"/>
              </a:rPr>
              <a:t>辞書の初期データ</a:t>
            </a:r>
          </a:p>
          <a:p>
            <a:pPr>
              <a:spcAft>
                <a:spcPts val="400"/>
              </a:spcAft>
            </a:pPr>
            <a:r>
              <a:rPr sz="1250">
                <a:solidFill>
                  <a:srgbClr val="1F1F1F"/>
                </a:solidFill>
                <a:latin typeface="游ゴシック Medium"/>
              </a:rPr>
              <a:t>スキーマ定義</a:t>
            </a:r>
          </a:p>
          <a:p>
            <a:pPr>
              <a:spcAft>
                <a:spcPts val="400"/>
              </a:spcAft>
            </a:pPr>
            <a:r>
              <a:rPr sz="1250">
                <a:solidFill>
                  <a:srgbClr val="1F1F1F"/>
                </a:solidFill>
                <a:latin typeface="游ゴシック Medium"/>
              </a:rPr>
              <a:t/>
            </a:r>
          </a:p>
          <a:p>
            <a:pPr>
              <a:spcAft>
                <a:spcPts val="400"/>
              </a:spcAft>
            </a:pPr>
            <a:r>
              <a:rPr sz="1250">
                <a:solidFill>
                  <a:srgbClr val="1F1F1F"/>
                </a:solidFill>
                <a:latin typeface="游ゴシック Medium"/>
              </a:rPr>
              <a:t>C#側は IcadExtraction.sln 一式</a:t>
            </a:r>
          </a:p>
        </p:txBody>
      </p:sp>
      <p:sp>
        <p:nvSpPr>
          <p:cNvPr id="5" name="TextBox 4"/>
          <p:cNvSpPr txBox="1"/>
          <p:nvPr/>
        </p:nvSpPr>
        <p:spPr>
          <a:xfrm>
            <a:off x="6233306" y="1364228"/>
            <a:ext cx="5576106" cy="4461520"/>
          </a:xfrm>
          <a:prstGeom prst="rect">
            <a:avLst/>
          </a:prstGeom>
          <a:solidFill>
            <a:srgbClr val="FFFFFF"/>
          </a:solidFill>
          <a:ln w="12700">
            <a:solidFill>
              <a:srgbClr val="C9D3DD"/>
            </a:solidFill>
          </a:ln>
        </p:spPr>
        <p:txBody>
          <a:bodyPr wrap="square" lIns="140000" rIns="120000" tIns="110000">
            <a:spAutoFit/>
          </a:bodyPr>
          <a:lstStyle/>
          <a:p>
            <a:pPr>
              <a:spcAft>
                <a:spcPts val="600"/>
              </a:spcAft>
            </a:pPr>
            <a:r>
              <a:rPr sz="1400" b="1">
                <a:solidFill>
                  <a:srgbClr val="005BAC"/>
                </a:solidFill>
                <a:latin typeface="游ゴシック Medium"/>
              </a:rPr>
              <a:t>切り出し対象に含めないもの</a:t>
            </a:r>
          </a:p>
          <a:p>
            <a:pPr>
              <a:spcAft>
                <a:spcPts val="400"/>
              </a:spcAft>
            </a:pPr>
            <a:r>
              <a:rPr sz="1250">
                <a:solidFill>
                  <a:srgbClr val="1F1F1F"/>
                </a:solidFill>
                <a:latin typeface="游ゴシック Medium"/>
              </a:rPr>
              <a:t>Djangoモデル（RegisteredDrawing,</a:t>
            </a:r>
          </a:p>
          <a:p>
            <a:pPr>
              <a:spcAft>
                <a:spcPts val="400"/>
              </a:spcAft>
            </a:pPr>
            <a:r>
              <a:rPr sz="1250">
                <a:solidFill>
                  <a:srgbClr val="1F1F1F"/>
                </a:solidFill>
                <a:latin typeface="游ゴシック Medium"/>
              </a:rPr>
              <a:t>　DrawingMetadataSnapshot, ExtractionJob,</a:t>
            </a:r>
          </a:p>
          <a:p>
            <a:pPr>
              <a:spcAft>
                <a:spcPts val="400"/>
              </a:spcAft>
            </a:pPr>
            <a:r>
              <a:rPr sz="1250">
                <a:solidFill>
                  <a:srgbClr val="1F1F1F"/>
                </a:solidFill>
                <a:latin typeface="游ゴシック Medium"/>
              </a:rPr>
              <a:t>　AuditLog, TagDictionaryEntry）</a:t>
            </a:r>
          </a:p>
          <a:p>
            <a:pPr>
              <a:spcAft>
                <a:spcPts val="400"/>
              </a:spcAft>
            </a:pPr>
            <a:r>
              <a:rPr sz="1250">
                <a:solidFill>
                  <a:srgbClr val="1F1F1F"/>
                </a:solidFill>
                <a:latin typeface="游ゴシック Medium"/>
              </a:rPr>
              <a:t>ジョブ管理・リトライ・タイムアウト制御・監査ログ</a:t>
            </a:r>
          </a:p>
          <a:p>
            <a:pPr>
              <a:spcAft>
                <a:spcPts val="400"/>
              </a:spcAft>
            </a:pPr>
            <a:r>
              <a:rPr sz="1250">
                <a:solidFill>
                  <a:srgbClr val="1F1F1F"/>
                </a:solidFill>
                <a:latin typeface="游ゴシック Medium"/>
              </a:rPr>
              <a:t>画面（タグ辞書管理、抽出管理、レビューUI）</a:t>
            </a:r>
          </a:p>
          <a:p>
            <a:pPr>
              <a:spcAft>
                <a:spcPts val="400"/>
              </a:spcAft>
            </a:pPr>
            <a:r>
              <a:rPr sz="1250">
                <a:solidFill>
                  <a:srgbClr val="1F1F1F"/>
                </a:solidFill>
                <a:latin typeface="游ゴシック Medium"/>
              </a:rPr>
              <a:t/>
            </a:r>
          </a:p>
          <a:p>
            <a:pPr>
              <a:spcAft>
                <a:spcPts val="400"/>
              </a:spcAft>
            </a:pPr>
            <a:r>
              <a:rPr sz="1250">
                <a:solidFill>
                  <a:srgbClr val="1F1F1F"/>
                </a:solidFill>
                <a:latin typeface="游ゴシック Medium"/>
              </a:rPr>
              <a:t>→ 参考実装としてはお渡しできますが、</a:t>
            </a:r>
          </a:p>
          <a:p>
            <a:pPr>
              <a:spcAft>
                <a:spcPts val="400"/>
              </a:spcAft>
            </a:pPr>
            <a:r>
              <a:rPr sz="1250">
                <a:solidFill>
                  <a:srgbClr val="1F1F1F"/>
                </a:solidFill>
                <a:latin typeface="游ゴシック Medium"/>
              </a:rPr>
              <a:t>　 そのまま組み込む前提では作っていません</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1F1F"/>
                </a:solidFill>
                <a:latin typeface="游ゴシック Medium"/>
              </a:rPr>
              <a:t>STEP変換と</a:t>
            </a:r>
          </a:p>
          <a:p>
            <a:r>
              <a:rPr sz="2800" b="1">
                <a:solidFill>
                  <a:srgbClr val="1F1F1F"/>
                </a:solidFill>
                <a:latin typeface="游ゴシック Medium"/>
              </a:rPr>
              <a:t>ICADライセンス</a:t>
            </a:r>
          </a:p>
        </p:txBody>
      </p:sp>
      <p:sp>
        <p:nvSpPr>
          <p:cNvPr id="3" name="Text Placeholder 2"/>
          <p:cNvSpPr>
            <a:spLocks noGrp="1"/>
          </p:cNvSpPr>
          <p:nvPr>
            <p:ph type="body" idx="2" sz="half"/>
          </p:nvPr>
        </p:nvSpPr>
        <p:spPr/>
        <p:txBody>
          <a:bodyPr/>
          <a:lstStyle/>
          <a:p>
            <a:r>
              <a:rPr sz="1400" b="1">
                <a:solidFill>
                  <a:srgbClr val="005BAC"/>
                </a:solidFill>
                <a:latin typeface="游ゴシック Medium"/>
              </a:rPr>
              <a:t>CHAPTER　05</a:t>
            </a:r>
          </a:p>
        </p:txBody>
      </p:sp>
      <p:sp>
        <p:nvSpPr>
          <p:cNvPr id="4" name="Text Placeholder 3"/>
          <p:cNvSpPr>
            <a:spLocks noGrp="1"/>
          </p:cNvSpPr>
          <p:nvPr>
            <p:ph type="body" idx="17" sz="half"/>
          </p:nvPr>
        </p:nvSpPr>
        <p:spPr/>
        <p:txBody>
          <a:bodyPr/>
          <a:lstStyle/>
          <a:p>
            <a:r>
              <a:rPr sz="1200" b="1">
                <a:solidFill>
                  <a:srgbClr val="005BAC"/>
                </a:solidFill>
                <a:latin typeface="游ゴシック Medium"/>
              </a:rPr>
              <a:t>Conversion &amp; License</a:t>
            </a:r>
          </a:p>
        </p:txBody>
      </p:sp>
      <p:sp>
        <p:nvSpPr>
          <p:cNvPr id="5" name="Content Placeholder 4"/>
          <p:cNvSpPr>
            <a:spLocks noGrp="1"/>
          </p:cNvSpPr>
          <p:nvPr>
            <p:ph idx="18" sz="quarter"/>
          </p:nvPr>
        </p:nvSpPr>
        <p:spPr/>
        <p:txBody>
          <a:bodyPr wrap="square"/>
          <a:lstStyle/>
          <a:p>
            <a:pPr>
              <a:spcAft>
                <a:spcPts val="600"/>
              </a:spcAft>
            </a:pPr>
            <a:r>
              <a:rPr sz="1400" b="0">
                <a:solidFill>
                  <a:srgbClr val="1F1F1F"/>
                </a:solidFill>
                <a:latin typeface="游ゴシック Medium"/>
              </a:rPr>
              <a:t>ICAD→STEP/DXF変換は実機で確認済み。ただし限界がある</a:t>
            </a:r>
          </a:p>
          <a:p>
            <a:pPr>
              <a:spcAft>
                <a:spcPts val="600"/>
              </a:spcAft>
            </a:pPr>
            <a:r>
              <a:rPr sz="1400" b="0">
                <a:solidFill>
                  <a:srgbClr val="1F1F1F"/>
                </a:solidFill>
                <a:latin typeface="游ゴシック Medium"/>
              </a:rPr>
              <a:t>「ナレッジシステム専用ICAD」が技術的に必須という結論にはならない</a:t>
            </a:r>
          </a:p>
          <a:p>
            <a:pPr>
              <a:spcAft>
                <a:spcPts val="600"/>
              </a:spcAft>
            </a:pPr>
            <a:r>
              <a:rPr sz="1400" b="0">
                <a:solidFill>
                  <a:srgbClr val="1F1F1F"/>
                </a:solidFill>
                <a:latin typeface="游ゴシック Medium"/>
              </a:rPr>
              <a:t>販売を前提にした場合の選択肢を整理</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1F1F1F"/>
                </a:solidFill>
                <a:latin typeface="游ゴシック Medium"/>
              </a:rPr>
              <a:t>ICAD→STEP / DXF 変換の実測と限界</a:t>
            </a:r>
          </a:p>
        </p:txBody>
      </p:sp>
      <p:sp>
        <p:nvSpPr>
          <p:cNvPr id="3" name="Text Placeholder 2"/>
          <p:cNvSpPr>
            <a:spLocks noGrp="1"/>
          </p:cNvSpPr>
          <p:nvPr>
            <p:ph type="body" idx="17" sz="quarter"/>
          </p:nvPr>
        </p:nvSpPr>
        <p:spPr/>
        <p:txBody>
          <a:bodyPr/>
          <a:lstStyle/>
          <a:p>
            <a:r>
              <a:rPr sz="1100" b="1">
                <a:solidFill>
                  <a:srgbClr val="005BAC"/>
                </a:solidFill>
                <a:latin typeface="游ゴシック Medium"/>
              </a:rPr>
              <a:t>2026-07-26 に実機で確認した内容</a:t>
            </a:r>
          </a:p>
        </p:txBody>
      </p:sp>
      <p:sp>
        <p:nvSpPr>
          <p:cNvPr id="4" name="TextBox 3"/>
          <p:cNvSpPr txBox="1"/>
          <p:nvPr/>
        </p:nvSpPr>
        <p:spPr>
          <a:xfrm>
            <a:off x="457200" y="1364228"/>
            <a:ext cx="5576106" cy="4461520"/>
          </a:xfrm>
          <a:prstGeom prst="rect">
            <a:avLst/>
          </a:prstGeom>
          <a:solidFill>
            <a:srgbClr val="FFFFFF"/>
          </a:solidFill>
          <a:ln w="12700">
            <a:solidFill>
              <a:srgbClr val="C9D3DD"/>
            </a:solidFill>
          </a:ln>
        </p:spPr>
        <p:txBody>
          <a:bodyPr wrap="square" lIns="140000" rIns="120000" tIns="110000">
            <a:spAutoFit/>
          </a:bodyPr>
          <a:lstStyle/>
          <a:p>
            <a:pPr>
              <a:spcAft>
                <a:spcPts val="600"/>
              </a:spcAft>
            </a:pPr>
            <a:r>
              <a:rPr sz="1400" b="1">
                <a:solidFill>
                  <a:srgbClr val="005BAC"/>
                </a:solidFill>
                <a:latin typeface="游ゴシック Medium"/>
              </a:rPr>
              <a:t>できたこと</a:t>
            </a:r>
          </a:p>
          <a:p>
            <a:pPr>
              <a:spcAft>
                <a:spcPts val="400"/>
              </a:spcAft>
            </a:pPr>
            <a:r>
              <a:rPr sz="1150">
                <a:solidFill>
                  <a:srgbClr val="1F1F1F"/>
                </a:solidFill>
                <a:latin typeface="游ゴシック Medium"/>
              </a:rPr>
              <a:t>実機SXNETの出力形式定数を確認</a:t>
            </a:r>
          </a:p>
          <a:p>
            <a:pPr>
              <a:spcAft>
                <a:spcPts val="400"/>
              </a:spcAft>
            </a:pPr>
            <a:r>
              <a:rPr sz="1150">
                <a:solidFill>
                  <a:srgbClr val="1F1F1F"/>
                </a:solidFill>
                <a:latin typeface="游ゴシック Medium"/>
              </a:rPr>
              <a:t>　FILE_TYPE_STEP=11 / FILE_TYPE_DXF=1</a:t>
            </a:r>
          </a:p>
          <a:p>
            <a:pPr>
              <a:spcAft>
                <a:spcPts val="400"/>
              </a:spcAft>
            </a:pPr>
            <a:r>
              <a:rPr sz="1150">
                <a:solidFill>
                  <a:srgbClr val="1F1F1F"/>
                </a:solidFill>
                <a:latin typeface="游ゴシック Medium"/>
              </a:rPr>
              <a:t>　形式別の数値オーバーライドなしで変換可能</a:t>
            </a:r>
          </a:p>
          <a:p>
            <a:pPr>
              <a:spcAft>
                <a:spcPts val="400"/>
              </a:spcAft>
            </a:pPr>
            <a:r>
              <a:rPr sz="1150">
                <a:solidFill>
                  <a:srgbClr val="1F1F1F"/>
                </a:solidFill>
                <a:latin typeface="游ゴシック Medium"/>
              </a:rPr>
              <a:t>9NK452WX90-00-LINER-A3-3D-01.icd を</a:t>
            </a:r>
          </a:p>
          <a:p>
            <a:pPr>
              <a:spcAft>
                <a:spcPts val="400"/>
              </a:spcAft>
            </a:pPr>
            <a:r>
              <a:rPr sz="1150">
                <a:solidFill>
                  <a:srgbClr val="1F1F1F"/>
                </a:solidFill>
                <a:latin typeface="游ゴシック Medium"/>
              </a:rPr>
              <a:t>STEP / DXF へ変換し、抽出・snapshot保存まで完了</a:t>
            </a:r>
          </a:p>
          <a:p>
            <a:pPr>
              <a:spcAft>
                <a:spcPts val="400"/>
              </a:spcAft>
            </a:pPr>
            <a:r>
              <a:rPr sz="1150">
                <a:solidFill>
                  <a:srgbClr val="1F1F1F"/>
                </a:solidFill>
                <a:latin typeface="游ゴシック Medium"/>
              </a:rPr>
              <a:t>変換後STEP: step_product_names=</a:t>
            </a:r>
          </a:p>
          <a:p>
            <a:pPr>
              <a:spcAft>
                <a:spcPts val="400"/>
              </a:spcAft>
            </a:pPr>
            <a:r>
              <a:rPr sz="1150">
                <a:solidFill>
                  <a:srgbClr val="1F1F1F"/>
                </a:solidFill>
                <a:latin typeface="游ゴシック Medium"/>
              </a:rPr>
              <a:t>　["Assembly", "...-prt0"], 親子関係1件</a:t>
            </a:r>
          </a:p>
          <a:p>
            <a:pPr>
              <a:spcAft>
                <a:spcPts val="400"/>
              </a:spcAft>
            </a:pPr>
            <a:r>
              <a:rPr sz="1150">
                <a:solidFill>
                  <a:srgbClr val="1F1F1F"/>
                </a:solidFill>
                <a:latin typeface="游ゴシック Medium"/>
              </a:rPr>
              <a:t>変換後DXF: dxf_layers 5件を取得</a:t>
            </a:r>
          </a:p>
        </p:txBody>
      </p:sp>
      <p:sp>
        <p:nvSpPr>
          <p:cNvPr id="5" name="TextBox 4"/>
          <p:cNvSpPr txBox="1"/>
          <p:nvPr/>
        </p:nvSpPr>
        <p:spPr>
          <a:xfrm>
            <a:off x="6233306" y="1364228"/>
            <a:ext cx="5576106" cy="4461520"/>
          </a:xfrm>
          <a:prstGeom prst="rect">
            <a:avLst/>
          </a:prstGeom>
          <a:solidFill>
            <a:srgbClr val="FFFFFF"/>
          </a:solidFill>
          <a:ln w="12700">
            <a:solidFill>
              <a:srgbClr val="C9D3DD"/>
            </a:solidFill>
          </a:ln>
        </p:spPr>
        <p:txBody>
          <a:bodyPr wrap="square" lIns="140000" rIns="120000" tIns="110000">
            <a:spAutoFit/>
          </a:bodyPr>
          <a:lstStyle/>
          <a:p>
            <a:pPr>
              <a:spcAft>
                <a:spcPts val="600"/>
              </a:spcAft>
            </a:pPr>
            <a:r>
              <a:rPr sz="1400" b="1">
                <a:solidFill>
                  <a:srgbClr val="005BAC"/>
                </a:solidFill>
                <a:latin typeface="游ゴシック Medium"/>
              </a:rPr>
              <a:t>限界（重要）</a:t>
            </a:r>
          </a:p>
          <a:p>
            <a:pPr>
              <a:spcAft>
                <a:spcPts val="400"/>
              </a:spcAft>
            </a:pPr>
            <a:r>
              <a:rPr sz="1150">
                <a:solidFill>
                  <a:srgbClr val="1F1F1F"/>
                </a:solidFill>
                <a:latin typeface="游ゴシック Medium"/>
              </a:rPr>
              <a:t>ICAD本体にある材質・質量は、STEP側に同等には残らない</a:t>
            </a:r>
          </a:p>
          <a:p>
            <a:pPr>
              <a:spcAft>
                <a:spcPts val="400"/>
              </a:spcAft>
            </a:pPr>
            <a:r>
              <a:rPr sz="1150">
                <a:solidFill>
                  <a:srgbClr val="1F1F1F"/>
                </a:solidFill>
                <a:latin typeface="游ゴシック Medium"/>
              </a:rPr>
              <a:t>　→ 変換後データはICAD正本と等価ではない</a:t>
            </a:r>
          </a:p>
          <a:p>
            <a:pPr>
              <a:spcAft>
                <a:spcPts val="400"/>
              </a:spcAft>
            </a:pPr>
            <a:r>
              <a:rPr sz="1150">
                <a:solidFill>
                  <a:srgbClr val="1F1F1F"/>
                </a:solidFill>
                <a:latin typeface="游ゴシック Medium"/>
              </a:rPr>
              <a:t>今回のDXFサンプルではブロック属性は0件</a:t>
            </a:r>
          </a:p>
          <a:p>
            <a:pPr>
              <a:spcAft>
                <a:spcPts val="400"/>
              </a:spcAft>
            </a:pPr>
            <a:r>
              <a:rPr sz="1150">
                <a:solidFill>
                  <a:srgbClr val="1F1F1F"/>
                </a:solidFill>
                <a:latin typeface="游ゴシック Medium"/>
              </a:rPr>
              <a:t>　→ 図枠情報の有無は客先の図枠仕様に依存</a:t>
            </a:r>
          </a:p>
          <a:p>
            <a:pPr>
              <a:spcAft>
                <a:spcPts val="400"/>
              </a:spcAft>
            </a:pPr>
            <a:r>
              <a:rPr sz="1150">
                <a:solidFill>
                  <a:srgbClr val="1F1F1F"/>
                </a:solidFill>
                <a:latin typeface="游ゴシック Medium"/>
              </a:rPr>
              <a:t>STEPはSXNETが .stp で出力（.step/.stp 両対応済み）</a:t>
            </a:r>
          </a:p>
          <a:p>
            <a:pPr>
              <a:spcAft>
                <a:spcPts val="400"/>
              </a:spcAft>
            </a:pPr>
            <a:r>
              <a:rPr sz="1150">
                <a:solidFill>
                  <a:srgbClr val="1F1F1F"/>
                </a:solidFill>
                <a:latin typeface="游ゴシック Medium"/>
              </a:rPr>
              <a:t>DXF変換時、export成功後もrunner終了待ちが長いケースあり</a:t>
            </a:r>
          </a:p>
          <a:p>
            <a:pPr>
              <a:spcAft>
                <a:spcPts val="400"/>
              </a:spcAft>
            </a:pPr>
            <a:r>
              <a:rPr sz="1150">
                <a:solidFill>
                  <a:srgbClr val="1F1F1F"/>
                </a:solidFill>
                <a:latin typeface="游ゴシック Medium"/>
              </a:rPr>
              <a:t>変換後の保存確認ダイアログは保存不要</a:t>
            </a:r>
          </a:p>
          <a:p>
            <a:pPr>
              <a:spcAft>
                <a:spcPts val="400"/>
              </a:spcAft>
            </a:pPr>
            <a:r>
              <a:rPr sz="1150">
                <a:solidFill>
                  <a:srgbClr val="1F1F1F"/>
                </a:solidFill>
                <a:latin typeface="游ゴシック Medium"/>
              </a:rPr>
              <a:t>　（shutdown-icad で保存なし終了）</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1F1F1F"/>
                </a:solidFill>
                <a:latin typeface="游ゴシック Medium"/>
              </a:rPr>
              <a:t>変換に関する所見</a:t>
            </a:r>
          </a:p>
        </p:txBody>
      </p:sp>
      <p:sp>
        <p:nvSpPr>
          <p:cNvPr id="3" name="Text Placeholder 2"/>
          <p:cNvSpPr>
            <a:spLocks noGrp="1"/>
          </p:cNvSpPr>
          <p:nvPr>
            <p:ph type="body" idx="17" sz="quarter"/>
          </p:nvPr>
        </p:nvSpPr>
        <p:spPr/>
        <p:txBody>
          <a:bodyPr/>
          <a:lstStyle/>
          <a:p>
            <a:r>
              <a:rPr sz="1100" b="1">
                <a:solidFill>
                  <a:srgbClr val="005BAC"/>
                </a:solidFill>
                <a:latin typeface="游ゴシック Medium"/>
              </a:rPr>
              <a:t>変換経由は「上位互換」ではなく「代替経路」です</a:t>
            </a:r>
          </a:p>
        </p:txBody>
      </p:sp>
      <p:sp>
        <p:nvSpPr>
          <p:cNvPr id="4" name="Content Placeholder 3"/>
          <p:cNvSpPr>
            <a:spLocks noGrp="1"/>
          </p:cNvSpPr>
          <p:nvPr>
            <p:ph idx="18" sz="quarter"/>
          </p:nvPr>
        </p:nvSpPr>
        <p:spPr/>
        <p:txBody>
          <a:bodyPr wrap="square"/>
          <a:lstStyle/>
          <a:p>
            <a:pPr>
              <a:spcAft>
                <a:spcPts val="600"/>
              </a:spcAft>
            </a:pPr>
            <a:r>
              <a:rPr sz="1600" b="1">
                <a:solidFill>
                  <a:srgbClr val="1F1F1F"/>
                </a:solidFill>
                <a:latin typeface="游ゴシック Medium"/>
              </a:rPr>
              <a:t>「ICAD→STEP変換を機能として用意する」ことは技術的に成立します</a:t>
            </a:r>
          </a:p>
          <a:p>
            <a:pPr>
              <a:spcAft>
                <a:spcPts val="600"/>
              </a:spcAft>
            </a:pPr>
            <a:r>
              <a:rPr sz="1600" b="1">
                <a:solidFill>
                  <a:srgbClr val="1F1F1F"/>
                </a:solidFill>
                <a:latin typeface="游ゴシック Medium"/>
              </a:rPr>
              <a:t>ただし、変換したSTEPから取れる情報は、ICAD正本から直接抜いた情報より確実に少ないという実測結果があります</a:t>
            </a:r>
          </a:p>
          <a:p>
            <a:pPr lvl="1">
              <a:spcAft>
                <a:spcPts val="300"/>
              </a:spcAft>
            </a:pPr>
            <a:r>
              <a:rPr sz="1400" b="0">
                <a:solidFill>
                  <a:srgbClr val="5A5A5A"/>
                </a:solidFill>
                <a:latin typeface="游ゴシック Medium"/>
              </a:rPr>
              <a:t>材質・質量が落ちるのが最も大きい差です</a:t>
            </a:r>
          </a:p>
          <a:p>
            <a:pPr>
              <a:spcAft>
                <a:spcPts val="600"/>
              </a:spcAft>
            </a:pPr>
            <a:r>
              <a:rPr sz="1600" b="1">
                <a:solidFill>
                  <a:srgbClr val="1F1F1F"/>
                </a:solidFill>
                <a:latin typeface="游ゴシック Medium"/>
              </a:rPr>
              <a:t>変換を経由するのは「ICADライセンスのない環境でも最低限の情報を取りたい」場合の代替経路であり、上位互換ではありません</a:t>
            </a:r>
          </a:p>
          <a:p>
            <a:pPr>
              <a:spcAft>
                <a:spcPts val="600"/>
              </a:spcAft>
            </a:pPr>
            <a:r>
              <a:rPr sz="1600" b="1">
                <a:solidFill>
                  <a:srgbClr val="1F1F1F"/>
                </a:solidFill>
                <a:latin typeface="游ゴシック Medium"/>
              </a:rPr>
              <a:t>したがって、製品仕様としては「経路Aで取れる情報」と「経路B・Cで取れる情報」の差を明示し、顧客の環境に応じて構成を選べる形にすることを提案します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1F1F1F"/>
                </a:solidFill>
                <a:latin typeface="游ゴシック Medium"/>
              </a:rPr>
              <a:t>ICADライセンス｜技術的な事実</a:t>
            </a:r>
          </a:p>
        </p:txBody>
      </p:sp>
      <p:sp>
        <p:nvSpPr>
          <p:cNvPr id="3" name="Text Placeholder 2"/>
          <p:cNvSpPr>
            <a:spLocks noGrp="1"/>
          </p:cNvSpPr>
          <p:nvPr>
            <p:ph type="body" idx="17" sz="quarter"/>
          </p:nvPr>
        </p:nvSpPr>
        <p:spPr/>
        <p:txBody>
          <a:bodyPr/>
          <a:lstStyle/>
          <a:p>
            <a:r>
              <a:rPr sz="1100" b="1">
                <a:solidFill>
                  <a:srgbClr val="005BAC"/>
                </a:solidFill>
                <a:latin typeface="游ゴシック Medium"/>
              </a:rPr>
              <a:t>コード上で確認済みの事実。ここから判断の前提を揃えます</a:t>
            </a:r>
          </a:p>
        </p:txBody>
      </p:sp>
      <p:graphicFrame>
        <p:nvGraphicFramePr>
          <p:cNvPr id="4" name="Table 3"/>
          <p:cNvGraphicFramePr>
            <a:graphicFrameLocks noGrp="1"/>
          </p:cNvGraphicFramePr>
          <p:nvPr/>
        </p:nvGraphicFramePr>
        <p:xfrm>
          <a:off x="457200" y="1364228"/>
          <a:ext cx="11352212" cy="3000000"/>
        </p:xfrm>
        <a:graphic>
          <a:graphicData uri="http://schemas.openxmlformats.org/drawingml/2006/table">
            <a:tbl>
              <a:tblPr firstRow="1" bandRow="1">
                <a:tableStyleId>{5C22544A-7EE6-4342-B048-85BDC9FD1C3A}</a:tableStyleId>
              </a:tblPr>
              <a:tblGrid>
                <a:gridCol w="493574"/>
                <a:gridCol w="5429319"/>
                <a:gridCol w="5429319"/>
              </a:tblGrid>
              <a:tr h="500000">
                <a:tc>
                  <a:txBody>
                    <a:bodyPr/>
                    <a:lstStyle/>
                    <a:p>
                      <a:r>
                        <a:rPr sz="1100" b="1">
                          <a:solidFill>
                            <a:srgbClr val="FFFFFF"/>
                          </a:solidFill>
                          <a:latin typeface="游ゴシック Medium"/>
                        </a:rPr>
                        <a:t>#</a:t>
                      </a:r>
                    </a:p>
                  </a:txBody>
                  <a:tcPr anchor="ctr" marL="64000" marR="64000">
                    <a:solidFill>
                      <a:srgbClr val="005BAC"/>
                    </a:solidFill>
                  </a:tcPr>
                </a:tc>
                <a:tc>
                  <a:txBody>
                    <a:bodyPr/>
                    <a:lstStyle/>
                    <a:p>
                      <a:r>
                        <a:rPr sz="1100" b="1">
                          <a:solidFill>
                            <a:srgbClr val="FFFFFF"/>
                          </a:solidFill>
                          <a:latin typeface="游ゴシック Medium"/>
                        </a:rPr>
                        <a:t>事実</a:t>
                      </a:r>
                    </a:p>
                  </a:txBody>
                  <a:tcPr anchor="ctr" marL="64000" marR="64000">
                    <a:solidFill>
                      <a:srgbClr val="005BAC"/>
                    </a:solidFill>
                  </a:tcPr>
                </a:tc>
                <a:tc>
                  <a:txBody>
                    <a:bodyPr/>
                    <a:lstStyle/>
                    <a:p>
                      <a:r>
                        <a:rPr sz="1100" b="1">
                          <a:solidFill>
                            <a:srgbClr val="FFFFFF"/>
                          </a:solidFill>
                          <a:latin typeface="游ゴシック Medium"/>
                        </a:rPr>
                        <a:t>根拠</a:t>
                      </a:r>
                    </a:p>
                  </a:txBody>
                  <a:tcPr anchor="ctr" marL="64000" marR="64000">
                    <a:solidFill>
                      <a:srgbClr val="005BAC"/>
                    </a:solidFill>
                  </a:tcPr>
                </a:tc>
              </a:tr>
              <a:tr h="500000">
                <a:tc>
                  <a:txBody>
                    <a:bodyPr/>
                    <a:lstStyle/>
                    <a:p>
                      <a:pPr>
                        <a:lnSpc>
                          <a:spcPct val="100000"/>
                        </a:lnSpc>
                      </a:pPr>
                      <a:r>
                        <a:rPr sz="1100" b="0">
                          <a:solidFill>
                            <a:srgbClr val="1F1F1F"/>
                          </a:solidFill>
                          <a:latin typeface="游ゴシック Medium"/>
                        </a:rPr>
                        <a:t>1</a:t>
                      </a:r>
                    </a:p>
                  </a:txBody>
                  <a:tcPr anchor="ctr" marL="64000" marR="64000" marT="24000" marB="24000">
                    <a:solidFill>
                      <a:srgbClr val="FFFFFF"/>
                    </a:solidFill>
                  </a:tcPr>
                </a:tc>
                <a:tc>
                  <a:txBody>
                    <a:bodyPr/>
                    <a:lstStyle/>
                    <a:p>
                      <a:pPr>
                        <a:lnSpc>
                          <a:spcPct val="100000"/>
                        </a:lnSpc>
                      </a:pPr>
                      <a:r>
                        <a:rPr sz="1100" b="0">
                          <a:solidFill>
                            <a:srgbClr val="1F1F1F"/>
                          </a:solidFill>
                          <a:latin typeface="游ゴシック Medium"/>
                        </a:rPr>
                        <a:t>経路A（ICAD正本から抽出）は、SXNET経由でICAD SX本体プロセスを必要とする</a:t>
                      </a:r>
                    </a:p>
                  </a:txBody>
                  <a:tcPr anchor="ctr" marL="64000" marR="64000" marT="24000" marB="24000">
                    <a:solidFill>
                      <a:srgbClr val="FFFFFF"/>
                    </a:solidFill>
                  </a:tcPr>
                </a:tc>
                <a:tc>
                  <a:txBody>
                    <a:bodyPr/>
                    <a:lstStyle/>
                    <a:p>
                      <a:pPr>
                        <a:lnSpc>
                          <a:spcPct val="100000"/>
                        </a:lnSpc>
                      </a:pPr>
                      <a:r>
                        <a:rPr sz="1100" b="0">
                          <a:solidFill>
                            <a:srgbClr val="1F1F1F"/>
                          </a:solidFill>
                          <a:latin typeface="游ゴシック Medium"/>
                        </a:rPr>
                        <a:t>IcadProcessStarter がICAD実行体を起動、または起動済みプロセスへ接続</a:t>
                      </a:r>
                    </a:p>
                  </a:txBody>
                  <a:tcPr anchor="ctr" marL="64000" marR="64000" marT="24000" marB="24000">
                    <a:solidFill>
                      <a:srgbClr val="FFFFFF"/>
                    </a:solidFill>
                  </a:tcPr>
                </a:tc>
              </a:tr>
              <a:tr h="500000">
                <a:tc>
                  <a:txBody>
                    <a:bodyPr/>
                    <a:lstStyle/>
                    <a:p>
                      <a:pPr>
                        <a:lnSpc>
                          <a:spcPct val="100000"/>
                        </a:lnSpc>
                      </a:pPr>
                      <a:r>
                        <a:rPr sz="1100" b="0">
                          <a:solidFill>
                            <a:srgbClr val="1F1F1F"/>
                          </a:solidFill>
                          <a:latin typeface="游ゴシック Medium"/>
                        </a:rPr>
                        <a:t>2</a:t>
                      </a:r>
                    </a:p>
                  </a:txBody>
                  <a:tcPr anchor="ctr" marL="64000" marR="64000" marT="24000" marB="24000">
                    <a:solidFill>
                      <a:srgbClr val="F5F7FA"/>
                    </a:solidFill>
                  </a:tcPr>
                </a:tc>
                <a:tc>
                  <a:txBody>
                    <a:bodyPr/>
                    <a:lstStyle/>
                    <a:p>
                      <a:pPr>
                        <a:lnSpc>
                          <a:spcPct val="100000"/>
                        </a:lnSpc>
                      </a:pPr>
                      <a:r>
                        <a:rPr sz="1100" b="0">
                          <a:solidFill>
                            <a:srgbClr val="1F1F1F"/>
                          </a:solidFill>
                          <a:latin typeface="游ゴシック Medium"/>
                        </a:rPr>
                        <a:t>ICADセッションは1つずつ排他利用される。並列に複数の抽出は走らせない</a:t>
                      </a:r>
                    </a:p>
                  </a:txBody>
                  <a:tcPr anchor="ctr" marL="64000" marR="64000" marT="24000" marB="24000">
                    <a:solidFill>
                      <a:srgbClr val="F5F7FA"/>
                    </a:solidFill>
                  </a:tcPr>
                </a:tc>
                <a:tc>
                  <a:txBody>
                    <a:bodyPr/>
                    <a:lstStyle/>
                    <a:p>
                      <a:pPr>
                        <a:lnSpc>
                          <a:spcPct val="100000"/>
                        </a:lnSpc>
                      </a:pPr>
                      <a:r>
                        <a:rPr sz="1100" b="0">
                          <a:solidFill>
                            <a:srgbClr val="1F1F1F"/>
                          </a:solidFill>
                          <a:latin typeface="游ゴシック Medium"/>
                        </a:rPr>
                        <a:t>Local\KnowledgeSystem.IcadExtraction.IcadSession の Mutex で直列化（排他範囲はWindowsのログオンセッション単位）</a:t>
                      </a:r>
                    </a:p>
                  </a:txBody>
                  <a:tcPr anchor="ctr" marL="64000" marR="64000" marT="24000" marB="24000">
                    <a:solidFill>
                      <a:srgbClr val="F5F7FA"/>
                    </a:solidFill>
                  </a:tcPr>
                </a:tc>
              </a:tr>
              <a:tr h="500000">
                <a:tc>
                  <a:txBody>
                    <a:bodyPr/>
                    <a:lstStyle/>
                    <a:p>
                      <a:pPr>
                        <a:lnSpc>
                          <a:spcPct val="100000"/>
                        </a:lnSpc>
                      </a:pPr>
                      <a:r>
                        <a:rPr sz="1100" b="0">
                          <a:solidFill>
                            <a:srgbClr val="1F1F1F"/>
                          </a:solidFill>
                          <a:latin typeface="游ゴシック Medium"/>
                        </a:rPr>
                        <a:t>3</a:t>
                      </a:r>
                    </a:p>
                  </a:txBody>
                  <a:tcPr anchor="ctr" marL="64000" marR="64000" marT="24000" marB="24000">
                    <a:solidFill>
                      <a:srgbClr val="FFFFFF"/>
                    </a:solidFill>
                  </a:tcPr>
                </a:tc>
                <a:tc>
                  <a:txBody>
                    <a:bodyPr/>
                    <a:lstStyle/>
                    <a:p>
                      <a:pPr>
                        <a:lnSpc>
                          <a:spcPct val="100000"/>
                        </a:lnSpc>
                      </a:pPr>
                      <a:r>
                        <a:rPr sz="1100" b="0">
                          <a:solidFill>
                            <a:srgbClr val="1F1F1F"/>
                          </a:solidFill>
                          <a:latin typeface="游ゴシック Medium"/>
                        </a:rPr>
                        <a:t>ICADが必要なのは登録・抽出のタイミングだけ。検索・閲覧・タグ表示・RAG回答にICADは不要</a:t>
                      </a:r>
                    </a:p>
                  </a:txBody>
                  <a:tcPr anchor="ctr" marL="64000" marR="64000" marT="24000" marB="24000">
                    <a:solidFill>
                      <a:srgbClr val="FFFFFF"/>
                    </a:solidFill>
                  </a:tcPr>
                </a:tc>
                <a:tc>
                  <a:txBody>
                    <a:bodyPr/>
                    <a:lstStyle/>
                    <a:p>
                      <a:pPr>
                        <a:lnSpc>
                          <a:spcPct val="100000"/>
                        </a:lnSpc>
                      </a:pPr>
                      <a:r>
                        <a:rPr sz="1100" b="0">
                          <a:solidFill>
                            <a:srgbClr val="1F1F1F"/>
                          </a:solidFill>
                          <a:latin typeface="游ゴシック Medium"/>
                        </a:rPr>
                        <a:t>抽出結果はsnapshotとしてDBに保存され、以降は参照されない</a:t>
                      </a:r>
                    </a:p>
                  </a:txBody>
                  <a:tcPr anchor="ctr" marL="64000" marR="64000" marT="24000" marB="24000">
                    <a:solidFill>
                      <a:srgbClr val="FFFFFF"/>
                    </a:solidFill>
                  </a:tcPr>
                </a:tc>
              </a:tr>
              <a:tr h="500000">
                <a:tc>
                  <a:txBody>
                    <a:bodyPr/>
                    <a:lstStyle/>
                    <a:p>
                      <a:pPr>
                        <a:lnSpc>
                          <a:spcPct val="100000"/>
                        </a:lnSpc>
                      </a:pPr>
                      <a:r>
                        <a:rPr sz="1100" b="0">
                          <a:solidFill>
                            <a:srgbClr val="1F1F1F"/>
                          </a:solidFill>
                          <a:latin typeface="游ゴシック Medium"/>
                        </a:rPr>
                        <a:t>4</a:t>
                      </a:r>
                    </a:p>
                  </a:txBody>
                  <a:tcPr anchor="ctr" marL="64000" marR="64000" marT="24000" marB="24000">
                    <a:solidFill>
                      <a:srgbClr val="F5F7FA"/>
                    </a:solidFill>
                  </a:tcPr>
                </a:tc>
                <a:tc>
                  <a:txBody>
                    <a:bodyPr/>
                    <a:lstStyle/>
                    <a:p>
                      <a:pPr>
                        <a:lnSpc>
                          <a:spcPct val="100000"/>
                        </a:lnSpc>
                      </a:pPr>
                      <a:r>
                        <a:rPr sz="1100" b="0">
                          <a:solidFill>
                            <a:srgbClr val="1F1F1F"/>
                          </a:solidFill>
                          <a:latin typeface="游ゴシック Medium"/>
                        </a:rPr>
                        <a:t>経路B・C（STEP/DXFからの抽出）はICADなしで動く。外部CADライブラリも不要</a:t>
                      </a:r>
                    </a:p>
                  </a:txBody>
                  <a:tcPr anchor="ctr" marL="64000" marR="64000" marT="24000" marB="24000">
                    <a:solidFill>
                      <a:srgbClr val="F5F7FA"/>
                    </a:solidFill>
                  </a:tcPr>
                </a:tc>
                <a:tc>
                  <a:txBody>
                    <a:bodyPr/>
                    <a:lstStyle/>
                    <a:p>
                      <a:pPr>
                        <a:lnSpc>
                          <a:spcPct val="100000"/>
                        </a:lnSpc>
                      </a:pPr>
                      <a:r>
                        <a:rPr sz="1100" b="0">
                          <a:solidFill>
                            <a:srgbClr val="1F1F1F"/>
                          </a:solidFill>
                          <a:latin typeface="游ゴシック Medium"/>
                        </a:rPr>
                        <a:t>generic_cad_extractor.py は外部CADライブラリに依存せず、Python標準の文字列処理だけで解析</a:t>
                      </a:r>
                    </a:p>
                  </a:txBody>
                  <a:tcPr anchor="ctr" marL="64000" marR="64000" marT="24000" marB="24000">
                    <a:solidFill>
                      <a:srgbClr val="F5F7FA"/>
                    </a:solidFill>
                  </a:tcPr>
                </a:tc>
              </a:tr>
              <a:tr h="500000">
                <a:tc>
                  <a:txBody>
                    <a:bodyPr/>
                    <a:lstStyle/>
                    <a:p>
                      <a:pPr>
                        <a:lnSpc>
                          <a:spcPct val="100000"/>
                        </a:lnSpc>
                      </a:pPr>
                      <a:r>
                        <a:rPr sz="1100" b="0">
                          <a:solidFill>
                            <a:srgbClr val="1F1F1F"/>
                          </a:solidFill>
                          <a:latin typeface="游ゴシック Medium"/>
                        </a:rPr>
                        <a:t>5</a:t>
                      </a:r>
                    </a:p>
                  </a:txBody>
                  <a:tcPr anchor="ctr" marL="64000" marR="64000" marT="24000" marB="24000">
                    <a:solidFill>
                      <a:srgbClr val="FFFFFF"/>
                    </a:solidFill>
                  </a:tcPr>
                </a:tc>
                <a:tc>
                  <a:txBody>
                    <a:bodyPr/>
                    <a:lstStyle/>
                    <a:p>
                      <a:pPr>
                        <a:lnSpc>
                          <a:spcPct val="100000"/>
                        </a:lnSpc>
                      </a:pPr>
                      <a:r>
                        <a:rPr sz="1100" b="0">
                          <a:solidFill>
                            <a:srgbClr val="1F1F1F"/>
                          </a:solidFill>
                          <a:latin typeface="游ゴシック Medium"/>
                        </a:rPr>
                        <a:t>ICAD→STEP/DXF変換の、その瞬間だけICADが要る</a:t>
                      </a:r>
                    </a:p>
                  </a:txBody>
                  <a:tcPr anchor="ctr" marL="64000" marR="64000" marT="24000" marB="24000">
                    <a:solidFill>
                      <a:srgbClr val="FFFFFF"/>
                    </a:solidFill>
                  </a:tcPr>
                </a:tc>
                <a:tc>
                  <a:txBody>
                    <a:bodyPr/>
                    <a:lstStyle/>
                    <a:p>
                      <a:pPr>
                        <a:lnSpc>
                          <a:spcPct val="100000"/>
                        </a:lnSpc>
                      </a:pPr>
                      <a:r>
                        <a:rPr sz="1100" b="0">
                          <a:solidFill>
                            <a:srgbClr val="1F1F1F"/>
                          </a:solidFill>
                          <a:latin typeface="游ゴシック Medium"/>
                        </a:rPr>
                        <a:t>IcadCadFormatExporter（SXNET SxModel.export）</a:t>
                      </a:r>
                    </a:p>
                  </a:txBody>
                  <a:tcPr anchor="ctr" marL="64000" marR="64000" marT="24000" marB="24000">
                    <a:solidFill>
                      <a:srgbClr val="FFFFFF"/>
                    </a:solidFill>
                  </a:tcPr>
                </a:tc>
              </a:tr>
            </a:tbl>
          </a:graphicData>
        </a:graphic>
      </p:graphicFrame>
      <p:sp>
        <p:nvSpPr>
          <p:cNvPr id="5" name="TextBox 4"/>
          <p:cNvSpPr txBox="1"/>
          <p:nvPr/>
        </p:nvSpPr>
        <p:spPr>
          <a:xfrm>
            <a:off x="457200" y="4424228"/>
            <a:ext cx="11352213" cy="400000"/>
          </a:xfrm>
          <a:prstGeom prst="rect">
            <a:avLst/>
          </a:prstGeom>
          <a:noFill/>
        </p:spPr>
        <p:txBody>
          <a:bodyPr wrap="square">
            <a:spAutoFit/>
          </a:bodyPr>
          <a:lstStyle/>
          <a:p>
            <a:r>
              <a:rPr sz="1000">
                <a:solidFill>
                  <a:srgbClr val="5A5A5A"/>
                </a:solidFill>
                <a:latin typeface="游ゴシック Medium"/>
              </a:rPr>
              <a:t>したがって「ナレッジシステム専用のICADライセンス」が技術的に必須という結論にはなりません。必要なのは「抽出処理を実行している間、そのICADセッションを占有できること」だけです。</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1F1F1F"/>
                </a:solidFill>
                <a:latin typeface="游ゴシック Medium"/>
              </a:rPr>
              <a:t>販売を前提にした場合の選択肢</a:t>
            </a:r>
          </a:p>
        </p:txBody>
      </p:sp>
      <p:sp>
        <p:nvSpPr>
          <p:cNvPr id="3" name="Text Placeholder 2"/>
          <p:cNvSpPr>
            <a:spLocks noGrp="1"/>
          </p:cNvSpPr>
          <p:nvPr>
            <p:ph type="body" idx="17" sz="quarter"/>
          </p:nvPr>
        </p:nvSpPr>
        <p:spPr/>
        <p:txBody>
          <a:bodyPr/>
          <a:lstStyle/>
          <a:p>
            <a:r>
              <a:rPr sz="1100" b="1">
                <a:solidFill>
                  <a:srgbClr val="005BAC"/>
                </a:solidFill>
                <a:latin typeface="游ゴシック Medium"/>
              </a:rPr>
              <a:t>「顧客が150万円のICADを追加購入する」を前提にした製品は売りにくい。前提を分けて設計する</a:t>
            </a:r>
          </a:p>
        </p:txBody>
      </p:sp>
      <p:graphicFrame>
        <p:nvGraphicFramePr>
          <p:cNvPr id="4" name="Table 3"/>
          <p:cNvGraphicFramePr>
            <a:graphicFrameLocks noGrp="1"/>
          </p:cNvGraphicFramePr>
          <p:nvPr/>
        </p:nvGraphicFramePr>
        <p:xfrm>
          <a:off x="457200" y="1364228"/>
          <a:ext cx="11352210" cy="4562919"/>
        </p:xfrm>
        <a:graphic>
          <a:graphicData uri="http://schemas.openxmlformats.org/drawingml/2006/table">
            <a:tbl>
              <a:tblPr firstRow="1" bandRow="1">
                <a:tableStyleId>{5C22544A-7EE6-4342-B048-85BDC9FD1C3A}</a:tableStyleId>
              </a:tblPr>
              <a:tblGrid>
                <a:gridCol w="1579438"/>
                <a:gridCol w="3948595"/>
                <a:gridCol w="1480723"/>
                <a:gridCol w="1382008"/>
                <a:gridCol w="2961446"/>
              </a:tblGrid>
              <a:tr h="760486">
                <a:tc>
                  <a:txBody>
                    <a:bodyPr/>
                    <a:lstStyle/>
                    <a:p>
                      <a:r>
                        <a:rPr sz="1050" b="1">
                          <a:solidFill>
                            <a:srgbClr val="FFFFFF"/>
                          </a:solidFill>
                          <a:latin typeface="游ゴシック Medium"/>
                        </a:rPr>
                        <a:t>案</a:t>
                      </a:r>
                    </a:p>
                  </a:txBody>
                  <a:tcPr anchor="ctr" marL="64000" marR="64000">
                    <a:solidFill>
                      <a:srgbClr val="005BAC"/>
                    </a:solidFill>
                  </a:tcPr>
                </a:tc>
                <a:tc>
                  <a:txBody>
                    <a:bodyPr/>
                    <a:lstStyle/>
                    <a:p>
                      <a:r>
                        <a:rPr sz="1050" b="1">
                          <a:solidFill>
                            <a:srgbClr val="FFFFFF"/>
                          </a:solidFill>
                          <a:latin typeface="游ゴシック Medium"/>
                        </a:rPr>
                        <a:t>内容</a:t>
                      </a:r>
                    </a:p>
                  </a:txBody>
                  <a:tcPr anchor="ctr" marL="64000" marR="64000">
                    <a:solidFill>
                      <a:srgbClr val="005BAC"/>
                    </a:solidFill>
                  </a:tcPr>
                </a:tc>
                <a:tc>
                  <a:txBody>
                    <a:bodyPr/>
                    <a:lstStyle/>
                    <a:p>
                      <a:r>
                        <a:rPr sz="1050" b="1">
                          <a:solidFill>
                            <a:srgbClr val="FFFFFF"/>
                          </a:solidFill>
                          <a:latin typeface="游ゴシック Medium"/>
                        </a:rPr>
                        <a:t>顧客の追加ICAD費用</a:t>
                      </a:r>
                    </a:p>
                  </a:txBody>
                  <a:tcPr anchor="ctr" marL="64000" marR="64000">
                    <a:solidFill>
                      <a:srgbClr val="005BAC"/>
                    </a:solidFill>
                  </a:tcPr>
                </a:tc>
                <a:tc>
                  <a:txBody>
                    <a:bodyPr/>
                    <a:lstStyle/>
                    <a:p>
                      <a:r>
                        <a:rPr sz="1050" b="1">
                          <a:solidFill>
                            <a:srgbClr val="FFFFFF"/>
                          </a:solidFill>
                          <a:latin typeface="游ゴシック Medium"/>
                        </a:rPr>
                        <a:t>取得できる情報</a:t>
                      </a:r>
                    </a:p>
                  </a:txBody>
                  <a:tcPr anchor="ctr" marL="64000" marR="64000">
                    <a:solidFill>
                      <a:srgbClr val="005BAC"/>
                    </a:solidFill>
                  </a:tcPr>
                </a:tc>
                <a:tc>
                  <a:txBody>
                    <a:bodyPr/>
                    <a:lstStyle/>
                    <a:p>
                      <a:r>
                        <a:rPr sz="1050" b="1">
                          <a:solidFill>
                            <a:srgbClr val="FFFFFF"/>
                          </a:solidFill>
                          <a:latin typeface="游ゴシック Medium"/>
                        </a:rPr>
                        <a:t>主な制約</a:t>
                      </a:r>
                    </a:p>
                  </a:txBody>
                  <a:tcPr anchor="ctr" marL="64000" marR="64000">
                    <a:solidFill>
                      <a:srgbClr val="005BAC"/>
                    </a:solidFill>
                  </a:tcPr>
                </a:tc>
              </a:tr>
              <a:tr h="760486">
                <a:tc>
                  <a:txBody>
                    <a:bodyPr/>
                    <a:lstStyle/>
                    <a:p>
                      <a:pPr>
                        <a:lnSpc>
                          <a:spcPct val="100000"/>
                        </a:lnSpc>
                      </a:pPr>
                      <a:r>
                        <a:rPr sz="1000" b="1">
                          <a:solidFill>
                            <a:srgbClr val="1F1F1F"/>
                          </a:solidFill>
                          <a:latin typeface="游ゴシック Medium"/>
                        </a:rPr>
                        <a:t>① 既存ライセンス兼用</a:t>
                      </a:r>
                    </a:p>
                    <a:p>
                      <a:pPr>
                        <a:lnSpc>
                          <a:spcPct val="100000"/>
                        </a:lnSpc>
                      </a:pPr>
                      <a:r>
                        <a:rPr sz="1000" b="1">
                          <a:solidFill>
                            <a:srgbClr val="1F1F1F"/>
                          </a:solidFill>
                          <a:latin typeface="游ゴシック Medium"/>
                        </a:rPr>
                        <a:t>（夜間バッチ）</a:t>
                      </a:r>
                    </a:p>
                  </a:txBody>
                  <a:tcPr anchor="ctr" marL="64000" marR="64000" marT="24000" marB="24000">
                    <a:solidFill>
                      <a:srgbClr val="EAF2FA"/>
                    </a:solidFill>
                  </a:tcPr>
                </a:tc>
                <a:tc>
                  <a:txBody>
                    <a:bodyPr/>
                    <a:lstStyle/>
                    <a:p>
                      <a:pPr>
                        <a:lnSpc>
                          <a:spcPct val="100000"/>
                        </a:lnSpc>
                      </a:pPr>
                      <a:r>
                        <a:rPr sz="1000" b="0">
                          <a:solidFill>
                            <a:srgbClr val="1F1F1F"/>
                          </a:solidFill>
                          <a:latin typeface="游ゴシック Medium"/>
                        </a:rPr>
                        <a:t>顧客が既に持つICADを、設計者が使わない夜間・休日に抽出用として使う</a:t>
                      </a:r>
                    </a:p>
                  </a:txBody>
                  <a:tcPr anchor="ctr" marL="64000" marR="64000" marT="24000" marB="24000">
                    <a:solidFill>
                      <a:srgbClr val="EAF2FA"/>
                    </a:solidFill>
                  </a:tcPr>
                </a:tc>
                <a:tc>
                  <a:txBody>
                    <a:bodyPr/>
                    <a:lstStyle/>
                    <a:p>
                      <a:pPr>
                        <a:lnSpc>
                          <a:spcPct val="100000"/>
                        </a:lnSpc>
                      </a:pPr>
                      <a:r>
                        <a:rPr sz="1000" b="0">
                          <a:solidFill>
                            <a:srgbClr val="1F1F1F"/>
                          </a:solidFill>
                          <a:latin typeface="游ゴシック Medium"/>
                        </a:rPr>
                        <a:t>0円</a:t>
                      </a:r>
                    </a:p>
                  </a:txBody>
                  <a:tcPr anchor="ctr" marL="64000" marR="64000" marT="24000" marB="24000">
                    <a:solidFill>
                      <a:srgbClr val="EAF2FA"/>
                    </a:solidFill>
                  </a:tcPr>
                </a:tc>
                <a:tc>
                  <a:txBody>
                    <a:bodyPr/>
                    <a:lstStyle/>
                    <a:p>
                      <a:pPr>
                        <a:lnSpc>
                          <a:spcPct val="100000"/>
                        </a:lnSpc>
                      </a:pPr>
                      <a:r>
                        <a:rPr sz="1000" b="0">
                          <a:solidFill>
                            <a:srgbClr val="1F1F1F"/>
                          </a:solidFill>
                          <a:latin typeface="游ゴシック Medium"/>
                        </a:rPr>
                        <a:t>最大</a:t>
                      </a:r>
                    </a:p>
                  </a:txBody>
                  <a:tcPr anchor="ctr" marL="64000" marR="64000" marT="24000" marB="24000">
                    <a:solidFill>
                      <a:srgbClr val="EAF2FA"/>
                    </a:solidFill>
                  </a:tcPr>
                </a:tc>
                <a:tc>
                  <a:txBody>
                    <a:bodyPr/>
                    <a:lstStyle/>
                    <a:p>
                      <a:pPr>
                        <a:lnSpc>
                          <a:spcPct val="100000"/>
                        </a:lnSpc>
                      </a:pPr>
                      <a:r>
                        <a:rPr sz="1000" b="0">
                          <a:solidFill>
                            <a:srgbClr val="1F1F1F"/>
                          </a:solidFill>
                          <a:latin typeface="游ゴシック Medium"/>
                        </a:rPr>
                        <a:t>ライセンス条項の可否確認が必須。抽出中はその座席を占有</a:t>
                      </a:r>
                    </a:p>
                  </a:txBody>
                  <a:tcPr anchor="ctr" marL="64000" marR="64000" marT="24000" marB="24000">
                    <a:solidFill>
                      <a:srgbClr val="EAF2FA"/>
                    </a:solidFill>
                  </a:tcPr>
                </a:tc>
              </a:tr>
              <a:tr h="760486">
                <a:tc>
                  <a:txBody>
                    <a:bodyPr/>
                    <a:lstStyle/>
                    <a:p>
                      <a:pPr>
                        <a:lnSpc>
                          <a:spcPct val="100000"/>
                        </a:lnSpc>
                      </a:pPr>
                      <a:r>
                        <a:rPr sz="1000" b="0">
                          <a:solidFill>
                            <a:srgbClr val="1F1F1F"/>
                          </a:solidFill>
                          <a:latin typeface="游ゴシック Medium"/>
                        </a:rPr>
                        <a:t>② 既存ライセンス兼用</a:t>
                      </a:r>
                    </a:p>
                    <a:p>
                      <a:pPr>
                        <a:lnSpc>
                          <a:spcPct val="100000"/>
                        </a:lnSpc>
                      </a:pPr>
                      <a:r>
                        <a:rPr sz="1000" b="0">
                          <a:solidFill>
                            <a:srgbClr val="1F1F1F"/>
                          </a:solidFill>
                          <a:latin typeface="游ゴシック Medium"/>
                        </a:rPr>
                        <a:t>（専用PC1台）</a:t>
                      </a:r>
                    </a:p>
                  </a:txBody>
                  <a:tcPr anchor="ctr" marL="64000" marR="64000" marT="24000" marB="24000">
                    <a:solidFill>
                      <a:srgbClr val="F5F7FA"/>
                    </a:solidFill>
                  </a:tcPr>
                </a:tc>
                <a:tc>
                  <a:txBody>
                    <a:bodyPr/>
                    <a:lstStyle/>
                    <a:p>
                      <a:pPr>
                        <a:lnSpc>
                          <a:spcPct val="100000"/>
                        </a:lnSpc>
                      </a:pPr>
                      <a:r>
                        <a:rPr sz="1000" b="0">
                          <a:solidFill>
                            <a:srgbClr val="1F1F1F"/>
                          </a:solidFill>
                          <a:latin typeface="游ゴシック Medium"/>
                        </a:rPr>
                        <a:t>顧客の空き座席1本を抽出専用PCへ割り当て</a:t>
                      </a:r>
                    </a:p>
                  </a:txBody>
                  <a:tcPr anchor="ctr" marL="64000" marR="64000" marT="24000" marB="24000">
                    <a:solidFill>
                      <a:srgbClr val="F5F7FA"/>
                    </a:solidFill>
                  </a:tcPr>
                </a:tc>
                <a:tc>
                  <a:txBody>
                    <a:bodyPr/>
                    <a:lstStyle/>
                    <a:p>
                      <a:pPr>
                        <a:lnSpc>
                          <a:spcPct val="100000"/>
                        </a:lnSpc>
                      </a:pPr>
                      <a:r>
                        <a:rPr sz="1000" b="0">
                          <a:solidFill>
                            <a:srgbClr val="1F1F1F"/>
                          </a:solidFill>
                          <a:latin typeface="游ゴシック Medium"/>
                        </a:rPr>
                        <a:t>0円</a:t>
                      </a:r>
                    </a:p>
                    <a:p>
                      <a:pPr>
                        <a:lnSpc>
                          <a:spcPct val="100000"/>
                        </a:lnSpc>
                      </a:pPr>
                      <a:r>
                        <a:rPr sz="1000" b="0">
                          <a:solidFill>
                            <a:srgbClr val="1F1F1F"/>
                          </a:solidFill>
                          <a:latin typeface="游ゴシック Medium"/>
                        </a:rPr>
                        <a:t>（座席の振替）</a:t>
                      </a:r>
                    </a:p>
                  </a:txBody>
                  <a:tcPr anchor="ctr" marL="64000" marR="64000" marT="24000" marB="24000">
                    <a:solidFill>
                      <a:srgbClr val="F5F7FA"/>
                    </a:solidFill>
                  </a:tcPr>
                </a:tc>
                <a:tc>
                  <a:txBody>
                    <a:bodyPr/>
                    <a:lstStyle/>
                    <a:p>
                      <a:pPr>
                        <a:lnSpc>
                          <a:spcPct val="100000"/>
                        </a:lnSpc>
                      </a:pPr>
                      <a:r>
                        <a:rPr sz="1000" b="0">
                          <a:solidFill>
                            <a:srgbClr val="1F1F1F"/>
                          </a:solidFill>
                          <a:latin typeface="游ゴシック Medium"/>
                        </a:rPr>
                        <a:t>最大</a:t>
                      </a:r>
                    </a:p>
                  </a:txBody>
                  <a:tcPr anchor="ctr" marL="64000" marR="64000" marT="24000" marB="24000">
                    <a:solidFill>
                      <a:srgbClr val="F5F7FA"/>
                    </a:solidFill>
                  </a:tcPr>
                </a:tc>
                <a:tc>
                  <a:txBody>
                    <a:bodyPr/>
                    <a:lstStyle/>
                    <a:p>
                      <a:pPr>
                        <a:lnSpc>
                          <a:spcPct val="100000"/>
                        </a:lnSpc>
                      </a:pPr>
                      <a:r>
                        <a:rPr sz="1000" b="0">
                          <a:solidFill>
                            <a:srgbClr val="1F1F1F"/>
                          </a:solidFill>
                          <a:latin typeface="游ゴシック Medium"/>
                        </a:rPr>
                        <a:t>空き座席がある顧客に限る</a:t>
                      </a:r>
                    </a:p>
                  </a:txBody>
                  <a:tcPr anchor="ctr" marL="64000" marR="64000" marT="24000" marB="24000">
                    <a:solidFill>
                      <a:srgbClr val="F5F7FA"/>
                    </a:solidFill>
                  </a:tcPr>
                </a:tc>
              </a:tr>
              <a:tr h="760486">
                <a:tc>
                  <a:txBody>
                    <a:bodyPr/>
                    <a:lstStyle/>
                    <a:p>
                      <a:pPr>
                        <a:lnSpc>
                          <a:spcPct val="100000"/>
                        </a:lnSpc>
                      </a:pPr>
                      <a:r>
                        <a:rPr sz="1000" b="0">
                          <a:solidFill>
                            <a:srgbClr val="1F1F1F"/>
                          </a:solidFill>
                          <a:latin typeface="游ゴシック Medium"/>
                        </a:rPr>
                        <a:t>③ ICAD不要構成</a:t>
                      </a:r>
                    </a:p>
                  </a:txBody>
                  <a:tcPr anchor="ctr" marL="64000" marR="64000" marT="24000" marB="24000">
                    <a:solidFill>
                      <a:srgbClr val="FFFFFF"/>
                    </a:solidFill>
                  </a:tcPr>
                </a:tc>
                <a:tc>
                  <a:txBody>
                    <a:bodyPr/>
                    <a:lstStyle/>
                    <a:p>
                      <a:pPr>
                        <a:lnSpc>
                          <a:spcPct val="100000"/>
                        </a:lnSpc>
                      </a:pPr>
                      <a:r>
                        <a:rPr sz="1000" b="0">
                          <a:solidFill>
                            <a:srgbClr val="1F1F1F"/>
                          </a:solidFill>
                          <a:latin typeface="游ゴシック Medium"/>
                        </a:rPr>
                        <a:t>顧客側でSTEP/DXF/PDFへ出力済みのデータを取り込む（経路B・Cのみ）</a:t>
                      </a:r>
                    </a:p>
                  </a:txBody>
                  <a:tcPr anchor="ctr" marL="64000" marR="64000" marT="24000" marB="24000">
                    <a:solidFill>
                      <a:srgbClr val="FFFFFF"/>
                    </a:solidFill>
                  </a:tcPr>
                </a:tc>
                <a:tc>
                  <a:txBody>
                    <a:bodyPr/>
                    <a:lstStyle/>
                    <a:p>
                      <a:pPr>
                        <a:lnSpc>
                          <a:spcPct val="100000"/>
                        </a:lnSpc>
                      </a:pPr>
                      <a:r>
                        <a:rPr sz="1000" b="0">
                          <a:solidFill>
                            <a:srgbClr val="1F1F1F"/>
                          </a:solidFill>
                          <a:latin typeface="游ゴシック Medium"/>
                        </a:rPr>
                        <a:t>0円</a:t>
                      </a:r>
                    </a:p>
                  </a:txBody>
                  <a:tcPr anchor="ctr" marL="64000" marR="64000" marT="24000" marB="24000">
                    <a:solidFill>
                      <a:srgbClr val="FFFFFF"/>
                    </a:solidFill>
                  </a:tcPr>
                </a:tc>
                <a:tc>
                  <a:txBody>
                    <a:bodyPr/>
                    <a:lstStyle/>
                    <a:p>
                      <a:pPr>
                        <a:lnSpc>
                          <a:spcPct val="100000"/>
                        </a:lnSpc>
                      </a:pPr>
                      <a:r>
                        <a:rPr sz="1000" b="0">
                          <a:solidFill>
                            <a:srgbClr val="1F1F1F"/>
                          </a:solidFill>
                          <a:latin typeface="游ゴシック Medium"/>
                        </a:rPr>
                        <a:t>中</a:t>
                      </a:r>
                    </a:p>
                    <a:p>
                      <a:pPr>
                        <a:lnSpc>
                          <a:spcPct val="100000"/>
                        </a:lnSpc>
                      </a:pPr>
                      <a:r>
                        <a:rPr sz="1000" b="0">
                          <a:solidFill>
                            <a:srgbClr val="1F1F1F"/>
                          </a:solidFill>
                          <a:latin typeface="游ゴシック Medium"/>
                        </a:rPr>
                        <a:t>（材質・質量は落ちる）</a:t>
                      </a:r>
                    </a:p>
                  </a:txBody>
                  <a:tcPr anchor="ctr" marL="64000" marR="64000" marT="24000" marB="24000">
                    <a:solidFill>
                      <a:srgbClr val="FFFFFF"/>
                    </a:solidFill>
                  </a:tcPr>
                </a:tc>
                <a:tc>
                  <a:txBody>
                    <a:bodyPr/>
                    <a:lstStyle/>
                    <a:p>
                      <a:pPr>
                        <a:lnSpc>
                          <a:spcPct val="100000"/>
                        </a:lnSpc>
                      </a:pPr>
                      <a:r>
                        <a:rPr sz="1000" b="0">
                          <a:solidFill>
                            <a:srgbClr val="1F1F1F"/>
                          </a:solidFill>
                          <a:latin typeface="游ゴシック Medium"/>
                        </a:rPr>
                        <a:t>顧客に出力運用を依頼する必要あり</a:t>
                      </a:r>
                    </a:p>
                  </a:txBody>
                  <a:tcPr anchor="ctr" marL="64000" marR="64000" marT="24000" marB="24000">
                    <a:solidFill>
                      <a:srgbClr val="FFFFFF"/>
                    </a:solidFill>
                  </a:tcPr>
                </a:tc>
              </a:tr>
              <a:tr h="760486">
                <a:tc>
                  <a:txBody>
                    <a:bodyPr/>
                    <a:lstStyle/>
                    <a:p>
                      <a:pPr>
                        <a:lnSpc>
                          <a:spcPct val="100000"/>
                        </a:lnSpc>
                      </a:pPr>
                      <a:r>
                        <a:rPr sz="1000" b="1">
                          <a:solidFill>
                            <a:srgbClr val="1F1F1F"/>
                          </a:solidFill>
                          <a:latin typeface="游ゴシック Medium"/>
                        </a:rPr>
                        <a:t>④ 変換代行</a:t>
                      </a:r>
                    </a:p>
                  </a:txBody>
                  <a:tcPr anchor="ctr" marL="64000" marR="64000" marT="24000" marB="24000">
                    <a:solidFill>
                      <a:srgbClr val="EAF2FA"/>
                    </a:solidFill>
                  </a:tcPr>
                </a:tc>
                <a:tc>
                  <a:txBody>
                    <a:bodyPr/>
                    <a:lstStyle/>
                    <a:p>
                      <a:pPr>
                        <a:lnSpc>
                          <a:spcPct val="100000"/>
                        </a:lnSpc>
                      </a:pPr>
                      <a:r>
                        <a:rPr sz="1000" b="0">
                          <a:solidFill>
                            <a:srgbClr val="1F1F1F"/>
                          </a:solidFill>
                          <a:latin typeface="游ゴシック Medium"/>
                        </a:rPr>
                        <a:t>当社の余剰ライセンス＋当社サーバーでICAD→STEP/中間データ変換を代行</a:t>
                      </a:r>
                    </a:p>
                  </a:txBody>
                  <a:tcPr anchor="ctr" marL="64000" marR="64000" marT="24000" marB="24000">
                    <a:solidFill>
                      <a:srgbClr val="EAF2FA"/>
                    </a:solidFill>
                  </a:tcPr>
                </a:tc>
                <a:tc>
                  <a:txBody>
                    <a:bodyPr/>
                    <a:lstStyle/>
                    <a:p>
                      <a:pPr>
                        <a:lnSpc>
                          <a:spcPct val="100000"/>
                        </a:lnSpc>
                      </a:pPr>
                      <a:r>
                        <a:rPr sz="1000" b="0">
                          <a:solidFill>
                            <a:srgbClr val="1F1F1F"/>
                          </a:solidFill>
                          <a:latin typeface="游ゴシック Medium"/>
                        </a:rPr>
                        <a:t>0円</a:t>
                      </a:r>
                    </a:p>
                  </a:txBody>
                  <a:tcPr anchor="ctr" marL="64000" marR="64000" marT="24000" marB="24000">
                    <a:solidFill>
                      <a:srgbClr val="EAF2FA"/>
                    </a:solidFill>
                  </a:tcPr>
                </a:tc>
                <a:tc>
                  <a:txBody>
                    <a:bodyPr/>
                    <a:lstStyle/>
                    <a:p>
                      <a:pPr>
                        <a:lnSpc>
                          <a:spcPct val="100000"/>
                        </a:lnSpc>
                      </a:pPr>
                      <a:r>
                        <a:rPr sz="1000" b="0">
                          <a:solidFill>
                            <a:srgbClr val="1F1F1F"/>
                          </a:solidFill>
                          <a:latin typeface="游ゴシック Medium"/>
                        </a:rPr>
                        <a:t>最大〜中</a:t>
                      </a:r>
                    </a:p>
                  </a:txBody>
                  <a:tcPr anchor="ctr" marL="64000" marR="64000" marT="24000" marB="24000">
                    <a:solidFill>
                      <a:srgbClr val="EAF2FA"/>
                    </a:solidFill>
                  </a:tcPr>
                </a:tc>
                <a:tc>
                  <a:txBody>
                    <a:bodyPr/>
                    <a:lstStyle/>
                    <a:p>
                      <a:pPr>
                        <a:lnSpc>
                          <a:spcPct val="100000"/>
                        </a:lnSpc>
                      </a:pPr>
                      <a:r>
                        <a:rPr sz="1000" b="0">
                          <a:solidFill>
                            <a:srgbClr val="1F1F1F"/>
                          </a:solidFill>
                          <a:latin typeface="游ゴシック Medium"/>
                        </a:rPr>
                        <a:t>図面データを社外（当社）へ出すことへの顧客同意が必要</a:t>
                      </a:r>
                    </a:p>
                  </a:txBody>
                  <a:tcPr anchor="ctr" marL="64000" marR="64000" marT="24000" marB="24000">
                    <a:solidFill>
                      <a:srgbClr val="EAF2FA"/>
                    </a:solidFill>
                  </a:tcPr>
                </a:tc>
              </a:tr>
              <a:tr h="760489">
                <a:tc>
                  <a:txBody>
                    <a:bodyPr/>
                    <a:lstStyle/>
                    <a:p>
                      <a:pPr>
                        <a:lnSpc>
                          <a:spcPct val="100000"/>
                        </a:lnSpc>
                      </a:pPr>
                      <a:r>
                        <a:rPr sz="1000" b="0">
                          <a:solidFill>
                            <a:srgbClr val="1F1F1F"/>
                          </a:solidFill>
                          <a:latin typeface="游ゴシック Medium"/>
                        </a:rPr>
                        <a:t>⑤ 専用ライセンス</a:t>
                      </a:r>
                    </a:p>
                    <a:p>
                      <a:pPr>
                        <a:lnSpc>
                          <a:spcPct val="100000"/>
                        </a:lnSpc>
                      </a:pPr>
                      <a:r>
                        <a:rPr sz="1000" b="0">
                          <a:solidFill>
                            <a:srgbClr val="1F1F1F"/>
                          </a:solidFill>
                          <a:latin typeface="游ゴシック Medium"/>
                        </a:rPr>
                        <a:t>新規購入</a:t>
                      </a:r>
                    </a:p>
                  </a:txBody>
                  <a:tcPr anchor="ctr" marL="64000" marR="64000" marT="24000" marB="24000">
                    <a:solidFill>
                      <a:srgbClr val="FFFFFF"/>
                    </a:solidFill>
                  </a:tcPr>
                </a:tc>
                <a:tc>
                  <a:txBody>
                    <a:bodyPr/>
                    <a:lstStyle/>
                    <a:p>
                      <a:pPr>
                        <a:lnSpc>
                          <a:spcPct val="100000"/>
                        </a:lnSpc>
                      </a:pPr>
                      <a:r>
                        <a:rPr sz="1000" b="0">
                          <a:solidFill>
                            <a:srgbClr val="1F1F1F"/>
                          </a:solidFill>
                          <a:latin typeface="游ゴシック Medium"/>
                        </a:rPr>
                        <a:t>顧客がナレッジシステム用にICADを1本追加</a:t>
                      </a:r>
                    </a:p>
                  </a:txBody>
                  <a:tcPr anchor="ctr" marL="64000" marR="64000" marT="24000" marB="24000">
                    <a:solidFill>
                      <a:srgbClr val="FFFFFF"/>
                    </a:solidFill>
                  </a:tcPr>
                </a:tc>
                <a:tc>
                  <a:txBody>
                    <a:bodyPr/>
                    <a:lstStyle/>
                    <a:p>
                      <a:pPr>
                        <a:lnSpc>
                          <a:spcPct val="100000"/>
                        </a:lnSpc>
                      </a:pPr>
                      <a:r>
                        <a:rPr sz="1000" b="0">
                          <a:solidFill>
                            <a:srgbClr val="1F1F1F"/>
                          </a:solidFill>
                          <a:latin typeface="游ゴシック Medium"/>
                        </a:rPr>
                        <a:t>約150万円</a:t>
                      </a:r>
                    </a:p>
                  </a:txBody>
                  <a:tcPr anchor="ctr" marL="64000" marR="64000" marT="24000" marB="24000">
                    <a:solidFill>
                      <a:srgbClr val="FFFFFF"/>
                    </a:solidFill>
                  </a:tcPr>
                </a:tc>
                <a:tc>
                  <a:txBody>
                    <a:bodyPr/>
                    <a:lstStyle/>
                    <a:p>
                      <a:pPr>
                        <a:lnSpc>
                          <a:spcPct val="100000"/>
                        </a:lnSpc>
                      </a:pPr>
                      <a:r>
                        <a:rPr sz="1000" b="0">
                          <a:solidFill>
                            <a:srgbClr val="1F1F1F"/>
                          </a:solidFill>
                          <a:latin typeface="游ゴシック Medium"/>
                        </a:rPr>
                        <a:t>最大</a:t>
                      </a:r>
                    </a:p>
                  </a:txBody>
                  <a:tcPr anchor="ctr" marL="64000" marR="64000" marT="24000" marB="24000">
                    <a:solidFill>
                      <a:srgbClr val="FFFFFF"/>
                    </a:solidFill>
                  </a:tcPr>
                </a:tc>
                <a:tc>
                  <a:txBody>
                    <a:bodyPr/>
                    <a:lstStyle/>
                    <a:p>
                      <a:pPr>
                        <a:lnSpc>
                          <a:spcPct val="100000"/>
                        </a:lnSpc>
                      </a:pPr>
                      <a:r>
                        <a:rPr sz="1000" b="0">
                          <a:solidFill>
                            <a:srgbClr val="1F1F1F"/>
                          </a:solidFill>
                          <a:latin typeface="游ゴシック Medium"/>
                        </a:rPr>
                        <a:t>費用が導入判断のボトルネックになりやすい</a:t>
                      </a:r>
                    </a:p>
                  </a:txBody>
                  <a:tcPr anchor="ctr" marL="64000" marR="64000" marT="24000" marB="24000">
                    <a:solidFill>
                      <a:srgbClr val="FFFFFF"/>
                    </a:solidFill>
                  </a:tcPr>
                </a:tc>
              </a:tr>
            </a:tbl>
          </a:graphicData>
        </a:graphic>
      </p:graphicFrame>
      <p:sp>
        <p:nvSpPr>
          <p:cNvPr id="5" name="TextBox 4"/>
          <p:cNvSpPr txBox="1"/>
          <p:nvPr/>
        </p:nvSpPr>
        <p:spPr>
          <a:xfrm>
            <a:off x="457200" y="5987147"/>
            <a:ext cx="11352213" cy="400000"/>
          </a:xfrm>
          <a:prstGeom prst="rect">
            <a:avLst/>
          </a:prstGeom>
          <a:noFill/>
        </p:spPr>
        <p:txBody>
          <a:bodyPr wrap="square">
            <a:spAutoFit/>
          </a:bodyPr>
          <a:lstStyle/>
          <a:p>
            <a:r>
              <a:rPr sz="1000">
                <a:solidFill>
                  <a:srgbClr val="5A5A5A"/>
                </a:solidFill>
                <a:latin typeface="游ゴシック Medium"/>
              </a:rPr>
              <a:t>当社には余剰ライセンスがあるため、④は当社が担げる現実的な選択肢です。また対象顧客はICADユーザーであることが多く、①②が成立する可能性も相応にあると見ています。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1F1F1F"/>
                </a:solidFill>
                <a:latin typeface="游ゴシック Medium"/>
              </a:rPr>
              <a:t>要確認事項とご相談</a:t>
            </a:r>
          </a:p>
        </p:txBody>
      </p:sp>
      <p:sp>
        <p:nvSpPr>
          <p:cNvPr id="3" name="Text Placeholder 2"/>
          <p:cNvSpPr>
            <a:spLocks noGrp="1"/>
          </p:cNvSpPr>
          <p:nvPr>
            <p:ph type="body" idx="17" sz="quarter"/>
          </p:nvPr>
        </p:nvSpPr>
        <p:spPr/>
        <p:txBody>
          <a:bodyPr/>
          <a:lstStyle/>
          <a:p>
            <a:r>
              <a:rPr sz="1100" b="1">
                <a:solidFill>
                  <a:srgbClr val="005BAC"/>
                </a:solidFill>
                <a:latin typeface="游ゴシック Medium"/>
              </a:rPr>
              <a:t>ライセンス条項の問題であり、当社もまだ確認できていません。断定していません</a:t>
            </a:r>
          </a:p>
        </p:txBody>
      </p:sp>
      <p:sp>
        <p:nvSpPr>
          <p:cNvPr id="4" name="Content Placeholder 3"/>
          <p:cNvSpPr>
            <a:spLocks noGrp="1"/>
          </p:cNvSpPr>
          <p:nvPr>
            <p:ph idx="18" sz="quarter"/>
          </p:nvPr>
        </p:nvSpPr>
        <p:spPr/>
        <p:txBody>
          <a:bodyPr wrap="square"/>
          <a:lstStyle/>
          <a:p>
            <a:pPr>
              <a:spcAft>
                <a:spcPts val="600"/>
              </a:spcAft>
            </a:pPr>
            <a:r>
              <a:rPr sz="1500" b="1">
                <a:solidFill>
                  <a:srgbClr val="1F1F1F"/>
                </a:solidFill>
                <a:latin typeface="游ゴシック Medium"/>
              </a:rPr>
              <a:t>当社 → 富士通／ICAD販売元 へ確認する事項</a:t>
            </a:r>
          </a:p>
          <a:p>
            <a:pPr lvl="1">
              <a:spcAft>
                <a:spcPts val="300"/>
              </a:spcAft>
            </a:pPr>
            <a:r>
              <a:rPr sz="1300" b="0">
                <a:solidFill>
                  <a:srgbClr val="5A5A5A"/>
                </a:solidFill>
                <a:latin typeface="游ゴシック Medium"/>
              </a:rPr>
              <a:t>設計者向けライセンスを、無人のバッチ処理（サーバー常駐・自動起動）で使うことが許諾範囲か</a:t>
            </a:r>
          </a:p>
          <a:p>
            <a:pPr lvl="1">
              <a:spcAft>
                <a:spcPts val="300"/>
              </a:spcAft>
            </a:pPr>
            <a:r>
              <a:rPr sz="1300" b="0">
                <a:solidFill>
                  <a:srgbClr val="5A5A5A"/>
                </a:solidFill>
                <a:latin typeface="游ゴシック Medium"/>
              </a:rPr>
              <a:t>ライセンス形態（ノードロック／フローティング等）と、フローティングの場合の借用可否</a:t>
            </a:r>
          </a:p>
          <a:p>
            <a:pPr lvl="1">
              <a:spcAft>
                <a:spcPts val="300"/>
              </a:spcAft>
            </a:pPr>
            <a:r>
              <a:rPr sz="1300" b="0">
                <a:solidFill>
                  <a:srgbClr val="5A5A5A"/>
                </a:solidFill>
                <a:latin typeface="游ゴシック Medium"/>
              </a:rPr>
              <a:t>「同時使用」の定義。1座席を夜間だけ別PCで使う運用が可能か</a:t>
            </a:r>
          </a:p>
          <a:p>
            <a:pPr lvl="1">
              <a:spcAft>
                <a:spcPts val="300"/>
              </a:spcAft>
            </a:pPr>
            <a:r>
              <a:rPr sz="1300" b="0">
                <a:solidFill>
                  <a:srgbClr val="5A5A5A"/>
                </a:solidFill>
                <a:latin typeface="游ゴシック Medium"/>
              </a:rPr>
              <a:t>当社の余剰ライセンスを使って他社図面の変換を受託することが許諾範囲か（案④の前提）</a:t>
            </a:r>
          </a:p>
          <a:p>
            <a:pPr>
              <a:spcAft>
                <a:spcPts val="600"/>
              </a:spcAft>
            </a:pPr>
            <a:r>
              <a:rPr sz="1500" b="1">
                <a:solidFill>
                  <a:srgbClr val="1F1F1F"/>
                </a:solidFill>
                <a:latin typeface="游ゴシック Medium"/>
              </a:rPr>
              <a:t>創屋様へのご相談</a:t>
            </a:r>
          </a:p>
          <a:p>
            <a:pPr lvl="1">
              <a:spcAft>
                <a:spcPts val="300"/>
              </a:spcAft>
            </a:pPr>
            <a:r>
              <a:rPr sz="1300" b="0">
                <a:solidFill>
                  <a:srgbClr val="5A5A5A"/>
                </a:solidFill>
                <a:latin typeface="游ゴシック Medium"/>
              </a:rPr>
              <a:t>製品としては「ICADがある構成」と「ICADがない構成」の両方を成立させる方向で進めたいと考えています</a:t>
            </a:r>
          </a:p>
          <a:p>
            <a:pPr lvl="1">
              <a:spcAft>
                <a:spcPts val="300"/>
              </a:spcAft>
            </a:pPr>
            <a:r>
              <a:rPr sz="1300" b="0">
                <a:solidFill>
                  <a:srgbClr val="5A5A5A"/>
                </a:solidFill>
                <a:latin typeface="游ゴシック Medium"/>
              </a:rPr>
              <a:t>経路Aで取れる情報と経路B・Cで取れる情報の差を仕様として明示し、顧客環境に応じて構成を選べる形です</a:t>
            </a:r>
          </a:p>
          <a:p>
            <a:pPr lvl="1">
              <a:spcAft>
                <a:spcPts val="300"/>
              </a:spcAft>
            </a:pPr>
            <a:r>
              <a:rPr sz="1300" b="0">
                <a:solidFill>
                  <a:srgbClr val="5A5A5A"/>
                </a:solidFill>
                <a:latin typeface="游ゴシック Medium"/>
              </a:rPr>
              <a:t>この方針で問題ないか、ご意見をいただきたいところです</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1F1F1F"/>
                </a:solidFill>
                <a:latin typeface="游ゴシック Medium"/>
              </a:rPr>
              <a:t>創屋様への確認事項</a:t>
            </a:r>
          </a:p>
        </p:txBody>
      </p:sp>
      <p:sp>
        <p:nvSpPr>
          <p:cNvPr id="3" name="Text Placeholder 2"/>
          <p:cNvSpPr>
            <a:spLocks noGrp="1"/>
          </p:cNvSpPr>
          <p:nvPr>
            <p:ph type="body" idx="17" sz="quarter"/>
          </p:nvPr>
        </p:nvSpPr>
        <p:spPr/>
        <p:txBody>
          <a:bodyPr/>
          <a:lstStyle/>
          <a:p>
            <a:r>
              <a:rPr sz="1100" b="1">
                <a:solidFill>
                  <a:srgbClr val="005BAC"/>
                </a:solidFill>
                <a:latin typeface="游ゴシック Medium"/>
              </a:rPr>
              <a:t>本資料に対するご回答をいただきたい項目</a:t>
            </a:r>
          </a:p>
        </p:txBody>
      </p:sp>
      <p:graphicFrame>
        <p:nvGraphicFramePr>
          <p:cNvPr id="4" name="Table 3"/>
          <p:cNvGraphicFramePr>
            <a:graphicFrameLocks noGrp="1"/>
          </p:cNvGraphicFramePr>
          <p:nvPr/>
        </p:nvGraphicFramePr>
        <p:xfrm>
          <a:off x="457200" y="1364228"/>
          <a:ext cx="11352212" cy="4562919"/>
        </p:xfrm>
        <a:graphic>
          <a:graphicData uri="http://schemas.openxmlformats.org/drawingml/2006/table">
            <a:tbl>
              <a:tblPr firstRow="1" bandRow="1">
                <a:tableStyleId>{5C22544A-7EE6-4342-B048-85BDC9FD1C3A}</a:tableStyleId>
              </a:tblPr>
              <a:tblGrid>
                <a:gridCol w="1216308"/>
                <a:gridCol w="10135904"/>
              </a:tblGrid>
              <a:tr h="414810">
                <a:tc>
                  <a:txBody>
                    <a:bodyPr/>
                    <a:lstStyle/>
                    <a:p>
                      <a:r>
                        <a:rPr sz="1100" b="1">
                          <a:solidFill>
                            <a:srgbClr val="FFFFFF"/>
                          </a:solidFill>
                          <a:latin typeface="游ゴシック Medium"/>
                        </a:rPr>
                        <a:t>区分</a:t>
                      </a:r>
                    </a:p>
                  </a:txBody>
                  <a:tcPr anchor="ctr" marL="64000" marR="64000">
                    <a:solidFill>
                      <a:srgbClr val="005BAC"/>
                    </a:solidFill>
                  </a:tcPr>
                </a:tc>
                <a:tc>
                  <a:txBody>
                    <a:bodyPr/>
                    <a:lstStyle/>
                    <a:p>
                      <a:r>
                        <a:rPr sz="1100" b="1">
                          <a:solidFill>
                            <a:srgbClr val="FFFFFF"/>
                          </a:solidFill>
                          <a:latin typeface="游ゴシック Medium"/>
                        </a:rPr>
                        <a:t>確認事項</a:t>
                      </a:r>
                    </a:p>
                  </a:txBody>
                  <a:tcPr anchor="ctr" marL="64000" marR="64000">
                    <a:solidFill>
                      <a:srgbClr val="005BAC"/>
                    </a:solidFill>
                  </a:tcPr>
                </a:tc>
              </a:tr>
              <a:tr h="414810">
                <a:tc>
                  <a:txBody>
                    <a:bodyPr/>
                    <a:lstStyle/>
                    <a:p>
                      <a:pPr>
                        <a:lnSpc>
                          <a:spcPct val="100000"/>
                        </a:lnSpc>
                      </a:pPr>
                      <a:r>
                        <a:rPr sz="1100" b="0">
                          <a:solidFill>
                            <a:srgbClr val="1F1F1F"/>
                          </a:solidFill>
                          <a:latin typeface="游ゴシック Medium"/>
                        </a:rPr>
                        <a:t>抽出</a:t>
                      </a:r>
                    </a:p>
                  </a:txBody>
                  <a:tcPr anchor="ctr" marL="64000" marR="64000" marT="24000" marB="24000">
                    <a:solidFill>
                      <a:srgbClr val="FFFFFF"/>
                    </a:solidFill>
                  </a:tcPr>
                </a:tc>
                <a:tc>
                  <a:txBody>
                    <a:bodyPr/>
                    <a:lstStyle/>
                    <a:p>
                      <a:pPr>
                        <a:lnSpc>
                          <a:spcPct val="100000"/>
                        </a:lnSpc>
                      </a:pPr>
                      <a:r>
                        <a:rPr sz="1100" b="0">
                          <a:solidFill>
                            <a:srgbClr val="1F1F1F"/>
                          </a:solidFill>
                          <a:latin typeface="游ゴシック Medium"/>
                        </a:rPr>
                        <a:t>1. STEPから製品名・部品名・部品階層・材質・質量特性を取得できるライブラリ／APIを、創屋様側でお持ちか</a:t>
                      </a:r>
                    </a:p>
                  </a:txBody>
                  <a:tcPr anchor="ctr" marL="64000" marR="64000" marT="24000" marB="24000">
                    <a:solidFill>
                      <a:srgbClr val="FFFFFF"/>
                    </a:solidFill>
                  </a:tcPr>
                </a:tc>
              </a:tr>
              <a:tr h="414810">
                <a:tc>
                  <a:txBody>
                    <a:bodyPr/>
                    <a:lstStyle/>
                    <a:p>
                      <a:pPr>
                        <a:lnSpc>
                          <a:spcPct val="100000"/>
                        </a:lnSpc>
                      </a:pPr>
                      <a:r>
                        <a:rPr sz="1100" b="0">
                          <a:solidFill>
                            <a:srgbClr val="1F1F1F"/>
                          </a:solidFill>
                          <a:latin typeface="游ゴシック Medium"/>
                        </a:rPr>
                        <a:t>抽出</a:t>
                      </a:r>
                    </a:p>
                  </a:txBody>
                  <a:tcPr anchor="ctr" marL="64000" marR="64000" marT="24000" marB="24000">
                    <a:solidFill>
                      <a:srgbClr val="F5F7FA"/>
                    </a:solidFill>
                  </a:tcPr>
                </a:tc>
                <a:tc>
                  <a:txBody>
                    <a:bodyPr/>
                    <a:lstStyle/>
                    <a:p>
                      <a:pPr>
                        <a:lnSpc>
                          <a:spcPct val="100000"/>
                        </a:lnSpc>
                      </a:pPr>
                      <a:r>
                        <a:rPr sz="1100" b="0">
                          <a:solidFill>
                            <a:srgbClr val="1F1F1F"/>
                          </a:solidFill>
                          <a:latin typeface="游ゴシック Medium"/>
                        </a:rPr>
                        <a:t>2. DXFからTEXT/MTEXT、ブロック属性、レイヤー名、寸法、公差、溶接記号を分離取得できるか</a:t>
                      </a:r>
                    </a:p>
                  </a:txBody>
                  <a:tcPr anchor="ctr" marL="64000" marR="64000" marT="24000" marB="24000">
                    <a:solidFill>
                      <a:srgbClr val="F5F7FA"/>
                    </a:solidFill>
                  </a:tcPr>
                </a:tc>
              </a:tr>
              <a:tr h="414810">
                <a:tc>
                  <a:txBody>
                    <a:bodyPr/>
                    <a:lstStyle/>
                    <a:p>
                      <a:pPr>
                        <a:lnSpc>
                          <a:spcPct val="100000"/>
                        </a:lnSpc>
                      </a:pPr>
                      <a:r>
                        <a:rPr sz="1100" b="0">
                          <a:solidFill>
                            <a:srgbClr val="1F1F1F"/>
                          </a:solidFill>
                          <a:latin typeface="游ゴシック Medium"/>
                        </a:rPr>
                        <a:t>抽出</a:t>
                      </a:r>
                    </a:p>
                  </a:txBody>
                  <a:tcPr anchor="ctr" marL="64000" marR="64000" marT="24000" marB="24000">
                    <a:solidFill>
                      <a:srgbClr val="FFFFFF"/>
                    </a:solidFill>
                  </a:tcPr>
                </a:tc>
                <a:tc>
                  <a:txBody>
                    <a:bodyPr/>
                    <a:lstStyle/>
                    <a:p>
                      <a:pPr>
                        <a:lnSpc>
                          <a:spcPct val="100000"/>
                        </a:lnSpc>
                      </a:pPr>
                      <a:r>
                        <a:rPr sz="1100" b="0">
                          <a:solidFill>
                            <a:srgbClr val="1F1F1F"/>
                          </a:solidFill>
                          <a:latin typeface="游ゴシック Medium"/>
                        </a:rPr>
                        <a:t>3. 図枠のラベルと値が別要素の場合、座標ペアリングまで抽出器側で行うか、候補としてこちらへ渡すか</a:t>
                      </a:r>
                    </a:p>
                  </a:txBody>
                  <a:tcPr anchor="ctr" marL="64000" marR="64000" marT="24000" marB="24000">
                    <a:solidFill>
                      <a:srgbClr val="FFFFFF"/>
                    </a:solidFill>
                  </a:tcPr>
                </a:tc>
              </a:tr>
              <a:tr h="414810">
                <a:tc>
                  <a:txBody>
                    <a:bodyPr/>
                    <a:lstStyle/>
                    <a:p>
                      <a:pPr>
                        <a:lnSpc>
                          <a:spcPct val="100000"/>
                        </a:lnSpc>
                      </a:pPr>
                      <a:r>
                        <a:rPr sz="1100" b="0">
                          <a:solidFill>
                            <a:srgbClr val="1F1F1F"/>
                          </a:solidFill>
                          <a:latin typeface="游ゴシック Medium"/>
                        </a:rPr>
                        <a:t>抽出</a:t>
                      </a:r>
                    </a:p>
                  </a:txBody>
                  <a:tcPr anchor="ctr" marL="64000" marR="64000" marT="24000" marB="24000">
                    <a:solidFill>
                      <a:srgbClr val="F5F7FA"/>
                    </a:solidFill>
                  </a:tcPr>
                </a:tc>
                <a:tc>
                  <a:txBody>
                    <a:bodyPr/>
                    <a:lstStyle/>
                    <a:p>
                      <a:pPr>
                        <a:lnSpc>
                          <a:spcPct val="100000"/>
                        </a:lnSpc>
                      </a:pPr>
                      <a:r>
                        <a:rPr sz="1100" b="0">
                          <a:solidFill>
                            <a:srgbClr val="1F1F1F"/>
                          </a:solidFill>
                          <a:latin typeface="游ゴシック Medium"/>
                        </a:rPr>
                        <a:t>4. 材質が色・レイヤー・ブロック名にしか入っていないケースがあるか</a:t>
                      </a:r>
                    </a:p>
                  </a:txBody>
                  <a:tcPr anchor="ctr" marL="64000" marR="64000" marT="24000" marB="24000">
                    <a:solidFill>
                      <a:srgbClr val="F5F7FA"/>
                    </a:solidFill>
                  </a:tcPr>
                </a:tc>
              </a:tr>
              <a:tr h="414810">
                <a:tc>
                  <a:txBody>
                    <a:bodyPr/>
                    <a:lstStyle/>
                    <a:p>
                      <a:pPr>
                        <a:lnSpc>
                          <a:spcPct val="100000"/>
                        </a:lnSpc>
                      </a:pPr>
                      <a:r>
                        <a:rPr sz="1100" b="0">
                          <a:solidFill>
                            <a:srgbClr val="1F1F1F"/>
                          </a:solidFill>
                          <a:latin typeface="游ゴシック Medium"/>
                        </a:rPr>
                        <a:t>抽出</a:t>
                      </a:r>
                    </a:p>
                  </a:txBody>
                  <a:tcPr anchor="ctr" marL="64000" marR="64000" marT="24000" marB="24000">
                    <a:solidFill>
                      <a:srgbClr val="FFFFFF"/>
                    </a:solidFill>
                  </a:tcPr>
                </a:tc>
                <a:tc>
                  <a:txBody>
                    <a:bodyPr/>
                    <a:lstStyle/>
                    <a:p>
                      <a:pPr>
                        <a:lnSpc>
                          <a:spcPct val="100000"/>
                        </a:lnSpc>
                      </a:pPr>
                      <a:r>
                        <a:rPr sz="1100" b="0">
                          <a:solidFill>
                            <a:srgbClr val="1F1F1F"/>
                          </a:solidFill>
                          <a:latin typeface="游ゴシック Medium"/>
                        </a:rPr>
                        <a:t>5. 抽出値に推測を混ぜず、取得元フィールドと信頼度を添えて返せるか</a:t>
                      </a:r>
                    </a:p>
                  </a:txBody>
                  <a:tcPr anchor="ctr" marL="64000" marR="64000" marT="24000" marB="24000">
                    <a:solidFill>
                      <a:srgbClr val="FFFFFF"/>
                    </a:solidFill>
                  </a:tcPr>
                </a:tc>
              </a:tr>
              <a:tr h="414810">
                <a:tc>
                  <a:txBody>
                    <a:bodyPr/>
                    <a:lstStyle/>
                    <a:p>
                      <a:pPr>
                        <a:lnSpc>
                          <a:spcPct val="100000"/>
                        </a:lnSpc>
                      </a:pPr>
                      <a:r>
                        <a:rPr sz="1100" b="0">
                          <a:solidFill>
                            <a:srgbClr val="1F1F1F"/>
                          </a:solidFill>
                          <a:latin typeface="游ゴシック Medium"/>
                        </a:rPr>
                        <a:t>受け渡し</a:t>
                      </a:r>
                    </a:p>
                  </a:txBody>
                  <a:tcPr anchor="ctr" marL="64000" marR="64000" marT="24000" marB="24000">
                    <a:solidFill>
                      <a:srgbClr val="F5F7FA"/>
                    </a:solidFill>
                  </a:tcPr>
                </a:tc>
                <a:tc>
                  <a:txBody>
                    <a:bodyPr/>
                    <a:lstStyle/>
                    <a:p>
                      <a:pPr>
                        <a:lnSpc>
                          <a:spcPct val="100000"/>
                        </a:lnSpc>
                      </a:pPr>
                      <a:r>
                        <a:rPr sz="1100" b="0">
                          <a:solidFill>
                            <a:srgbClr val="1F1F1F"/>
                          </a:solidFill>
                          <a:latin typeface="游ゴシック Medium"/>
                        </a:rPr>
                        <a:t>6. Django非依存の純Pythonパッケージ形での納品でよいか。それとも現状のDjango app のまま渡す方が組み込みやすいか</a:t>
                      </a:r>
                    </a:p>
                  </a:txBody>
                  <a:tcPr anchor="ctr" marL="64000" marR="64000" marT="24000" marB="24000">
                    <a:solidFill>
                      <a:srgbClr val="F5F7FA"/>
                    </a:solidFill>
                  </a:tcPr>
                </a:tc>
              </a:tr>
              <a:tr h="414810">
                <a:tc>
                  <a:txBody>
                    <a:bodyPr/>
                    <a:lstStyle/>
                    <a:p>
                      <a:pPr>
                        <a:lnSpc>
                          <a:spcPct val="100000"/>
                        </a:lnSpc>
                      </a:pPr>
                      <a:r>
                        <a:rPr sz="1100" b="0">
                          <a:solidFill>
                            <a:srgbClr val="1F1F1F"/>
                          </a:solidFill>
                          <a:latin typeface="游ゴシック Medium"/>
                        </a:rPr>
                        <a:t>受け渡し</a:t>
                      </a:r>
                    </a:p>
                  </a:txBody>
                  <a:tcPr anchor="ctr" marL="64000" marR="64000" marT="24000" marB="24000">
                    <a:solidFill>
                      <a:srgbClr val="FFFFFF"/>
                    </a:solidFill>
                  </a:tcPr>
                </a:tc>
                <a:tc>
                  <a:txBody>
                    <a:bodyPr/>
                    <a:lstStyle/>
                    <a:p>
                      <a:pPr>
                        <a:lnSpc>
                          <a:spcPct val="100000"/>
                        </a:lnSpc>
                      </a:pPr>
                      <a:r>
                        <a:rPr sz="1100" b="0">
                          <a:solidFill>
                            <a:srgbClr val="1F1F1F"/>
                          </a:solidFill>
                          <a:latin typeface="游ゴシック Medium"/>
                        </a:rPr>
                        <a:t>7. 一緒に欲しい成果物（サンプル入出力JSON、単体テスト、辞書初期データ、スキーマ定義）の優先順位</a:t>
                      </a:r>
                    </a:p>
                  </a:txBody>
                  <a:tcPr anchor="ctr" marL="64000" marR="64000" marT="24000" marB="24000">
                    <a:solidFill>
                      <a:srgbClr val="FFFFFF"/>
                    </a:solidFill>
                  </a:tcPr>
                </a:tc>
              </a:tr>
              <a:tr h="414810">
                <a:tc>
                  <a:txBody>
                    <a:bodyPr/>
                    <a:lstStyle/>
                    <a:p>
                      <a:pPr>
                        <a:lnSpc>
                          <a:spcPct val="100000"/>
                        </a:lnSpc>
                      </a:pPr>
                      <a:r>
                        <a:rPr sz="1100" b="0">
                          <a:solidFill>
                            <a:srgbClr val="1F1F1F"/>
                          </a:solidFill>
                          <a:latin typeface="游ゴシック Medium"/>
                        </a:rPr>
                        <a:t>受け渡し</a:t>
                      </a:r>
                    </a:p>
                  </a:txBody>
                  <a:tcPr anchor="ctr" marL="64000" marR="64000" marT="24000" marB="24000">
                    <a:solidFill>
                      <a:srgbClr val="F5F7FA"/>
                    </a:solidFill>
                  </a:tcPr>
                </a:tc>
                <a:tc>
                  <a:txBody>
                    <a:bodyPr/>
                    <a:lstStyle/>
                    <a:p>
                      <a:pPr>
                        <a:lnSpc>
                          <a:spcPct val="100000"/>
                        </a:lnSpc>
                      </a:pPr>
                      <a:r>
                        <a:rPr sz="1100" b="0">
                          <a:solidFill>
                            <a:srgbClr val="1F1F1F"/>
                          </a:solidFill>
                          <a:latin typeface="游ゴシック Medium"/>
                        </a:rPr>
                        <a:t>8. タグ・属性の書き込み先API（drawing_attributes / product_attributes / part_attributes 相当）の確定仕様</a:t>
                      </a:r>
                    </a:p>
                  </a:txBody>
                  <a:tcPr anchor="ctr" marL="64000" marR="64000" marT="24000" marB="24000">
                    <a:solidFill>
                      <a:srgbClr val="F5F7FA"/>
                    </a:solidFill>
                  </a:tcPr>
                </a:tc>
              </a:tr>
              <a:tr h="414810">
                <a:tc>
                  <a:txBody>
                    <a:bodyPr/>
                    <a:lstStyle/>
                    <a:p>
                      <a:pPr>
                        <a:lnSpc>
                          <a:spcPct val="100000"/>
                        </a:lnSpc>
                      </a:pPr>
                      <a:r>
                        <a:rPr sz="1100" b="0">
                          <a:solidFill>
                            <a:srgbClr val="1F1F1F"/>
                          </a:solidFill>
                          <a:latin typeface="游ゴシック Medium"/>
                        </a:rPr>
                        <a:t>構成</a:t>
                      </a:r>
                    </a:p>
                  </a:txBody>
                  <a:tcPr anchor="ctr" marL="64000" marR="64000" marT="24000" marB="24000">
                    <a:solidFill>
                      <a:srgbClr val="FFFFFF"/>
                    </a:solidFill>
                  </a:tcPr>
                </a:tc>
                <a:tc>
                  <a:txBody>
                    <a:bodyPr/>
                    <a:lstStyle/>
                    <a:p>
                      <a:pPr>
                        <a:lnSpc>
                          <a:spcPct val="100000"/>
                        </a:lnSpc>
                      </a:pPr>
                      <a:r>
                        <a:rPr sz="1100" b="0">
                          <a:solidFill>
                            <a:srgbClr val="1F1F1F"/>
                          </a:solidFill>
                          <a:latin typeface="游ゴシック Medium"/>
                        </a:rPr>
                        <a:t>9. 「ICADあり／なし両構成」の方針で問題ないか</a:t>
                      </a:r>
                    </a:p>
                  </a:txBody>
                  <a:tcPr anchor="ctr" marL="64000" marR="64000" marT="24000" marB="24000">
                    <a:solidFill>
                      <a:srgbClr val="FFFFFF"/>
                    </a:solidFill>
                  </a:tcPr>
                </a:tc>
              </a:tr>
              <a:tr h="414819">
                <a:tc>
                  <a:txBody>
                    <a:bodyPr/>
                    <a:lstStyle/>
                    <a:p>
                      <a:pPr>
                        <a:lnSpc>
                          <a:spcPct val="100000"/>
                        </a:lnSpc>
                      </a:pPr>
                      <a:r>
                        <a:rPr sz="1100" b="0">
                          <a:solidFill>
                            <a:srgbClr val="1F1F1F"/>
                          </a:solidFill>
                          <a:latin typeface="游ゴシック Medium"/>
                        </a:rPr>
                        <a:t>構成</a:t>
                      </a:r>
                    </a:p>
                  </a:txBody>
                  <a:tcPr anchor="ctr" marL="64000" marR="64000" marT="24000" marB="24000">
                    <a:solidFill>
                      <a:srgbClr val="F5F7FA"/>
                    </a:solidFill>
                  </a:tcPr>
                </a:tc>
                <a:tc>
                  <a:txBody>
                    <a:bodyPr/>
                    <a:lstStyle/>
                    <a:p>
                      <a:pPr>
                        <a:lnSpc>
                          <a:spcPct val="100000"/>
                        </a:lnSpc>
                      </a:pPr>
                      <a:r>
                        <a:rPr sz="1100" b="0">
                          <a:solidFill>
                            <a:srgbClr val="1F1F1F"/>
                          </a:solidFill>
                          <a:latin typeface="游ゴシック Medium"/>
                        </a:rPr>
                        <a:t>10. ICAD→STEP変換を創屋様側で実装される場合、当社のC# convert-cad 実装をそのまま使うか、作り直すか</a:t>
                      </a:r>
                    </a:p>
                  </a:txBody>
                  <a:tcPr anchor="ctr" marL="64000" marR="64000" marT="24000" marB="24000">
                    <a:solidFill>
                      <a:srgbClr val="F5F7FA"/>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しずく">
  <a:themeElements>
    <a:clrScheme name="しずく">
      <a:dk1>
        <a:sysClr val="windowText" lastClr="000000"/>
      </a:dk1>
      <a:lt1>
        <a:sysClr val="window" lastClr="FFFFFF"/>
      </a:lt1>
      <a:dk2>
        <a:srgbClr val="355071"/>
      </a:dk2>
      <a:lt2>
        <a:srgbClr val="AABED7"/>
      </a:lt2>
      <a:accent1>
        <a:srgbClr val="2FA3EE"/>
      </a:accent1>
      <a:accent2>
        <a:srgbClr val="4BCAAD"/>
      </a:accent2>
      <a:accent3>
        <a:srgbClr val="86C157"/>
      </a:accent3>
      <a:accent4>
        <a:srgbClr val="D99C3F"/>
      </a:accent4>
      <a:accent5>
        <a:srgbClr val="CE6633"/>
      </a:accent5>
      <a:accent6>
        <a:srgbClr val="A35DD1"/>
      </a:accent6>
      <a:hlink>
        <a:srgbClr val="56BCFE"/>
      </a:hlink>
      <a:folHlink>
        <a:srgbClr val="97C5E3"/>
      </a:folHlink>
    </a:clrScheme>
    <a:fontScheme name="テンプレート1">
      <a:majorFont>
        <a:latin typeface="Segoe UI"/>
        <a:ea typeface="游ゴシック Medium"/>
        <a:cs typeface=""/>
      </a:majorFont>
      <a:minorFont>
        <a:latin typeface="Segoe UI"/>
        <a:ea typeface="游ゴシック Medium"/>
        <a:cs typeface=""/>
      </a:minorFont>
    </a:fontScheme>
    <a:fmtScheme name="しずく">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130000"/>
                <a:satMod val="150000"/>
                <a:lumMod val="112000"/>
              </a:schemeClr>
            </a:gs>
            <a:gs pos="100000">
              <a:schemeClr val="phClr">
                <a:shade val="92000"/>
                <a:satMod val="140000"/>
                <a:lumMod val="110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A633B6A3-9E7F-4C10-9C98-2517A3134361}"/>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TM04033925[[fn=しずく]]</Template>
  <TotalTime>310</TotalTime>
  <Words>238</Words>
  <Application>Microsoft Office PowerPoint</Application>
  <PresentationFormat>ワイド画面</PresentationFormat>
  <Paragraphs>40</Paragraphs>
  <Slides>8</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8</vt:i4>
      </vt:variant>
    </vt:vector>
  </HeadingPairs>
  <TitlesOfParts>
    <vt:vector size="14" baseType="lpstr">
      <vt:lpstr>Meiryo UI</vt:lpstr>
      <vt:lpstr>游ゴシック</vt:lpstr>
      <vt:lpstr>Arial</vt:lpstr>
      <vt:lpstr>Segoe UI</vt:lpstr>
      <vt:lpstr>Wingdings</vt:lpstr>
      <vt:lpstr>しずく</vt:lpstr>
      <vt:lpstr>PowerPointフォーマット</vt:lpstr>
      <vt:lpstr>フォントについて１</vt:lpstr>
      <vt:lpstr>フォントについて２</vt:lpstr>
      <vt:lpstr>章タイトル Chapter Title</vt:lpstr>
      <vt:lpstr>要約と結言を含むフォーマット</vt:lpstr>
      <vt:lpstr>２つの比較ページサンプル</vt:lpstr>
      <vt:lpstr>画像説明ページのサンプル</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薮内裕之</dc:creator>
  <cp:lastModifiedBy>薮内裕之</cp:lastModifiedBy>
  <cp:revision>5</cp:revision>
  <dcterms:created xsi:type="dcterms:W3CDTF">2026-05-12T02:31:46Z</dcterms:created>
  <dcterms:modified xsi:type="dcterms:W3CDTF">2026-05-25T07:53:42Z</dcterms:modified>
</cp:coreProperties>
</file>