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b646ccbca74dcc" /><Relationship Type="http://schemas.openxmlformats.org/officeDocument/2006/relationships/extended-properties" Target="/docProps/app.xml" Id="R4c30c9d72aa0402d" /><Relationship Type="http://schemas.openxmlformats.org/officeDocument/2006/relationships/officeDocument" Target="/ppt/presentation.xml" Id="R11bc151d9b864828" /></Relationships>
</file>

<file path=ppt/presentation.xml><?xml version="1.0" encoding="utf-8"?>
<p:presentation xmlns:p="http://schemas.openxmlformats.org/presentationml/2006/main">
  <p:sldMasterIdLst>
    <p:sldMasterId xmlns:r="http://schemas.openxmlformats.org/officeDocument/2006/relationships" id="2147483648" r:id="R94d53af2c9bf41c9"/>
  </p:sldMasterIdLst>
  <p:notesMasterIdLst>
    <p:notesMasterId xmlns:r="http://schemas.openxmlformats.org/officeDocument/2006/relationships" r:id="R92713f4749a64126"/>
  </p:notesMasterIdLst>
  <p:sldIdLst>
    <p:sldId xmlns:r="http://schemas.openxmlformats.org/officeDocument/2006/relationships" id="256" r:id="Rfb47578cc7584de0"/>
    <p:sldId xmlns:r="http://schemas.openxmlformats.org/officeDocument/2006/relationships" id="257" r:id="R164124c8f8dc44b6"/>
    <p:sldId xmlns:r="http://schemas.openxmlformats.org/officeDocument/2006/relationships" id="258" r:id="R2ef45176cb5f4d34"/>
    <p:sldId xmlns:r="http://schemas.openxmlformats.org/officeDocument/2006/relationships" id="259" r:id="R74e15cd4bac7429d"/>
    <p:sldId xmlns:r="http://schemas.openxmlformats.org/officeDocument/2006/relationships" id="260" r:id="Rd68f7f75132f409f"/>
    <p:sldId xmlns:r="http://schemas.openxmlformats.org/officeDocument/2006/relationships" id="261" r:id="R0d8cdeda12fc4030"/>
    <p:sldId xmlns:r="http://schemas.openxmlformats.org/officeDocument/2006/relationships" id="262" r:id="R0d18e939de2c4a49"/>
    <p:sldId xmlns:r="http://schemas.openxmlformats.org/officeDocument/2006/relationships" id="263" r:id="Re755e9bda35041bb"/>
    <p:sldId xmlns:r="http://schemas.openxmlformats.org/officeDocument/2006/relationships" id="264" r:id="Re538b96c90184f0c"/>
    <p:sldId xmlns:r="http://schemas.openxmlformats.org/officeDocument/2006/relationships" id="265" r:id="Rba83cf0ecf6a4c3b"/>
    <p:sldId xmlns:r="http://schemas.openxmlformats.org/officeDocument/2006/relationships" id="266" r:id="Rdb8477c932c142f3"/>
    <p:sldId xmlns:r="http://schemas.openxmlformats.org/officeDocument/2006/relationships" id="267" r:id="Rbe7c0bd370384e34"/>
    <p:sldId xmlns:r="http://schemas.openxmlformats.org/officeDocument/2006/relationships" id="268" r:id="R93cd4dfe8e1d41dd"/>
    <p:sldId xmlns:r="http://schemas.openxmlformats.org/officeDocument/2006/relationships" id="269" r:id="R5587e98c74394727"/>
    <p:sldId xmlns:r="http://schemas.openxmlformats.org/officeDocument/2006/relationships" id="270" r:id="R7c6c20be727a4677"/>
    <p:sldId xmlns:r="http://schemas.openxmlformats.org/officeDocument/2006/relationships" id="271" r:id="Rbc8d21a481c74b5d"/>
    <p:sldId xmlns:r="http://schemas.openxmlformats.org/officeDocument/2006/relationships" id="272" r:id="Rbab3a725fb93463a"/>
    <p:sldId xmlns:r="http://schemas.openxmlformats.org/officeDocument/2006/relationships" id="273" r:id="Rd46d3756f56a41c3"/>
    <p:sldId xmlns:r="http://schemas.openxmlformats.org/officeDocument/2006/relationships" id="274" r:id="R9f04d38a8abb4b69"/>
    <p:sldId xmlns:r="http://schemas.openxmlformats.org/officeDocument/2006/relationships" id="275" r:id="R630ecabb29e54c53"/>
    <p:sldId xmlns:r="http://schemas.openxmlformats.org/officeDocument/2006/relationships" id="276" r:id="Rf0dd9bf41fac4f55"/>
    <p:sldId xmlns:r="http://schemas.openxmlformats.org/officeDocument/2006/relationships" id="277" r:id="R3e36430fae2c431e"/>
    <p:sldId xmlns:r="http://schemas.openxmlformats.org/officeDocument/2006/relationships" id="278" r:id="R5d2e77ba56af456b"/>
    <p:sldId xmlns:r="http://schemas.openxmlformats.org/officeDocument/2006/relationships" id="279" r:id="Rb414ee2791904a16"/>
    <p:sldId xmlns:r="http://schemas.openxmlformats.org/officeDocument/2006/relationships" id="280" r:id="Rf1d47b62c64f4e27"/>
    <p:sldId xmlns:r="http://schemas.openxmlformats.org/officeDocument/2006/relationships" id="281" r:id="R83b21db99da949f9"/>
    <p:sldId xmlns:r="http://schemas.openxmlformats.org/officeDocument/2006/relationships" id="282" r:id="Ra1b7874a8605434d"/>
    <p:sldId xmlns:r="http://schemas.openxmlformats.org/officeDocument/2006/relationships" id="283" r:id="R1667a4252a484593"/>
    <p:sldId xmlns:r="http://schemas.openxmlformats.org/officeDocument/2006/relationships" id="284" r:id="Rd48b9d354c3342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5eb39dfa7064d7c" /><Relationship Type="http://schemas.openxmlformats.org/officeDocument/2006/relationships/slideMaster" Target="/ppt/slideMasters/slideMaster1.xml" Id="R94d53af2c9bf41c9" /><Relationship Type="http://schemas.openxmlformats.org/officeDocument/2006/relationships/notesMaster" Target="/ppt/notesMasters/notesMaster1.xml" Id="R92713f4749a64126" /><Relationship Type="http://schemas.openxmlformats.org/officeDocument/2006/relationships/presProps" Target="/ppt/presProps.xml" Id="R16e68c20f6144077" /><Relationship Type="http://schemas.openxmlformats.org/officeDocument/2006/relationships/viewProps" Target="/ppt/viewProps.xml" Id="Rf1aee9f455ac43ba" /><Relationship Type="http://schemas.openxmlformats.org/officeDocument/2006/relationships/tableStyles" Target="/ppt/tableStyles.xml" Id="Rc0c6d76918b04f70" /><Relationship Type="http://schemas.openxmlformats.org/officeDocument/2006/relationships/slide" Target="/ppt/slides/slide1.xml" Id="Rfb47578cc7584de0" /><Relationship Type="http://schemas.openxmlformats.org/officeDocument/2006/relationships/slide" Target="/ppt/slides/slide2.xml" Id="R164124c8f8dc44b6" /><Relationship Type="http://schemas.openxmlformats.org/officeDocument/2006/relationships/slide" Target="/ppt/slides/slide3.xml" Id="R2ef45176cb5f4d34" /><Relationship Type="http://schemas.openxmlformats.org/officeDocument/2006/relationships/slide" Target="/ppt/slides/slide4.xml" Id="R74e15cd4bac7429d" /><Relationship Type="http://schemas.openxmlformats.org/officeDocument/2006/relationships/slide" Target="/ppt/slides/slide5.xml" Id="Rd68f7f75132f409f" /><Relationship Type="http://schemas.openxmlformats.org/officeDocument/2006/relationships/slide" Target="/ppt/slides/slide6.xml" Id="R0d8cdeda12fc4030" /><Relationship Type="http://schemas.openxmlformats.org/officeDocument/2006/relationships/slide" Target="/ppt/slides/slide7.xml" Id="R0d18e939de2c4a49" /><Relationship Type="http://schemas.openxmlformats.org/officeDocument/2006/relationships/slide" Target="/ppt/slides/slide8.xml" Id="Re755e9bda35041bb" /><Relationship Type="http://schemas.openxmlformats.org/officeDocument/2006/relationships/slide" Target="/ppt/slides/slide9.xml" Id="Re538b96c90184f0c" /><Relationship Type="http://schemas.openxmlformats.org/officeDocument/2006/relationships/slide" Target="/ppt/slides/slide10.xml" Id="Rba83cf0ecf6a4c3b" /><Relationship Type="http://schemas.openxmlformats.org/officeDocument/2006/relationships/slide" Target="/ppt/slides/slide11.xml" Id="Rdb8477c932c142f3" /><Relationship Type="http://schemas.openxmlformats.org/officeDocument/2006/relationships/slide" Target="/ppt/slides/slide12.xml" Id="Rbe7c0bd370384e34" /><Relationship Type="http://schemas.openxmlformats.org/officeDocument/2006/relationships/slide" Target="/ppt/slides/slide13.xml" Id="R93cd4dfe8e1d41dd" /><Relationship Type="http://schemas.openxmlformats.org/officeDocument/2006/relationships/slide" Target="/ppt/slides/slide14.xml" Id="R5587e98c74394727" /><Relationship Type="http://schemas.openxmlformats.org/officeDocument/2006/relationships/slide" Target="/ppt/slides/slide15.xml" Id="R7c6c20be727a4677" /><Relationship Type="http://schemas.openxmlformats.org/officeDocument/2006/relationships/slide" Target="/ppt/slides/slide16.xml" Id="Rbc8d21a481c74b5d" /><Relationship Type="http://schemas.openxmlformats.org/officeDocument/2006/relationships/slide" Target="/ppt/slides/slide17.xml" Id="Rbab3a725fb93463a" /><Relationship Type="http://schemas.openxmlformats.org/officeDocument/2006/relationships/slide" Target="/ppt/slides/slide18.xml" Id="Rd46d3756f56a41c3" /><Relationship Type="http://schemas.openxmlformats.org/officeDocument/2006/relationships/slide" Target="/ppt/slides/slide19.xml" Id="R9f04d38a8abb4b69" /><Relationship Type="http://schemas.openxmlformats.org/officeDocument/2006/relationships/slide" Target="/ppt/slides/slide20.xml" Id="R630ecabb29e54c53" /><Relationship Type="http://schemas.openxmlformats.org/officeDocument/2006/relationships/slide" Target="/ppt/slides/slide21.xml" Id="Rf0dd9bf41fac4f55" /><Relationship Type="http://schemas.openxmlformats.org/officeDocument/2006/relationships/slide" Target="/ppt/slides/slide22.xml" Id="R3e36430fae2c431e" /><Relationship Type="http://schemas.openxmlformats.org/officeDocument/2006/relationships/slide" Target="/ppt/slides/slide23.xml" Id="R5d2e77ba56af456b" /><Relationship Type="http://schemas.openxmlformats.org/officeDocument/2006/relationships/slide" Target="/ppt/slides/slide24.xml" Id="Rb414ee2791904a16" /><Relationship Type="http://schemas.openxmlformats.org/officeDocument/2006/relationships/slide" Target="/ppt/slides/slide25.xml" Id="Rf1d47b62c64f4e27" /><Relationship Type="http://schemas.openxmlformats.org/officeDocument/2006/relationships/slide" Target="/ppt/slides/slide26.xml" Id="R83b21db99da949f9" /><Relationship Type="http://schemas.openxmlformats.org/officeDocument/2006/relationships/slide" Target="/ppt/slides/slide27.xml" Id="Ra1b7874a8605434d" /><Relationship Type="http://schemas.openxmlformats.org/officeDocument/2006/relationships/slide" Target="/ppt/slides/slide28.xml" Id="R1667a4252a484593" /><Relationship Type="http://schemas.openxmlformats.org/officeDocument/2006/relationships/slide" Target="/ppt/slides/slide29.xml" Id="Rd48b9d354c3342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24f8a98c7cb4f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lumMod val="110000"/>
            <a:satMod val="105000"/>
          </a:schemeClr>
        </a:solidFill>
        <a:gradFill rotWithShape="1">
          <a:gsLst>
            <a:gs pos="0">
              <a:schemeClr val="phClr">
                <a:tint val="94000"/>
                <a:lumMod val="108000"/>
                <a:satMod val="100000"/>
              </a:schemeClr>
            </a:gs>
            <a:gs pos="50000">
              <a:schemeClr val="phClr">
                <a:tint val="98000"/>
                <a:shade val="100000"/>
                <a:lumMod val="100000"/>
                <a:satMod val="100000"/>
              </a:schemeClr>
            </a:gs>
            <a:gs pos="100000">
              <a:schemeClr val="phClr">
                <a:shade val="72000"/>
                <a:lumMod val="100000"/>
                <a:satMod val="120000"/>
              </a:schemeClr>
            </a:gs>
          </a:gsLst>
          <a:lin ang="5400000" scaled="0"/>
        </a:gradFill>
      </a:fillStyleLst>
      <a:lnStyleLst>
        <a:ln w="9525">
          <a:solidFill>
            <a:schemeClr val="phClr">
              <a:shade val="60000"/>
            </a:scheme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lumMod val="112000"/>
                <a:satMod val="150000"/>
              </a:schemeClr>
            </a:gs>
            <a:gs pos="100000">
              <a:schemeClr val="phClr">
                <a:shade val="92000"/>
                <a:lumMod val="110000"/>
                <a:satMod val="14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903ad802584b1c" /><Relationship Type="http://schemas.openxmlformats.org/officeDocument/2006/relationships/notesMaster" Target="/ppt/notesMasters/notesMaster1.xml" Id="R15d4d757e52f42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850883dd124fda" /><Relationship Type="http://schemas.openxmlformats.org/officeDocument/2006/relationships/notesMaster" Target="/ppt/notesMasters/notesMaster1.xml" Id="Ra83faa4b319043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d23f20f0354333" /><Relationship Type="http://schemas.openxmlformats.org/officeDocument/2006/relationships/notesMaster" Target="/ppt/notesMasters/notesMaster1.xml" Id="R22430582e4a845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5e7e6ca6da4ff5" /><Relationship Type="http://schemas.openxmlformats.org/officeDocument/2006/relationships/notesMaster" Target="/ppt/notesMasters/notesMaster1.xml" Id="R6a2fbc1c39294b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a5ca1959614e3a" /><Relationship Type="http://schemas.openxmlformats.org/officeDocument/2006/relationships/notesMaster" Target="/ppt/notesMasters/notesMaster1.xml" Id="Re86feea20e6b4a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2386c6a8a34e42" /><Relationship Type="http://schemas.openxmlformats.org/officeDocument/2006/relationships/notesMaster" Target="/ppt/notesMasters/notesMaster1.xml" Id="R1f6677cd8cb441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bb690f3b3e4837" /><Relationship Type="http://schemas.openxmlformats.org/officeDocument/2006/relationships/notesMaster" Target="/ppt/notesMasters/notesMaster1.xml" Id="Racc2244577f444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44dafeee114ffb" /><Relationship Type="http://schemas.openxmlformats.org/officeDocument/2006/relationships/notesMaster" Target="/ppt/notesMasters/notesMaster1.xml" Id="Ra7f3495f4ee246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f26e03fd064c2d" /><Relationship Type="http://schemas.openxmlformats.org/officeDocument/2006/relationships/notesMaster" Target="/ppt/notesMasters/notesMaster1.xml" Id="R83fe7c74194543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9a7ce99f8248c0" /><Relationship Type="http://schemas.openxmlformats.org/officeDocument/2006/relationships/notesMaster" Target="/ppt/notesMasters/notesMaster1.xml" Id="R20c82624d34246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278592678d4dba" /><Relationship Type="http://schemas.openxmlformats.org/officeDocument/2006/relationships/notesMaster" Target="/ppt/notesMasters/notesMaster1.xml" Id="R6164c5520d504a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d32a3cf44e04a39" /><Relationship Type="http://schemas.openxmlformats.org/officeDocument/2006/relationships/notesMaster" Target="/ppt/notesMasters/notesMaster1.xml" Id="R73d9cfe4bd9141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47937e4a204398" /><Relationship Type="http://schemas.openxmlformats.org/officeDocument/2006/relationships/notesMaster" Target="/ppt/notesMasters/notesMaster1.xml" Id="R1b311e08f081483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1ca3b12d614855" /><Relationship Type="http://schemas.openxmlformats.org/officeDocument/2006/relationships/notesMaster" Target="/ppt/notesMasters/notesMaster1.xml" Id="R4d4d74dc254e43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455d75e8a034b07" /><Relationship Type="http://schemas.openxmlformats.org/officeDocument/2006/relationships/notesMaster" Target="/ppt/notesMasters/notesMaster1.xml" Id="Rf9fe86906b684a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5c47afc0ef747d6" /><Relationship Type="http://schemas.openxmlformats.org/officeDocument/2006/relationships/notesMaster" Target="/ppt/notesMasters/notesMaster1.xml" Id="Rbd54994927b148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bf343068de4e1b" /><Relationship Type="http://schemas.openxmlformats.org/officeDocument/2006/relationships/notesMaster" Target="/ppt/notesMasters/notesMaster1.xml" Id="Rd5ada632c3b744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23aaa5936a245e9" /><Relationship Type="http://schemas.openxmlformats.org/officeDocument/2006/relationships/notesMaster" Target="/ppt/notesMasters/notesMaster1.xml" Id="Rbbd2adda19b74c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e4c7889cad84ddc" /><Relationship Type="http://schemas.openxmlformats.org/officeDocument/2006/relationships/notesMaster" Target="/ppt/notesMasters/notesMaster1.xml" Id="R009a18a1c53d4a9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d83043b42094bc1" /><Relationship Type="http://schemas.openxmlformats.org/officeDocument/2006/relationships/notesMaster" Target="/ppt/notesMasters/notesMaster1.xml" Id="Re8049b4157bd4a6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169b31cc9064295" /><Relationship Type="http://schemas.openxmlformats.org/officeDocument/2006/relationships/notesMaster" Target="/ppt/notesMasters/notesMaster1.xml" Id="R84d0e905bdb44e7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aef5841050b4f3f" /><Relationship Type="http://schemas.openxmlformats.org/officeDocument/2006/relationships/notesMaster" Target="/ppt/notesMasters/notesMaster1.xml" Id="R4fd5f0f33e6446e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1e11c89e2da403f" /><Relationship Type="http://schemas.openxmlformats.org/officeDocument/2006/relationships/notesMaster" Target="/ppt/notesMasters/notesMaster1.xml" Id="R026ab82933eb49f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fd90b99269d4eb5" /><Relationship Type="http://schemas.openxmlformats.org/officeDocument/2006/relationships/notesMaster" Target="/ppt/notesMasters/notesMaster1.xml" Id="R664753b5be6f48b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411b8664194510" /><Relationship Type="http://schemas.openxmlformats.org/officeDocument/2006/relationships/notesMaster" Target="/ppt/notesMasters/notesMaster1.xml" Id="Rb4241b7bb10246c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1a6ed50f5104756" /><Relationship Type="http://schemas.openxmlformats.org/officeDocument/2006/relationships/notesMaster" Target="/ppt/notesMasters/notesMaster1.xml" Id="R218c930909cd4a2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b04e2e3b7bc46bf" /><Relationship Type="http://schemas.openxmlformats.org/officeDocument/2006/relationships/notesMaster" Target="/ppt/notesMasters/notesMaster1.xml" Id="Rf6c6de5e6d7c4d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e3b920fbde542e2" /><Relationship Type="http://schemas.openxmlformats.org/officeDocument/2006/relationships/notesMaster" Target="/ppt/notesMasters/notesMaster1.xml" Id="Rf25628d7abf74bc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55b923fdd2e457a" /><Relationship Type="http://schemas.openxmlformats.org/officeDocument/2006/relationships/notesMaster" Target="/ppt/notesMasters/notesMaster1.xml" Id="R0272d2c2d54a4a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a451934a0f43a9" /><Relationship Type="http://schemas.openxmlformats.org/officeDocument/2006/relationships/image" Target="/ppt/media/image.jpeg" Id="R55f8ba9fd69f459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b5c1337fb34686" /><Relationship Type="http://schemas.openxmlformats.org/officeDocument/2006/relationships/image" Target="/ppt/media/image.jpeg" Id="Rc56137b47f6b41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1645701fa1405e" /><Relationship Type="http://schemas.openxmlformats.org/officeDocument/2006/relationships/image" Target="/ppt/media/image.jpeg" Id="R243ee900327541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e74d02b43844297" /><Relationship Type="http://schemas.openxmlformats.org/officeDocument/2006/relationships/image" Target="/ppt/media/image.jpeg" Id="Rf904892fbafe4c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f387b55061453d" /><Relationship Type="http://schemas.openxmlformats.org/officeDocument/2006/relationships/image" Target="/ppt/media/image.jpeg" Id="Re53c6ca2968540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a4dc633e434171" /><Relationship Type="http://schemas.openxmlformats.org/officeDocument/2006/relationships/image" Target="/ppt/media/image.jpeg" Id="R3380fac1312c418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d31ab5f0208463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f33b2f99cb94d44" /><Relationship Type="http://schemas.openxmlformats.org/officeDocument/2006/relationships/image" Target="/ppt/media/image.jpeg" Id="R4e90a90d1514490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954dee87607443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eb0956f2df496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6aaaf3f4b8448f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ed519cdf786448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466736e588764bb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8e605f0feb23471e"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45232f3590ee4a32" /></Relationships>
</file>

<file path=ppt/slideLayouts/slideLayout1.xml><?xml version="1.0" encoding="utf-8"?>
<p:sldLayout xmlns:p="http://schemas.openxmlformats.org/presentationml/2006/main" preserve="1" userDrawn="1">
  <p:cSld name="タイトル スライド">
    <p:spTree>
      <p:nvGrpSpPr>
        <p:cNvPr id="1" name=""/>
        <p:cNvGrpSpPr/>
        <p:nvPr/>
      </p:nvGrpSpPr>
      <p:grpSpPr>
        <a:xfrm xmlns:a="http://schemas.openxmlformats.org/drawingml/2006/main"/>
      </p:grpSpPr>
      <p:pic>
        <p:nvPicPr>
          <p:cNvPr id="30" name="Picture 2"/>
          <p:cNvPicPr>
            <a:picLocks xmlns:a="http://schemas.openxmlformats.org/drawingml/2006/main" noChangeAspect="1"/>
          </p:cNvPicPr>
          <p:nvPr/>
        </p:nvPicPr>
        <p:blipFill>
          <a:blip xmlns:r="http://schemas.openxmlformats.org/officeDocument/2006/relationships" xmlns:a="http://schemas.openxmlformats.org/drawingml/2006/main" r:embed="R55f8ba9fd69f4596"/>
          <a:stretch xmlns:a="http://schemas.openxmlformats.org/drawingml/2006/main">
            <a:fillRect l="0" t="0" r="0" b="0"/>
          </a:stretch>
        </p:blipFill>
        <p:spPr>
          <a:xfrm xmlns:a="http://schemas.openxmlformats.org/drawingml/2006/main">
            <a:off x="9296400" y="609600"/>
            <a:ext cx="2606040" cy="1503485"/>
          </a:xfrm>
          <a:prstGeom xmlns:a="http://schemas.openxmlformats.org/drawingml/2006/main" prst="rect">
            <a:avLst/>
          </a:prstGeom>
        </p:spPr>
      </p:pic>
      <p:sp>
        <p:nvSpPr>
          <p:cNvPr id="8" name="Rectangle 1">
            <a:extLst xmlns:a="http://schemas.openxmlformats.org/drawingml/2006/main">
              <a:ext uri="{FF2B5EF4-FFF2-40B4-BE49-F238E27FC236}">
                <a16:creationId xmlns:a16="http://schemas.microsoft.com/office/drawing/2014/main" id="{DEFC902B-A52D-C521-E9E5-3F94762B39EF}"/>
              </a:ext>
            </a:extLst>
          </p:cNvPr>
          <p:cNvSpPr>
            <a:spLocks xmlns:a="http://schemas.openxmlformats.org/drawingml/2006/main" noGrp="1"/>
          </p:cNvSpPr>
          <p:nvPr/>
        </p:nvSpPr>
        <p:spPr>
          <a:xfrm xmlns:a="http://schemas.openxmlformats.org/drawingml/2006/main">
            <a:off x="0" y="0"/>
            <a:ext cx="320040" cy="6858000"/>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7">
            <a:extLst xmlns:a="http://schemas.openxmlformats.org/drawingml/2006/main">
              <a:ext uri="{FF2B5EF4-FFF2-40B4-BE49-F238E27FC236}">
                <a16:creationId xmlns:a16="http://schemas.microsoft.com/office/drawing/2014/main" id="{43DC2CAB-9CE7-E662-77B8-5B3C6DB80BCD}"/>
              </a:ext>
            </a:extLst>
          </p:cNvPr>
          <p:cNvSpPr>
            <a:spLocks xmlns:a="http://schemas.openxmlformats.org/drawingml/2006/main" noGrp="1"/>
          </p:cNvSpPr>
          <p:nvPr/>
        </p:nvSpPr>
        <p:spPr>
          <a:xfrm xmlns:a="http://schemas.openxmlformats.org/drawingml/2006/main">
            <a:off x="0" y="6080760"/>
            <a:ext cx="12191695" cy="777240"/>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90CC5324-FBA9-41F0-9CAC-C0209A0D5359}"/>
              </a:ext>
            </a:extLst>
          </p:cNvPr>
          <p:cNvSpPr>
            <a:spLocks xmlns:a="http://schemas.openxmlformats.org/drawingml/2006/main" noGrp="1"/>
          </p:cNvSpPr>
          <p:nvPr>
            <p:ph type="ctrTitle" idx="0"/>
          </p:nvPr>
        </p:nvSpPr>
        <p:spPr>
          <a:xfrm xmlns:a="http://schemas.openxmlformats.org/drawingml/2006/main">
            <a:off x="914400" y="833329"/>
            <a:ext cx="8689976" cy="2509213"/>
          </a:xfrm>
        </p:spPr>
        <p:txBody>
          <a:bodyPr xmlns:a="http://schemas.openxmlformats.org/drawingml/2006/main" anchor="b">
            <a:normAutofit/>
          </a:bodyPr>
          <a:lstStyle xmlns:a="http://schemas.openxmlformats.org/drawingml/2006/main">
            <a:lvl1pPr algn="l">
              <a:buNone/>
              <a:defRPr sz="4800" b="1" cap="none" baseline="0">
                <a:solidFill>
                  <a:schemeClr val="tx2">
                    <a:lumMod val="75000"/>
                  </a:schemeClr>
                </a:solidFill>
              </a:defRPr>
            </a:lvl1pPr>
          </a:lstStyle>
          <a:p xmlns:a="http://schemas.openxmlformats.org/drawingml/2006/main">
            <a:r>
              <a:t>マスター タイトルの書式設定</a:t>
            </a:r>
          </a:p>
        </p:txBody>
      </p:sp>
      <p:sp>
        <p:nvSpPr>
          <p:cNvPr id="3" name="Subtitle 2">
            <a:extLst xmlns:a="http://schemas.openxmlformats.org/drawingml/2006/main">
              <a:ext uri="{FF2B5EF4-FFF2-40B4-BE49-F238E27FC236}">
                <a16:creationId xmlns:a16="http://schemas.microsoft.com/office/drawing/2014/main" id="{63B61692-81FD-429A-B0DC-686364C9012E}"/>
              </a:ext>
            </a:extLst>
          </p:cNvPr>
          <p:cNvSpPr>
            <a:spLocks xmlns:a="http://schemas.openxmlformats.org/drawingml/2006/main" noGrp="1"/>
          </p:cNvSpPr>
          <p:nvPr>
            <p:ph type="subTitle" idx="1"/>
          </p:nvPr>
        </p:nvSpPr>
        <p:spPr>
          <a:xfrm xmlns:a="http://schemas.openxmlformats.org/drawingml/2006/main">
            <a:off x="914400" y="3470949"/>
            <a:ext cx="8689976" cy="652995"/>
          </a:xfrm>
        </p:spPr>
        <p:txBody>
          <a:bodyPr xmlns:a="http://schemas.openxmlformats.org/drawingml/2006/main">
            <a:normAutofit/>
          </a:bodyPr>
          <a:lstStyle xmlns:a="http://schemas.openxmlformats.org/drawingml/2006/main">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マスター サブタイトルの書式設定</a:t>
            </a:r>
          </a:p>
        </p:txBody>
      </p:sp>
      <p:sp>
        <p:nvSpPr>
          <p:cNvPr id="19" name="Rectangle 5">
            <a:extLst xmlns:a="http://schemas.openxmlformats.org/drawingml/2006/main">
              <a:ext uri="{FF2B5EF4-FFF2-40B4-BE49-F238E27FC236}">
                <a16:creationId xmlns:a16="http://schemas.microsoft.com/office/drawing/2014/main" id="{60FBCDE1-018F-99EB-0276-8FFC2E77ED96}"/>
              </a:ext>
            </a:extLst>
          </p:cNvPr>
          <p:cNvSpPr>
            <a:spLocks xmlns:a="http://schemas.openxmlformats.org/drawingml/2006/main" noGrp="1"/>
          </p:cNvSpPr>
          <p:nvPr/>
        </p:nvSpPr>
        <p:spPr>
          <a:xfrm xmlns:a="http://schemas.openxmlformats.org/drawingml/2006/main">
            <a:off x="914400" y="4160520"/>
            <a:ext cx="2011680" cy="36576"/>
          </a:xfrm>
          <a:prstGeom xmlns:a="http://schemas.openxmlformats.org/drawingml/2006/main" prst="rect">
            <a:avLst/>
          </a:prstGeom>
          <a:solidFill xmlns:a="http://schemas.openxmlformats.org/drawingml/2006/main">
            <a:srgbClr val="FF7A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テキスト プレースホルダー 23">
            <a:extLst xmlns:a="http://schemas.openxmlformats.org/drawingml/2006/main">
              <a:ext uri="{FF2B5EF4-FFF2-40B4-BE49-F238E27FC236}">
                <a16:creationId xmlns:a16="http://schemas.microsoft.com/office/drawing/2014/main" id="{4F424697-34D8-E67D-84F2-7DBFA5AD7DD2}"/>
              </a:ext>
            </a:extLst>
          </p:cNvPr>
          <p:cNvSpPr>
            <a:spLocks xmlns:a="http://schemas.openxmlformats.org/drawingml/2006/main" noGrp="1"/>
          </p:cNvSpPr>
          <p:nvPr>
            <p:ph type="body" idx="10" hasCustomPrompt="1"/>
          </p:nvPr>
        </p:nvSpPr>
        <p:spPr>
          <a:xfrm xmlns:a="http://schemas.openxmlformats.org/drawingml/2006/main">
            <a:off x="914400" y="4343400"/>
            <a:ext cx="5166028" cy="914400"/>
          </a:xfrm>
        </p:spPr>
        <p:txBody>
          <a:bodyPr xmlns:a="http://schemas.openxmlformats.org/drawingml/2006/main">
            <a:normAutofit/>
          </a:bodyPr>
          <a:lstStyle xmlns:a="http://schemas.openxmlformats.org/drawingml/2006/main">
            <a:lvl1pPr>
              <a:buNone/>
              <a:defRPr sz="1600" cap="none" baseline="0">
                <a:solidFill>
                  <a:schemeClr val="tx1">
                    <a:lumMod val="65000"/>
                    <a:lumOff val="35000"/>
                  </a:schemeClr>
                </a:solidFill>
              </a:defRPr>
            </a:lvl1pPr>
            <a:lvl2pPr>
              <a:buNone/>
              <a:defRPr/>
            </a:lvl2pPr>
          </a:lstStyle>
          <a:p xmlns:a="http://schemas.openxmlformats.org/drawingml/2006/main">
            <a:pPr lvl="0">
              <a:buNone/>
            </a:pPr>
            <a:r>
              <a:t>2026.MM.DD</a:t>
            </a:r>
            <a:r>
              <a:t>　</a:t>
            </a:r>
            <a:r>
              <a:t>/</a:t>
            </a:r>
            <a:r>
              <a:t>　部署名　</a:t>
            </a:r>
            <a:r>
              <a:t>/</a:t>
            </a:r>
            <a:r>
              <a:t>　発表者氏名</a:t>
            </a:r>
          </a:p>
        </p:txBody>
      </p:sp>
      <p:sp>
        <p:nvSpPr>
          <p:cNvPr id="27" name="テキスト ボックス 26">
            <a:extLst xmlns:a="http://schemas.openxmlformats.org/drawingml/2006/main">
              <a:ext uri="{FF2B5EF4-FFF2-40B4-BE49-F238E27FC236}">
                <a16:creationId xmlns:a16="http://schemas.microsoft.com/office/drawing/2014/main" id="{EC55F0FE-9421-CCC4-21CF-3EDC009B1D6C}"/>
              </a:ext>
            </a:extLst>
          </p:cNvPr>
          <p:cNvSpPr>
            <a:spLocks xmlns:a="http://schemas.openxmlformats.org/drawingml/2006/main" noGrp="1"/>
          </p:cNvSpPr>
          <p:nvPr/>
        </p:nvSpPr>
        <p:spPr>
          <a:xfrm xmlns:a="http://schemas.openxmlformats.org/drawingml/2006/main">
            <a:off x="456228" y="6494780"/>
            <a:ext cx="8342348" cy="27699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200" cap="none">
                <a:solidFill>
                  <a:schemeClr val="bg1"/>
                </a:solidFill>
              </a:rPr>
              <a:t>金石本社：〒</a:t>
            </a:r>
            <a:r>
              <a:rPr sz="1200" cap="none">
                <a:solidFill>
                  <a:schemeClr val="bg1"/>
                </a:solidFill>
              </a:rPr>
              <a:t>920-0336</a:t>
            </a:r>
            <a:r>
              <a:rPr sz="1200" cap="none">
                <a:solidFill>
                  <a:schemeClr val="bg1"/>
                </a:solidFill>
              </a:rPr>
              <a:t> 石川県金沢市金石本町ハ</a:t>
            </a:r>
            <a:r>
              <a:rPr sz="1200" cap="none">
                <a:solidFill>
                  <a:schemeClr val="bg1"/>
                </a:solidFill>
              </a:rPr>
              <a:t>13</a:t>
            </a:r>
            <a:r>
              <a:rPr sz="1200" cap="none">
                <a:solidFill>
                  <a:schemeClr val="bg1"/>
                </a:solidFill>
              </a:rPr>
              <a:t>番地</a:t>
            </a:r>
            <a:r>
              <a:rPr sz="1200" cap="none">
                <a:solidFill>
                  <a:schemeClr val="bg1"/>
                </a:solidFill>
              </a:rPr>
              <a:t>2</a:t>
            </a:r>
            <a:r>
              <a:rPr sz="1200" cap="none">
                <a:solidFill>
                  <a:schemeClr val="bg1"/>
                </a:solidFill>
              </a:rPr>
              <a:t>　</a:t>
            </a:r>
            <a:r>
              <a:rPr sz="1200" cap="none">
                <a:solidFill>
                  <a:schemeClr val="bg1"/>
                </a:solidFill>
              </a:rPr>
              <a:t>/</a:t>
            </a:r>
            <a:r>
              <a:rPr sz="1200" cap="none">
                <a:solidFill>
                  <a:schemeClr val="bg1"/>
                </a:solidFill>
              </a:rPr>
              <a:t>　小矢部事務所：〒</a:t>
            </a:r>
            <a:r>
              <a:rPr sz="1200" cap="none">
                <a:solidFill>
                  <a:schemeClr val="bg1"/>
                </a:solidFill>
              </a:rPr>
              <a:t>932-0132</a:t>
            </a:r>
            <a:r>
              <a:rPr sz="1200" cap="none">
                <a:solidFill>
                  <a:schemeClr val="bg1"/>
                </a:solidFill>
              </a:rPr>
              <a:t> 富山県小矢部市小森谷</a:t>
            </a:r>
            <a:r>
              <a:rPr sz="1200" cap="none">
                <a:solidFill>
                  <a:schemeClr val="bg1"/>
                </a:solidFill>
              </a:rPr>
              <a:t>19</a:t>
            </a:r>
            <a:r>
              <a:rPr sz="1200" cap="none">
                <a:solidFill>
                  <a:schemeClr val="bg1"/>
                </a:solidFill>
              </a:rPr>
              <a:t>番地</a:t>
            </a:r>
          </a:p>
        </p:txBody>
      </p:sp>
      <p:sp>
        <p:nvSpPr>
          <p:cNvPr id="28" name="テキスト ボックス 27">
            <a:extLst xmlns:a="http://schemas.openxmlformats.org/drawingml/2006/main">
              <a:ext uri="{FF2B5EF4-FFF2-40B4-BE49-F238E27FC236}">
                <a16:creationId xmlns:a16="http://schemas.microsoft.com/office/drawing/2014/main" id="{3DC65298-5B5E-1D40-2C58-080E3E98BC90}"/>
              </a:ext>
            </a:extLst>
          </p:cNvPr>
          <p:cNvSpPr>
            <a:spLocks xmlns:a="http://schemas.openxmlformats.org/drawingml/2006/main" noGrp="1"/>
          </p:cNvSpPr>
          <p:nvPr/>
        </p:nvSpPr>
        <p:spPr>
          <a:xfrm xmlns:a="http://schemas.openxmlformats.org/drawingml/2006/main">
            <a:off x="456228" y="6182577"/>
            <a:ext cx="3113353" cy="338554"/>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pPr>
            <a:r>
              <a:rPr sz="1600" cap="none">
                <a:solidFill>
                  <a:schemeClr val="bg1"/>
                </a:solidFill>
              </a:rPr>
              <a:t>株式会社 アルパイン設計事務所</a:t>
            </a:r>
          </a:p>
        </p:txBody>
      </p:sp>
    </p:spTree>
  </p:cSld>
</p:sldLayout>
</file>

<file path=ppt/slideLayouts/slideLayout2.xml><?xml version="1.0" encoding="utf-8"?>
<p:sldLayout xmlns:p="http://schemas.openxmlformats.org/presentationml/2006/main" preserve="1" userDrawn="1">
  <p:cSld name="コンテンツ">
    <p:spTree>
      <p:nvGrpSpPr>
        <p:cNvPr id="1" name=""/>
        <p:cNvGrpSpPr/>
        <p:nvPr/>
      </p:nvGrpSpPr>
      <p:grpSpPr>
        <a:xfrm xmlns:a="http://schemas.openxmlformats.org/drawingml/2006/main"/>
      </p:grpSpPr>
      <p:sp>
        <p:nvSpPr>
          <p:cNvPr id="15" name="Rectangle 35">
            <a:extLst xmlns:a="http://schemas.openxmlformats.org/drawingml/2006/main">
              <a:ext uri="{FF2B5EF4-FFF2-40B4-BE49-F238E27FC236}">
                <a16:creationId xmlns:a16="http://schemas.microsoft.com/office/drawing/2014/main" id="{7A9930C5-9CE5-CD3F-0B34-BA742C592203}"/>
              </a:ext>
            </a:extLst>
          </p:cNvPr>
          <p:cNvSpPr>
            <a:spLocks xmlns:a="http://schemas.openxmlformats.org/drawingml/2006/main" noGrp="1"/>
          </p:cNvSpPr>
          <p:nvPr/>
        </p:nvSpPr>
        <p:spPr>
          <a:xfrm xmlns:a="http://schemas.openxmlformats.org/drawingml/2006/main">
            <a:off x="0" y="6729984"/>
            <a:ext cx="12191695" cy="128016"/>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CF7A971D-7955-4378-8274-4FC033378BA6}"/>
              </a:ext>
            </a:extLst>
          </p:cNvPr>
          <p:cNvSpPr>
            <a:spLocks xmlns:a="http://schemas.openxmlformats.org/drawingml/2006/main" noGrp="1"/>
          </p:cNvSpPr>
          <p:nvPr>
            <p:ph type="title" idx="0"/>
          </p:nvPr>
        </p:nvSpPr>
        <p:spPr>
          <a:xfrm xmlns:a="http://schemas.openxmlformats.org/drawingml/2006/main">
            <a:off x="566928" y="411481"/>
            <a:ext cx="10364451" cy="502919"/>
          </a:xfrm>
        </p:spPr>
        <p:txBody>
          <a:bodyPr xmlns:a="http://schemas.openxmlformats.org/drawingml/2006/main" anchor="t"/>
          <a:lstStyle xmlns:a="http://schemas.openxmlformats.org/drawingml/2006/main">
            <a:lvl1pPr algn="l">
              <a:buNone/>
              <a:defRPr>
                <a:solidFill>
                  <a:schemeClr val="tx2">
                    <a:lumMod val="75000"/>
                  </a:schemeClr>
                </a:solidFill>
              </a:defRPr>
            </a:lvl1pPr>
          </a:lstStyle>
          <a:p xmlns:a="http://schemas.openxmlformats.org/drawingml/2006/main">
            <a:r>
              <a:t>マスター タイトルの書式設定</a:t>
            </a:r>
          </a:p>
        </p:txBody>
      </p:sp>
      <p:sp>
        <p:nvSpPr>
          <p:cNvPr id="9" name="スライド番号プレースホルダー 8">
            <a:extLst xmlns:a="http://schemas.openxmlformats.org/drawingml/2006/main">
              <a:ext uri="{FF2B5EF4-FFF2-40B4-BE49-F238E27FC236}">
                <a16:creationId xmlns:a16="http://schemas.microsoft.com/office/drawing/2014/main" id="{769DF8EF-F888-3401-8278-4FAF9AF9F249}"/>
              </a:ext>
            </a:extLst>
          </p:cNvPr>
          <p:cNvSpPr>
            <a:spLocks xmlns:a="http://schemas.openxmlformats.org/drawingml/2006/main" noGrp="1"/>
          </p:cNvSpPr>
          <p:nvPr>
            <p:ph type="sldNum" idx="16"/>
          </p:nvPr>
        </p:nvSpPr>
        <p:spPr>
          <a:xfrm xmlns:a="http://schemas.openxmlformats.org/drawingml/2006/main">
            <a:off x="11398601" y="6463691"/>
            <a:ext cx="764215" cy="365125"/>
          </a:xfrm>
        </p:spPr>
        <p:txBody>
          <a:bodyPr xmlns:a="http://schemas.openxmlformats.org/drawingml/2006/main"/>
          <a:lstStyle xmlns:a="http://schemas.openxmlformats.org/drawingml/2006/main">
            <a:lvl1pPr>
              <a:buNone/>
              <a:defRPr>
                <a:solidFill>
                  <a:schemeClr val="tx1">
                    <a:lumMod val="65000"/>
                    <a:lumOff val="35000"/>
                  </a:schemeClr>
                </a:solidFill>
              </a:defRPr>
            </a:lvl1pPr>
          </a:lstStyle>
          <a:p xmlns:a="http://schemas.openxmlformats.org/drawingml/2006/main">
            <a:fld id="{7744AD22-693D-4773-9028-20E660F2F223}" type="slidenum">
              <a:t>‹#›</a:t>
            </a:fld>
          </a:p>
        </p:txBody>
      </p:sp>
      <p:sp>
        <p:nvSpPr>
          <p:cNvPr id="10" name="Rectangle 1">
            <a:extLst xmlns:a="http://schemas.openxmlformats.org/drawingml/2006/main">
              <a:ext uri="{FF2B5EF4-FFF2-40B4-BE49-F238E27FC236}">
                <a16:creationId xmlns:a16="http://schemas.microsoft.com/office/drawing/2014/main" id="{273C56A4-895E-D5C5-3104-BF85ABACF34C}"/>
              </a:ext>
            </a:extLst>
          </p:cNvPr>
          <p:cNvSpPr>
            <a:spLocks xmlns:a="http://schemas.openxmlformats.org/drawingml/2006/main" noGrp="1"/>
          </p:cNvSpPr>
          <p:nvPr/>
        </p:nvSpPr>
        <p:spPr>
          <a:xfrm xmlns:a="http://schemas.openxmlformats.org/drawingml/2006/main">
            <a:off x="457200" y="411480"/>
            <a:ext cx="109728" cy="502920"/>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4">
            <a:extLst xmlns:a="http://schemas.openxmlformats.org/drawingml/2006/main">
              <a:ext uri="{FF2B5EF4-FFF2-40B4-BE49-F238E27FC236}">
                <a16:creationId xmlns:a16="http://schemas.microsoft.com/office/drawing/2014/main" id="{2EECE7D1-9EB4-934E-9375-5673AE1CDFA5}"/>
              </a:ext>
            </a:extLst>
          </p:cNvPr>
          <p:cNvSpPr>
            <a:spLocks xmlns:a="http://schemas.openxmlformats.org/drawingml/2006/main" noGrp="1"/>
          </p:cNvSpPr>
          <p:nvPr/>
        </p:nvSpPr>
        <p:spPr>
          <a:xfrm xmlns:a="http://schemas.openxmlformats.org/drawingml/2006/main">
            <a:off x="457200" y="1235016"/>
            <a:ext cx="11274552" cy="16459"/>
          </a:xfrm>
          <a:prstGeom xmlns:a="http://schemas.openxmlformats.org/drawingml/2006/main" prst="rect">
            <a:avLst/>
          </a:prstGeom>
          <a:solidFill xmlns:a="http://schemas.openxmlformats.org/drawingml/2006/main">
            <a:srgbClr val="E5E7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テキスト プレースホルダー 52">
            <a:extLst xmlns:a="http://schemas.openxmlformats.org/drawingml/2006/main">
              <a:ext uri="{FF2B5EF4-FFF2-40B4-BE49-F238E27FC236}">
                <a16:creationId xmlns:a16="http://schemas.microsoft.com/office/drawing/2014/main" id="{F8CF3099-468C-D418-D6F8-EC2CC9B3FAEC}"/>
              </a:ext>
            </a:extLst>
          </p:cNvPr>
          <p:cNvSpPr>
            <a:spLocks xmlns:a="http://schemas.openxmlformats.org/drawingml/2006/main" noGrp="1"/>
          </p:cNvSpPr>
          <p:nvPr>
            <p:ph type="body" idx="17"/>
          </p:nvPr>
        </p:nvSpPr>
        <p:spPr>
          <a:xfrm xmlns:a="http://schemas.openxmlformats.org/drawingml/2006/main">
            <a:off x="566927" y="923635"/>
            <a:ext cx="3679148" cy="248005"/>
          </a:xfrm>
        </p:spPr>
        <p:txBody>
          <a:bodyPr xmlns:a="http://schemas.openxmlformats.org/drawingml/2006/main" anchor="ctr">
            <a:noAutofit/>
          </a:bodyPr>
          <a:lstStyle xmlns:a="http://schemas.openxmlformats.org/drawingml/2006/main">
            <a:lvl1pPr>
              <a:buNone/>
              <a:defRPr sz="1400">
                <a:solidFill>
                  <a:schemeClr val="tx1">
                    <a:lumMod val="65000"/>
                    <a:lumOff val="35000"/>
                  </a:schemeClr>
                </a:solidFill>
              </a:defRPr>
            </a:lvl1pPr>
          </a:lstStyle>
          <a:p xmlns:a="http://schemas.openxmlformats.org/drawingml/2006/main">
            <a:pPr lvl="0">
              <a:buNone/>
            </a:pPr>
            <a:r>
              <a:t>マスター テキストの書式設定</a:t>
            </a:r>
          </a:p>
        </p:txBody>
      </p:sp>
      <p:pic>
        <p:nvPicPr>
          <p:cNvPr id="64" name="図 53"/>
          <p:cNvPicPr>
            <a:picLocks xmlns:a="http://schemas.openxmlformats.org/drawingml/2006/main" noChangeAspect="1"/>
          </p:cNvPicPr>
          <p:nvPr/>
        </p:nvPicPr>
        <p:blipFill rotWithShape="1">
          <a:blip xmlns:r="http://schemas.openxmlformats.org/officeDocument/2006/relationships" xmlns:a="http://schemas.openxmlformats.org/drawingml/2006/main" r:embed="Rc56137b47f6b41de">
            <a:clrChange>
              <a:clrFrom>
                <a:srgbClr val="FFFFFF"/>
              </a:clrFrom>
              <a:clrTo>
                <a:srgbClr val="FFFFFF">
                  <a:alpha val="0"/>
                </a:srgbClr>
              </a:clrTo>
            </a:clrChange>
          </a:blip>
          <a:srcRect xmlns:a="http://schemas.openxmlformats.org/drawingml/2006/main" l="0" t="0" r="0" b="23070"/>
          <a:stretch xmlns:a="http://schemas.openxmlformats.org/drawingml/2006/main"/>
        </p:blipFill>
        <p:spPr>
          <a:xfrm xmlns:a="http://schemas.openxmlformats.org/drawingml/2006/main">
            <a:off x="11021882" y="169471"/>
            <a:ext cx="1090555" cy="484017"/>
          </a:xfrm>
          <a:prstGeom xmlns:a="http://schemas.openxmlformats.org/drawingml/2006/main" prst="rect">
            <a:avLst/>
          </a:prstGeom>
          <a:effectLst xmlns:a="http://schemas.openxmlformats.org/drawingml/2006/main">
            <a:glow>
              <a:schemeClr val="bg1"/>
            </a:glow>
          </a:effectLst>
        </p:spPr>
      </p:pic>
      <p:sp>
        <p:nvSpPr>
          <p:cNvPr id="56" name="コンテンツ プレースホルダー 55">
            <a:extLst xmlns:a="http://schemas.openxmlformats.org/drawingml/2006/main">
              <a:ext uri="{FF2B5EF4-FFF2-40B4-BE49-F238E27FC236}">
                <a16:creationId xmlns:a16="http://schemas.microsoft.com/office/drawing/2014/main" id="{96E4A612-04F1-1448-C938-8AAFF71EA8FC}"/>
              </a:ext>
            </a:extLst>
          </p:cNvPr>
          <p:cNvSpPr>
            <a:spLocks xmlns:a="http://schemas.openxmlformats.org/drawingml/2006/main" noGrp="1"/>
          </p:cNvSpPr>
          <p:nvPr>
            <p:ph idx="18"/>
          </p:nvPr>
        </p:nvSpPr>
        <p:spPr>
          <a:xfrm xmlns:a="http://schemas.openxmlformats.org/drawingml/2006/main">
            <a:off x="457200" y="1364228"/>
            <a:ext cx="11352213" cy="5069910"/>
          </a:xfrm>
        </p:spPr>
        <p:txBody>
          <a:bodyPr xmlns:a="http://schemas.openxmlformats.org/drawingml/2006/main">
            <a:normAutofit/>
          </a:bodyPr>
          <a:lstStyle xmlns:a="http://schemas.openxmlformats.org/drawingml/2006/main">
            <a:lvl1pPr>
              <a:lnSpc>
                <a:spcPct val="100000"/>
              </a:lnSpc>
              <a:buClr>
                <a:srgbClr val="00A8E6"/>
              </a:buClr>
              <a:buFont typeface="Wingdings"/>
              <a:buChar char="n"/>
              <a:defRPr sz="2800">
                <a:solidFill>
                  <a:srgbClr val="00A8E6"/>
                </a:solidFill>
              </a:defRPr>
            </a:lvl1pPr>
            <a:lvl2pPr>
              <a:lnSpc>
                <a:spcPct val="100000"/>
              </a:lnSpc>
              <a:buClr>
                <a:schemeClr val="tx1"/>
              </a:buClr>
              <a:buFont typeface="Wingdings"/>
              <a:buChar char="l"/>
              <a:defRPr sz="2400">
                <a:solidFill>
                  <a:schemeClr val="tx2">
                    <a:lumMod val="75000"/>
                  </a:schemeClr>
                </a:solidFill>
              </a:defRPr>
            </a:lvl2pPr>
            <a:lvl3pPr>
              <a:lnSpc>
                <a:spcPct val="100000"/>
              </a:lnSpc>
              <a:buClrTx/>
              <a:buFont typeface="Wingdings"/>
              <a:buChar char="ü"/>
              <a:defRPr sz="2000">
                <a:solidFill>
                  <a:schemeClr val="tx2">
                    <a:lumMod val="75000"/>
                  </a:schemeClr>
                </a:solidFill>
              </a:defRPr>
            </a:lvl3pPr>
            <a:lvl4pPr>
              <a:lnSpc>
                <a:spcPct val="100000"/>
              </a:lnSpc>
              <a:buClrTx/>
              <a:buNone/>
              <a:defRPr sz="1800">
                <a:solidFill>
                  <a:schemeClr val="tx2">
                    <a:lumMod val="75000"/>
                  </a:schemeClr>
                </a:solidFill>
              </a:defRPr>
            </a:lvl4pPr>
            <a:lvl5pPr>
              <a:lnSpc>
                <a:spcPct val="100000"/>
              </a:lnSpc>
              <a:buClrTx/>
              <a:buNone/>
              <a:defRPr sz="1800">
                <a:solidFill>
                  <a:schemeClr val="tx2">
                    <a:lumMod val="75000"/>
                  </a:schemeClr>
                </a:solidFill>
              </a:defRPr>
            </a:lvl5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Tree>
  </p:cSld>
</p:sldLayout>
</file>

<file path=ppt/slideLayouts/slideLayout3.xml><?xml version="1.0" encoding="utf-8"?>
<p:sldLayout xmlns:p="http://schemas.openxmlformats.org/presentationml/2006/main" preserve="1" userDrawn="1">
  <p:cSld name="2 つのコンテンツ">
    <p:spTree>
      <p:nvGrpSpPr>
        <p:cNvPr id="1" name=""/>
        <p:cNvGrpSpPr/>
        <p:nvPr/>
      </p:nvGrpSpPr>
      <p:grpSpPr>
        <a:xfrm xmlns:a="http://schemas.openxmlformats.org/drawingml/2006/main"/>
      </p:grpSpPr>
      <p:sp>
        <p:nvSpPr>
          <p:cNvPr id="12" name="Content Placeholder 2">
            <a:extLst xmlns:a="http://schemas.openxmlformats.org/drawingml/2006/main">
              <a:ext uri="{FF2B5EF4-FFF2-40B4-BE49-F238E27FC236}">
                <a16:creationId xmlns:a16="http://schemas.microsoft.com/office/drawing/2014/main" id="{A7E636A6-0BCD-45AA-9B4B-4CB2802A0186}"/>
              </a:ext>
            </a:extLst>
          </p:cNvPr>
          <p:cNvSpPr>
            <a:spLocks xmlns:a="http://schemas.openxmlformats.org/drawingml/2006/main" noGrp="1"/>
          </p:cNvSpPr>
          <p:nvPr>
            <p:ph idx="13"/>
          </p:nvPr>
        </p:nvSpPr>
        <p:spPr>
          <a:xfrm xmlns:a="http://schemas.openxmlformats.org/drawingml/2006/main">
            <a:off x="578863" y="2254861"/>
            <a:ext cx="5314214" cy="4105132"/>
          </a:xfrm>
          <a:prstGeom xmlns:a="http://schemas.openxmlformats.org/drawingml/2006/main" prst="rect">
            <a:avLst/>
          </a:prstGeom>
          <a:ln xmlns:a="http://schemas.openxmlformats.org/drawingml/2006/main">
            <a:noFill/>
          </a:ln>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13" name="Content Placeholder 3">
            <a:extLst xmlns:a="http://schemas.openxmlformats.org/drawingml/2006/main">
              <a:ext uri="{FF2B5EF4-FFF2-40B4-BE49-F238E27FC236}">
                <a16:creationId xmlns:a16="http://schemas.microsoft.com/office/drawing/2014/main" id="{28804F58-465B-4ECB-B9B6-2AF24590F32E}"/>
              </a:ext>
            </a:extLst>
          </p:cNvPr>
          <p:cNvSpPr>
            <a:spLocks xmlns:a="http://schemas.openxmlformats.org/drawingml/2006/main" noGrp="1"/>
          </p:cNvSpPr>
          <p:nvPr>
            <p:ph idx="14"/>
          </p:nvPr>
        </p:nvSpPr>
        <p:spPr>
          <a:xfrm xmlns:a="http://schemas.openxmlformats.org/drawingml/2006/main">
            <a:off x="6293796" y="2254861"/>
            <a:ext cx="5311302" cy="4105132"/>
          </a:xfrm>
          <a:prstGeom xmlns:a="http://schemas.openxmlformats.org/drawingml/2006/main" prst="rect">
            <a:avLst/>
          </a:prstGeom>
          <a:ln xmlns:a="http://schemas.openxmlformats.org/drawingml/2006/main">
            <a:noFill/>
          </a:ln>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2" name="スライド番号プレースホルダー 8">
            <a:extLst xmlns:a="http://schemas.openxmlformats.org/drawingml/2006/main">
              <a:ext uri="{FF2B5EF4-FFF2-40B4-BE49-F238E27FC236}">
                <a16:creationId xmlns:a16="http://schemas.microsoft.com/office/drawing/2014/main" id="{ED4643BD-04A4-AAD5-193A-DD596DEDF432}"/>
              </a:ext>
            </a:extLst>
          </p:cNvPr>
          <p:cNvSpPr>
            <a:spLocks xmlns:a="http://schemas.openxmlformats.org/drawingml/2006/main" noGrp="1"/>
          </p:cNvSpPr>
          <p:nvPr>
            <p:ph type="sldNum" idx="16"/>
          </p:nvPr>
        </p:nvSpPr>
        <p:spPr>
          <a:xfrm xmlns:a="http://schemas.openxmlformats.org/drawingml/2006/main">
            <a:off x="11398601" y="6463691"/>
            <a:ext cx="764215" cy="365125"/>
          </a:xfrm>
        </p:spPr>
        <p:txBody>
          <a:bodyPr xmlns:a="http://schemas.openxmlformats.org/drawingml/2006/main"/>
          <a:lstStyle xmlns:a="http://schemas.openxmlformats.org/drawingml/2006/main">
            <a:lvl1pPr>
              <a:buNone/>
              <a:defRPr>
                <a:solidFill>
                  <a:schemeClr val="tx1">
                    <a:lumMod val="65000"/>
                    <a:lumOff val="35000"/>
                  </a:schemeClr>
                </a:solidFill>
              </a:defRPr>
            </a:lvl1pPr>
          </a:lstStyle>
          <a:p xmlns:a="http://schemas.openxmlformats.org/drawingml/2006/main">
            <a:fld id="{7744AD22-693D-4773-9028-20E660F2F223}" type="slidenum">
              <a:t>‹#›</a:t>
            </a:fld>
          </a:p>
        </p:txBody>
      </p:sp>
      <p:pic>
        <p:nvPicPr>
          <p:cNvPr id="29" name="図 2"/>
          <p:cNvPicPr>
            <a:picLocks xmlns:a="http://schemas.openxmlformats.org/drawingml/2006/main" noChangeAspect="1"/>
          </p:cNvPicPr>
          <p:nvPr/>
        </p:nvPicPr>
        <p:blipFill rotWithShape="1">
          <a:blip xmlns:r="http://schemas.openxmlformats.org/officeDocument/2006/relationships" xmlns:a="http://schemas.openxmlformats.org/drawingml/2006/main" r:embed="R243ee90032754130">
            <a:clrChange>
              <a:clrFrom>
                <a:srgbClr val="FFFFFF"/>
              </a:clrFrom>
              <a:clrTo>
                <a:srgbClr val="FFFFFF">
                  <a:alpha val="0"/>
                </a:srgbClr>
              </a:clrTo>
            </a:clrChange>
          </a:blip>
          <a:srcRect xmlns:a="http://schemas.openxmlformats.org/drawingml/2006/main" l="0" t="0" r="0" b="23070"/>
          <a:stretch xmlns:a="http://schemas.openxmlformats.org/drawingml/2006/main"/>
        </p:blipFill>
        <p:spPr>
          <a:xfrm xmlns:a="http://schemas.openxmlformats.org/drawingml/2006/main">
            <a:off x="11021882" y="169471"/>
            <a:ext cx="1090555" cy="484017"/>
          </a:xfrm>
          <a:prstGeom xmlns:a="http://schemas.openxmlformats.org/drawingml/2006/main" prst="rect">
            <a:avLst/>
          </a:prstGeom>
          <a:effectLst xmlns:a="http://schemas.openxmlformats.org/drawingml/2006/main">
            <a:glow>
              <a:schemeClr val="bg1"/>
            </a:glow>
          </a:effectLst>
        </p:spPr>
      </p:pic>
      <p:sp>
        <p:nvSpPr>
          <p:cNvPr id="8" name="Rectangle 1">
            <a:extLst xmlns:a="http://schemas.openxmlformats.org/drawingml/2006/main">
              <a:ext uri="{FF2B5EF4-FFF2-40B4-BE49-F238E27FC236}">
                <a16:creationId xmlns:a16="http://schemas.microsoft.com/office/drawing/2014/main" id="{F75F8A81-F90D-2AC3-0758-21B5A019D68D}"/>
              </a:ext>
            </a:extLst>
          </p:cNvPr>
          <p:cNvSpPr>
            <a:spLocks xmlns:a="http://schemas.openxmlformats.org/drawingml/2006/main" noGrp="1"/>
          </p:cNvSpPr>
          <p:nvPr/>
        </p:nvSpPr>
        <p:spPr>
          <a:xfrm xmlns:a="http://schemas.openxmlformats.org/drawingml/2006/main">
            <a:off x="457200" y="411480"/>
            <a:ext cx="109728" cy="502920"/>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Rectangle 4">
            <a:extLst xmlns:a="http://schemas.openxmlformats.org/drawingml/2006/main">
              <a:ext uri="{FF2B5EF4-FFF2-40B4-BE49-F238E27FC236}">
                <a16:creationId xmlns:a16="http://schemas.microsoft.com/office/drawing/2014/main" id="{9155C07D-C31C-4422-BF59-9288C1D406E6}"/>
              </a:ext>
            </a:extLst>
          </p:cNvPr>
          <p:cNvSpPr>
            <a:spLocks xmlns:a="http://schemas.openxmlformats.org/drawingml/2006/main" noGrp="1"/>
          </p:cNvSpPr>
          <p:nvPr/>
        </p:nvSpPr>
        <p:spPr>
          <a:xfrm xmlns:a="http://schemas.openxmlformats.org/drawingml/2006/main">
            <a:off x="457200" y="1235016"/>
            <a:ext cx="11274552" cy="16459"/>
          </a:xfrm>
          <a:prstGeom xmlns:a="http://schemas.openxmlformats.org/drawingml/2006/main" prst="rect">
            <a:avLst/>
          </a:prstGeom>
          <a:solidFill xmlns:a="http://schemas.openxmlformats.org/drawingml/2006/main">
            <a:srgbClr val="E5E7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テキスト プレースホルダー 52">
            <a:extLst xmlns:a="http://schemas.openxmlformats.org/drawingml/2006/main">
              <a:ext uri="{FF2B5EF4-FFF2-40B4-BE49-F238E27FC236}">
                <a16:creationId xmlns:a16="http://schemas.microsoft.com/office/drawing/2014/main" id="{AC66AFE9-42C5-EE6E-B6B2-8EA75548D399}"/>
              </a:ext>
            </a:extLst>
          </p:cNvPr>
          <p:cNvSpPr>
            <a:spLocks xmlns:a="http://schemas.openxmlformats.org/drawingml/2006/main" noGrp="1"/>
          </p:cNvSpPr>
          <p:nvPr>
            <p:ph type="body" idx="17"/>
          </p:nvPr>
        </p:nvSpPr>
        <p:spPr>
          <a:xfrm xmlns:a="http://schemas.openxmlformats.org/drawingml/2006/main">
            <a:off x="566927" y="923635"/>
            <a:ext cx="3679148" cy="248005"/>
          </a:xfrm>
        </p:spPr>
        <p:txBody>
          <a:bodyPr xmlns:a="http://schemas.openxmlformats.org/drawingml/2006/main" anchor="ctr">
            <a:noAutofit/>
          </a:bodyPr>
          <a:lstStyle xmlns:a="http://schemas.openxmlformats.org/drawingml/2006/main">
            <a:lvl1pPr>
              <a:buNone/>
              <a:defRPr sz="1400">
                <a:solidFill>
                  <a:schemeClr val="tx1">
                    <a:lumMod val="65000"/>
                    <a:lumOff val="35000"/>
                  </a:schemeClr>
                </a:solidFill>
              </a:defRPr>
            </a:lvl1pPr>
          </a:lstStyle>
          <a:p xmlns:a="http://schemas.openxmlformats.org/drawingml/2006/main">
            <a:pPr lvl="0">
              <a:buNone/>
            </a:pPr>
            <a:r>
              <a:t>マスター テキストの書式設定</a:t>
            </a:r>
          </a:p>
        </p:txBody>
      </p:sp>
      <p:sp>
        <p:nvSpPr>
          <p:cNvPr id="15" name="Rectangle 35">
            <a:extLst xmlns:a="http://schemas.openxmlformats.org/drawingml/2006/main">
              <a:ext uri="{FF2B5EF4-FFF2-40B4-BE49-F238E27FC236}">
                <a16:creationId xmlns:a16="http://schemas.microsoft.com/office/drawing/2014/main" id="{23617758-0468-2D94-736E-042159DAECEF}"/>
              </a:ext>
            </a:extLst>
          </p:cNvPr>
          <p:cNvSpPr>
            <a:spLocks xmlns:a="http://schemas.openxmlformats.org/drawingml/2006/main" noGrp="1"/>
          </p:cNvSpPr>
          <p:nvPr/>
        </p:nvSpPr>
        <p:spPr>
          <a:xfrm xmlns:a="http://schemas.openxmlformats.org/drawingml/2006/main">
            <a:off x="0" y="6729984"/>
            <a:ext cx="12191695" cy="128016"/>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正方形/長方形 20">
            <a:extLst xmlns:a="http://schemas.openxmlformats.org/drawingml/2006/main">
              <a:ext uri="{FF2B5EF4-FFF2-40B4-BE49-F238E27FC236}">
                <a16:creationId xmlns:a16="http://schemas.microsoft.com/office/drawing/2014/main" id="{9C7D1CD9-9C02-E9DE-D16A-ED000EBB426D}"/>
              </a:ext>
            </a:extLst>
          </p:cNvPr>
          <p:cNvSpPr>
            <a:spLocks xmlns:a="http://schemas.openxmlformats.org/drawingml/2006/main" noGrp="1"/>
          </p:cNvSpPr>
          <p:nvPr/>
        </p:nvSpPr>
        <p:spPr>
          <a:xfrm xmlns:a="http://schemas.openxmlformats.org/drawingml/2006/main">
            <a:off x="463297" y="1377086"/>
            <a:ext cx="5553456" cy="5086605"/>
          </a:xfrm>
          <a:prstGeom xmlns:a="http://schemas.openxmlformats.org/drawingml/2006/main" prst="rect">
            <a:avLst/>
          </a:prstGeom>
          <a:noFill xmlns:a="http://schemas.openxmlformats.org/drawingml/2006/main"/>
          <a:ln xmlns:a="http://schemas.openxmlformats.org/drawingml/2006/main">
            <a:solidFill>
              <a:schemeClr val="tx1">
                <a:lumMod val="50000"/>
                <a:lumOff val="50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正方形/長方形 22">
            <a:extLst xmlns:a="http://schemas.openxmlformats.org/drawingml/2006/main">
              <a:ext uri="{FF2B5EF4-FFF2-40B4-BE49-F238E27FC236}">
                <a16:creationId xmlns:a16="http://schemas.microsoft.com/office/drawing/2014/main" id="{AE71A640-007B-2631-D5F9-60E543D46707}"/>
              </a:ext>
            </a:extLst>
          </p:cNvPr>
          <p:cNvSpPr>
            <a:spLocks xmlns:a="http://schemas.openxmlformats.org/drawingml/2006/main" noGrp="1"/>
          </p:cNvSpPr>
          <p:nvPr/>
        </p:nvSpPr>
        <p:spPr>
          <a:xfrm xmlns:a="http://schemas.openxmlformats.org/drawingml/2006/main">
            <a:off x="6166104" y="1362578"/>
            <a:ext cx="5562600" cy="5103325"/>
          </a:xfrm>
          <a:prstGeom xmlns:a="http://schemas.openxmlformats.org/drawingml/2006/main" prst="rect">
            <a:avLst/>
          </a:prstGeom>
          <a:noFill xmlns:a="http://schemas.openxmlformats.org/drawingml/2006/main"/>
          <a:ln xmlns:a="http://schemas.openxmlformats.org/drawingml/2006/main">
            <a:solidFill>
              <a:schemeClr val="accent1">
                <a:lumMod val="60000"/>
                <a:lumOff val="40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itle 1">
            <a:extLst xmlns:a="http://schemas.openxmlformats.org/drawingml/2006/main">
              <a:ext uri="{FF2B5EF4-FFF2-40B4-BE49-F238E27FC236}">
                <a16:creationId xmlns:a16="http://schemas.microsoft.com/office/drawing/2014/main" id="{9172225F-2066-1B77-8C65-F715719351AA}"/>
              </a:ext>
            </a:extLst>
          </p:cNvPr>
          <p:cNvSpPr>
            <a:spLocks xmlns:a="http://schemas.openxmlformats.org/drawingml/2006/main" noGrp="1"/>
          </p:cNvSpPr>
          <p:nvPr>
            <p:ph type="title" idx="0"/>
          </p:nvPr>
        </p:nvSpPr>
        <p:spPr>
          <a:xfrm xmlns:a="http://schemas.openxmlformats.org/drawingml/2006/main">
            <a:off x="566928" y="411481"/>
            <a:ext cx="10364451" cy="502919"/>
          </a:xfrm>
        </p:spPr>
        <p:txBody>
          <a:bodyPr xmlns:a="http://schemas.openxmlformats.org/drawingml/2006/main" anchor="t"/>
          <a:lstStyle xmlns:a="http://schemas.openxmlformats.org/drawingml/2006/main">
            <a:lvl1pPr algn="l">
              <a:buNone/>
              <a:defRPr>
                <a:solidFill>
                  <a:schemeClr val="tx2">
                    <a:lumMod val="75000"/>
                  </a:schemeClr>
                </a:solidFill>
              </a:defRPr>
            </a:lvl1pPr>
          </a:lstStyle>
          <a:p xmlns:a="http://schemas.openxmlformats.org/drawingml/2006/main">
            <a:r>
              <a:t>マスター タイトルの書式設定</a:t>
            </a:r>
          </a:p>
        </p:txBody>
      </p:sp>
      <p:sp>
        <p:nvSpPr>
          <p:cNvPr id="19" name="テキスト プレースホルダー 18">
            <a:extLst xmlns:a="http://schemas.openxmlformats.org/drawingml/2006/main">
              <a:ext uri="{FF2B5EF4-FFF2-40B4-BE49-F238E27FC236}">
                <a16:creationId xmlns:a16="http://schemas.microsoft.com/office/drawing/2014/main" id="{0F5C33EA-A7A6-0093-1CFC-5DE6B341E6BF}"/>
              </a:ext>
            </a:extLst>
          </p:cNvPr>
          <p:cNvSpPr>
            <a:spLocks xmlns:a="http://schemas.openxmlformats.org/drawingml/2006/main" noGrp="1"/>
          </p:cNvSpPr>
          <p:nvPr>
            <p:ph type="body" idx="18"/>
          </p:nvPr>
        </p:nvSpPr>
        <p:spPr>
          <a:xfrm xmlns:a="http://schemas.openxmlformats.org/drawingml/2006/main">
            <a:off x="457200" y="1362578"/>
            <a:ext cx="5559552" cy="781179"/>
          </a:xfrm>
          <a:prstGeom xmlns:a="http://schemas.openxmlformats.org/drawingml/2006/main" prst="rect">
            <a:avLst/>
          </a:prstGeom>
          <a:solidFill xmlns:a="http://schemas.openxmlformats.org/drawingml/2006/main">
            <a:schemeClr val="tx1">
              <a:lumMod val="50000"/>
              <a:lumOff val="50000"/>
            </a:schemeClr>
          </a:solidFill>
        </p:spPr>
        <p:txBody>
          <a:bodyPr xmlns:a="http://schemas.openxmlformats.org/drawingml/2006/main" anchor="ctr"/>
          <a:lstStyle xmlns:a="http://schemas.openxmlformats.org/drawingml/2006/main">
            <a:lvl1pPr algn="ctr">
              <a:buNone/>
              <a:defRPr b="1">
                <a:solidFill>
                  <a:schemeClr val="bg1"/>
                </a:solidFill>
              </a:defRPr>
            </a:lvl1pPr>
          </a:lstStyle>
          <a:p xmlns:a="http://schemas.openxmlformats.org/drawingml/2006/main">
            <a:pPr lvl="0">
              <a:buNone/>
            </a:pPr>
            <a:r>
              <a:t>マスター テキストの書式設定</a:t>
            </a:r>
          </a:p>
        </p:txBody>
      </p:sp>
      <p:sp>
        <p:nvSpPr>
          <p:cNvPr id="20" name="テキスト プレースホルダー 18">
            <a:extLst xmlns:a="http://schemas.openxmlformats.org/drawingml/2006/main">
              <a:ext uri="{FF2B5EF4-FFF2-40B4-BE49-F238E27FC236}">
                <a16:creationId xmlns:a16="http://schemas.microsoft.com/office/drawing/2014/main" id="{295F1E9E-2E02-71DD-4D1F-FAFBE4409FE5}"/>
              </a:ext>
            </a:extLst>
          </p:cNvPr>
          <p:cNvSpPr>
            <a:spLocks xmlns:a="http://schemas.openxmlformats.org/drawingml/2006/main" noGrp="1"/>
          </p:cNvSpPr>
          <p:nvPr>
            <p:ph type="body" idx="19"/>
          </p:nvPr>
        </p:nvSpPr>
        <p:spPr>
          <a:xfrm xmlns:a="http://schemas.openxmlformats.org/drawingml/2006/main">
            <a:off x="6169152" y="1362578"/>
            <a:ext cx="5559552" cy="781179"/>
          </a:xfrm>
          <a:prstGeom xmlns:a="http://schemas.openxmlformats.org/drawingml/2006/main" prst="rect">
            <a:avLst/>
          </a:prstGeom>
          <a:solidFill xmlns:a="http://schemas.openxmlformats.org/drawingml/2006/main">
            <a:srgbClr val="00A8E6"/>
          </a:solidFill>
        </p:spPr>
        <p:txBody>
          <a:bodyPr xmlns:a="http://schemas.openxmlformats.org/drawingml/2006/main" anchor="ctr"/>
          <a:lstStyle xmlns:a="http://schemas.openxmlformats.org/drawingml/2006/main">
            <a:lvl1pPr algn="ctr">
              <a:buNone/>
              <a:defRPr b="1">
                <a:solidFill>
                  <a:schemeClr val="bg1"/>
                </a:solidFill>
              </a:defRPr>
            </a:lvl1pPr>
          </a:lstStyle>
          <a:p xmlns:a="http://schemas.openxmlformats.org/drawingml/2006/main">
            <a:pPr lvl="0">
              <a:buNone/>
            </a:pPr>
            <a:r>
              <a:t>マスター テキストの書式設定</a:t>
            </a:r>
          </a:p>
        </p:txBody>
      </p:sp>
    </p:spTree>
  </p:cSld>
</p:sldLayout>
</file>

<file path=ppt/slideLayouts/slideLayout4.xml><?xml version="1.0" encoding="utf-8"?>
<p:sldLayout xmlns:p="http://schemas.openxmlformats.org/presentationml/2006/main" preserve="1" userDrawn="1">
  <p:cSld name="タイトル付きの図">
    <p:spTree>
      <p:nvGrpSpPr>
        <p:cNvPr id="1" name=""/>
        <p:cNvGrpSpPr/>
        <p:nvPr/>
      </p:nvGrpSpPr>
      <p:grpSpPr>
        <a:xfrm xmlns:a="http://schemas.openxmlformats.org/drawingml/2006/main"/>
      </p:grpSpPr>
      <p:sp>
        <p:nvSpPr>
          <p:cNvPr id="3" name="Picture Placeholder 2">
            <a:extLst xmlns:a="http://schemas.openxmlformats.org/drawingml/2006/main">
              <a:ext uri="{FF2B5EF4-FFF2-40B4-BE49-F238E27FC236}">
                <a16:creationId xmlns:a16="http://schemas.microsoft.com/office/drawing/2014/main" id="{195738B5-6CE2-4B52-A9D2-AE314DB1B5E8}"/>
              </a:ext>
            </a:extLst>
          </p:cNvPr>
          <p:cNvSpPr>
            <a:spLocks xmlns:a="http://schemas.openxmlformats.org/drawingml/2006/main" noGrp="1"/>
          </p:cNvSpPr>
          <p:nvPr>
            <p:ph type="pic" idx="1"/>
          </p:nvPr>
        </p:nvSpPr>
        <p:spPr>
          <a:xfrm xmlns:a="http://schemas.openxmlformats.org/drawingml/2006/main">
            <a:off x="457200" y="1399929"/>
            <a:ext cx="6138154" cy="5181600"/>
          </a:xfrm>
          <a:prstGeom xmlns:a="http://schemas.openxmlformats.org/drawingml/2006/main" prst="roundRect">
            <a:avLst>
              <a:gd name="adj" fmla="val 4943"/>
            </a:avLst>
          </a:prstGeom>
          <a:noFill xmlns:a="http://schemas.openxmlformats.org/drawingml/2006/main"/>
          <a:ln xmlns:a="http://schemas.openxmlformats.org/drawingml/2006/main" w="19050">
            <a:solidFill>
              <a:srgbClr val="00A8E6"/>
            </a:solidFill>
          </a:ln>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アイコンをクリックして図を追加</a:t>
            </a:r>
          </a:p>
        </p:txBody>
      </p:sp>
      <p:sp>
        <p:nvSpPr>
          <p:cNvPr id="4" name="Text Placeholder 3">
            <a:extLst xmlns:a="http://schemas.openxmlformats.org/drawingml/2006/main">
              <a:ext uri="{FF2B5EF4-FFF2-40B4-BE49-F238E27FC236}">
                <a16:creationId xmlns:a16="http://schemas.microsoft.com/office/drawing/2014/main" id="{A20A0C4D-8341-4B1D-99D1-A0596E7B388C}"/>
              </a:ext>
            </a:extLst>
          </p:cNvPr>
          <p:cNvSpPr>
            <a:spLocks xmlns:a="http://schemas.openxmlformats.org/drawingml/2006/main" noGrp="1"/>
          </p:cNvSpPr>
          <p:nvPr>
            <p:ph type="body" idx="2"/>
          </p:nvPr>
        </p:nvSpPr>
        <p:spPr>
          <a:xfrm xmlns:a="http://schemas.openxmlformats.org/drawingml/2006/main">
            <a:off x="6776042" y="2931911"/>
            <a:ext cx="4709159" cy="3514608"/>
          </a:xfrm>
        </p:spPr>
        <p:txBody>
          <a:bodyPr xmlns:a="http://schemas.openxmlformats.org/drawingml/2006/main"/>
          <a:lstStyle xmlns:a="http://schemas.openxmlformats.org/drawingml/2006/main">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8" name="スライド番号プレースホルダー 8">
            <a:extLst xmlns:a="http://schemas.openxmlformats.org/drawingml/2006/main">
              <a:ext uri="{FF2B5EF4-FFF2-40B4-BE49-F238E27FC236}">
                <a16:creationId xmlns:a16="http://schemas.microsoft.com/office/drawing/2014/main" id="{A6A0EC3A-8208-2F63-BA4C-FE456AB7AFED}"/>
              </a:ext>
            </a:extLst>
          </p:cNvPr>
          <p:cNvSpPr>
            <a:spLocks xmlns:a="http://schemas.openxmlformats.org/drawingml/2006/main" noGrp="1"/>
          </p:cNvSpPr>
          <p:nvPr>
            <p:ph type="sldNum" idx="16"/>
          </p:nvPr>
        </p:nvSpPr>
        <p:spPr>
          <a:xfrm xmlns:a="http://schemas.openxmlformats.org/drawingml/2006/main">
            <a:off x="11398601" y="6463691"/>
            <a:ext cx="764215" cy="365125"/>
          </a:xfrm>
        </p:spPr>
        <p:txBody>
          <a:bodyPr xmlns:a="http://schemas.openxmlformats.org/drawingml/2006/main"/>
          <a:lstStyle xmlns:a="http://schemas.openxmlformats.org/drawingml/2006/main">
            <a:lvl1pPr>
              <a:buNone/>
              <a:defRPr>
                <a:solidFill>
                  <a:schemeClr val="tx1">
                    <a:lumMod val="65000"/>
                    <a:lumOff val="35000"/>
                  </a:schemeClr>
                </a:solidFill>
              </a:defRPr>
            </a:lvl1pPr>
          </a:lstStyle>
          <a:p xmlns:a="http://schemas.openxmlformats.org/drawingml/2006/main">
            <a:fld id="{7744AD22-693D-4773-9028-20E660F2F223}" type="slidenum">
              <a:t>‹#›</a:t>
            </a:fld>
          </a:p>
        </p:txBody>
      </p:sp>
      <p:pic>
        <p:nvPicPr>
          <p:cNvPr id="27" name="図 8"/>
          <p:cNvPicPr>
            <a:picLocks xmlns:a="http://schemas.openxmlformats.org/drawingml/2006/main" noChangeAspect="1"/>
          </p:cNvPicPr>
          <p:nvPr/>
        </p:nvPicPr>
        <p:blipFill rotWithShape="1">
          <a:blip xmlns:r="http://schemas.openxmlformats.org/officeDocument/2006/relationships" xmlns:a="http://schemas.openxmlformats.org/drawingml/2006/main" r:embed="Rf904892fbafe4c9a">
            <a:clrChange>
              <a:clrFrom>
                <a:srgbClr val="FFFFFF"/>
              </a:clrFrom>
              <a:clrTo>
                <a:srgbClr val="FFFFFF">
                  <a:alpha val="0"/>
                </a:srgbClr>
              </a:clrTo>
            </a:clrChange>
          </a:blip>
          <a:srcRect xmlns:a="http://schemas.openxmlformats.org/drawingml/2006/main" l="0" t="0" r="0" b="23070"/>
          <a:stretch xmlns:a="http://schemas.openxmlformats.org/drawingml/2006/main"/>
        </p:blipFill>
        <p:spPr>
          <a:xfrm xmlns:a="http://schemas.openxmlformats.org/drawingml/2006/main">
            <a:off x="11021882" y="169471"/>
            <a:ext cx="1090555" cy="484017"/>
          </a:xfrm>
          <a:prstGeom xmlns:a="http://schemas.openxmlformats.org/drawingml/2006/main" prst="rect">
            <a:avLst/>
          </a:prstGeom>
          <a:effectLst xmlns:a="http://schemas.openxmlformats.org/drawingml/2006/main">
            <a:glow>
              <a:schemeClr val="bg1"/>
            </a:glow>
          </a:effectLst>
        </p:spPr>
      </p:pic>
      <p:sp>
        <p:nvSpPr>
          <p:cNvPr id="11" name="Rectangle 1">
            <a:extLst xmlns:a="http://schemas.openxmlformats.org/drawingml/2006/main">
              <a:ext uri="{FF2B5EF4-FFF2-40B4-BE49-F238E27FC236}">
                <a16:creationId xmlns:a16="http://schemas.microsoft.com/office/drawing/2014/main" id="{3B41F546-F6F6-79FF-2DF9-0F26E1F2D298}"/>
              </a:ext>
            </a:extLst>
          </p:cNvPr>
          <p:cNvSpPr>
            <a:spLocks xmlns:a="http://schemas.openxmlformats.org/drawingml/2006/main" noGrp="1"/>
          </p:cNvSpPr>
          <p:nvPr/>
        </p:nvSpPr>
        <p:spPr>
          <a:xfrm xmlns:a="http://schemas.openxmlformats.org/drawingml/2006/main">
            <a:off x="457200" y="411480"/>
            <a:ext cx="109728" cy="502920"/>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Rectangle 4">
            <a:extLst xmlns:a="http://schemas.openxmlformats.org/drawingml/2006/main">
              <a:ext uri="{FF2B5EF4-FFF2-40B4-BE49-F238E27FC236}">
                <a16:creationId xmlns:a16="http://schemas.microsoft.com/office/drawing/2014/main" id="{98711BEE-A631-6371-0A47-BCE73CC8F679}"/>
              </a:ext>
            </a:extLst>
          </p:cNvPr>
          <p:cNvSpPr>
            <a:spLocks xmlns:a="http://schemas.openxmlformats.org/drawingml/2006/main" noGrp="1"/>
          </p:cNvSpPr>
          <p:nvPr/>
        </p:nvSpPr>
        <p:spPr>
          <a:xfrm xmlns:a="http://schemas.openxmlformats.org/drawingml/2006/main">
            <a:off x="457200" y="1235016"/>
            <a:ext cx="11274552" cy="16459"/>
          </a:xfrm>
          <a:prstGeom xmlns:a="http://schemas.openxmlformats.org/drawingml/2006/main" prst="rect">
            <a:avLst/>
          </a:prstGeom>
          <a:solidFill xmlns:a="http://schemas.openxmlformats.org/drawingml/2006/main">
            <a:srgbClr val="E5E7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テキスト プレースホルダー 52">
            <a:extLst xmlns:a="http://schemas.openxmlformats.org/drawingml/2006/main">
              <a:ext uri="{FF2B5EF4-FFF2-40B4-BE49-F238E27FC236}">
                <a16:creationId xmlns:a16="http://schemas.microsoft.com/office/drawing/2014/main" id="{93543058-FC54-28CC-6D04-0980939B6B7D}"/>
              </a:ext>
            </a:extLst>
          </p:cNvPr>
          <p:cNvSpPr>
            <a:spLocks xmlns:a="http://schemas.openxmlformats.org/drawingml/2006/main" noGrp="1"/>
          </p:cNvSpPr>
          <p:nvPr>
            <p:ph type="body" idx="17"/>
          </p:nvPr>
        </p:nvSpPr>
        <p:spPr>
          <a:xfrm xmlns:a="http://schemas.openxmlformats.org/drawingml/2006/main">
            <a:off x="566927" y="923635"/>
            <a:ext cx="3679148" cy="248005"/>
          </a:xfrm>
        </p:spPr>
        <p:txBody>
          <a:bodyPr xmlns:a="http://schemas.openxmlformats.org/drawingml/2006/main" anchor="ctr">
            <a:noAutofit/>
          </a:bodyPr>
          <a:lstStyle xmlns:a="http://schemas.openxmlformats.org/drawingml/2006/main">
            <a:lvl1pPr>
              <a:buNone/>
              <a:defRPr sz="1400">
                <a:solidFill>
                  <a:schemeClr val="tx1">
                    <a:lumMod val="65000"/>
                    <a:lumOff val="35000"/>
                  </a:schemeClr>
                </a:solidFill>
              </a:defRPr>
            </a:lvl1pPr>
          </a:lstStyle>
          <a:p xmlns:a="http://schemas.openxmlformats.org/drawingml/2006/main">
            <a:pPr lvl="0">
              <a:buNone/>
            </a:pPr>
            <a:r>
              <a:t>マスター テキストの書式設定</a:t>
            </a:r>
          </a:p>
        </p:txBody>
      </p:sp>
      <p:sp>
        <p:nvSpPr>
          <p:cNvPr id="14" name="Rectangle 35">
            <a:extLst xmlns:a="http://schemas.openxmlformats.org/drawingml/2006/main">
              <a:ext uri="{FF2B5EF4-FFF2-40B4-BE49-F238E27FC236}">
                <a16:creationId xmlns:a16="http://schemas.microsoft.com/office/drawing/2014/main" id="{565548AB-4F85-1922-397A-15828B82CD68}"/>
              </a:ext>
            </a:extLst>
          </p:cNvPr>
          <p:cNvSpPr>
            <a:spLocks xmlns:a="http://schemas.openxmlformats.org/drawingml/2006/main" noGrp="1"/>
          </p:cNvSpPr>
          <p:nvPr/>
        </p:nvSpPr>
        <p:spPr>
          <a:xfrm xmlns:a="http://schemas.openxmlformats.org/drawingml/2006/main">
            <a:off x="0" y="6729984"/>
            <a:ext cx="12191695" cy="128016"/>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0">
            <a:extLst xmlns:a="http://schemas.openxmlformats.org/drawingml/2006/main">
              <a:ext uri="{FF2B5EF4-FFF2-40B4-BE49-F238E27FC236}">
                <a16:creationId xmlns:a16="http://schemas.microsoft.com/office/drawing/2014/main" id="{4F66BA0C-576F-D7DD-05AB-7247A3CE95EF}"/>
              </a:ext>
            </a:extLst>
          </p:cNvPr>
          <p:cNvSpPr>
            <a:spLocks xmlns:a="http://schemas.openxmlformats.org/drawingml/2006/main" noGrp="1"/>
          </p:cNvSpPr>
          <p:nvPr/>
        </p:nvSpPr>
        <p:spPr>
          <a:xfrm xmlns:a="http://schemas.openxmlformats.org/drawingml/2006/main">
            <a:off x="6858000" y="2710303"/>
            <a:ext cx="640080" cy="36576"/>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テキスト プレースホルダー 52">
            <a:extLst xmlns:a="http://schemas.openxmlformats.org/drawingml/2006/main">
              <a:ext uri="{FF2B5EF4-FFF2-40B4-BE49-F238E27FC236}">
                <a16:creationId xmlns:a16="http://schemas.microsoft.com/office/drawing/2014/main" id="{860C1474-869A-0810-7EF3-9014B952FCAD}"/>
              </a:ext>
            </a:extLst>
          </p:cNvPr>
          <p:cNvSpPr>
            <a:spLocks xmlns:a="http://schemas.openxmlformats.org/drawingml/2006/main" noGrp="1"/>
          </p:cNvSpPr>
          <p:nvPr>
            <p:ph type="body" idx="18"/>
          </p:nvPr>
        </p:nvSpPr>
        <p:spPr>
          <a:xfrm xmlns:a="http://schemas.openxmlformats.org/drawingml/2006/main">
            <a:off x="6776042" y="1466743"/>
            <a:ext cx="3679148" cy="248005"/>
          </a:xfrm>
        </p:spPr>
        <p:txBody>
          <a:bodyPr xmlns:a="http://schemas.openxmlformats.org/drawingml/2006/main" anchor="ctr">
            <a:noAutofit/>
          </a:bodyPr>
          <a:lstStyle xmlns:a="http://schemas.openxmlformats.org/drawingml/2006/main">
            <a:lvl1pPr>
              <a:buNone/>
              <a:defRPr sz="1400" b="1">
                <a:solidFill>
                  <a:schemeClr val="accent4"/>
                </a:solidFill>
              </a:defRPr>
            </a:lvl1pPr>
          </a:lstStyle>
          <a:p xmlns:a="http://schemas.openxmlformats.org/drawingml/2006/main">
            <a:pPr lvl="0">
              <a:buNone/>
            </a:pPr>
            <a:r>
              <a:t>マスター テキストの書式設定</a:t>
            </a:r>
          </a:p>
        </p:txBody>
      </p:sp>
      <p:sp>
        <p:nvSpPr>
          <p:cNvPr id="21" name="Title 1">
            <a:extLst xmlns:a="http://schemas.openxmlformats.org/drawingml/2006/main">
              <a:ext uri="{FF2B5EF4-FFF2-40B4-BE49-F238E27FC236}">
                <a16:creationId xmlns:a16="http://schemas.microsoft.com/office/drawing/2014/main" id="{65C7C5BC-539B-2087-C4DA-65CC2040FC37}"/>
              </a:ext>
            </a:extLst>
          </p:cNvPr>
          <p:cNvSpPr>
            <a:spLocks xmlns:a="http://schemas.openxmlformats.org/drawingml/2006/main" noGrp="1"/>
          </p:cNvSpPr>
          <p:nvPr>
            <p:ph type="title" idx="0"/>
          </p:nvPr>
        </p:nvSpPr>
        <p:spPr>
          <a:xfrm xmlns:a="http://schemas.openxmlformats.org/drawingml/2006/main">
            <a:off x="566928" y="411481"/>
            <a:ext cx="10364451" cy="502919"/>
          </a:xfrm>
        </p:spPr>
        <p:txBody>
          <a:bodyPr xmlns:a="http://schemas.openxmlformats.org/drawingml/2006/main" anchor="t"/>
          <a:lstStyle xmlns:a="http://schemas.openxmlformats.org/drawingml/2006/main">
            <a:lvl1pPr algn="l">
              <a:buNone/>
              <a:defRPr>
                <a:solidFill>
                  <a:schemeClr val="tx2">
                    <a:lumMod val="75000"/>
                  </a:schemeClr>
                </a:solidFill>
              </a:defRPr>
            </a:lvl1pPr>
          </a:lstStyle>
          <a:p xmlns:a="http://schemas.openxmlformats.org/drawingml/2006/main">
            <a:r>
              <a:t>マスター タイトルの書式設定</a:t>
            </a:r>
          </a:p>
        </p:txBody>
      </p:sp>
      <p:sp>
        <p:nvSpPr>
          <p:cNvPr id="22" name="Text Placeholder 3">
            <a:extLst xmlns:a="http://schemas.openxmlformats.org/drawingml/2006/main">
              <a:ext uri="{FF2B5EF4-FFF2-40B4-BE49-F238E27FC236}">
                <a16:creationId xmlns:a16="http://schemas.microsoft.com/office/drawing/2014/main" id="{407AECB8-4D72-3F83-4F09-8BB49A8F946F}"/>
              </a:ext>
            </a:extLst>
          </p:cNvPr>
          <p:cNvSpPr>
            <a:spLocks xmlns:a="http://schemas.openxmlformats.org/drawingml/2006/main" noGrp="1"/>
          </p:cNvSpPr>
          <p:nvPr>
            <p:ph type="body" idx="19"/>
          </p:nvPr>
        </p:nvSpPr>
        <p:spPr>
          <a:xfrm xmlns:a="http://schemas.openxmlformats.org/drawingml/2006/main">
            <a:off x="6776042" y="1859448"/>
            <a:ext cx="4709159" cy="544230"/>
          </a:xfrm>
        </p:spPr>
        <p:txBody>
          <a:bodyPr xmlns:a="http://schemas.openxmlformats.org/drawingml/2006/main">
            <a:normAutofit/>
          </a:bodyPr>
          <a:lstStyle xmlns:a="http://schemas.openxmlformats.org/drawingml/2006/main">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Tree>
  </p:cSld>
</p:sldLayout>
</file>

<file path=ppt/slideLayouts/slideLayout5.xml><?xml version="1.0" encoding="utf-8"?>
<p:sldLayout xmlns:p="http://schemas.openxmlformats.org/presentationml/2006/main" preserve="1" userDrawn="1">
  <p:cSld name="タイトル付きのコンテンツ">
    <p:spTree>
      <p:nvGrpSpPr>
        <p:cNvPr id="1" name=""/>
        <p:cNvGrpSpPr/>
        <p:nvPr/>
      </p:nvGrpSpPr>
      <p:grpSpPr>
        <a:xfrm xmlns:a="http://schemas.openxmlformats.org/drawingml/2006/main"/>
      </p:grpSpPr>
      <p:sp>
        <p:nvSpPr>
          <p:cNvPr id="3" name="Rectangle 1">
            <a:extLst xmlns:a="http://schemas.openxmlformats.org/drawingml/2006/main">
              <a:ext uri="{FF2B5EF4-FFF2-40B4-BE49-F238E27FC236}">
                <a16:creationId xmlns:a16="http://schemas.microsoft.com/office/drawing/2014/main" id="{70C0DB40-5F2F-F35A-86C4-01E32B225B0D}"/>
              </a:ext>
            </a:extLst>
          </p:cNvPr>
          <p:cNvSpPr>
            <a:spLocks xmlns:a="http://schemas.openxmlformats.org/drawingml/2006/main" noGrp="1"/>
          </p:cNvSpPr>
          <p:nvPr/>
        </p:nvSpPr>
        <p:spPr>
          <a:xfrm xmlns:a="http://schemas.openxmlformats.org/drawingml/2006/main">
            <a:off x="0" y="0"/>
            <a:ext cx="4389120" cy="6858000"/>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8">
            <a:extLst xmlns:a="http://schemas.openxmlformats.org/drawingml/2006/main">
              <a:ext uri="{FF2B5EF4-FFF2-40B4-BE49-F238E27FC236}">
                <a16:creationId xmlns:a16="http://schemas.microsoft.com/office/drawing/2014/main" id="{568D18EB-93BD-0FF9-EB13-FAC166CC8116}"/>
              </a:ext>
            </a:extLst>
          </p:cNvPr>
          <p:cNvSpPr>
            <a:spLocks xmlns:a="http://schemas.openxmlformats.org/drawingml/2006/main" noGrp="1"/>
          </p:cNvSpPr>
          <p:nvPr/>
        </p:nvSpPr>
        <p:spPr>
          <a:xfrm xmlns:a="http://schemas.openxmlformats.org/drawingml/2006/main">
            <a:off x="4389120" y="6729984"/>
            <a:ext cx="7802575" cy="128016"/>
          </a:xfrm>
          <a:prstGeom xmlns:a="http://schemas.openxmlformats.org/drawingml/2006/main" prst="rect">
            <a:avLst/>
          </a:prstGeom>
          <a:solidFill xmlns:a="http://schemas.openxmlformats.org/drawingml/2006/main">
            <a:srgbClr val="0A3D6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3ADF056D-F2FD-4AB1-ADA5-E468676134AF}"/>
              </a:ext>
            </a:extLst>
          </p:cNvPr>
          <p:cNvSpPr>
            <a:spLocks xmlns:a="http://schemas.openxmlformats.org/drawingml/2006/main" noGrp="1"/>
          </p:cNvSpPr>
          <p:nvPr>
            <p:ph type="title" idx="0"/>
          </p:nvPr>
        </p:nvSpPr>
        <p:spPr>
          <a:xfrm xmlns:a="http://schemas.openxmlformats.org/drawingml/2006/main">
            <a:off x="567731" y="3242452"/>
            <a:ext cx="3676119" cy="2023252"/>
          </a:xfrm>
        </p:spPr>
        <p:txBody>
          <a:bodyPr xmlns:a="http://schemas.openxmlformats.org/drawingml/2006/main" anchor="t">
            <a:normAutofit/>
          </a:bodyPr>
          <a:lstStyle xmlns:a="http://schemas.openxmlformats.org/drawingml/2006/main">
            <a:lvl1pPr algn="l">
              <a:buNone/>
              <a:defRPr sz="3600" b="1">
                <a:solidFill>
                  <a:schemeClr val="bg1"/>
                </a:solidFill>
              </a:defRPr>
            </a:lvl1pPr>
          </a:lstStyle>
          <a:p xmlns:a="http://schemas.openxmlformats.org/drawingml/2006/main">
            <a:r>
              <a:t>マスター タイトルの書式設定</a:t>
            </a:r>
          </a:p>
        </p:txBody>
      </p:sp>
      <p:sp>
        <p:nvSpPr>
          <p:cNvPr id="4" name="Text Placeholder 3">
            <a:extLst xmlns:a="http://schemas.openxmlformats.org/drawingml/2006/main">
              <a:ext uri="{FF2B5EF4-FFF2-40B4-BE49-F238E27FC236}">
                <a16:creationId xmlns:a16="http://schemas.microsoft.com/office/drawing/2014/main" id="{8F022991-1ADA-4E66-8801-22030733B4FD}"/>
              </a:ext>
            </a:extLst>
          </p:cNvPr>
          <p:cNvSpPr>
            <a:spLocks xmlns:a="http://schemas.openxmlformats.org/drawingml/2006/main" noGrp="1"/>
          </p:cNvSpPr>
          <p:nvPr>
            <p:ph type="body" idx="2"/>
          </p:nvPr>
        </p:nvSpPr>
        <p:spPr>
          <a:xfrm xmlns:a="http://schemas.openxmlformats.org/drawingml/2006/main">
            <a:off x="567731" y="2423769"/>
            <a:ext cx="3676120" cy="418166"/>
          </a:xfrm>
        </p:spPr>
        <p:txBody>
          <a:bodyPr xmlns:a="http://schemas.openxmlformats.org/drawingml/2006/main">
            <a:normAutofit/>
          </a:bodyPr>
          <a:lstStyle xmlns:a="http://schemas.openxmlformats.org/drawingml/2006/main">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9" name="スライド番号プレースホルダー 8">
            <a:extLst xmlns:a="http://schemas.openxmlformats.org/drawingml/2006/main">
              <a:ext uri="{FF2B5EF4-FFF2-40B4-BE49-F238E27FC236}">
                <a16:creationId xmlns:a16="http://schemas.microsoft.com/office/drawing/2014/main" id="{6751F391-8EE4-1296-D5AE-03886A4EE68B}"/>
              </a:ext>
            </a:extLst>
          </p:cNvPr>
          <p:cNvSpPr>
            <a:spLocks xmlns:a="http://schemas.openxmlformats.org/drawingml/2006/main" noGrp="1"/>
          </p:cNvSpPr>
          <p:nvPr>
            <p:ph type="sldNum" idx="16"/>
          </p:nvPr>
        </p:nvSpPr>
        <p:spPr>
          <a:xfrm xmlns:a="http://schemas.openxmlformats.org/drawingml/2006/main">
            <a:off x="11398601" y="6463691"/>
            <a:ext cx="764215" cy="365125"/>
          </a:xfrm>
        </p:spPr>
        <p:txBody>
          <a:bodyPr xmlns:a="http://schemas.openxmlformats.org/drawingml/2006/main"/>
          <a:lstStyle xmlns:a="http://schemas.openxmlformats.org/drawingml/2006/main">
            <a:lvl1pPr>
              <a:buNone/>
              <a:defRPr>
                <a:solidFill>
                  <a:schemeClr val="tx1">
                    <a:lumMod val="65000"/>
                    <a:lumOff val="35000"/>
                  </a:schemeClr>
                </a:solidFill>
              </a:defRPr>
            </a:lvl1pPr>
          </a:lstStyle>
          <a:p xmlns:a="http://schemas.openxmlformats.org/drawingml/2006/main">
            <a:fld id="{7744AD22-693D-4773-9028-20E660F2F223}" type="slidenum">
              <a:t>‹#›</a:t>
            </a:fld>
          </a:p>
        </p:txBody>
      </p:sp>
      <p:pic>
        <p:nvPicPr>
          <p:cNvPr id="25" name="図 11"/>
          <p:cNvPicPr>
            <a:picLocks xmlns:a="http://schemas.openxmlformats.org/drawingml/2006/main" noChangeAspect="1"/>
          </p:cNvPicPr>
          <p:nvPr/>
        </p:nvPicPr>
        <p:blipFill rotWithShape="1">
          <a:blip xmlns:r="http://schemas.openxmlformats.org/officeDocument/2006/relationships" xmlns:a="http://schemas.openxmlformats.org/drawingml/2006/main" r:embed="Re53c6ca2968540b8">
            <a:clrChange>
              <a:clrFrom>
                <a:srgbClr val="FFFFFF"/>
              </a:clrFrom>
              <a:clrTo>
                <a:srgbClr val="FFFFFF">
                  <a:alpha val="0"/>
                </a:srgbClr>
              </a:clrTo>
            </a:clrChange>
          </a:blip>
          <a:srcRect xmlns:a="http://schemas.openxmlformats.org/drawingml/2006/main" l="0" t="0" r="0" b="23070"/>
          <a:stretch xmlns:a="http://schemas.openxmlformats.org/drawingml/2006/main"/>
        </p:blipFill>
        <p:spPr>
          <a:xfrm xmlns:a="http://schemas.openxmlformats.org/drawingml/2006/main">
            <a:off x="11021882" y="169471"/>
            <a:ext cx="1090555" cy="484017"/>
          </a:xfrm>
          <a:prstGeom xmlns:a="http://schemas.openxmlformats.org/drawingml/2006/main" prst="rect">
            <a:avLst/>
          </a:prstGeom>
          <a:effectLst xmlns:a="http://schemas.openxmlformats.org/drawingml/2006/main">
            <a:glow>
              <a:schemeClr val="bg1"/>
            </a:glow>
          </a:effectLst>
        </p:spPr>
      </p:pic>
      <p:sp>
        <p:nvSpPr>
          <p:cNvPr id="13" name="Rectangle 3">
            <a:extLst xmlns:a="http://schemas.openxmlformats.org/drawingml/2006/main">
              <a:ext uri="{FF2B5EF4-FFF2-40B4-BE49-F238E27FC236}">
                <a16:creationId xmlns:a16="http://schemas.microsoft.com/office/drawing/2014/main" id="{E6212A41-BD99-9E37-D686-4516D7835ED0}"/>
              </a:ext>
            </a:extLst>
          </p:cNvPr>
          <p:cNvSpPr>
            <a:spLocks xmlns:a="http://schemas.openxmlformats.org/drawingml/2006/main" noGrp="1"/>
          </p:cNvSpPr>
          <p:nvPr/>
        </p:nvSpPr>
        <p:spPr>
          <a:xfrm xmlns:a="http://schemas.openxmlformats.org/drawingml/2006/main">
            <a:off x="640080" y="3063240"/>
            <a:ext cx="548640" cy="36576"/>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 Placeholder 3">
            <a:extLst xmlns:a="http://schemas.openxmlformats.org/drawingml/2006/main">
              <a:ext uri="{FF2B5EF4-FFF2-40B4-BE49-F238E27FC236}">
                <a16:creationId xmlns:a16="http://schemas.microsoft.com/office/drawing/2014/main" id="{B0575233-4969-A31B-6759-06E9D74CF34A}"/>
              </a:ext>
            </a:extLst>
          </p:cNvPr>
          <p:cNvSpPr>
            <a:spLocks xmlns:a="http://schemas.openxmlformats.org/drawingml/2006/main" noGrp="1"/>
          </p:cNvSpPr>
          <p:nvPr>
            <p:ph type="body" idx="17"/>
          </p:nvPr>
        </p:nvSpPr>
        <p:spPr>
          <a:xfrm xmlns:a="http://schemas.openxmlformats.org/drawingml/2006/main">
            <a:off x="5078062" y="2681650"/>
            <a:ext cx="3676120" cy="418166"/>
          </a:xfrm>
        </p:spPr>
        <p:txBody>
          <a:bodyPr xmlns:a="http://schemas.openxmlformats.org/drawingml/2006/main"/>
          <a:lstStyle xmlns:a="http://schemas.openxmlformats.org/drawingml/2006/main">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18" name="コンテンツ プレースホルダー 17">
            <a:extLst xmlns:a="http://schemas.openxmlformats.org/drawingml/2006/main">
              <a:ext uri="{FF2B5EF4-FFF2-40B4-BE49-F238E27FC236}">
                <a16:creationId xmlns:a16="http://schemas.microsoft.com/office/drawing/2014/main" id="{11E6EC22-F40F-ADE9-9D6F-63DED8B28503}"/>
              </a:ext>
            </a:extLst>
          </p:cNvPr>
          <p:cNvSpPr>
            <a:spLocks xmlns:a="http://schemas.openxmlformats.org/drawingml/2006/main" noGrp="1"/>
          </p:cNvSpPr>
          <p:nvPr>
            <p:ph idx="18"/>
          </p:nvPr>
        </p:nvSpPr>
        <p:spPr>
          <a:xfrm xmlns:a="http://schemas.openxmlformats.org/drawingml/2006/main">
            <a:off x="5078061" y="3242451"/>
            <a:ext cx="6320539" cy="2944339"/>
          </a:xfrm>
        </p:spPr>
        <p:txBody>
          <a:bodyPr xmlns:a="http://schemas.openxmlformats.org/drawingml/2006/main">
            <a:normAutofit/>
          </a:bodyPr>
          <a:lstStyle xmlns:a="http://schemas.openxmlformats.org/drawingml/2006/main">
            <a:lvl1pPr marL="0">
              <a:lnSpc>
                <a:spcPct val="100000"/>
              </a:lnSpc>
              <a:buNone/>
              <a:defRPr sz="2800" b="1">
                <a:solidFill>
                  <a:schemeClr val="tx2">
                    <a:lumMod val="75000"/>
                  </a:schemeClr>
                </a:solidFill>
              </a:defRPr>
            </a:lvl1pPr>
            <a:lvl2pPr>
              <a:buNone/>
              <a:defRPr sz="2000" b="1"/>
            </a:lvl2pPr>
            <a:lvl3pPr>
              <a:buNone/>
              <a:defRPr sz="1800" b="1"/>
            </a:lvl3pPr>
            <a:lvl4pPr>
              <a:buNone/>
              <a:defRPr sz="1600" b="1"/>
            </a:lvl4pPr>
            <a:lvl5pPr>
              <a:buNone/>
              <a:defRPr sz="1600" b="1"/>
            </a:lvl5pPr>
          </a:lstStyle>
          <a:p xmlns:a="http://schemas.openxmlformats.org/drawingml/2006/main">
            <a:pPr lvl="0">
              <a:buNone/>
            </a:pPr>
            <a:r>
              <a:t>マスター テキストの書式設定</a:t>
            </a:r>
          </a:p>
        </p:txBody>
      </p:sp>
    </p:spTree>
  </p:cSld>
</p:sldLayout>
</file>

<file path=ppt/slideLayouts/slideLayout6.xml><?xml version="1.0" encoding="utf-8"?>
<p:sldLayout xmlns:p="http://schemas.openxmlformats.org/presentationml/2006/main" preserve="1" userDrawn="1">
  <p:cSld name="1_タイトルとコンテンツ">
    <p:spTree>
      <p:nvGrpSpPr>
        <p:cNvPr id="1" name=""/>
        <p:cNvGrpSpPr/>
        <p:nvPr/>
      </p:nvGrpSpPr>
      <p:grpSpPr>
        <a:xfrm xmlns:a="http://schemas.openxmlformats.org/drawingml/2006/main"/>
      </p:grpSpPr>
      <p:sp>
        <p:nvSpPr>
          <p:cNvPr id="15" name="Rectangle 35">
            <a:extLst xmlns:a="http://schemas.openxmlformats.org/drawingml/2006/main">
              <a:ext uri="{FF2B5EF4-FFF2-40B4-BE49-F238E27FC236}">
                <a16:creationId xmlns:a16="http://schemas.microsoft.com/office/drawing/2014/main" id="{7A9930C5-9CE5-CD3F-0B34-BA742C592203}"/>
              </a:ext>
            </a:extLst>
          </p:cNvPr>
          <p:cNvSpPr>
            <a:spLocks xmlns:a="http://schemas.openxmlformats.org/drawingml/2006/main" noGrp="1"/>
          </p:cNvSpPr>
          <p:nvPr/>
        </p:nvSpPr>
        <p:spPr>
          <a:xfrm xmlns:a="http://schemas.openxmlformats.org/drawingml/2006/main">
            <a:off x="0" y="6729984"/>
            <a:ext cx="12191695" cy="128016"/>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Title 1">
            <a:extLst xmlns:a="http://schemas.openxmlformats.org/drawingml/2006/main">
              <a:ext uri="{FF2B5EF4-FFF2-40B4-BE49-F238E27FC236}">
                <a16:creationId xmlns:a16="http://schemas.microsoft.com/office/drawing/2014/main" id="{CE225233-D8F4-4DAE-BE2C-E75BE981D4D7}"/>
              </a:ext>
            </a:extLst>
          </p:cNvPr>
          <p:cNvSpPr>
            <a:spLocks xmlns:a="http://schemas.openxmlformats.org/drawingml/2006/main" noGrp="1"/>
          </p:cNvSpPr>
          <p:nvPr>
            <p:ph type="title" idx="0"/>
          </p:nvPr>
        </p:nvSpPr>
        <p:spPr>
          <a:xfrm xmlns:a="http://schemas.openxmlformats.org/drawingml/2006/main">
            <a:off x="353117" y="590117"/>
            <a:ext cx="10364451" cy="502919"/>
          </a:xfrm>
        </p:spPr>
        <p:txBody>
          <a:bodyPr xmlns:a="http://schemas.openxmlformats.org/drawingml/2006/main" anchor="t"/>
          <a:lstStyle xmlns:a="http://schemas.openxmlformats.org/drawingml/2006/main">
            <a:lvl1pPr algn="l">
              <a:buNone/>
              <a:defRPr b="1">
                <a:solidFill>
                  <a:schemeClr val="tx2">
                    <a:lumMod val="75000"/>
                  </a:schemeClr>
                </a:solidFill>
              </a:defRPr>
            </a:lvl1pPr>
          </a:lstStyle>
          <a:p xmlns:a="http://schemas.openxmlformats.org/drawingml/2006/main">
            <a:r>
              <a:t>マスター タイトルの書式設定</a:t>
            </a:r>
          </a:p>
        </p:txBody>
      </p:sp>
      <p:sp>
        <p:nvSpPr>
          <p:cNvPr id="9" name="スライド番号プレースホルダー 8">
            <a:extLst xmlns:a="http://schemas.openxmlformats.org/drawingml/2006/main">
              <a:ext uri="{FF2B5EF4-FFF2-40B4-BE49-F238E27FC236}">
                <a16:creationId xmlns:a16="http://schemas.microsoft.com/office/drawing/2014/main" id="{769DF8EF-F888-3401-8278-4FAF9AF9F249}"/>
              </a:ext>
            </a:extLst>
          </p:cNvPr>
          <p:cNvSpPr>
            <a:spLocks xmlns:a="http://schemas.openxmlformats.org/drawingml/2006/main" noGrp="1"/>
          </p:cNvSpPr>
          <p:nvPr>
            <p:ph type="sldNum" idx="16"/>
          </p:nvPr>
        </p:nvSpPr>
        <p:spPr>
          <a:xfrm xmlns:a="http://schemas.openxmlformats.org/drawingml/2006/main">
            <a:off x="11398601" y="6463691"/>
            <a:ext cx="764215" cy="365125"/>
          </a:xfrm>
        </p:spPr>
        <p:txBody>
          <a:bodyPr xmlns:a="http://schemas.openxmlformats.org/drawingml/2006/main"/>
          <a:lstStyle xmlns:a="http://schemas.openxmlformats.org/drawingml/2006/main">
            <a:lvl1pPr>
              <a:buNone/>
              <a:defRPr>
                <a:solidFill>
                  <a:schemeClr val="tx1">
                    <a:lumMod val="65000"/>
                    <a:lumOff val="35000"/>
                  </a:schemeClr>
                </a:solidFill>
              </a:defRPr>
            </a:lvl1pPr>
          </a:lstStyle>
          <a:p xmlns:a="http://schemas.openxmlformats.org/drawingml/2006/main">
            <a:fld id="{7744AD22-693D-4773-9028-20E660F2F223}" type="slidenum">
              <a:t>‹#›</a:t>
            </a:fld>
          </a:p>
        </p:txBody>
      </p:sp>
      <p:sp>
        <p:nvSpPr>
          <p:cNvPr id="53" name="テキスト プレースホルダー 52">
            <a:extLst xmlns:a="http://schemas.openxmlformats.org/drawingml/2006/main">
              <a:ext uri="{FF2B5EF4-FFF2-40B4-BE49-F238E27FC236}">
                <a16:creationId xmlns:a16="http://schemas.microsoft.com/office/drawing/2014/main" id="{F8CF3099-468C-D418-D6F8-EC2CC9B3FAEC}"/>
              </a:ext>
            </a:extLst>
          </p:cNvPr>
          <p:cNvSpPr>
            <a:spLocks xmlns:a="http://schemas.openxmlformats.org/drawingml/2006/main" noGrp="1"/>
          </p:cNvSpPr>
          <p:nvPr>
            <p:ph type="body" idx="17"/>
          </p:nvPr>
        </p:nvSpPr>
        <p:spPr>
          <a:xfrm xmlns:a="http://schemas.openxmlformats.org/drawingml/2006/main">
            <a:off x="353117" y="277487"/>
            <a:ext cx="3679148" cy="248005"/>
          </a:xfrm>
        </p:spPr>
        <p:txBody>
          <a:bodyPr xmlns:a="http://schemas.openxmlformats.org/drawingml/2006/main" anchor="ctr">
            <a:noAutofit/>
          </a:bodyPr>
          <a:lstStyle xmlns:a="http://schemas.openxmlformats.org/drawingml/2006/main">
            <a:lvl1pPr>
              <a:buNone/>
              <a:defRPr sz="1200" b="1">
                <a:solidFill>
                  <a:srgbClr val="0070C0"/>
                </a:solidFill>
              </a:defRPr>
            </a:lvl1pPr>
          </a:lstStyle>
          <a:p xmlns:a="http://schemas.openxmlformats.org/drawingml/2006/main">
            <a:pPr lvl="0">
              <a:buNone/>
            </a:pPr>
            <a:r>
              <a:t>マスター テキストの書式設定</a:t>
            </a:r>
          </a:p>
        </p:txBody>
      </p:sp>
      <p:pic>
        <p:nvPicPr>
          <p:cNvPr id="59" name="図 53"/>
          <p:cNvPicPr>
            <a:picLocks xmlns:a="http://schemas.openxmlformats.org/drawingml/2006/main" noChangeAspect="1"/>
          </p:cNvPicPr>
          <p:nvPr/>
        </p:nvPicPr>
        <p:blipFill rotWithShape="1">
          <a:blip xmlns:r="http://schemas.openxmlformats.org/officeDocument/2006/relationships" xmlns:a="http://schemas.openxmlformats.org/drawingml/2006/main" r:embed="R3380fac1312c4186">
            <a:clrChange>
              <a:clrFrom>
                <a:srgbClr val="FFFFFF"/>
              </a:clrFrom>
              <a:clrTo>
                <a:srgbClr val="FFFFFF">
                  <a:alpha val="0"/>
                </a:srgbClr>
              </a:clrTo>
            </a:clrChange>
          </a:blip>
          <a:srcRect xmlns:a="http://schemas.openxmlformats.org/drawingml/2006/main" l="0" t="0" r="0" b="23070"/>
          <a:stretch xmlns:a="http://schemas.openxmlformats.org/drawingml/2006/main"/>
        </p:blipFill>
        <p:spPr>
          <a:xfrm xmlns:a="http://schemas.openxmlformats.org/drawingml/2006/main">
            <a:off x="11021882" y="169471"/>
            <a:ext cx="1090555" cy="484017"/>
          </a:xfrm>
          <a:prstGeom xmlns:a="http://schemas.openxmlformats.org/drawingml/2006/main" prst="rect">
            <a:avLst/>
          </a:prstGeom>
          <a:effectLst xmlns:a="http://schemas.openxmlformats.org/drawingml/2006/main">
            <a:glow>
              <a:schemeClr val="bg1"/>
            </a:glow>
          </a:effectLst>
        </p:spPr>
      </p:pic>
      <p:sp>
        <p:nvSpPr>
          <p:cNvPr id="3" name="Shape 3">
            <a:extLst xmlns:a="http://schemas.openxmlformats.org/drawingml/2006/main">
              <a:ext uri="{FF2B5EF4-FFF2-40B4-BE49-F238E27FC236}">
                <a16:creationId xmlns:a16="http://schemas.microsoft.com/office/drawing/2014/main" id="{B0E02CB6-6242-8B4F-E9ED-2424F73EEA9F}"/>
              </a:ext>
            </a:extLst>
          </p:cNvPr>
          <p:cNvSpPr>
            <a:spLocks xmlns:a="http://schemas.openxmlformats.org/drawingml/2006/main" noGrp="1"/>
          </p:cNvSpPr>
          <p:nvPr/>
        </p:nvSpPr>
        <p:spPr>
          <a:xfrm xmlns:a="http://schemas.openxmlformats.org/drawingml/2006/main">
            <a:off x="457200" y="1234440"/>
            <a:ext cx="914400" cy="0"/>
          </a:xfrm>
          <a:prstGeom xmlns:a="http://schemas.openxmlformats.org/drawingml/2006/main" prst="line">
            <a:avLst/>
          </a:prstGeom>
          <a:noFill xmlns:a="http://schemas.openxmlformats.org/drawingml/2006/main"/>
          <a:ln xmlns:a="http://schemas.openxmlformats.org/drawingml/2006/main" w="38100">
            <a:solidFill>
              <a:srgbClr val="00A8E6"/>
            </a:solidFill>
            <a:prstDash val="solid"/>
          </a:ln>
        </p:spPr>
        <p:txBody>
          <a:bodyPr xmlns:a="http://schemas.openxmlformats.org/drawingml/2006/main"/>
          <a:lstStyle xmlns:a="http://schemas.openxmlformats.org/drawingml/2006/main"/>
          <a:p xmlns:a="http://schemas.openxmlformats.org/drawingml/2006/main"/>
        </p:txBody>
      </p:sp>
      <p:sp>
        <p:nvSpPr>
          <p:cNvPr id="16" name="Rectangle 35">
            <a:extLst xmlns:a="http://schemas.openxmlformats.org/drawingml/2006/main">
              <a:ext uri="{FF2B5EF4-FFF2-40B4-BE49-F238E27FC236}">
                <a16:creationId xmlns:a16="http://schemas.microsoft.com/office/drawing/2014/main" id="{D4D631C2-ED8A-15C5-915E-0BE64E42497C}"/>
              </a:ext>
            </a:extLst>
          </p:cNvPr>
          <p:cNvSpPr>
            <a:spLocks xmlns:a="http://schemas.openxmlformats.org/drawingml/2006/main" noGrp="1"/>
          </p:cNvSpPr>
          <p:nvPr/>
        </p:nvSpPr>
        <p:spPr>
          <a:xfrm xmlns:a="http://schemas.openxmlformats.org/drawingml/2006/main">
            <a:off x="0" y="0"/>
            <a:ext cx="12191695" cy="72000"/>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コンテンツ プレースホルダー 55">
            <a:extLst xmlns:a="http://schemas.openxmlformats.org/drawingml/2006/main">
              <a:ext uri="{FF2B5EF4-FFF2-40B4-BE49-F238E27FC236}">
                <a16:creationId xmlns:a16="http://schemas.microsoft.com/office/drawing/2014/main" id="{0683C0E1-DA8A-EE7F-FB55-CFD653A4BB18}"/>
              </a:ext>
            </a:extLst>
          </p:cNvPr>
          <p:cNvSpPr>
            <a:spLocks xmlns:a="http://schemas.openxmlformats.org/drawingml/2006/main" noGrp="1"/>
          </p:cNvSpPr>
          <p:nvPr>
            <p:ph idx="18"/>
          </p:nvPr>
        </p:nvSpPr>
        <p:spPr>
          <a:xfrm xmlns:a="http://schemas.openxmlformats.org/drawingml/2006/main">
            <a:off x="457200" y="1364228"/>
            <a:ext cx="11352213" cy="5069910"/>
          </a:xfrm>
        </p:spPr>
        <p:txBody>
          <a:bodyPr xmlns:a="http://schemas.openxmlformats.org/drawingml/2006/main">
            <a:normAutofit/>
          </a:bodyPr>
          <a:lstStyle xmlns:a="http://schemas.openxmlformats.org/drawingml/2006/main">
            <a:lvl1pPr>
              <a:lnSpc>
                <a:spcPct val="100000"/>
              </a:lnSpc>
              <a:buClr>
                <a:srgbClr val="00A8E6"/>
              </a:buClr>
              <a:buFont typeface="Wingdings"/>
              <a:buChar char="n"/>
              <a:defRPr sz="2800">
                <a:solidFill>
                  <a:srgbClr val="00A8E6"/>
                </a:solidFill>
              </a:defRPr>
            </a:lvl1pPr>
            <a:lvl2pPr>
              <a:lnSpc>
                <a:spcPct val="100000"/>
              </a:lnSpc>
              <a:buClr>
                <a:schemeClr val="tx1"/>
              </a:buClr>
              <a:buFont typeface="Wingdings"/>
              <a:buChar char="l"/>
              <a:defRPr sz="2400">
                <a:solidFill>
                  <a:schemeClr val="tx2">
                    <a:lumMod val="75000"/>
                  </a:schemeClr>
                </a:solidFill>
              </a:defRPr>
            </a:lvl2pPr>
            <a:lvl3pPr>
              <a:lnSpc>
                <a:spcPct val="100000"/>
              </a:lnSpc>
              <a:buClrTx/>
              <a:buFont typeface="Wingdings"/>
              <a:buChar char="ü"/>
              <a:defRPr sz="2000">
                <a:solidFill>
                  <a:schemeClr val="tx2">
                    <a:lumMod val="75000"/>
                  </a:schemeClr>
                </a:solidFill>
              </a:defRPr>
            </a:lvl3pPr>
            <a:lvl4pPr>
              <a:lnSpc>
                <a:spcPct val="100000"/>
              </a:lnSpc>
              <a:buClrTx/>
              <a:buNone/>
              <a:defRPr sz="1800">
                <a:solidFill>
                  <a:schemeClr val="tx2">
                    <a:lumMod val="75000"/>
                  </a:schemeClr>
                </a:solidFill>
              </a:defRPr>
            </a:lvl4pPr>
            <a:lvl5pPr>
              <a:lnSpc>
                <a:spcPct val="100000"/>
              </a:lnSpc>
              <a:buClrTx/>
              <a:buNone/>
              <a:defRPr sz="1800">
                <a:solidFill>
                  <a:schemeClr val="tx2">
                    <a:lumMod val="75000"/>
                  </a:schemeClr>
                </a:solidFill>
              </a:defRPr>
            </a:lvl5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Tree>
  </p:cSld>
</p:sldLayout>
</file>

<file path=ppt/slideLayouts/slideLayout7.xml><?xml version="1.0" encoding="utf-8"?>
<p:sldLayout xmlns:p="http://schemas.openxmlformats.org/presentationml/2006/main" type="blank" preserve="1">
  <p:cSld name="白紙">
    <p:spTree>
      <p:nvGrpSpPr>
        <p:cNvPr id="1" name=""/>
        <p:cNvGrpSpPr/>
        <p:nvPr/>
      </p:nvGrpSpPr>
      <p:grpSpPr>
        <a:xfrm xmlns:a="http://schemas.openxmlformats.org/drawingml/2006/main"/>
      </p:grpSpPr>
      <p:sp>
        <p:nvSpPr>
          <p:cNvPr id="5" name="スライド番号プレースホルダー 8">
            <a:extLst xmlns:a="http://schemas.openxmlformats.org/drawingml/2006/main">
              <a:ext uri="{FF2B5EF4-FFF2-40B4-BE49-F238E27FC236}">
                <a16:creationId xmlns:a16="http://schemas.microsoft.com/office/drawing/2014/main" id="{E34F8C15-2E77-C57B-CF55-C0A99E1EBA92}"/>
              </a:ext>
            </a:extLst>
          </p:cNvPr>
          <p:cNvSpPr>
            <a:spLocks xmlns:a="http://schemas.openxmlformats.org/drawingml/2006/main" noGrp="1"/>
          </p:cNvSpPr>
          <p:nvPr>
            <p:ph type="sldNum" idx="16"/>
          </p:nvPr>
        </p:nvSpPr>
        <p:spPr>
          <a:xfrm xmlns:a="http://schemas.openxmlformats.org/drawingml/2006/main">
            <a:off x="11398601" y="6463691"/>
            <a:ext cx="764215" cy="365125"/>
          </a:xfrm>
        </p:spPr>
        <p:txBody>
          <a:bodyPr xmlns:a="http://schemas.openxmlformats.org/drawingml/2006/main"/>
          <a:lstStyle xmlns:a="http://schemas.openxmlformats.org/drawingml/2006/main">
            <a:lvl1pPr>
              <a:buNone/>
              <a:defRPr>
                <a:solidFill>
                  <a:schemeClr val="tx1">
                    <a:lumMod val="65000"/>
                    <a:lumOff val="35000"/>
                  </a:schemeClr>
                </a:solidFill>
              </a:defRPr>
            </a:lvl1pPr>
          </a:lstStyle>
          <a:p xmlns:a="http://schemas.openxmlformats.org/drawingml/2006/main">
            <a:fld id="{7744AD22-693D-4773-9028-20E660F2F223}" type="slidenum">
              <a:t>‹#›</a:t>
            </a:fld>
          </a:p>
        </p:txBody>
      </p:sp>
    </p:spTree>
  </p:cSld>
</p:sldLayout>
</file>

<file path=ppt/slideLayouts/slideLayout8.xml><?xml version="1.0" encoding="utf-8"?>
<p:sldLayout xmlns:p="http://schemas.openxmlformats.org/presentationml/2006/main" preserve="1" userDrawn="1">
  <p:cSld name="最終スライド">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3BC1721-93D6-7F2B-8921-5DD357B79065}"/>
              </a:ext>
            </a:extLst>
          </p:cNvPr>
          <p:cNvSpPr>
            <a:spLocks xmlns:a="http://schemas.openxmlformats.org/drawingml/2006/main" noGrp="1"/>
          </p:cNvSpPr>
          <p:nvPr/>
        </p:nvSpPr>
        <p:spPr>
          <a:xfrm xmlns:a="http://schemas.openxmlformats.org/drawingml/2006/main">
            <a:off x="0" y="3840480"/>
            <a:ext cx="12191695" cy="3017520"/>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2">
            <a:extLst xmlns:a="http://schemas.openxmlformats.org/drawingml/2006/main">
              <a:ext uri="{FF2B5EF4-FFF2-40B4-BE49-F238E27FC236}">
                <a16:creationId xmlns:a16="http://schemas.microsoft.com/office/drawing/2014/main" id="{A76C3186-35FC-3408-4D37-4586EDD08488}"/>
              </a:ext>
            </a:extLst>
          </p:cNvPr>
          <p:cNvSpPr>
            <a:spLocks xmlns:a="http://schemas.openxmlformats.org/drawingml/2006/main" noGrp="1"/>
          </p:cNvSpPr>
          <p:nvPr/>
        </p:nvSpPr>
        <p:spPr>
          <a:xfrm xmlns:a="http://schemas.openxmlformats.org/drawingml/2006/main">
            <a:off x="457200" y="1182753"/>
            <a:ext cx="11274552" cy="1109214"/>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ctr">
              <a:lnSpc>
                <a:spcPct val="125000"/>
              </a:lnSpc>
              <a:buNone/>
            </a:pPr>
            <a:r>
              <a:rPr sz="6400" b="1">
                <a:solidFill>
                  <a:srgbClr val="0A3D62"/>
                </a:solidFill>
                <a:latin typeface="+mn-lt"/>
                <a:ea typeface="+mn-lt"/>
                <a:cs typeface="+mn-lt"/>
              </a:rPr>
              <a:t>Thank you.</a:t>
            </a:r>
          </a:p>
        </p:txBody>
      </p:sp>
      <p:sp>
        <p:nvSpPr>
          <p:cNvPr id="6" name="TextBox 3">
            <a:extLst xmlns:a="http://schemas.openxmlformats.org/drawingml/2006/main">
              <a:ext uri="{FF2B5EF4-FFF2-40B4-BE49-F238E27FC236}">
                <a16:creationId xmlns:a16="http://schemas.microsoft.com/office/drawing/2014/main" id="{861A40CE-BF53-2C94-0A7D-049A2403DB0A}"/>
              </a:ext>
            </a:extLst>
          </p:cNvPr>
          <p:cNvSpPr>
            <a:spLocks xmlns:a="http://schemas.openxmlformats.org/drawingml/2006/main" noGrp="1"/>
          </p:cNvSpPr>
          <p:nvPr/>
        </p:nvSpPr>
        <p:spPr>
          <a:xfrm xmlns:a="http://schemas.openxmlformats.org/drawingml/2006/main">
            <a:off x="457200" y="2468880"/>
            <a:ext cx="11274552" cy="35952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lnSpc>
                <a:spcPct val="125000"/>
              </a:lnSpc>
              <a:buNone/>
            </a:pPr>
            <a:r>
              <a:rPr sz="2000" b="0">
                <a:solidFill>
                  <a:srgbClr val="1F2937"/>
                </a:solidFill>
                <a:latin typeface="+mj-ea"/>
                <a:ea typeface="+mj-ea"/>
                <a:cs typeface="+mj-ea"/>
              </a:rPr>
              <a:t>ご清聴ありがとうございました。</a:t>
            </a:r>
          </a:p>
        </p:txBody>
      </p:sp>
      <p:sp>
        <p:nvSpPr>
          <p:cNvPr id="10" name="Rectangle 4">
            <a:extLst xmlns:a="http://schemas.openxmlformats.org/drawingml/2006/main">
              <a:ext uri="{FF2B5EF4-FFF2-40B4-BE49-F238E27FC236}">
                <a16:creationId xmlns:a16="http://schemas.microsoft.com/office/drawing/2014/main" id="{9FA7DD3F-EDCA-0FF7-58CA-A09625313264}"/>
              </a:ext>
            </a:extLst>
          </p:cNvPr>
          <p:cNvSpPr>
            <a:spLocks xmlns:a="http://schemas.openxmlformats.org/drawingml/2006/main" noGrp="1"/>
          </p:cNvSpPr>
          <p:nvPr/>
        </p:nvSpPr>
        <p:spPr>
          <a:xfrm xmlns:a="http://schemas.openxmlformats.org/drawingml/2006/main">
            <a:off x="5733288" y="3200400"/>
            <a:ext cx="731520" cy="45720"/>
          </a:xfrm>
          <a:prstGeom xmlns:a="http://schemas.openxmlformats.org/drawingml/2006/main" prst="rect">
            <a:avLst/>
          </a:prstGeom>
          <a:solidFill xmlns:a="http://schemas.openxmlformats.org/drawingml/2006/main">
            <a:srgbClr val="FF7A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ounded Rectangle 5">
            <a:extLst xmlns:a="http://schemas.openxmlformats.org/drawingml/2006/main">
              <a:ext uri="{FF2B5EF4-FFF2-40B4-BE49-F238E27FC236}">
                <a16:creationId xmlns:a16="http://schemas.microsoft.com/office/drawing/2014/main" id="{D7BAF6BC-2072-52CE-218A-71338896F250}"/>
              </a:ext>
            </a:extLst>
          </p:cNvPr>
          <p:cNvSpPr>
            <a:spLocks xmlns:a="http://schemas.openxmlformats.org/drawingml/2006/main" noGrp="1"/>
          </p:cNvSpPr>
          <p:nvPr/>
        </p:nvSpPr>
        <p:spPr>
          <a:xfrm xmlns:a="http://schemas.openxmlformats.org/drawingml/2006/main">
            <a:off x="1371600" y="4206240"/>
            <a:ext cx="9445752" cy="219456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6">
            <a:extLst xmlns:a="http://schemas.openxmlformats.org/drawingml/2006/main">
              <a:ext uri="{FF2B5EF4-FFF2-40B4-BE49-F238E27FC236}">
                <a16:creationId xmlns:a16="http://schemas.microsoft.com/office/drawing/2014/main" id="{93C7BDA9-7A09-6783-3614-0BD781D1880A}"/>
              </a:ext>
            </a:extLst>
          </p:cNvPr>
          <p:cNvSpPr>
            <a:spLocks xmlns:a="http://schemas.openxmlformats.org/drawingml/2006/main" noGrp="1"/>
          </p:cNvSpPr>
          <p:nvPr/>
        </p:nvSpPr>
        <p:spPr>
          <a:xfrm xmlns:a="http://schemas.openxmlformats.org/drawingml/2006/main">
            <a:off x="1691640" y="4434840"/>
            <a:ext cx="8686800" cy="395493"/>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5000"/>
              </a:lnSpc>
              <a:buNone/>
            </a:pPr>
            <a:r>
              <a:rPr sz="2200" b="1">
                <a:solidFill>
                  <a:srgbClr val="0A3D62"/>
                </a:solidFill>
                <a:latin typeface="+mn-ea"/>
                <a:ea typeface="+mn-ea"/>
                <a:cs typeface="+mn-ea"/>
              </a:rPr>
              <a:t>株式会社 アルパイン設計事務所</a:t>
            </a:r>
          </a:p>
        </p:txBody>
      </p:sp>
      <p:sp>
        <p:nvSpPr>
          <p:cNvPr id="17" name="Rectangle 7">
            <a:extLst xmlns:a="http://schemas.openxmlformats.org/drawingml/2006/main">
              <a:ext uri="{FF2B5EF4-FFF2-40B4-BE49-F238E27FC236}">
                <a16:creationId xmlns:a16="http://schemas.microsoft.com/office/drawing/2014/main" id="{4D61C277-9045-F328-47B3-539A732094C4}"/>
              </a:ext>
            </a:extLst>
          </p:cNvPr>
          <p:cNvSpPr>
            <a:spLocks xmlns:a="http://schemas.openxmlformats.org/drawingml/2006/main" noGrp="1"/>
          </p:cNvSpPr>
          <p:nvPr/>
        </p:nvSpPr>
        <p:spPr>
          <a:xfrm xmlns:a="http://schemas.openxmlformats.org/drawingml/2006/main">
            <a:off x="1691640" y="4983480"/>
            <a:ext cx="640080" cy="36576"/>
          </a:xfrm>
          <a:prstGeom xmlns:a="http://schemas.openxmlformats.org/drawingml/2006/main" prst="rect">
            <a:avLst/>
          </a:prstGeom>
          <a:solidFill xmlns:a="http://schemas.openxmlformats.org/drawingml/2006/main">
            <a:srgbClr val="00A8E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8">
            <a:extLst xmlns:a="http://schemas.openxmlformats.org/drawingml/2006/main">
              <a:ext uri="{FF2B5EF4-FFF2-40B4-BE49-F238E27FC236}">
                <a16:creationId xmlns:a16="http://schemas.microsoft.com/office/drawing/2014/main" id="{523E39DE-E3DD-E236-8E59-A7EEB3599882}"/>
              </a:ext>
            </a:extLst>
          </p:cNvPr>
          <p:cNvSpPr>
            <a:spLocks xmlns:a="http://schemas.openxmlformats.org/drawingml/2006/main" noGrp="1"/>
          </p:cNvSpPr>
          <p:nvPr/>
        </p:nvSpPr>
        <p:spPr>
          <a:xfrm xmlns:a="http://schemas.openxmlformats.org/drawingml/2006/main">
            <a:off x="1691640" y="5166360"/>
            <a:ext cx="4114800" cy="2157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5000"/>
              </a:lnSpc>
              <a:buNone/>
            </a:pPr>
            <a:r>
              <a:rPr sz="1200" b="1">
                <a:solidFill>
                  <a:srgbClr val="00A8E6"/>
                </a:solidFill>
                <a:latin typeface="+mn-ea"/>
                <a:ea typeface="+mn-ea"/>
                <a:cs typeface="+mn-ea"/>
              </a:rPr>
              <a:t>■</a:t>
            </a:r>
            <a:r>
              <a:rPr sz="1200" b="1">
                <a:solidFill>
                  <a:srgbClr val="00A8E6"/>
                </a:solidFill>
                <a:latin typeface="+mn-ea"/>
                <a:ea typeface="+mn-ea"/>
                <a:cs typeface="+mn-ea"/>
              </a:rPr>
              <a:t> 金石本社</a:t>
            </a:r>
          </a:p>
        </p:txBody>
      </p:sp>
      <p:sp>
        <p:nvSpPr>
          <p:cNvPr id="21" name="TextBox 11">
            <a:extLst xmlns:a="http://schemas.openxmlformats.org/drawingml/2006/main">
              <a:ext uri="{FF2B5EF4-FFF2-40B4-BE49-F238E27FC236}">
                <a16:creationId xmlns:a16="http://schemas.microsoft.com/office/drawing/2014/main" id="{D11AEF3F-2467-563E-5E97-CF56FDB96122}"/>
              </a:ext>
            </a:extLst>
          </p:cNvPr>
          <p:cNvSpPr>
            <a:spLocks xmlns:a="http://schemas.openxmlformats.org/drawingml/2006/main" noGrp="1"/>
          </p:cNvSpPr>
          <p:nvPr/>
        </p:nvSpPr>
        <p:spPr>
          <a:xfrm xmlns:a="http://schemas.openxmlformats.org/drawingml/2006/main">
            <a:off x="6400800" y="5166360"/>
            <a:ext cx="4114800" cy="2157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l">
              <a:lnSpc>
                <a:spcPct val="125000"/>
              </a:lnSpc>
              <a:buNone/>
            </a:pPr>
            <a:r>
              <a:rPr sz="1200" b="1">
                <a:solidFill>
                  <a:srgbClr val="00A8E6"/>
                </a:solidFill>
                <a:latin typeface="+mn-ea"/>
                <a:ea typeface="+mn-ea"/>
                <a:cs typeface="+mn-ea"/>
              </a:rPr>
              <a:t>■ 小矢部事務所</a:t>
            </a:r>
          </a:p>
        </p:txBody>
      </p:sp>
      <p:pic>
        <p:nvPicPr>
          <p:cNvPr id="40" name="図 23"/>
          <p:cNvPicPr>
            <a:picLocks xmlns:a="http://schemas.openxmlformats.org/drawingml/2006/main" noChangeAspect="1"/>
          </p:cNvPicPr>
          <p:nvPr/>
        </p:nvPicPr>
        <p:blipFill rotWithShape="1">
          <a:blip xmlns:r="http://schemas.openxmlformats.org/officeDocument/2006/relationships" xmlns:a="http://schemas.openxmlformats.org/drawingml/2006/main" r:embed="R4e90a90d15144904">
            <a:clrChange>
              <a:clrFrom>
                <a:srgbClr val="FFFFFF"/>
              </a:clrFrom>
              <a:clrTo>
                <a:srgbClr val="FFFFFF">
                  <a:alpha val="0"/>
                </a:srgbClr>
              </a:clrTo>
            </a:clrChange>
          </a:blip>
          <a:srcRect xmlns:a="http://schemas.openxmlformats.org/drawingml/2006/main" l="0" t="0" r="0" b="23070"/>
          <a:stretch xmlns:a="http://schemas.openxmlformats.org/drawingml/2006/main"/>
        </p:blipFill>
        <p:spPr>
          <a:xfrm xmlns:a="http://schemas.openxmlformats.org/drawingml/2006/main">
            <a:off x="9554022" y="4394615"/>
            <a:ext cx="1090555" cy="484017"/>
          </a:xfrm>
          <a:prstGeom xmlns:a="http://schemas.openxmlformats.org/drawingml/2006/main" prst="rect">
            <a:avLst/>
          </a:prstGeom>
          <a:effectLst xmlns:a="http://schemas.openxmlformats.org/drawingml/2006/main">
            <a:glow>
              <a:schemeClr val="bg1"/>
            </a:glow>
          </a:effectLst>
        </p:spPr>
      </p:pic>
      <p:sp>
        <p:nvSpPr>
          <p:cNvPr id="25" name="テキスト ボックス 24">
            <a:extLst xmlns:a="http://schemas.openxmlformats.org/drawingml/2006/main">
              <a:ext uri="{FF2B5EF4-FFF2-40B4-BE49-F238E27FC236}">
                <a16:creationId xmlns:a16="http://schemas.microsoft.com/office/drawing/2014/main" id="{94BDC41E-A9A8-8CD5-68F4-58D64142BE20}"/>
              </a:ext>
            </a:extLst>
          </p:cNvPr>
          <p:cNvSpPr>
            <a:spLocks xmlns:a="http://schemas.openxmlformats.org/drawingml/2006/main" noGrp="1"/>
          </p:cNvSpPr>
          <p:nvPr/>
        </p:nvSpPr>
        <p:spPr>
          <a:xfrm xmlns:a="http://schemas.openxmlformats.org/drawingml/2006/main">
            <a:off x="1691640" y="5486400"/>
            <a:ext cx="3204723" cy="2616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a:t>〒</a:t>
            </a:r>
            <a:r>
              <a:rPr sz="1100"/>
              <a:t>920-0336</a:t>
            </a:r>
            <a:r>
              <a:rPr sz="1100"/>
              <a:t> 石川県金沢市金石本町ハ１３番地２</a:t>
            </a:r>
          </a:p>
        </p:txBody>
      </p:sp>
      <p:sp>
        <p:nvSpPr>
          <p:cNvPr id="26" name="テキスト ボックス 25">
            <a:extLst xmlns:a="http://schemas.openxmlformats.org/drawingml/2006/main">
              <a:ext uri="{FF2B5EF4-FFF2-40B4-BE49-F238E27FC236}">
                <a16:creationId xmlns:a16="http://schemas.microsoft.com/office/drawing/2014/main" id="{DE2A9F2B-0B5C-392B-AFEE-E738FCE5AD70}"/>
              </a:ext>
            </a:extLst>
          </p:cNvPr>
          <p:cNvSpPr>
            <a:spLocks xmlns:a="http://schemas.openxmlformats.org/drawingml/2006/main" noGrp="1"/>
          </p:cNvSpPr>
          <p:nvPr/>
        </p:nvSpPr>
        <p:spPr>
          <a:xfrm xmlns:a="http://schemas.openxmlformats.org/drawingml/2006/main">
            <a:off x="6400800" y="5486400"/>
            <a:ext cx="2922595" cy="2616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a:t>〒</a:t>
            </a:r>
            <a:r>
              <a:rPr sz="1100"/>
              <a:t>932-0132</a:t>
            </a:r>
            <a:r>
              <a:rPr sz="1100"/>
              <a:t> 富山県小矢部市小森谷１９番地</a:t>
            </a:r>
          </a:p>
        </p:txBody>
      </p:sp>
      <p:sp>
        <p:nvSpPr>
          <p:cNvPr id="27" name="テキスト ボックス 26">
            <a:extLst xmlns:a="http://schemas.openxmlformats.org/drawingml/2006/main">
              <a:ext uri="{FF2B5EF4-FFF2-40B4-BE49-F238E27FC236}">
                <a16:creationId xmlns:a16="http://schemas.microsoft.com/office/drawing/2014/main" id="{73DFDEB9-B4E2-8305-A9E5-B26B232CAC63}"/>
              </a:ext>
            </a:extLst>
          </p:cNvPr>
          <p:cNvSpPr>
            <a:spLocks xmlns:a="http://schemas.openxmlformats.org/drawingml/2006/main" noGrp="1"/>
          </p:cNvSpPr>
          <p:nvPr/>
        </p:nvSpPr>
        <p:spPr>
          <a:xfrm xmlns:a="http://schemas.openxmlformats.org/drawingml/2006/main">
            <a:off x="1691640" y="5806440"/>
            <a:ext cx="1548822" cy="2616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a:t>TEL</a:t>
            </a:r>
            <a:r>
              <a:rPr sz="1100"/>
              <a:t>　</a:t>
            </a:r>
            <a:r>
              <a:rPr sz="1100"/>
              <a:t>( 076</a:t>
            </a:r>
            <a:r>
              <a:rPr sz="1100"/>
              <a:t> </a:t>
            </a:r>
            <a:r>
              <a:rPr sz="1100"/>
              <a:t>) 266-3467</a:t>
            </a:r>
          </a:p>
        </p:txBody>
      </p:sp>
      <p:sp>
        <p:nvSpPr>
          <p:cNvPr id="29" name="テキスト ボックス 28">
            <a:extLst xmlns:a="http://schemas.openxmlformats.org/drawingml/2006/main">
              <a:ext uri="{FF2B5EF4-FFF2-40B4-BE49-F238E27FC236}">
                <a16:creationId xmlns:a16="http://schemas.microsoft.com/office/drawing/2014/main" id="{6EE78410-AC80-F986-CA08-D27FFD5E0C0F}"/>
              </a:ext>
            </a:extLst>
          </p:cNvPr>
          <p:cNvSpPr>
            <a:spLocks xmlns:a="http://schemas.openxmlformats.org/drawingml/2006/main" noGrp="1"/>
          </p:cNvSpPr>
          <p:nvPr/>
        </p:nvSpPr>
        <p:spPr>
          <a:xfrm xmlns:a="http://schemas.openxmlformats.org/drawingml/2006/main">
            <a:off x="6400800" y="5806440"/>
            <a:ext cx="1548822" cy="2616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a:t>TEL</a:t>
            </a:r>
            <a:r>
              <a:rPr sz="1100"/>
              <a:t>　</a:t>
            </a:r>
            <a:r>
              <a:rPr sz="1100"/>
              <a:t>( 0766</a:t>
            </a:r>
            <a:r>
              <a:rPr sz="1100"/>
              <a:t> </a:t>
            </a:r>
            <a:r>
              <a:rPr sz="1100"/>
              <a:t>) 69-7888</a:t>
            </a:r>
          </a:p>
        </p:txBody>
      </p:sp>
    </p:spTree>
  </p:cSld>
</p:sldLayout>
</file>

<file path=ppt/slideLayouts/slideLayout9.xml><?xml version="1.0" encoding="utf-8"?>
<p:sldLayout xmlns:p="http://schemas.openxmlformats.org/presentationml/2006/main" type="titleOnly" preserve="1">
  <p:cSld name="タイトルのみ">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158DAB-1B32-441B-8DF2-10D4193A5AF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Date Placeholder 2">
            <a:extLst xmlns:a="http://schemas.openxmlformats.org/drawingml/2006/main">
              <a:ext uri="{FF2B5EF4-FFF2-40B4-BE49-F238E27FC236}">
                <a16:creationId xmlns:a16="http://schemas.microsoft.com/office/drawing/2014/main" id="{E14E1B38-8001-4C0C-99D4-0B13B34F18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8ED0F213-EF6F-4D7E-9612-014A106FE9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9C8D01F5-0549-44CE-9128-642E614F74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744AD22-693D-4773-9028-20E660F2F223}" type="slidenum">
              <a:t>‹#›</a:t>
            </a:fld>
          </a:p>
        </p:txBody>
      </p:sp>
    </p:spTree>
  </p:cSld>
</p:sldLayout>
</file>

<file path=ppt/slideLayouts/slideLayout10.xml><?xml version="1.0" encoding="utf-8"?>
<p:sldLayout xmlns:p="http://schemas.openxmlformats.org/presentationml/2006/main" preserve="1">
  <p:cSld name="パノラマ写真 (キャプション付き)">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C31096-BE0E-4FAE-AFFC-D7E781A6C80D}"/>
              </a:ext>
            </a:extLst>
          </p:cNvPr>
          <p:cNvSpPr>
            <a:spLocks xmlns:a="http://schemas.openxmlformats.org/drawingml/2006/main" noGrp="1"/>
          </p:cNvSpPr>
          <p:nvPr>
            <p:ph type="title" idx="0"/>
          </p:nvPr>
        </p:nvSpPr>
        <p:spPr>
          <a:xfrm xmlns:a="http://schemas.openxmlformats.org/drawingml/2006/main">
            <a:off x="913794" y="4289374"/>
            <a:ext cx="10364432" cy="81161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Picture Placeholder 2">
            <a:extLst xmlns:a="http://schemas.openxmlformats.org/drawingml/2006/main">
              <a:ext uri="{FF2B5EF4-FFF2-40B4-BE49-F238E27FC236}">
                <a16:creationId xmlns:a16="http://schemas.microsoft.com/office/drawing/2014/main" id="{55A874A0-115D-41A4-987C-BFB098451FFA}"/>
              </a:ext>
            </a:extLst>
          </p:cNvPr>
          <p:cNvSpPr>
            <a:spLocks xmlns:a="http://schemas.openxmlformats.org/drawingml/2006/main" noGrp="1"/>
          </p:cNvSpPr>
          <p:nvPr>
            <p:ph type="pic" idx="1"/>
          </p:nvPr>
        </p:nvSpPr>
        <p:spPr>
          <a:xfrm xmlns:a="http://schemas.openxmlformats.org/drawingml/2006/main">
            <a:off x="1184744" y="698261"/>
            <a:ext cx="9822532" cy="3214136"/>
          </a:xfrm>
          <a:prstGeom xmlns:a="http://schemas.openxmlformats.org/drawingml/2006/main" prst="roundRect">
            <a:avLst>
              <a:gd name="adj" fmla="val 4944"/>
            </a:avLst>
          </a:prstGeom>
          <a:noFill xmlns:a="http://schemas.openxmlformats.org/drawingml/2006/main"/>
          <a:ln xmlns:a="http://schemas.openxmlformats.org/drawingml/2006/main" w="82550">
            <a:solidFill>
              <a:srgbClr val="EAEAEA"/>
            </a:solidFill>
          </a:ln>
        </p:spPr>
        <p:txBody>
          <a:bodyPr xmlns:a="http://schemas.openxmlformats.org/drawingml/2006/main" anchor="t"/>
          <a:lstStyle xmlns:a="http://schemas.openxmlformats.org/drawingml/2006/main">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アイコンをクリックして図を追加</a:t>
            </a:r>
          </a:p>
        </p:txBody>
      </p:sp>
      <p:sp>
        <p:nvSpPr>
          <p:cNvPr id="4" name="Text Placeholder 3">
            <a:extLst xmlns:a="http://schemas.openxmlformats.org/drawingml/2006/main">
              <a:ext uri="{FF2B5EF4-FFF2-40B4-BE49-F238E27FC236}">
                <a16:creationId xmlns:a16="http://schemas.microsoft.com/office/drawing/2014/main" id="{EA682D57-C2FE-4B01-9EB6-27E9F96A6C44}"/>
              </a:ext>
            </a:extLst>
          </p:cNvPr>
          <p:cNvSpPr>
            <a:spLocks xmlns:a="http://schemas.openxmlformats.org/drawingml/2006/main" noGrp="1"/>
          </p:cNvSpPr>
          <p:nvPr>
            <p:ph type="body" idx="2"/>
          </p:nvPr>
        </p:nvSpPr>
        <p:spPr>
          <a:xfrm xmlns:a="http://schemas.openxmlformats.org/drawingml/2006/main">
            <a:off x="913774" y="5108728"/>
            <a:ext cx="10364452" cy="682472"/>
          </a:xfrm>
        </p:spPr>
        <p:txBody>
          <a:bodyPr xmlns:a="http://schemas.openxmlformats.org/drawingml/2006/main"/>
          <a:lstStyle xmlns:a="http://schemas.openxmlformats.org/drawingml/2006/main">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Date Placeholder 4">
            <a:extLst xmlns:a="http://schemas.openxmlformats.org/drawingml/2006/main">
              <a:ext uri="{FF2B5EF4-FFF2-40B4-BE49-F238E27FC236}">
                <a16:creationId xmlns:a16="http://schemas.microsoft.com/office/drawing/2014/main" id="{20F77006-4C62-4E0A-A748-41AB0779F0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3A45A0B4-0E96-4E72-894C-2DFBB29047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2E61E46D-AC74-42A1-AF68-429932C334C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744AD22-693D-4773-9028-20E660F2F223}" type="slidenum">
              <a:t>‹#›</a:t>
            </a:fld>
          </a:p>
        </p:txBody>
      </p:sp>
    </p:spTree>
  </p:cSld>
</p:sldLayout>
</file>

<file path=ppt/slideLayouts/slideLayout11.xml><?xml version="1.0" encoding="utf-8"?>
<p:sldLayout xmlns:p="http://schemas.openxmlformats.org/presentationml/2006/main" preserve="1">
  <p:cSld name="タイトルとキャプション">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EC5DE3-1F51-469D-9C44-75F5B6E1DD97}"/>
              </a:ext>
            </a:extLst>
          </p:cNvPr>
          <p:cNvSpPr>
            <a:spLocks xmlns:a="http://schemas.openxmlformats.org/drawingml/2006/main" noGrp="1"/>
          </p:cNvSpPr>
          <p:nvPr>
            <p:ph type="title" idx="0"/>
          </p:nvPr>
        </p:nvSpPr>
        <p:spPr>
          <a:xfrm xmlns:a="http://schemas.openxmlformats.org/drawingml/2006/main">
            <a:off x="913774" y="609599"/>
            <a:ext cx="10364452" cy="3427245"/>
          </a:xfrm>
        </p:spPr>
        <p:txBody>
          <a:bodyPr xmlns:a="http://schemas.openxmlformats.org/drawingml/2006/main" anchor="ctr"/>
          <a:lstStyle xmlns:a="http://schemas.openxmlformats.org/drawingml/2006/main">
            <a:lvl1pPr algn="ctr">
              <a:buNone/>
              <a:defRPr sz="3200"/>
            </a:lvl1pPr>
          </a:lstStyle>
          <a:p xmlns:a="http://schemas.openxmlformats.org/drawingml/2006/main">
            <a:r>
              <a:t>マスター タイトルの書式設定</a:t>
            </a:r>
          </a:p>
        </p:txBody>
      </p:sp>
      <p:sp>
        <p:nvSpPr>
          <p:cNvPr id="4" name="Text Placeholder 3">
            <a:extLst xmlns:a="http://schemas.openxmlformats.org/drawingml/2006/main">
              <a:ext uri="{FF2B5EF4-FFF2-40B4-BE49-F238E27FC236}">
                <a16:creationId xmlns:a16="http://schemas.microsoft.com/office/drawing/2014/main" id="{BF43CDE3-1348-492F-86E4-61C5AD7344FA}"/>
              </a:ext>
            </a:extLst>
          </p:cNvPr>
          <p:cNvSpPr>
            <a:spLocks xmlns:a="http://schemas.openxmlformats.org/drawingml/2006/main" noGrp="1"/>
          </p:cNvSpPr>
          <p:nvPr>
            <p:ph type="body" idx="2"/>
          </p:nvPr>
        </p:nvSpPr>
        <p:spPr>
          <a:xfrm xmlns:a="http://schemas.openxmlformats.org/drawingml/2006/main">
            <a:off x="913775" y="4204821"/>
            <a:ext cx="10364452" cy="1586380"/>
          </a:xfrm>
        </p:spPr>
        <p:txBody>
          <a:bodyPr xmlns:a="http://schemas.openxmlformats.org/drawingml/2006/main" anchor="ctr"/>
          <a:lstStyle xmlns:a="http://schemas.openxmlformats.org/drawingml/2006/main">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Date Placeholder 4">
            <a:extLst xmlns:a="http://schemas.openxmlformats.org/drawingml/2006/main">
              <a:ext uri="{FF2B5EF4-FFF2-40B4-BE49-F238E27FC236}">
                <a16:creationId xmlns:a16="http://schemas.microsoft.com/office/drawing/2014/main" id="{CEA3E7E0-E764-4AC4-AA0D-F3BB9ED97E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2BE4494A-BF81-4FCF-8083-52CC791436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4703B481-990B-4175-BAD9-BC1D560D56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744AD22-693D-4773-9028-20E660F2F223}" type="slidenum">
              <a:t>‹#›</a:t>
            </a:fld>
          </a:p>
        </p:txBody>
      </p:sp>
    </p:spTree>
  </p:cSld>
</p:sldLayout>
</file>

<file path=ppt/slideLayouts/slideLayout12.xml><?xml version="1.0" encoding="utf-8"?>
<p:sldLayout xmlns:p="http://schemas.openxmlformats.org/presentationml/2006/main" preserve="1">
  <p:cSld name="3 段">
    <p:spTree>
      <p:nvGrpSpPr>
        <p:cNvPr id="1" name=""/>
        <p:cNvGrpSpPr/>
        <p:nvPr/>
      </p:nvGrpSpPr>
      <p:grpSpPr>
        <a:xfrm xmlns:a="http://schemas.openxmlformats.org/drawingml/2006/main"/>
      </p:grpSpPr>
      <p:sp>
        <p:nvSpPr>
          <p:cNvPr id="15" name="Title 1">
            <a:extLst xmlns:a="http://schemas.openxmlformats.org/drawingml/2006/main">
              <a:ext uri="{FF2B5EF4-FFF2-40B4-BE49-F238E27FC236}">
                <a16:creationId xmlns:a16="http://schemas.microsoft.com/office/drawing/2014/main" id="{E3627F5D-1FE8-4CD9-8343-174B080827B3}"/>
              </a:ext>
            </a:extLst>
          </p:cNvPr>
          <p:cNvSpPr>
            <a:spLocks xmlns:a="http://schemas.openxmlformats.org/drawingml/2006/main" noGrp="1"/>
          </p:cNvSpPr>
          <p:nvPr>
            <p:ph type="title" idx="0"/>
          </p:nvPr>
        </p:nvSpPr>
        <p:spPr>
          <a:xfrm xmlns:a="http://schemas.openxmlformats.org/drawingml/2006/main">
            <a:off x="913774" y="609600"/>
            <a:ext cx="10364452" cy="1605094"/>
          </a:xfrm>
        </p:spPr>
        <p:txBody>
          <a:bodyPr xmlns:a="http://schemas.openxmlformats.org/drawingml/2006/main"/>
          <a:lstStyle xmlns:a="http://schemas.openxmlformats.org/drawingml/2006/main"/>
          <a:p xmlns:a="http://schemas.openxmlformats.org/drawingml/2006/main">
            <a:r>
              <a:t>マスター タイトルの書式設定</a:t>
            </a:r>
          </a:p>
        </p:txBody>
      </p:sp>
      <p:sp>
        <p:nvSpPr>
          <p:cNvPr id="7" name="Text Placeholder 2">
            <a:extLst xmlns:a="http://schemas.openxmlformats.org/drawingml/2006/main">
              <a:ext uri="{FF2B5EF4-FFF2-40B4-BE49-F238E27FC236}">
                <a16:creationId xmlns:a16="http://schemas.microsoft.com/office/drawing/2014/main" id="{9DFFE2D3-9B92-45E0-97F5-2ADE9AEDEC55}"/>
              </a:ext>
            </a:extLst>
          </p:cNvPr>
          <p:cNvSpPr>
            <a:spLocks xmlns:a="http://schemas.openxmlformats.org/drawingml/2006/main" noGrp="1"/>
          </p:cNvSpPr>
          <p:nvPr>
            <p:ph type="body" idx="1"/>
          </p:nvPr>
        </p:nvSpPr>
        <p:spPr>
          <a:xfrm xmlns:a="http://schemas.openxmlformats.org/drawingml/2006/main">
            <a:off x="913774" y="2367093"/>
            <a:ext cx="3298976" cy="576262"/>
          </a:xfrm>
        </p:spPr>
        <p:txBody>
          <a:bodyPr xmlns:a="http://schemas.openxmlformats.org/drawingml/2006/main" anchor="b">
            <a:noAutofit/>
          </a:bodyPr>
          <a:lstStyle xmlns:a="http://schemas.openxmlformats.org/drawingml/2006/main">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8" name="Text Placeholder 3">
            <a:extLst xmlns:a="http://schemas.openxmlformats.org/drawingml/2006/main">
              <a:ext uri="{FF2B5EF4-FFF2-40B4-BE49-F238E27FC236}">
                <a16:creationId xmlns:a16="http://schemas.microsoft.com/office/drawing/2014/main" id="{C37CC7D2-5DDD-4E87-B0BA-1C831BD7C567}"/>
              </a:ext>
            </a:extLst>
          </p:cNvPr>
          <p:cNvSpPr>
            <a:spLocks xmlns:a="http://schemas.openxmlformats.org/drawingml/2006/main" noGrp="1"/>
          </p:cNvSpPr>
          <p:nvPr>
            <p:ph type="body" idx="15"/>
          </p:nvPr>
        </p:nvSpPr>
        <p:spPr>
          <a:xfrm xmlns:a="http://schemas.openxmlformats.org/drawingml/2006/main">
            <a:off x="913774" y="2943355"/>
            <a:ext cx="3298976" cy="2847845"/>
          </a:xfrm>
        </p:spPr>
        <p:txBody>
          <a:bodyPr xmlns:a="http://schemas.openxmlformats.org/drawingml/2006/main" anchor="t">
            <a:normAutofit/>
          </a:bodyPr>
          <a:lstStyle xmlns:a="http://schemas.openxmlformats.org/drawingml/2006/main">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マスター テキストの書式設定</a:t>
            </a:r>
          </a:p>
        </p:txBody>
      </p:sp>
      <p:sp>
        <p:nvSpPr>
          <p:cNvPr id="9" name="Text Placeholder 4">
            <a:extLst xmlns:a="http://schemas.openxmlformats.org/drawingml/2006/main">
              <a:ext uri="{FF2B5EF4-FFF2-40B4-BE49-F238E27FC236}">
                <a16:creationId xmlns:a16="http://schemas.microsoft.com/office/drawing/2014/main" id="{6619B241-9C83-4E6D-8BFD-E25BB0B451D2}"/>
              </a:ext>
            </a:extLst>
          </p:cNvPr>
          <p:cNvSpPr>
            <a:spLocks xmlns:a="http://schemas.openxmlformats.org/drawingml/2006/main" noGrp="1"/>
          </p:cNvSpPr>
          <p:nvPr>
            <p:ph type="body" idx="3"/>
          </p:nvPr>
        </p:nvSpPr>
        <p:spPr>
          <a:xfrm xmlns:a="http://schemas.openxmlformats.org/drawingml/2006/main">
            <a:off x="4452389" y="2367093"/>
            <a:ext cx="3291521" cy="576262"/>
          </a:xfrm>
        </p:spPr>
        <p:txBody>
          <a:bodyPr xmlns:a="http://schemas.openxmlformats.org/drawingml/2006/main" anchor="b">
            <a:noAutofit/>
          </a:bodyPr>
          <a:lstStyle xmlns:a="http://schemas.openxmlformats.org/drawingml/2006/main">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10" name="Text Placeholder 3">
            <a:extLst xmlns:a="http://schemas.openxmlformats.org/drawingml/2006/main">
              <a:ext uri="{FF2B5EF4-FFF2-40B4-BE49-F238E27FC236}">
                <a16:creationId xmlns:a16="http://schemas.microsoft.com/office/drawing/2014/main" id="{E4DEE01C-2042-4DD2-8CD0-839717ED5C5F}"/>
              </a:ext>
            </a:extLst>
          </p:cNvPr>
          <p:cNvSpPr>
            <a:spLocks xmlns:a="http://schemas.openxmlformats.org/drawingml/2006/main" noGrp="1"/>
          </p:cNvSpPr>
          <p:nvPr>
            <p:ph type="body" idx="16"/>
          </p:nvPr>
        </p:nvSpPr>
        <p:spPr>
          <a:xfrm xmlns:a="http://schemas.openxmlformats.org/drawingml/2006/main">
            <a:off x="4441348" y="2943355"/>
            <a:ext cx="3303351" cy="2847845"/>
          </a:xfrm>
        </p:spPr>
        <p:txBody>
          <a:bodyPr xmlns:a="http://schemas.openxmlformats.org/drawingml/2006/main" anchor="t">
            <a:normAutofit/>
          </a:bodyPr>
          <a:lstStyle xmlns:a="http://schemas.openxmlformats.org/drawingml/2006/main">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マスター テキストの書式設定</a:t>
            </a:r>
          </a:p>
        </p:txBody>
      </p:sp>
      <p:sp>
        <p:nvSpPr>
          <p:cNvPr id="11" name="Text Placeholder 4">
            <a:extLst xmlns:a="http://schemas.openxmlformats.org/drawingml/2006/main">
              <a:ext uri="{FF2B5EF4-FFF2-40B4-BE49-F238E27FC236}">
                <a16:creationId xmlns:a16="http://schemas.microsoft.com/office/drawing/2014/main" id="{8404135B-C9B6-42B1-8AB2-7DDE381C7104}"/>
              </a:ext>
            </a:extLst>
          </p:cNvPr>
          <p:cNvSpPr>
            <a:spLocks xmlns:a="http://schemas.openxmlformats.org/drawingml/2006/main" noGrp="1"/>
          </p:cNvSpPr>
          <p:nvPr>
            <p:ph type="body" idx="13"/>
          </p:nvPr>
        </p:nvSpPr>
        <p:spPr>
          <a:xfrm xmlns:a="http://schemas.openxmlformats.org/drawingml/2006/main">
            <a:off x="7973298" y="2367093"/>
            <a:ext cx="3304928" cy="576262"/>
          </a:xfrm>
        </p:spPr>
        <p:txBody>
          <a:bodyPr xmlns:a="http://schemas.openxmlformats.org/drawingml/2006/main" anchor="b">
            <a:noAutofit/>
          </a:bodyPr>
          <a:lstStyle xmlns:a="http://schemas.openxmlformats.org/drawingml/2006/main">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12" name="Text Placeholder 3">
            <a:extLst xmlns:a="http://schemas.openxmlformats.org/drawingml/2006/main">
              <a:ext uri="{FF2B5EF4-FFF2-40B4-BE49-F238E27FC236}">
                <a16:creationId xmlns:a16="http://schemas.microsoft.com/office/drawing/2014/main" id="{573268D0-C0F3-4CC3-A2F7-19B6C5A02604}"/>
              </a:ext>
            </a:extLst>
          </p:cNvPr>
          <p:cNvSpPr>
            <a:spLocks xmlns:a="http://schemas.openxmlformats.org/drawingml/2006/main" noGrp="1"/>
          </p:cNvSpPr>
          <p:nvPr>
            <p:ph type="body" idx="17"/>
          </p:nvPr>
        </p:nvSpPr>
        <p:spPr>
          <a:xfrm xmlns:a="http://schemas.openxmlformats.org/drawingml/2006/main">
            <a:off x="7973298" y="2943355"/>
            <a:ext cx="3304928" cy="2847845"/>
          </a:xfrm>
        </p:spPr>
        <p:txBody>
          <a:bodyPr xmlns:a="http://schemas.openxmlformats.org/drawingml/2006/main" anchor="t">
            <a:normAutofit/>
          </a:bodyPr>
          <a:lstStyle xmlns:a="http://schemas.openxmlformats.org/drawingml/2006/main">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マスター テキストの書式設定</a:t>
            </a:r>
          </a:p>
        </p:txBody>
      </p:sp>
      <p:sp>
        <p:nvSpPr>
          <p:cNvPr id="3" name="Date Placeholder 2">
            <a:extLst xmlns:a="http://schemas.openxmlformats.org/drawingml/2006/main">
              <a:ext uri="{FF2B5EF4-FFF2-40B4-BE49-F238E27FC236}">
                <a16:creationId xmlns:a16="http://schemas.microsoft.com/office/drawing/2014/main" id="{062181A4-2F88-48F6-93FC-391AACBF6DF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505CE79F-1C09-40E9-89C1-2C07C24D37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28D5638A-359F-4EA0-98D0-A713DC3378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744AD22-693D-4773-9028-20E660F2F223}" type="slidenum">
              <a:t>‹#›</a:t>
            </a:fld>
          </a:p>
        </p:txBody>
      </p:sp>
    </p:spTree>
  </p:cSld>
</p:sldLayout>
</file>

<file path=ppt/slideLayouts/slideLayout13.xml><?xml version="1.0" encoding="utf-8"?>
<p:sldLayout xmlns:p="http://schemas.openxmlformats.org/presentationml/2006/main" preserve="1">
  <p:cSld name="3 つの画像列">
    <p:spTree>
      <p:nvGrpSpPr>
        <p:cNvPr id="1" name=""/>
        <p:cNvGrpSpPr/>
        <p:nvPr/>
      </p:nvGrpSpPr>
      <p:grpSpPr>
        <a:xfrm xmlns:a="http://schemas.openxmlformats.org/drawingml/2006/main"/>
      </p:grpSpPr>
      <p:sp>
        <p:nvSpPr>
          <p:cNvPr id="30" name="Title 1">
            <a:extLst xmlns:a="http://schemas.openxmlformats.org/drawingml/2006/main">
              <a:ext uri="{FF2B5EF4-FFF2-40B4-BE49-F238E27FC236}">
                <a16:creationId xmlns:a16="http://schemas.microsoft.com/office/drawing/2014/main" id="{9170DCD1-69EA-4B50-92A8-CDF5876BBE61}"/>
              </a:ext>
            </a:extLst>
          </p:cNvPr>
          <p:cNvSpPr>
            <a:spLocks xmlns:a="http://schemas.openxmlformats.org/drawingml/2006/main" noGrp="1"/>
          </p:cNvSpPr>
          <p:nvPr>
            <p:ph type="title" idx="0"/>
          </p:nvPr>
        </p:nvSpPr>
        <p:spPr>
          <a:xfrm xmlns:a="http://schemas.openxmlformats.org/drawingml/2006/main">
            <a:off x="913774" y="610772"/>
            <a:ext cx="10364452" cy="1603922"/>
          </a:xfrm>
        </p:spPr>
        <p:txBody>
          <a:bodyPr xmlns:a="http://schemas.openxmlformats.org/drawingml/2006/main"/>
          <a:lstStyle xmlns:a="http://schemas.openxmlformats.org/drawingml/2006/main"/>
          <a:p xmlns:a="http://schemas.openxmlformats.org/drawingml/2006/main">
            <a:r>
              <a:t>マスター タイトルの書式設定</a:t>
            </a:r>
          </a:p>
        </p:txBody>
      </p:sp>
      <p:sp>
        <p:nvSpPr>
          <p:cNvPr id="19" name="Text Placeholder 2">
            <a:extLst xmlns:a="http://schemas.openxmlformats.org/drawingml/2006/main">
              <a:ext uri="{FF2B5EF4-FFF2-40B4-BE49-F238E27FC236}">
                <a16:creationId xmlns:a16="http://schemas.microsoft.com/office/drawing/2014/main" id="{D5B7781E-0A63-4807-A6E8-63CE20F82E86}"/>
              </a:ext>
            </a:extLst>
          </p:cNvPr>
          <p:cNvSpPr>
            <a:spLocks xmlns:a="http://schemas.openxmlformats.org/drawingml/2006/main" noGrp="1"/>
          </p:cNvSpPr>
          <p:nvPr>
            <p:ph type="body" idx="1"/>
          </p:nvPr>
        </p:nvSpPr>
        <p:spPr>
          <a:xfrm xmlns:a="http://schemas.openxmlformats.org/drawingml/2006/main">
            <a:off x="913774" y="4204820"/>
            <a:ext cx="3296409" cy="576262"/>
          </a:xfrm>
        </p:spPr>
        <p:txBody>
          <a:bodyPr xmlns:a="http://schemas.openxmlformats.org/drawingml/2006/main" anchor="b">
            <a:noAutofit/>
          </a:bodyPr>
          <a:lstStyle xmlns:a="http://schemas.openxmlformats.org/drawingml/2006/main">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20" name="Picture Placeholder 2">
            <a:extLst xmlns:a="http://schemas.openxmlformats.org/drawingml/2006/main">
              <a:ext uri="{FF2B5EF4-FFF2-40B4-BE49-F238E27FC236}">
                <a16:creationId xmlns:a16="http://schemas.microsoft.com/office/drawing/2014/main" id="{A666C0C0-8BA4-4BCB-A0B3-83C49536C0CA}"/>
              </a:ext>
            </a:extLst>
          </p:cNvPr>
          <p:cNvSpPr>
            <a:spLocks xmlns:a="http://schemas.openxmlformats.org/drawingml/2006/main" noGrp="1"/>
          </p:cNvSpPr>
          <p:nvPr>
            <p:ph type="pic" idx="15"/>
          </p:nvPr>
        </p:nvSpPr>
        <p:spPr>
          <a:xfrm xmlns:a="http://schemas.openxmlformats.org/drawingml/2006/main">
            <a:off x="913774" y="2367093"/>
            <a:ext cx="3296409" cy="1524000"/>
          </a:xfrm>
          <a:prstGeom xmlns:a="http://schemas.openxmlformats.org/drawingml/2006/main" prst="roundRect">
            <a:avLst>
              <a:gd name="adj" fmla="val 9363"/>
            </a:avLst>
          </a:prstGeom>
          <a:noFill xmlns:a="http://schemas.openxmlformats.org/drawingml/2006/main"/>
          <a:ln xmlns:a="http://schemas.openxmlformats.org/drawingml/2006/main" w="82550">
            <a:solidFill>
              <a:srgbClr val="EAEAEA"/>
            </a:solidFill>
          </a:ln>
        </p:spPr>
        <p:txBody>
          <a:bodyPr xmlns:a="http://schemas.openxmlformats.org/drawingml/2006/main" anchor="t">
            <a:normAutofit/>
          </a:bodyPr>
          <a:lstStyle xmlns:a="http://schemas.openxmlformats.org/drawingml/2006/main">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xmlns:a="http://schemas.openxmlformats.org/drawingml/2006/main">
            <a:r>
              <a:t>アイコンをクリックして図を追加</a:t>
            </a:r>
          </a:p>
        </p:txBody>
      </p:sp>
      <p:sp>
        <p:nvSpPr>
          <p:cNvPr id="21" name="Text Placeholder 3">
            <a:extLst xmlns:a="http://schemas.openxmlformats.org/drawingml/2006/main">
              <a:ext uri="{FF2B5EF4-FFF2-40B4-BE49-F238E27FC236}">
                <a16:creationId xmlns:a16="http://schemas.microsoft.com/office/drawing/2014/main" id="{4E67DCAC-8118-41CE-8CE6-732CB5F7F10B}"/>
              </a:ext>
            </a:extLst>
          </p:cNvPr>
          <p:cNvSpPr>
            <a:spLocks xmlns:a="http://schemas.openxmlformats.org/drawingml/2006/main" noGrp="1"/>
          </p:cNvSpPr>
          <p:nvPr>
            <p:ph type="body" idx="18"/>
          </p:nvPr>
        </p:nvSpPr>
        <p:spPr>
          <a:xfrm xmlns:a="http://schemas.openxmlformats.org/drawingml/2006/main">
            <a:off x="913774" y="4781082"/>
            <a:ext cx="3296409" cy="1010118"/>
          </a:xfrm>
        </p:spPr>
        <p:txBody>
          <a:bodyPr xmlns:a="http://schemas.openxmlformats.org/drawingml/2006/main" anchor="t">
            <a:normAutofit/>
          </a:bodyPr>
          <a:lstStyle xmlns:a="http://schemas.openxmlformats.org/drawingml/2006/main">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マスター テキストの書式設定</a:t>
            </a:r>
          </a:p>
        </p:txBody>
      </p:sp>
      <p:sp>
        <p:nvSpPr>
          <p:cNvPr id="22" name="Text Placeholder 4">
            <a:extLst xmlns:a="http://schemas.openxmlformats.org/drawingml/2006/main">
              <a:ext uri="{FF2B5EF4-FFF2-40B4-BE49-F238E27FC236}">
                <a16:creationId xmlns:a16="http://schemas.microsoft.com/office/drawing/2014/main" id="{440D2998-9BA5-463A-867D-358BFD51A3CA}"/>
              </a:ext>
            </a:extLst>
          </p:cNvPr>
          <p:cNvSpPr>
            <a:spLocks xmlns:a="http://schemas.openxmlformats.org/drawingml/2006/main" noGrp="1"/>
          </p:cNvSpPr>
          <p:nvPr>
            <p:ph type="body" idx="3"/>
          </p:nvPr>
        </p:nvSpPr>
        <p:spPr>
          <a:xfrm xmlns:a="http://schemas.openxmlformats.org/drawingml/2006/main">
            <a:off x="4442759" y="4204820"/>
            <a:ext cx="3301828" cy="576262"/>
          </a:xfrm>
        </p:spPr>
        <p:txBody>
          <a:bodyPr xmlns:a="http://schemas.openxmlformats.org/drawingml/2006/main" anchor="b">
            <a:noAutofit/>
          </a:bodyPr>
          <a:lstStyle xmlns:a="http://schemas.openxmlformats.org/drawingml/2006/main">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23" name="Picture Placeholder 2">
            <a:extLst xmlns:a="http://schemas.openxmlformats.org/drawingml/2006/main">
              <a:ext uri="{FF2B5EF4-FFF2-40B4-BE49-F238E27FC236}">
                <a16:creationId xmlns:a16="http://schemas.microsoft.com/office/drawing/2014/main" id="{38F7F7E3-3F4F-42B5-B624-25F615355ED4}"/>
              </a:ext>
            </a:extLst>
          </p:cNvPr>
          <p:cNvSpPr>
            <a:spLocks xmlns:a="http://schemas.openxmlformats.org/drawingml/2006/main" noGrp="1"/>
          </p:cNvSpPr>
          <p:nvPr>
            <p:ph type="pic" idx="21"/>
          </p:nvPr>
        </p:nvSpPr>
        <p:spPr>
          <a:xfrm xmlns:a="http://schemas.openxmlformats.org/drawingml/2006/main">
            <a:off x="4441348" y="2367093"/>
            <a:ext cx="3303352" cy="1524000"/>
          </a:xfrm>
          <a:prstGeom xmlns:a="http://schemas.openxmlformats.org/drawingml/2006/main" prst="roundRect">
            <a:avLst>
              <a:gd name="adj" fmla="val 8841"/>
            </a:avLst>
          </a:prstGeom>
          <a:noFill xmlns:a="http://schemas.openxmlformats.org/drawingml/2006/main"/>
          <a:ln xmlns:a="http://schemas.openxmlformats.org/drawingml/2006/main" w="82550">
            <a:solidFill>
              <a:srgbClr val="EAEAEA"/>
            </a:solidFill>
          </a:ln>
        </p:spPr>
        <p:txBody>
          <a:bodyPr xmlns:a="http://schemas.openxmlformats.org/drawingml/2006/main" anchor="t">
            <a:normAutofit/>
          </a:bodyPr>
          <a:lstStyle xmlns:a="http://schemas.openxmlformats.org/drawingml/2006/main">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xmlns:a="http://schemas.openxmlformats.org/drawingml/2006/main">
            <a:r>
              <a:t>アイコンをクリックして図を追加</a:t>
            </a:r>
          </a:p>
        </p:txBody>
      </p:sp>
      <p:sp>
        <p:nvSpPr>
          <p:cNvPr id="24" name="Text Placeholder 3">
            <a:extLst xmlns:a="http://schemas.openxmlformats.org/drawingml/2006/main">
              <a:ext uri="{FF2B5EF4-FFF2-40B4-BE49-F238E27FC236}">
                <a16:creationId xmlns:a16="http://schemas.microsoft.com/office/drawing/2014/main" id="{19147CBD-5BFD-4F17-971E-12652D185F57}"/>
              </a:ext>
            </a:extLst>
          </p:cNvPr>
          <p:cNvSpPr>
            <a:spLocks xmlns:a="http://schemas.openxmlformats.org/drawingml/2006/main" noGrp="1"/>
          </p:cNvSpPr>
          <p:nvPr>
            <p:ph type="body" idx="19"/>
          </p:nvPr>
        </p:nvSpPr>
        <p:spPr>
          <a:xfrm xmlns:a="http://schemas.openxmlformats.org/drawingml/2006/main">
            <a:off x="4441348" y="4781080"/>
            <a:ext cx="3303352" cy="1010119"/>
          </a:xfrm>
        </p:spPr>
        <p:txBody>
          <a:bodyPr xmlns:a="http://schemas.openxmlformats.org/drawingml/2006/main" anchor="t">
            <a:normAutofit/>
          </a:bodyPr>
          <a:lstStyle xmlns:a="http://schemas.openxmlformats.org/drawingml/2006/main">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マスター テキストの書式設定</a:t>
            </a:r>
          </a:p>
        </p:txBody>
      </p:sp>
      <p:sp>
        <p:nvSpPr>
          <p:cNvPr id="25" name="Text Placeholder 4">
            <a:extLst xmlns:a="http://schemas.openxmlformats.org/drawingml/2006/main">
              <a:ext uri="{FF2B5EF4-FFF2-40B4-BE49-F238E27FC236}">
                <a16:creationId xmlns:a16="http://schemas.microsoft.com/office/drawing/2014/main" id="{A944D2EC-7FE9-49F5-A0BF-06D348DE5B6A}"/>
              </a:ext>
            </a:extLst>
          </p:cNvPr>
          <p:cNvSpPr>
            <a:spLocks xmlns:a="http://schemas.openxmlformats.org/drawingml/2006/main" noGrp="1"/>
          </p:cNvSpPr>
          <p:nvPr>
            <p:ph type="body" idx="13"/>
          </p:nvPr>
        </p:nvSpPr>
        <p:spPr>
          <a:xfrm xmlns:a="http://schemas.openxmlformats.org/drawingml/2006/main">
            <a:off x="7973298" y="4204820"/>
            <a:ext cx="3300681" cy="576262"/>
          </a:xfrm>
        </p:spPr>
        <p:txBody>
          <a:bodyPr xmlns:a="http://schemas.openxmlformats.org/drawingml/2006/main" anchor="b">
            <a:noAutofit/>
          </a:bodyPr>
          <a:lstStyle xmlns:a="http://schemas.openxmlformats.org/drawingml/2006/main">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26" name="Picture Placeholder 2">
            <a:extLst xmlns:a="http://schemas.openxmlformats.org/drawingml/2006/main">
              <a:ext uri="{FF2B5EF4-FFF2-40B4-BE49-F238E27FC236}">
                <a16:creationId xmlns:a16="http://schemas.microsoft.com/office/drawing/2014/main" id="{2136D8EE-381C-479C-9848-CF748EBDE890}"/>
              </a:ext>
            </a:extLst>
          </p:cNvPr>
          <p:cNvSpPr>
            <a:spLocks xmlns:a="http://schemas.openxmlformats.org/drawingml/2006/main" noGrp="1"/>
          </p:cNvSpPr>
          <p:nvPr>
            <p:ph type="pic" idx="22"/>
          </p:nvPr>
        </p:nvSpPr>
        <p:spPr>
          <a:xfrm xmlns:a="http://schemas.openxmlformats.org/drawingml/2006/main">
            <a:off x="7973298" y="2367093"/>
            <a:ext cx="3304928" cy="1524000"/>
          </a:xfrm>
          <a:prstGeom xmlns:a="http://schemas.openxmlformats.org/drawingml/2006/main" prst="roundRect">
            <a:avLst>
              <a:gd name="adj" fmla="val 8841"/>
            </a:avLst>
          </a:prstGeom>
          <a:noFill xmlns:a="http://schemas.openxmlformats.org/drawingml/2006/main"/>
          <a:ln xmlns:a="http://schemas.openxmlformats.org/drawingml/2006/main" w="82550">
            <a:solidFill>
              <a:srgbClr val="EAEAEA"/>
            </a:solidFill>
          </a:ln>
        </p:spPr>
        <p:txBody>
          <a:bodyPr xmlns:a="http://schemas.openxmlformats.org/drawingml/2006/main" anchor="t">
            <a:normAutofit/>
          </a:bodyPr>
          <a:lstStyle xmlns:a="http://schemas.openxmlformats.org/drawingml/2006/main">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xmlns:a="http://schemas.openxmlformats.org/drawingml/2006/main">
            <a:r>
              <a:t>アイコンをクリックして図を追加</a:t>
            </a:r>
          </a:p>
        </p:txBody>
      </p:sp>
      <p:sp>
        <p:nvSpPr>
          <p:cNvPr id="27" name="Text Placeholder 3">
            <a:extLst xmlns:a="http://schemas.openxmlformats.org/drawingml/2006/main">
              <a:ext uri="{FF2B5EF4-FFF2-40B4-BE49-F238E27FC236}">
                <a16:creationId xmlns:a16="http://schemas.microsoft.com/office/drawing/2014/main" id="{E1C6B9B1-81F7-4E0E-98D6-01026A32AD38}"/>
              </a:ext>
            </a:extLst>
          </p:cNvPr>
          <p:cNvSpPr>
            <a:spLocks xmlns:a="http://schemas.openxmlformats.org/drawingml/2006/main" noGrp="1"/>
          </p:cNvSpPr>
          <p:nvPr>
            <p:ph type="body" idx="20"/>
          </p:nvPr>
        </p:nvSpPr>
        <p:spPr>
          <a:xfrm xmlns:a="http://schemas.openxmlformats.org/drawingml/2006/main">
            <a:off x="7973173" y="4781078"/>
            <a:ext cx="3305053" cy="1010121"/>
          </a:xfrm>
        </p:spPr>
        <p:txBody>
          <a:bodyPr xmlns:a="http://schemas.openxmlformats.org/drawingml/2006/main" anchor="t">
            <a:normAutofit/>
          </a:bodyPr>
          <a:lstStyle xmlns:a="http://schemas.openxmlformats.org/drawingml/2006/main">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マスター テキストの書式設定</a:t>
            </a:r>
          </a:p>
        </p:txBody>
      </p:sp>
      <p:sp>
        <p:nvSpPr>
          <p:cNvPr id="3" name="Date Placeholder 2">
            <a:extLst xmlns:a="http://schemas.openxmlformats.org/drawingml/2006/main">
              <a:ext uri="{FF2B5EF4-FFF2-40B4-BE49-F238E27FC236}">
                <a16:creationId xmlns:a16="http://schemas.microsoft.com/office/drawing/2014/main" id="{5E159011-D5D6-489B-8CDB-95C99C6B56E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A392F3EE-98A2-4113-980E-FAFA192984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0D717476-23A4-4C6F-8823-B9D48F2684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744AD22-693D-4773-9028-20E660F2F223}" type="slidenum">
              <a:t>‹#›</a:t>
            </a:fld>
          </a:p>
        </p:txBody>
      </p:sp>
    </p:spTree>
  </p:cSld>
</p:sldLayout>
</file>

<file path=ppt/slideLayouts/slideLayout14.xml><?xml version="1.0" encoding="utf-8"?>
<p:sldLayout xmlns:p="http://schemas.openxmlformats.org/presentationml/2006/main" type="vertTx" preserve="1">
  <p:cSld name="タイトルと縦書きテキスト">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BD8734-91F2-4275-9B62-A269F1092F7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11" name="Vertical Text Placeholder 2">
            <a:extLst xmlns:a="http://schemas.openxmlformats.org/drawingml/2006/main">
              <a:ext uri="{FF2B5EF4-FFF2-40B4-BE49-F238E27FC236}">
                <a16:creationId xmlns:a16="http://schemas.microsoft.com/office/drawing/2014/main" id="{936180F6-0D03-40A5-BD4D-0C8E2FA71794}"/>
              </a:ext>
            </a:extLst>
          </p:cNvPr>
          <p:cNvSpPr>
            <a:spLocks xmlns:a="http://schemas.openxmlformats.org/drawingml/2006/main" noGrp="1"/>
          </p:cNvSpPr>
          <p:nvPr>
            <p:ph type="body" idx="13"/>
          </p:nvPr>
        </p:nvSpPr>
        <p:spPr>
          <a:xfrm xmlns:a="http://schemas.openxmlformats.org/drawingml/2006/main">
            <a:off x="913775" y="2367093"/>
            <a:ext cx="10364452" cy="3424107"/>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Date Placeholder 3">
            <a:extLst xmlns:a="http://schemas.openxmlformats.org/drawingml/2006/main">
              <a:ext uri="{FF2B5EF4-FFF2-40B4-BE49-F238E27FC236}">
                <a16:creationId xmlns:a16="http://schemas.microsoft.com/office/drawing/2014/main" id="{1ACC5882-DEE2-4809-A802-C30736BF7A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310E3EA7-FF15-4C61-BA04-D9D99692F4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F112113-82A7-4897-A918-05B311F2A8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744AD22-693D-4773-9028-20E660F2F223}" type="slidenum">
              <a:t>‹#›</a:t>
            </a:fld>
          </a:p>
        </p:txBody>
      </p:sp>
    </p:spTree>
  </p:cSld>
</p:sldLayout>
</file>

<file path=ppt/slideLayouts/slideLayout15.xml><?xml version="1.0" encoding="utf-8"?>
<p:sldLayout xmlns:p="http://schemas.openxmlformats.org/presentationml/2006/main" type="vertTitleAndTx" preserve="1">
  <p:cSld name="縦書きタイトルと&#10;縦書きテキスト">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D8C9EA3-ED09-4C17-86C5-8D45349B6242}"/>
              </a:ext>
            </a:extLst>
          </p:cNvPr>
          <p:cNvSpPr>
            <a:spLocks xmlns:a="http://schemas.openxmlformats.org/drawingml/2006/main" noGrp="1"/>
          </p:cNvSpPr>
          <p:nvPr>
            <p:ph type="title" idx="0"/>
          </p:nvPr>
        </p:nvSpPr>
        <p:spPr>
          <a:xfrm xmlns:a="http://schemas.openxmlformats.org/drawingml/2006/main">
            <a:off x="8724900" y="609601"/>
            <a:ext cx="2553326" cy="5181599"/>
          </a:xfrm>
        </p:spPr>
        <p:txBody>
          <a:bodyPr xmlns:a="http://schemas.openxmlformats.org/drawingml/2006/main" vert="eaVert"/>
          <a:lstStyle xmlns:a="http://schemas.openxmlformats.org/drawingml/2006/main">
            <a:lvl1pPr algn="l">
              <a:buNone/>
              <a:defRPr/>
            </a:lvl1pPr>
          </a:lstStyle>
          <a:p xmlns:a="http://schemas.openxmlformats.org/drawingml/2006/main">
            <a:r>
              <a:t>マスター タイトルの書式設定</a:t>
            </a:r>
          </a:p>
        </p:txBody>
      </p:sp>
      <p:sp>
        <p:nvSpPr>
          <p:cNvPr id="8" name="Vertical Text Placeholder 2">
            <a:extLst xmlns:a="http://schemas.openxmlformats.org/drawingml/2006/main">
              <a:ext uri="{FF2B5EF4-FFF2-40B4-BE49-F238E27FC236}">
                <a16:creationId xmlns:a16="http://schemas.microsoft.com/office/drawing/2014/main" id="{2C401BEA-0BA9-46F5-9A11-8F5D54E79BEC}"/>
              </a:ext>
            </a:extLst>
          </p:cNvPr>
          <p:cNvSpPr>
            <a:spLocks xmlns:a="http://schemas.openxmlformats.org/drawingml/2006/main" noGrp="1"/>
          </p:cNvSpPr>
          <p:nvPr>
            <p:ph type="body" idx="13"/>
          </p:nvPr>
        </p:nvSpPr>
        <p:spPr>
          <a:xfrm xmlns:a="http://schemas.openxmlformats.org/drawingml/2006/main">
            <a:off x="913775" y="609601"/>
            <a:ext cx="7658724" cy="5181599"/>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Date Placeholder 3">
            <a:extLst xmlns:a="http://schemas.openxmlformats.org/drawingml/2006/main">
              <a:ext uri="{FF2B5EF4-FFF2-40B4-BE49-F238E27FC236}">
                <a16:creationId xmlns:a16="http://schemas.microsoft.com/office/drawing/2014/main" id="{6398A3AF-163D-4D84-95FF-2BEDB107D0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347C5E95-E9E9-44DC-BF0D-F6CF8E26E4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CC791B1-1D3A-47BC-9F42-A9A99CCA41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744AD22-693D-4773-9028-20E660F2F223}"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2527139b244dee" /><Relationship Type="http://schemas.openxmlformats.org/officeDocument/2006/relationships/slideLayout" Target="/ppt/slideLayouts/slideLayout1.xml" Id="R6a90600f0c1d4072" /><Relationship Type="http://schemas.openxmlformats.org/officeDocument/2006/relationships/slideLayout" Target="/ppt/slideLayouts/slideLayout2.xml" Id="R10f76a3bab214ffe" /><Relationship Type="http://schemas.openxmlformats.org/officeDocument/2006/relationships/slideLayout" Target="/ppt/slideLayouts/slideLayout3.xml" Id="Rfebb081af4a44c8d" /><Relationship Type="http://schemas.openxmlformats.org/officeDocument/2006/relationships/slideLayout" Target="/ppt/slideLayouts/slideLayout4.xml" Id="R857054df9cd04248" /><Relationship Type="http://schemas.openxmlformats.org/officeDocument/2006/relationships/slideLayout" Target="/ppt/slideLayouts/slideLayout5.xml" Id="Rce3f8acd689e4359" /><Relationship Type="http://schemas.openxmlformats.org/officeDocument/2006/relationships/slideLayout" Target="/ppt/slideLayouts/slideLayout6.xml" Id="R1be923e489d04777" /><Relationship Type="http://schemas.openxmlformats.org/officeDocument/2006/relationships/slideLayout" Target="/ppt/slideLayouts/slideLayout7.xml" Id="R2f2f80e7bd784f23" /><Relationship Type="http://schemas.openxmlformats.org/officeDocument/2006/relationships/slideLayout" Target="/ppt/slideLayouts/slideLayout8.xml" Id="Rf5b60b8234324fef" /><Relationship Type="http://schemas.openxmlformats.org/officeDocument/2006/relationships/slideLayout" Target="/ppt/slideLayouts/slideLayout9.xml" Id="R2c4286cd13254287" /><Relationship Type="http://schemas.openxmlformats.org/officeDocument/2006/relationships/slideLayout" Target="/ppt/slideLayouts/slideLayout10.xml" Id="R64a0d0f9b9af4fd4" /><Relationship Type="http://schemas.openxmlformats.org/officeDocument/2006/relationships/slideLayout" Target="/ppt/slideLayouts/slideLayout11.xml" Id="R203cb60a1a734a52" /><Relationship Type="http://schemas.openxmlformats.org/officeDocument/2006/relationships/slideLayout" Target="/ppt/slideLayouts/slideLayout12.xml" Id="Ra41a37e4066a4838" /><Relationship Type="http://schemas.openxmlformats.org/officeDocument/2006/relationships/slideLayout" Target="/ppt/slideLayouts/slideLayout13.xml" Id="Rb88ed16fcdda47bd" /><Relationship Type="http://schemas.openxmlformats.org/officeDocument/2006/relationships/slideLayout" Target="/ppt/slideLayouts/slideLayout14.xml" Id="R6da0df7557084803" /><Relationship Type="http://schemas.openxmlformats.org/officeDocument/2006/relationships/slideLayout" Target="/ppt/slideLayouts/slideLayout15.xml" Id="R67fd74b2ca994f06"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992CA92-28ED-4C8E-BAF8-4B06A137A642}"/>
              </a:ext>
            </a:extLst>
          </p:cNvPr>
          <p:cNvSpPr>
            <a:spLocks xmlns:a="http://schemas.openxmlformats.org/drawingml/2006/main" noGrp="1"/>
          </p:cNvSpPr>
          <p:nvPr>
            <p:ph type="title" idx="0"/>
          </p:nvPr>
        </p:nvSpPr>
        <p:spPr>
          <a:xfrm xmlns:a="http://schemas.openxmlformats.org/drawingml/2006/main">
            <a:off x="913775" y="618517"/>
            <a:ext cx="10364451" cy="1596177"/>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マスター タイトルの書式設定</a:t>
            </a:r>
          </a:p>
        </p:txBody>
      </p:sp>
      <p:sp>
        <p:nvSpPr>
          <p:cNvPr id="3" name="Text Placeholder 2">
            <a:extLst xmlns:a="http://schemas.openxmlformats.org/drawingml/2006/main">
              <a:ext uri="{FF2B5EF4-FFF2-40B4-BE49-F238E27FC236}">
                <a16:creationId xmlns:a16="http://schemas.microsoft.com/office/drawing/2014/main" id="{74F0CC42-9B5A-4BFA-AEBE-31D50E4CB5C6}"/>
              </a:ext>
            </a:extLst>
          </p:cNvPr>
          <p:cNvSpPr>
            <a:spLocks xmlns:a="http://schemas.openxmlformats.org/drawingml/2006/main" noGrp="1"/>
          </p:cNvSpPr>
          <p:nvPr>
            <p:ph type="body" idx="1"/>
          </p:nvPr>
        </p:nvSpPr>
        <p:spPr>
          <a:xfrm xmlns:a="http://schemas.openxmlformats.org/drawingml/2006/main">
            <a:off x="913775" y="2367093"/>
            <a:ext cx="10364452" cy="3424107"/>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Date Placeholder 3">
            <a:extLst xmlns:a="http://schemas.openxmlformats.org/drawingml/2006/main">
              <a:ext uri="{FF2B5EF4-FFF2-40B4-BE49-F238E27FC236}">
                <a16:creationId xmlns:a16="http://schemas.microsoft.com/office/drawing/2014/main" id="{0F80CDC3-AFFE-4735-B3E3-939E7C1A1E29}"/>
              </a:ext>
            </a:extLst>
          </p:cNvPr>
          <p:cNvSpPr>
            <a:spLocks xmlns:a="http://schemas.openxmlformats.org/drawingml/2006/main" noGrp="1"/>
          </p:cNvSpPr>
          <p:nvPr>
            <p:ph type="dt" idx="2"/>
          </p:nvPr>
        </p:nvSpPr>
        <p:spPr>
          <a:xfrm xmlns:a="http://schemas.openxmlformats.org/drawingml/2006/main">
            <a:off x="7678737" y="5883275"/>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cap="none" baseline="0">
                <a:solidFill>
                  <a:schemeClr val="tx1"/>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E577A23C-37E0-45EF-95EC-D7F7730631EF}"/>
              </a:ext>
            </a:extLst>
          </p:cNvPr>
          <p:cNvSpPr>
            <a:spLocks xmlns:a="http://schemas.openxmlformats.org/drawingml/2006/main" noGrp="1"/>
          </p:cNvSpPr>
          <p:nvPr>
            <p:ph type="ftr" idx="3"/>
          </p:nvPr>
        </p:nvSpPr>
        <p:spPr>
          <a:xfrm xmlns:a="http://schemas.openxmlformats.org/drawingml/2006/main">
            <a:off x="913774" y="5883275"/>
            <a:ext cx="6672887"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000" cap="none" baseline="0">
                <a:solidFill>
                  <a:schemeClr val="tx1"/>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F92A8CB5-7597-4BAB-8B45-AF16D01B9826}"/>
              </a:ext>
            </a:extLst>
          </p:cNvPr>
          <p:cNvSpPr>
            <a:spLocks xmlns:a="http://schemas.openxmlformats.org/drawingml/2006/main" noGrp="1"/>
          </p:cNvSpPr>
          <p:nvPr>
            <p:ph type="sldNum" idx="4"/>
          </p:nvPr>
        </p:nvSpPr>
        <p:spPr>
          <a:xfrm xmlns:a="http://schemas.openxmlformats.org/drawingml/2006/main">
            <a:off x="10514011" y="5883275"/>
            <a:ext cx="764215"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cap="none" baseline="0">
                <a:solidFill>
                  <a:schemeClr val="tx1"/>
                </a:solidFill>
              </a:defRPr>
            </a:lvl1pPr>
          </a:lstStyle>
          <a:p xmlns:a="http://schemas.openxmlformats.org/drawingml/2006/main">
            <a:fld id="{7744AD22-693D-4773-9028-20E660F2F223}"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90600f0c1d4072"/>
    <p:sldLayoutId xmlns:r="http://schemas.openxmlformats.org/officeDocument/2006/relationships" id="2147483650" r:id="R10f76a3bab214ffe"/>
    <p:sldLayoutId xmlns:r="http://schemas.openxmlformats.org/officeDocument/2006/relationships" id="2147483651" r:id="Rfebb081af4a44c8d"/>
    <p:sldLayoutId xmlns:r="http://schemas.openxmlformats.org/officeDocument/2006/relationships" id="2147483652" r:id="R857054df9cd04248"/>
    <p:sldLayoutId xmlns:r="http://schemas.openxmlformats.org/officeDocument/2006/relationships" id="2147483653" r:id="Rce3f8acd689e4359"/>
    <p:sldLayoutId xmlns:r="http://schemas.openxmlformats.org/officeDocument/2006/relationships" id="2147483654" r:id="R1be923e489d04777"/>
    <p:sldLayoutId xmlns:r="http://schemas.openxmlformats.org/officeDocument/2006/relationships" id="2147483655" r:id="R2f2f80e7bd784f23"/>
    <p:sldLayoutId xmlns:r="http://schemas.openxmlformats.org/officeDocument/2006/relationships" id="2147483656" r:id="Rf5b60b8234324fef"/>
    <p:sldLayoutId xmlns:r="http://schemas.openxmlformats.org/officeDocument/2006/relationships" id="2147483657" r:id="R2c4286cd13254287"/>
    <p:sldLayoutId xmlns:r="http://schemas.openxmlformats.org/officeDocument/2006/relationships" id="2147483658" r:id="R64a0d0f9b9af4fd4"/>
    <p:sldLayoutId xmlns:r="http://schemas.openxmlformats.org/officeDocument/2006/relationships" id="2147483659" r:id="R203cb60a1a734a52"/>
    <p:sldLayoutId xmlns:r="http://schemas.openxmlformats.org/officeDocument/2006/relationships" id="2147483660" r:id="Ra41a37e4066a4838"/>
    <p:sldLayoutId xmlns:r="http://schemas.openxmlformats.org/officeDocument/2006/relationships" id="2147483661" r:id="Rb88ed16fcdda47bd"/>
    <p:sldLayoutId xmlns:r="http://schemas.openxmlformats.org/officeDocument/2006/relationships" id="2147483662" r:id="R6da0df7557084803"/>
    <p:sldLayoutId xmlns:r="http://schemas.openxmlformats.org/officeDocument/2006/relationships" id="2147483663" r:id="R67fd74b2ca994f06"/>
  </p:sldLayoutIdLst>
  <p:hf hdr="0" ftr="0" dt="0"/>
  <p:txStyles>
    <p:titleStyle>
      <a:lvl1pPr xmlns:a="http://schemas.openxmlformats.org/drawingml/2006/main" algn="ctr" defTabSz="914400">
        <a:lnSpc>
          <a:spcPct val="90000"/>
        </a:lnSpc>
        <a:spcBef>
          <a:spcPct val="0"/>
        </a:spcBef>
        <a:buNone/>
        <a:defRPr sz="3600" kern="1200" cap="none" baseline="0">
          <a:solidFill>
            <a:schemeClr val="tx1"/>
          </a:solidFill>
          <a:latin typeface="+mj-lt"/>
          <a:ea typeface="+mj-lt"/>
          <a:cs typeface="+mj-lt"/>
        </a:defRPr>
      </a:lvl1pPr>
    </p:titleStyle>
    <p:bodyStyle>
      <a:lvl1pPr xmlns:a="http://schemas.openxmlformats.org/drawingml/2006/main" marL="228600" indent="-228600" algn="l" defTabSz="914400">
        <a:lnSpc>
          <a:spcPct val="120000"/>
        </a:lnSpc>
        <a:spcBef>
          <a:spcPts val="1000"/>
        </a:spcBef>
        <a:buClr>
          <a:schemeClr val="tx1"/>
        </a:buClr>
        <a:buFont typeface="Arial"/>
        <a:buChar char="•"/>
        <a:defRPr sz="2000" kern="1200" cap="none" baseline="0">
          <a:solidFill>
            <a:schemeClr val="tx1"/>
          </a:solidFill>
          <a:latin typeface="+mn-lt"/>
          <a:ea typeface="+mn-lt"/>
          <a:cs typeface="+mn-lt"/>
        </a:defRPr>
      </a:lvl1pPr>
      <a:lvl2pPr xmlns:a="http://schemas.openxmlformats.org/drawingml/2006/main" marL="685800" indent="-228600" algn="l" defTabSz="914400">
        <a:lnSpc>
          <a:spcPct val="120000"/>
        </a:lnSpc>
        <a:spcBef>
          <a:spcPts val="500"/>
        </a:spcBef>
        <a:buClr>
          <a:schemeClr val="tx1"/>
        </a:buClr>
        <a:buFont typeface="Arial"/>
        <a:buChar char="•"/>
        <a:defRPr sz="1800" kern="1200" cap="none" baseline="0">
          <a:solidFill>
            <a:schemeClr val="tx1"/>
          </a:solidFill>
          <a:latin typeface="+mn-lt"/>
          <a:ea typeface="+mn-lt"/>
          <a:cs typeface="+mn-lt"/>
        </a:defRPr>
      </a:lvl2pPr>
      <a:lvl3pPr xmlns:a="http://schemas.openxmlformats.org/drawingml/2006/main" marL="1143000" indent="-228600" algn="l" defTabSz="914400">
        <a:lnSpc>
          <a:spcPct val="120000"/>
        </a:lnSpc>
        <a:spcBef>
          <a:spcPts val="500"/>
        </a:spcBef>
        <a:buClr>
          <a:schemeClr val="tx1"/>
        </a:buClr>
        <a:buFont typeface="Arial"/>
        <a:buChar char="•"/>
        <a:defRPr sz="1600" kern="1200" cap="none" baseline="0">
          <a:solidFill>
            <a:schemeClr val="tx1"/>
          </a:solidFill>
          <a:latin typeface="+mn-lt"/>
          <a:ea typeface="+mn-lt"/>
          <a:cs typeface="+mn-lt"/>
        </a:defRPr>
      </a:lvl3pPr>
      <a:lvl4pPr xmlns:a="http://schemas.openxmlformats.org/drawingml/2006/main" marL="1600200" indent="-228600" algn="l" defTabSz="914400">
        <a:lnSpc>
          <a:spcPct val="120000"/>
        </a:lnSpc>
        <a:spcBef>
          <a:spcPts val="500"/>
        </a:spcBef>
        <a:buClr>
          <a:schemeClr val="tx1"/>
        </a:buClr>
        <a:buFont typeface="Arial"/>
        <a:buChar char="•"/>
        <a:defRPr sz="1400" kern="1200" cap="none" baseline="0">
          <a:solidFill>
            <a:schemeClr val="tx1"/>
          </a:solidFill>
          <a:latin typeface="+mn-lt"/>
          <a:ea typeface="+mn-lt"/>
          <a:cs typeface="+mn-lt"/>
        </a:defRPr>
      </a:lvl4pPr>
      <a:lvl5pPr xmlns:a="http://schemas.openxmlformats.org/drawingml/2006/main" marL="2057400" indent="-228600" algn="l" defTabSz="914400">
        <a:lnSpc>
          <a:spcPct val="120000"/>
        </a:lnSpc>
        <a:spcBef>
          <a:spcPts val="500"/>
        </a:spcBef>
        <a:buClr>
          <a:schemeClr val="tx1"/>
        </a:buClr>
        <a:buFont typeface="Arial"/>
        <a:buChar char="•"/>
        <a:defRPr sz="1400" kern="1200" cap="none" baseline="0">
          <a:solidFill>
            <a:schemeClr val="tx1"/>
          </a:solidFill>
          <a:latin typeface="+mn-lt"/>
          <a:ea typeface="+mn-lt"/>
          <a:cs typeface="+mn-lt"/>
        </a:defRPr>
      </a:lvl5pPr>
      <a:lvl6pPr xmlns:a="http://schemas.openxmlformats.org/drawingml/2006/main" marL="2514600" indent="-228600" algn="l" defTabSz="914400">
        <a:lnSpc>
          <a:spcPct val="120000"/>
        </a:lnSpc>
        <a:spcBef>
          <a:spcPts val="500"/>
        </a:spcBef>
        <a:buClr>
          <a:schemeClr val="tx1"/>
        </a:buClr>
        <a:buFont typeface="Arial"/>
        <a:buChar char="•"/>
        <a:defRPr sz="1400" kern="1200" cap="all" baseline="0">
          <a:solidFill>
            <a:schemeClr val="tx1"/>
          </a:solidFill>
          <a:latin typeface="+mn-lt"/>
          <a:ea typeface="+mn-lt"/>
          <a:cs typeface="+mn-lt"/>
        </a:defRPr>
      </a:lvl6pPr>
      <a:lvl7pPr xmlns:a="http://schemas.openxmlformats.org/drawingml/2006/main" marL="2971800" indent="-228600" algn="l" defTabSz="914400">
        <a:lnSpc>
          <a:spcPct val="120000"/>
        </a:lnSpc>
        <a:spcBef>
          <a:spcPts val="500"/>
        </a:spcBef>
        <a:buClr>
          <a:schemeClr val="tx1"/>
        </a:buClr>
        <a:buFont typeface="Arial"/>
        <a:buChar char="•"/>
        <a:defRPr sz="1400" kern="1200" cap="all" baseline="0">
          <a:solidFill>
            <a:schemeClr val="tx1"/>
          </a:solidFill>
          <a:latin typeface="+mn-lt"/>
          <a:ea typeface="+mn-lt"/>
          <a:cs typeface="+mn-lt"/>
        </a:defRPr>
      </a:lvl7pPr>
      <a:lvl8pPr xmlns:a="http://schemas.openxmlformats.org/drawingml/2006/main" marL="3429000" indent="-228600" algn="l" defTabSz="914400">
        <a:lnSpc>
          <a:spcPct val="120000"/>
        </a:lnSpc>
        <a:spcBef>
          <a:spcPts val="500"/>
        </a:spcBef>
        <a:buClr>
          <a:schemeClr val="tx1"/>
        </a:buClr>
        <a:buFont typeface="Arial"/>
        <a:buChar char="•"/>
        <a:defRPr sz="1400" kern="1200" cap="all" baseline="0">
          <a:solidFill>
            <a:schemeClr val="tx1"/>
          </a:solidFill>
          <a:latin typeface="+mn-lt"/>
          <a:ea typeface="+mn-lt"/>
          <a:cs typeface="+mn-lt"/>
        </a:defRPr>
      </a:lvl8pPr>
      <a:lvl9pPr xmlns:a="http://schemas.openxmlformats.org/drawingml/2006/main" marL="3886200" indent="-228600" algn="l" defTabSz="914400">
        <a:lnSpc>
          <a:spcPct val="120000"/>
        </a:lnSpc>
        <a:spcBef>
          <a:spcPts val="500"/>
        </a:spcBef>
        <a:buClr>
          <a:schemeClr val="tx1"/>
        </a:buClr>
        <a:buFont typeface="Arial"/>
        <a:buChar char="•"/>
        <a:defRPr sz="1400" kern="1200" cap="all" baseline="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lumMod val="110000"/>
            <a:satMod val="105000"/>
          </a:schemeClr>
        </a:solidFill>
        <a:gradFill rotWithShape="1">
          <a:gsLst>
            <a:gs pos="0">
              <a:schemeClr val="phClr">
                <a:tint val="94000"/>
                <a:lumMod val="108000"/>
                <a:satMod val="100000"/>
              </a:schemeClr>
            </a:gs>
            <a:gs pos="50000">
              <a:schemeClr val="phClr">
                <a:tint val="98000"/>
                <a:shade val="100000"/>
                <a:lumMod val="100000"/>
                <a:satMod val="100000"/>
              </a:schemeClr>
            </a:gs>
            <a:gs pos="100000">
              <a:schemeClr val="phClr">
                <a:shade val="72000"/>
                <a:lumMod val="100000"/>
                <a:satMod val="120000"/>
              </a:schemeClr>
            </a:gs>
          </a:gsLst>
          <a:lin ang="5400000" scaled="0"/>
        </a:gradFill>
      </a:fillStyleLst>
      <a:lnStyleLst>
        <a:ln w="9525">
          <a:solidFill>
            <a:schemeClr val="phClr">
              <a:shade val="60000"/>
            </a:scheme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lumMod val="112000"/>
                <a:satMod val="150000"/>
              </a:schemeClr>
            </a:gs>
            <a:gs pos="100000">
              <a:schemeClr val="phClr">
                <a:shade val="92000"/>
                <a:lumMod val="110000"/>
                <a:satMod val="14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9bb53ab15c421b" /><Relationship Type="http://schemas.openxmlformats.org/officeDocument/2006/relationships/notesSlide" Target="/ppt/notesSlides/notesSlide1.xml" Id="R10fdf414521347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ebc5235e6314be3" /><Relationship Type="http://schemas.openxmlformats.org/officeDocument/2006/relationships/notesSlide" Target="/ppt/notesSlides/notesSlide2.xml" Id="R7811e580d1384c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5.xml" Id="Ra6e5d0fdfede4d4f" /><Relationship Type="http://schemas.openxmlformats.org/officeDocument/2006/relationships/notesSlide" Target="/ppt/notesSlides/notesSlide3.xml" Id="R60fba434c30849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56d973e3e8246fe" /><Relationship Type="http://schemas.openxmlformats.org/officeDocument/2006/relationships/notesSlide" Target="/ppt/notesSlides/notesSlide4.xml" Id="Rbe0bbe74b93849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3786fa7098c46a5" /><Relationship Type="http://schemas.openxmlformats.org/officeDocument/2006/relationships/notesSlide" Target="/ppt/notesSlides/notesSlide5.xml" Id="R68dae1535e2443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f9ec6a51440d4089" /><Relationship Type="http://schemas.openxmlformats.org/officeDocument/2006/relationships/notesSlide" Target="/ppt/notesSlides/notesSlide6.xml" Id="Re721f49366da45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41c16315d7a48b1" /><Relationship Type="http://schemas.openxmlformats.org/officeDocument/2006/relationships/notesSlide" Target="/ppt/notesSlides/notesSlide7.xml" Id="R06c3057348ce4e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03d7c3cdec34eee" /><Relationship Type="http://schemas.openxmlformats.org/officeDocument/2006/relationships/notesSlide" Target="/ppt/notesSlides/notesSlide8.xml" Id="R1733bea544214a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25d2dd3027843e3" /><Relationship Type="http://schemas.openxmlformats.org/officeDocument/2006/relationships/notesSlide" Target="/ppt/notesSlides/notesSlide9.xml" Id="Rbd379ab31c034b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8d80e92a7bf496d" /><Relationship Type="http://schemas.openxmlformats.org/officeDocument/2006/relationships/notesSlide" Target="/ppt/notesSlides/notesSlide10.xml" Id="Rd658d11a937446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2024929ae2144ad" /><Relationship Type="http://schemas.openxmlformats.org/officeDocument/2006/relationships/notesSlide" Target="/ppt/notesSlides/notesSlide11.xml" Id="R8f829311347a4c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e75c18e488245cf" /><Relationship Type="http://schemas.openxmlformats.org/officeDocument/2006/relationships/notesSlide" Target="/ppt/notesSlides/notesSlide12.xml" Id="R5141c447fa034a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5f765c005a404230" /><Relationship Type="http://schemas.openxmlformats.org/officeDocument/2006/relationships/notesSlide" Target="/ppt/notesSlides/notesSlide13.xml" Id="R544052a9d08549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399ffc600f44449f" /><Relationship Type="http://schemas.openxmlformats.org/officeDocument/2006/relationships/notesSlide" Target="/ppt/notesSlides/notesSlide14.xml" Id="Rb0472cc4fce845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c4033b0477b4eec" /><Relationship Type="http://schemas.openxmlformats.org/officeDocument/2006/relationships/notesSlide" Target="/ppt/notesSlides/notesSlide15.xml" Id="R0f046e4801224af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bdf6af18fec54512" /><Relationship Type="http://schemas.openxmlformats.org/officeDocument/2006/relationships/notesSlide" Target="/ppt/notesSlides/notesSlide16.xml" Id="Ra48ffd56fcd742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02174884ae6f468a" /><Relationship Type="http://schemas.openxmlformats.org/officeDocument/2006/relationships/notesSlide" Target="/ppt/notesSlides/notesSlide17.xml" Id="Rdd00fc18a15544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5.xml" Id="R9ea7d5807c924bf3" /><Relationship Type="http://schemas.openxmlformats.org/officeDocument/2006/relationships/notesSlide" Target="/ppt/notesSlides/notesSlide18.xml" Id="R2c121efc59c34b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f0fef7e3f5b4b95" /><Relationship Type="http://schemas.openxmlformats.org/officeDocument/2006/relationships/notesSlide" Target="/ppt/notesSlides/notesSlide19.xml" Id="R54aa9ac23a4846d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d0d3c93effaf4046" /><Relationship Type="http://schemas.openxmlformats.org/officeDocument/2006/relationships/notesSlide" Target="/ppt/notesSlides/notesSlide20.xml" Id="Ra37eb60089af4e0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dc84622f54674d18" /><Relationship Type="http://schemas.openxmlformats.org/officeDocument/2006/relationships/notesSlide" Target="/ppt/notesSlides/notesSlide21.xml" Id="Re83b78deb92b49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5.xml" Id="R5dbaba11ef324f07" /><Relationship Type="http://schemas.openxmlformats.org/officeDocument/2006/relationships/notesSlide" Target="/ppt/notesSlides/notesSlide22.xml" Id="Re6deb8ca365340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505c103ec7694e0c" /><Relationship Type="http://schemas.openxmlformats.org/officeDocument/2006/relationships/notesSlide" Target="/ppt/notesSlides/notesSlide23.xml" Id="R3474c7114fa44dc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0b81e661b104da9" /><Relationship Type="http://schemas.openxmlformats.org/officeDocument/2006/relationships/notesSlide" Target="/ppt/notesSlides/notesSlide24.xml" Id="R8c55ed6528a349b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3e7c430701c04957" /><Relationship Type="http://schemas.openxmlformats.org/officeDocument/2006/relationships/notesSlide" Target="/ppt/notesSlides/notesSlide25.xml" Id="Rf01bdcc6e80e49d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83e526590fdf4470" /><Relationship Type="http://schemas.openxmlformats.org/officeDocument/2006/relationships/notesSlide" Target="/ppt/notesSlides/notesSlide26.xml" Id="Raad7914ed78145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4e778218d59b4eda" /><Relationship Type="http://schemas.openxmlformats.org/officeDocument/2006/relationships/notesSlide" Target="/ppt/notesSlides/notesSlide27.xml" Id="Rd3ff656d80594b8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fb431977ad8f4259" /><Relationship Type="http://schemas.openxmlformats.org/officeDocument/2006/relationships/notesSlide" Target="/ppt/notesSlides/notesSlide28.xml" Id="R6551f244bf17431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8.xml" Id="R46e592e419b946ee" /><Relationship Type="http://schemas.openxmlformats.org/officeDocument/2006/relationships/notesSlide" Target="/ppt/notesSlides/notesSlide29.xml" Id="R4a87bb336e02430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639A861-E01D-4880-9612-6A48EEF482C3}"/>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sz="3600" b="1">
                <a:solidFill>
                  <a:srgbClr val="1F1F1F"/>
                </a:solidFill>
                <a:latin typeface="游ゴシック Medium"/>
                <a:ea typeface="游ゴシック Medium"/>
                <a:cs typeface="游ゴシック Medium"/>
              </a:rPr>
              <a:t>CADタグ・属性の自動抽出</a:t>
            </a:r>
          </a:p>
          <a:p xmlns:a="http://schemas.openxmlformats.org/drawingml/2006/main">
            <a:r>
              <a:rPr sz="3600" b="1">
                <a:solidFill>
                  <a:srgbClr val="1F1F1F"/>
                </a:solidFill>
                <a:latin typeface="游ゴシック Medium"/>
                <a:ea typeface="游ゴシック Medium"/>
                <a:cs typeface="游ゴシック Medium"/>
              </a:rPr>
              <a:t>抽出元と具体例のご説明</a:t>
            </a:r>
          </a:p>
        </p:txBody>
      </p:sp>
      <p:sp>
        <p:nvSpPr>
          <p:cNvPr id="3" name="Subtitle 2">
            <a:extLst xmlns:a="http://schemas.openxmlformats.org/drawingml/2006/main">
              <a:ext uri="{FF2B5EF4-FFF2-40B4-BE49-F238E27FC236}">
                <a16:creationId xmlns:a16="http://schemas.microsoft.com/office/drawing/2014/main" id="{DE68EB94-F81B-4B4D-9265-C8F04621622D}"/>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rPr sz="1800">
                <a:solidFill>
                  <a:srgbClr val="5A5A5A"/>
                </a:solidFill>
                <a:latin typeface="游ゴシック Medium"/>
                <a:ea typeface="游ゴシック Medium"/>
                <a:cs typeface="游ゴシック Medium"/>
              </a:rPr>
              <a:t>ICAD／STEP／DXFから何をどう抜き出し、どこまでお渡しできるか</a:t>
            </a:r>
          </a:p>
        </p:txBody>
      </p:sp>
      <p:sp>
        <p:nvSpPr>
          <p:cNvPr id="4" name="Text Placeholder 3">
            <a:extLst xmlns:a="http://schemas.openxmlformats.org/drawingml/2006/main">
              <a:ext uri="{FF2B5EF4-FFF2-40B4-BE49-F238E27FC236}">
                <a16:creationId xmlns:a16="http://schemas.microsoft.com/office/drawing/2014/main" id="{052FFB0D-A2A0-4483-9D72-1FF4E34BCC90}"/>
              </a:ext>
            </a:extLst>
          </p:cNvPr>
          <p:cNvSpPr>
            <a:spLocks xmlns:a="http://schemas.openxmlformats.org/drawingml/2006/main" noGrp="1"/>
          </p:cNvSpPr>
          <p:nvPr>
            <p:ph type="body" idx="10"/>
          </p:nvPr>
        </p:nvSpPr>
        <p:spPr/>
        <p:txBody>
          <a:bodyPr xmlns:a="http://schemas.openxmlformats.org/drawingml/2006/main"/>
          <a:lstStyle xmlns:a="http://schemas.openxmlformats.org/drawingml/2006/main"/>
          <a:p xmlns:a="http://schemas.openxmlformats.org/drawingml/2006/main">
            <a:r>
              <a:rPr sz="1200">
                <a:solidFill>
                  <a:srgbClr val="5A5A5A"/>
                </a:solidFill>
                <a:latin typeface="游ゴシック Medium"/>
                <a:ea typeface="游ゴシック Medium"/>
                <a:cs typeface="游ゴシック Medium"/>
              </a:rPr>
              <a:t>2026.07.28　/　株式会社アルパイン設計事務所　/　創屋様ご説明用</a:t>
            </a:r>
          </a:p>
        </p:txBody>
      </p:sp>
    </p:spTree>
    <p:extLst>
      <p:ext uri="{BB962C8B-B14F-4D97-AF65-F5344CB8AC3E}">
        <p14:creationId xmlns:p14="http://schemas.microsoft.com/office/powerpoint/2010/main" val="208352396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D4DC8C-9F2C-4295-AE83-2544676B3B3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本日ご説明する内容</a:t>
            </a:r>
          </a:p>
        </p:txBody>
      </p:sp>
      <p:sp>
        <p:nvSpPr>
          <p:cNvPr id="3" name="Text Placeholder 2">
            <a:extLst xmlns:a="http://schemas.openxmlformats.org/drawingml/2006/main">
              <a:ext uri="{FF2B5EF4-FFF2-40B4-BE49-F238E27FC236}">
                <a16:creationId xmlns:a16="http://schemas.microsoft.com/office/drawing/2014/main" id="{DF949E75-60F9-4D87-8BA4-807B2939D88B}"/>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いただいた4つのご質問への回答</a:t>
            </a:r>
          </a:p>
        </p:txBody>
      </p:sp>
      <p:graphicFrame>
        <p:nvGraphicFramePr>
          <p:cNvPr id="9" name="Table 3"/>
          <p:cNvGraphicFramePr/>
          <p:nvPr/>
        </p:nvGraphicFramePr>
        <p:xfrm>
          <a:off xmlns:a="http://schemas.openxmlformats.org/drawingml/2006/main" x="457200" y="1364228"/>
          <a:ext xmlns:a="http://schemas.openxmlformats.org/drawingml/2006/main" cx="11352212" cy="2600000"/>
        </p:xfrm>
        <a:graphic xmlns:a="http://schemas.openxmlformats.org/drawingml/2006/main">
          <a:graphicData uri="http://schemas.openxmlformats.org/drawingml/2006/table">
            <a:tbl>
              <a:tblPr firstRow="1" bandRow="1">
                <a:tableStyleId>{5C22544A-7EE6-4342-B048-85BDC9FD1C3A}</a:tableStyleId>
              </a:tblPr>
              <a:tblGrid>
                <a:gridCol w="5676106"/>
                <a:gridCol w="5676106"/>
              </a:tblGrid>
              <a:tr h="520000">
                <a:tc>
                  <a:txBody>
                    <a:bodyPr/>
                    <a:lstStyle/>
                    <a:p>
                      <a:r>
                        <a:rPr sz="1200" b="1">
                          <a:solidFill>
                            <a:srgbClr val="FFFFFF"/>
                          </a:solidFill>
                          <a:latin typeface="游ゴシック Medium"/>
                          <a:ea typeface="游ゴシック Medium"/>
                          <a:cs typeface="游ゴシック Medium"/>
                        </a:rPr>
                        <a:t>いただいたご質問</a:t>
                      </a:r>
                    </a:p>
                  </a:txBody>
                  <a:tcPr marL="64000" marR="64000" marT="45720" marB="45720" anchor="ctr">
                    <a:solidFill>
                      <a:srgbClr val="005BAC"/>
                    </a:solidFill>
                  </a:tcPr>
                </a:tc>
                <a:tc>
                  <a:txBody>
                    <a:bodyPr/>
                    <a:lstStyle/>
                    <a:p>
                      <a:r>
                        <a:rPr sz="1200" b="1">
                          <a:solidFill>
                            <a:srgbClr val="FFFFFF"/>
                          </a:solidFill>
                          <a:latin typeface="游ゴシック Medium"/>
                          <a:ea typeface="游ゴシック Medium"/>
                          <a:cs typeface="游ゴシック Medium"/>
                        </a:rPr>
                        <a:t>本資料での回答箇所</a:t>
                      </a:r>
                    </a:p>
                  </a:txBody>
                  <a:tcPr marL="64000" marR="64000" marT="45720" marB="45720" anchor="ctr">
                    <a:solidFill>
                      <a:srgbClr val="005BAC"/>
                    </a:solidFill>
                  </a:tcPr>
                </a:tc>
              </a:tr>
              <a:tr h="520000">
                <a:tc>
                  <a:txBody>
                    <a:bodyPr/>
                    <a:lstStyle/>
                    <a:p>
                      <a:pPr>
                        <a:lnSpc>
                          <a:spcPct val="100000"/>
                        </a:lnSpc>
                        <a:buNone/>
                      </a:pPr>
                      <a:r>
                        <a:rPr sz="1300" b="0">
                          <a:solidFill>
                            <a:srgbClr val="1F1F1F"/>
                          </a:solidFill>
                          <a:latin typeface="游ゴシック Medium"/>
                          <a:ea typeface="游ゴシック Medium"/>
                          <a:cs typeface="游ゴシック Medium"/>
                        </a:rPr>
                        <a:t>どこからどういったものを抜き出すのかが事前に分かるとありがたい</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CHAPTER 01・02　抽出元カタログと正規化・タグ生成ルール</a:t>
                      </a:r>
                    </a:p>
                  </a:txBody>
                  <a:tcPr marL="64000" marR="64000" marT="24000" marB="24000" anchor="ctr">
                    <a:solidFill>
                      <a:srgbClr val="FFFFFF"/>
                    </a:solidFill>
                  </a:tcPr>
                </a:tc>
              </a:tr>
              <a:tr h="520000">
                <a:tc>
                  <a:txBody>
                    <a:bodyPr/>
                    <a:lstStyle/>
                    <a:p>
                      <a:pPr>
                        <a:lnSpc>
                          <a:spcPct val="100000"/>
                        </a:lnSpc>
                        <a:buNone/>
                      </a:pPr>
                      <a:r>
                        <a:rPr sz="1300" b="0">
                          <a:solidFill>
                            <a:srgbClr val="1F1F1F"/>
                          </a:solidFill>
                          <a:latin typeface="游ゴシック Medium"/>
                          <a:ea typeface="游ゴシック Medium"/>
                          <a:cs typeface="游ゴシック Medium"/>
                        </a:rPr>
                        <a:t>どういったものが抜き出されるのか、具体例が欲しい</a:t>
                      </a:r>
                    </a:p>
                  </a:txBody>
                  <a:tcPr marL="64000" marR="64000" marT="24000" marB="24000" anchor="ctr">
                    <a:solidFill>
                      <a:srgbClr val="F5F7FA"/>
                    </a:solidFill>
                  </a:tcPr>
                </a:tc>
                <a:tc>
                  <a:txBody>
                    <a:bodyPr/>
                    <a:lstStyle/>
                    <a:p>
                      <a:pPr>
                        <a:lnSpc>
                          <a:spcPct val="100000"/>
                        </a:lnSpc>
                        <a:buNone/>
                      </a:pPr>
                      <a:r>
                        <a:rPr sz="1300" b="0">
                          <a:solidFill>
                            <a:srgbClr val="1F1F1F"/>
                          </a:solidFill>
                          <a:latin typeface="游ゴシック Medium"/>
                          <a:ea typeface="游ゴシック Medium"/>
                          <a:cs typeface="游ゴシック Medium"/>
                        </a:rPr>
                        <a:t>CHAPTER 03　実ICAD 39件の実測結果と実ファイル5例</a:t>
                      </a:r>
                    </a:p>
                  </a:txBody>
                  <a:tcPr marL="64000" marR="64000" marT="24000" marB="24000" anchor="ctr">
                    <a:solidFill>
                      <a:srgbClr val="F5F7FA"/>
                    </a:solidFill>
                  </a:tcPr>
                </a:tc>
              </a:tr>
              <a:tr h="520000">
                <a:tc>
                  <a:txBody>
                    <a:bodyPr/>
                    <a:lstStyle/>
                    <a:p>
                      <a:pPr>
                        <a:lnSpc>
                          <a:spcPct val="100000"/>
                        </a:lnSpc>
                        <a:buNone/>
                      </a:pPr>
                      <a:r>
                        <a:rPr sz="1300" b="0">
                          <a:solidFill>
                            <a:srgbClr val="1F1F1F"/>
                          </a:solidFill>
                          <a:latin typeface="游ゴシック Medium"/>
                          <a:ea typeface="游ゴシック Medium"/>
                          <a:cs typeface="游ゴシック Medium"/>
                        </a:rPr>
                        <a:t>完成後はタグ・属性抽出の部分のソースだけ頂けるとありがたい</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CHAPTER 04　切り出し範囲とモジュール境界</a:t>
                      </a:r>
                    </a:p>
                  </a:txBody>
                  <a:tcPr marL="64000" marR="64000" marT="24000" marB="24000" anchor="ctr">
                    <a:solidFill>
                      <a:srgbClr val="FFFFFF"/>
                    </a:solidFill>
                  </a:tcPr>
                </a:tc>
              </a:tr>
              <a:tr h="520000">
                <a:tc>
                  <a:txBody>
                    <a:bodyPr/>
                    <a:lstStyle/>
                    <a:p>
                      <a:pPr>
                        <a:lnSpc>
                          <a:spcPct val="100000"/>
                        </a:lnSpc>
                        <a:buNone/>
                      </a:pPr>
                      <a:r>
                        <a:rPr sz="1300" b="0">
                          <a:solidFill>
                            <a:srgbClr val="1F1F1F"/>
                          </a:solidFill>
                          <a:latin typeface="游ゴシック Medium"/>
                          <a:ea typeface="游ゴシック Medium"/>
                          <a:cs typeface="游ゴシック Medium"/>
                        </a:rPr>
                        <a:t>ICAD→STEP変換／ナレッジシステム専用ICADライセンスの用意</a:t>
                      </a:r>
                    </a:p>
                  </a:txBody>
                  <a:tcPr marL="64000" marR="64000" marT="24000" marB="24000" anchor="ctr">
                    <a:solidFill>
                      <a:srgbClr val="F5F7FA"/>
                    </a:solidFill>
                  </a:tcPr>
                </a:tc>
                <a:tc>
                  <a:txBody>
                    <a:bodyPr/>
                    <a:lstStyle/>
                    <a:p>
                      <a:pPr>
                        <a:lnSpc>
                          <a:spcPct val="100000"/>
                        </a:lnSpc>
                        <a:buNone/>
                      </a:pPr>
                      <a:r>
                        <a:rPr sz="1300" b="0">
                          <a:solidFill>
                            <a:srgbClr val="1F1F1F"/>
                          </a:solidFill>
                          <a:latin typeface="游ゴシック Medium"/>
                          <a:ea typeface="游ゴシック Medium"/>
                          <a:cs typeface="游ゴシック Medium"/>
                        </a:rPr>
                        <a:t>CHAPTER 05　変換の実測結果とライセンスの論点</a:t>
                      </a:r>
                    </a:p>
                  </a:txBody>
                  <a:tcPr marL="64000" marR="64000" marT="24000" marB="24000" anchor="ctr">
                    <a:solidFill>
                      <a:srgbClr val="F5F7FA"/>
                    </a:solidFill>
                  </a:tcPr>
                </a:tc>
              </a:tr>
            </a:tbl>
          </a:graphicData>
        </a:graphic>
      </p:graphicFrame>
      <p:sp>
        <p:nvSpPr>
          <p:cNvPr id="5" name="TextBox 4">
            <a:extLst xmlns:a="http://schemas.openxmlformats.org/drawingml/2006/main">
              <a:ext uri="{FF2B5EF4-FFF2-40B4-BE49-F238E27FC236}">
                <a16:creationId xmlns:a16="http://schemas.microsoft.com/office/drawing/2014/main" id="{EDD0414D-C644-41AE-844B-77845B4A0EF3}"/>
              </a:ext>
            </a:extLst>
          </p:cNvPr>
          <p:cNvSpPr>
            <a:spLocks xmlns:a="http://schemas.openxmlformats.org/drawingml/2006/main" noGrp="1"/>
          </p:cNvSpPr>
          <p:nvPr/>
        </p:nvSpPr>
        <p:spPr>
          <a:xfrm xmlns:a="http://schemas.openxmlformats.org/drawingml/2006/main">
            <a:off x="457200" y="4024228"/>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本資料の事実は、実機ICADでの抽出結果および実装コードに基づいています。未確認の事項は「要確認」と明記しています。</a:t>
            </a:r>
          </a:p>
        </p:txBody>
      </p:sp>
    </p:spTree>
    <p:extLst>
      <p:ext uri="{BB962C8B-B14F-4D97-AF65-F5344CB8AC3E}">
        <p14:creationId xmlns:p14="http://schemas.microsoft.com/office/powerpoint/2010/main" val="116135891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A55606-A7EF-47F6-B48E-AB101EAAEF6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800" b="1">
                <a:solidFill>
                  <a:srgbClr val="1F1F1F"/>
                </a:solidFill>
                <a:latin typeface="游ゴシック Medium"/>
                <a:ea typeface="游ゴシック Medium"/>
                <a:cs typeface="游ゴシック Medium"/>
              </a:rPr>
              <a:t>全体像</a:t>
            </a:r>
          </a:p>
        </p:txBody>
      </p:sp>
      <p:sp>
        <p:nvSpPr>
          <p:cNvPr id="3" name="Text Placeholder 2">
            <a:extLst xmlns:a="http://schemas.openxmlformats.org/drawingml/2006/main">
              <a:ext uri="{FF2B5EF4-FFF2-40B4-BE49-F238E27FC236}">
                <a16:creationId xmlns:a16="http://schemas.microsoft.com/office/drawing/2014/main" id="{FD842C9B-F63A-44E8-960A-901B290D3867}"/>
              </a:ext>
            </a:extLst>
          </p:cNvPr>
          <p:cNvSpPr>
            <a:spLocks xmlns:a="http://schemas.openxmlformats.org/drawingml/2006/main" noGrp="1"/>
          </p:cNvSpPr>
          <p:nvPr>
            <p:ph type="body" idx="2"/>
          </p:nvPr>
        </p:nvSpPr>
        <p:spPr/>
        <p:txBody>
          <a:bodyPr xmlns:a="http://schemas.openxmlformats.org/drawingml/2006/main"/>
          <a:lstStyle xmlns:a="http://schemas.openxmlformats.org/drawingml/2006/main"/>
          <a:p xmlns:a="http://schemas.openxmlformats.org/drawingml/2006/main">
            <a:r>
              <a:rPr sz="1400" b="1">
                <a:solidFill>
                  <a:srgbClr val="005BAC"/>
                </a:solidFill>
                <a:latin typeface="游ゴシック Medium"/>
                <a:ea typeface="游ゴシック Medium"/>
                <a:cs typeface="游ゴシック Medium"/>
              </a:rPr>
              <a:t>CHAPTER　01</a:t>
            </a:r>
          </a:p>
        </p:txBody>
      </p:sp>
      <p:sp>
        <p:nvSpPr>
          <p:cNvPr id="4" name="Text Placeholder 3">
            <a:extLst xmlns:a="http://schemas.openxmlformats.org/drawingml/2006/main">
              <a:ext uri="{FF2B5EF4-FFF2-40B4-BE49-F238E27FC236}">
                <a16:creationId xmlns:a16="http://schemas.microsoft.com/office/drawing/2014/main" id="{8F32B8BE-1F60-4BA4-AD51-D89BA164FFFD}"/>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200" b="1">
                <a:solidFill>
                  <a:srgbClr val="005BAC"/>
                </a:solidFill>
                <a:latin typeface="游ゴシック Medium"/>
                <a:ea typeface="游ゴシック Medium"/>
                <a:cs typeface="游ゴシック Medium"/>
              </a:rPr>
              <a:t>Overview</a:t>
            </a:r>
          </a:p>
        </p:txBody>
      </p:sp>
      <p:sp>
        <p:nvSpPr>
          <p:cNvPr id="5" name="Content Placeholder 4">
            <a:extLst xmlns:a="http://schemas.openxmlformats.org/drawingml/2006/main">
              <a:ext uri="{FF2B5EF4-FFF2-40B4-BE49-F238E27FC236}">
                <a16:creationId xmlns:a16="http://schemas.microsoft.com/office/drawing/2014/main" id="{87DDA13E-8BC3-47AB-B669-4C0678A6AB28}"/>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400" b="0">
                <a:solidFill>
                  <a:srgbClr val="1F1F1F"/>
                </a:solidFill>
                <a:latin typeface="游ゴシック Medium"/>
                <a:ea typeface="游ゴシック Medium"/>
                <a:cs typeface="游ゴシック Medium"/>
              </a:rPr>
              <a:t>抽出 → 正規化 → タグ生成 の3段構成</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入力は3経路。ICAD正本／ICADから変換したSTEP・DXF／既存のSTEP・DXF</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抽出器は意味付けをせず、生の値だけを出す</a:t>
            </a:r>
          </a:p>
        </p:txBody>
      </p:sp>
    </p:spTree>
    <p:extLst>
      <p:ext uri="{BB962C8B-B14F-4D97-AF65-F5344CB8AC3E}">
        <p14:creationId xmlns:p14="http://schemas.microsoft.com/office/powerpoint/2010/main" val="169243922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4FB137-E745-46F7-91BD-B45952EDC7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処理の流れ</a:t>
            </a:r>
          </a:p>
        </p:txBody>
      </p:sp>
      <p:sp>
        <p:nvSpPr>
          <p:cNvPr id="3" name="Text Placeholder 2">
            <a:extLst xmlns:a="http://schemas.openxmlformats.org/drawingml/2006/main">
              <a:ext uri="{FF2B5EF4-FFF2-40B4-BE49-F238E27FC236}">
                <a16:creationId xmlns:a16="http://schemas.microsoft.com/office/drawing/2014/main" id="{2E621FA7-EDF4-475E-829B-101904AFEBCE}"/>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責務を3層に分け、層ごとに切り出せる形にしています</a:t>
            </a:r>
          </a:p>
        </p:txBody>
      </p:sp>
      <p:sp>
        <p:nvSpPr>
          <p:cNvPr id="4" name="TextBox 3">
            <a:extLst xmlns:a="http://schemas.openxmlformats.org/drawingml/2006/main">
              <a:ext uri="{FF2B5EF4-FFF2-40B4-BE49-F238E27FC236}">
                <a16:creationId xmlns:a16="http://schemas.microsoft.com/office/drawing/2014/main" id="{689D35E7-9B1B-4B97-B519-8FC5EE0D0016}"/>
              </a:ext>
            </a:extLst>
          </p:cNvPr>
          <p:cNvSpPr>
            <a:spLocks xmlns:a="http://schemas.openxmlformats.org/drawingml/2006/main" noGrp="1"/>
          </p:cNvSpPr>
          <p:nvPr/>
        </p:nvSpPr>
        <p:spPr>
          <a:xfrm xmlns:a="http://schemas.openxmlformats.org/drawingml/2006/main">
            <a:off x="457200" y="1364228"/>
            <a:ext cx="3650737"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① 抽出（C#）</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SXNET経由でICADから生の値だけを取得</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意味付け・推測は一切しない</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1図面 = 1回のプロセス呼び出し</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入出力はJSONファイル</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出力キー: raw_extract</a:t>
            </a:r>
          </a:p>
        </p:txBody>
      </p:sp>
      <p:sp>
        <p:nvSpPr>
          <p:cNvPr id="5" name="TextBox 4">
            <a:extLst xmlns:a="http://schemas.openxmlformats.org/drawingml/2006/main">
              <a:ext uri="{FF2B5EF4-FFF2-40B4-BE49-F238E27FC236}">
                <a16:creationId xmlns:a16="http://schemas.microsoft.com/office/drawing/2014/main" id="{0D13E59A-14CD-4544-AAA8-C00A6A6FA7B2}"/>
              </a:ext>
            </a:extLst>
          </p:cNvPr>
          <p:cNvSpPr>
            <a:spLocks xmlns:a="http://schemas.openxmlformats.org/drawingml/2006/main" noGrp="1"/>
          </p:cNvSpPr>
          <p:nvPr/>
        </p:nvSpPr>
        <p:spPr>
          <a:xfrm xmlns:a="http://schemas.openxmlformats.org/drawingml/2006/main">
            <a:off x="4307937" y="1364228"/>
            <a:ext cx="3650737"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② 正規化（Python）</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raw_extract を固定スキーマへ整形</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2D: 133キー / 3D: 97キー</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取れなかった値は null / 空配列のまま残す</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「取れなかった」ことも情報として保持</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出力キー: canonical_attributes</a:t>
            </a:r>
          </a:p>
        </p:txBody>
      </p:sp>
      <p:sp>
        <p:nvSpPr>
          <p:cNvPr id="6" name="TextBox 5">
            <a:extLst xmlns:a="http://schemas.openxmlformats.org/drawingml/2006/main">
              <a:ext uri="{FF2B5EF4-FFF2-40B4-BE49-F238E27FC236}">
                <a16:creationId xmlns:a16="http://schemas.microsoft.com/office/drawing/2014/main" id="{9333FC75-9A6E-416C-AD9E-206DB7CA3BAE}"/>
              </a:ext>
            </a:extLst>
          </p:cNvPr>
          <p:cNvSpPr>
            <a:spLocks xmlns:a="http://schemas.openxmlformats.org/drawingml/2006/main" noGrp="1"/>
          </p:cNvSpPr>
          <p:nvPr/>
        </p:nvSpPr>
        <p:spPr>
          <a:xfrm xmlns:a="http://schemas.openxmlformats.org/drawingml/2006/main">
            <a:off x="8158674" y="1364228"/>
            <a:ext cx="3650737"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③ タグ生成（Python）</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canonical_attributes から11種類のタグを生成</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辞書はDB化済み。画面から編集可能</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各タグに source / evidence / confidence /</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reason / tag_rule_version を付与</a:t>
            </a:r>
          </a:p>
          <a:p xmlns:a="http://schemas.openxmlformats.org/drawingml/2006/main">
            <a:pPr>
              <a:spcAft>
                <a:spcPts val="400"/>
              </a:spcAft>
              <a:buNone/>
            </a:pPr>
            <a:r>
              <a:rPr sz="1200">
                <a:solidFill>
                  <a:srgbClr val="1F1F1F"/>
                </a:solidFill>
                <a:latin typeface="游ゴシック Medium"/>
                <a:ea typeface="游ゴシック Medium"/>
                <a:cs typeface="游ゴシック Medium"/>
              </a:rPr>
              <a:t>出力キー: derived_tags</a:t>
            </a:r>
          </a:p>
        </p:txBody>
      </p:sp>
    </p:spTree>
    <p:extLst>
      <p:ext uri="{BB962C8B-B14F-4D97-AF65-F5344CB8AC3E}">
        <p14:creationId xmlns:p14="http://schemas.microsoft.com/office/powerpoint/2010/main" val="69242139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8BA6BA-051A-4EFB-ACC0-5935AC76744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3つの入力経路</a:t>
            </a:r>
          </a:p>
        </p:txBody>
      </p:sp>
      <p:sp>
        <p:nvSpPr>
          <p:cNvPr id="3" name="Text Placeholder 2">
            <a:extLst xmlns:a="http://schemas.openxmlformats.org/drawingml/2006/main">
              <a:ext uri="{FF2B5EF4-FFF2-40B4-BE49-F238E27FC236}">
                <a16:creationId xmlns:a16="http://schemas.microsoft.com/office/drawing/2014/main" id="{FED51D7E-AEEE-4174-B41E-53FE1343CB5E}"/>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ICAD本体が必要になるのは経路Aと、経路Bの変換の瞬間だけ</a:t>
            </a:r>
          </a:p>
        </p:txBody>
      </p:sp>
      <p:graphicFrame>
        <p:nvGraphicFramePr>
          <p:cNvPr id="9" name="Table 3"/>
          <p:cNvGraphicFramePr/>
          <p:nvPr/>
        </p:nvGraphicFramePr>
        <p:xfrm>
          <a:off xmlns:a="http://schemas.openxmlformats.org/drawingml/2006/main" x="457200" y="1364228"/>
          <a:ext xmlns:a="http://schemas.openxmlformats.org/drawingml/2006/main" cx="11352211" cy="2100000"/>
        </p:xfrm>
        <a:graphic xmlns:a="http://schemas.openxmlformats.org/drawingml/2006/main">
          <a:graphicData uri="http://schemas.openxmlformats.org/drawingml/2006/table">
            <a:tbl>
              <a:tblPr firstRow="1" bandRow="1">
                <a:tableStyleId>{5C22544A-7EE6-4342-B048-85BDC9FD1C3A}</a:tableStyleId>
              </a:tblPr>
              <a:tblGrid>
                <a:gridCol w="908177"/>
                <a:gridCol w="2906166"/>
                <a:gridCol w="1997989"/>
                <a:gridCol w="1453083"/>
                <a:gridCol w="4086796"/>
              </a:tblGrid>
              <a:tr h="525000">
                <a:tc>
                  <a:txBody>
                    <a:bodyPr/>
                    <a:lstStyle/>
                    <a:p>
                      <a:r>
                        <a:rPr sz="1100" b="1">
                          <a:solidFill>
                            <a:srgbClr val="FFFFFF"/>
                          </a:solidFill>
                          <a:latin typeface="游ゴシック Medium"/>
                          <a:ea typeface="游ゴシック Medium"/>
                          <a:cs typeface="游ゴシック Medium"/>
                        </a:rPr>
                        <a:t>経路</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入力</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抽出器</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ICAD本体</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取得できる情報量</a:t>
                      </a:r>
                    </a:p>
                  </a:txBody>
                  <a:tcPr marL="64000" marR="64000" marT="45720" marB="45720" anchor="ctr">
                    <a:solidFill>
                      <a:srgbClr val="005BAC"/>
                    </a:solidFill>
                  </a:tcPr>
                </a:tc>
              </a:tr>
              <a:tr h="525000">
                <a:tc>
                  <a:txBody>
                    <a:bodyPr/>
                    <a:lstStyle/>
                    <a:p>
                      <a:pPr>
                        <a:lnSpc>
                          <a:spcPct val="100000"/>
                        </a:lnSpc>
                        <a:buNone/>
                      </a:pPr>
                      <a:r>
                        <a:rPr sz="1300" b="0">
                          <a:solidFill>
                            <a:srgbClr val="1F1F1F"/>
                          </a:solidFill>
                          <a:latin typeface="游ゴシック Medium"/>
                          <a:ea typeface="游ゴシック Medium"/>
                          <a:cs typeface="游ゴシック Medium"/>
                        </a:rPr>
                        <a:t>A</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ICAD .icd 正本</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C# + SXNET</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必要</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最大（材質・質量・部品階層・2D注記まで）</a:t>
                      </a:r>
                    </a:p>
                  </a:txBody>
                  <a:tcPr marL="64000" marR="64000" marT="24000" marB="24000" anchor="ctr">
                    <a:solidFill>
                      <a:srgbClr val="FFFFFF"/>
                    </a:solidFill>
                  </a:tcPr>
                </a:tc>
              </a:tr>
              <a:tr h="525000">
                <a:tc>
                  <a:txBody>
                    <a:bodyPr/>
                    <a:lstStyle/>
                    <a:p>
                      <a:pPr>
                        <a:lnSpc>
                          <a:spcPct val="100000"/>
                        </a:lnSpc>
                        <a:buNone/>
                      </a:pPr>
                      <a:r>
                        <a:rPr sz="1300" b="0">
                          <a:solidFill>
                            <a:srgbClr val="1F1F1F"/>
                          </a:solidFill>
                          <a:latin typeface="游ゴシック Medium"/>
                          <a:ea typeface="游ゴシック Medium"/>
                          <a:cs typeface="游ゴシック Medium"/>
                        </a:rPr>
                        <a:t>B</a:t>
                      </a:r>
                    </a:p>
                  </a:txBody>
                  <a:tcPr marL="64000" marR="64000" marT="24000" marB="24000" anchor="ctr">
                    <a:solidFill>
                      <a:srgbClr val="F5F7FA"/>
                    </a:solidFill>
                  </a:tcPr>
                </a:tc>
                <a:tc>
                  <a:txBody>
                    <a:bodyPr/>
                    <a:lstStyle/>
                    <a:p>
                      <a:pPr>
                        <a:lnSpc>
                          <a:spcPct val="100000"/>
                        </a:lnSpc>
                        <a:buNone/>
                      </a:pPr>
                      <a:r>
                        <a:rPr sz="1300" b="0">
                          <a:solidFill>
                            <a:srgbClr val="1F1F1F"/>
                          </a:solidFill>
                          <a:latin typeface="游ゴシック Medium"/>
                          <a:ea typeface="游ゴシック Medium"/>
                          <a:cs typeface="游ゴシック Medium"/>
                        </a:rPr>
                        <a:t>ICADから変換したSTEP / DXF</a:t>
                      </a:r>
                    </a:p>
                  </a:txBody>
                  <a:tcPr marL="64000" marR="64000" marT="24000" marB="24000" anchor="ctr">
                    <a:solidFill>
                      <a:srgbClr val="F5F7FA"/>
                    </a:solidFill>
                  </a:tcPr>
                </a:tc>
                <a:tc>
                  <a:txBody>
                    <a:bodyPr/>
                    <a:lstStyle/>
                    <a:p>
                      <a:pPr>
                        <a:lnSpc>
                          <a:spcPct val="100000"/>
                        </a:lnSpc>
                        <a:buNone/>
                      </a:pPr>
                      <a:r>
                        <a:rPr sz="1300" b="0">
                          <a:solidFill>
                            <a:srgbClr val="1F1F1F"/>
                          </a:solidFill>
                          <a:latin typeface="游ゴシック Medium"/>
                          <a:ea typeface="游ゴシック Medium"/>
                          <a:cs typeface="游ゴシック Medium"/>
                        </a:rPr>
                        <a:t>Python 汎用抽出器</a:t>
                      </a:r>
                    </a:p>
                  </a:txBody>
                  <a:tcPr marL="64000" marR="64000" marT="24000" marB="24000" anchor="ctr">
                    <a:solidFill>
                      <a:srgbClr val="F5F7FA"/>
                    </a:solidFill>
                  </a:tcPr>
                </a:tc>
                <a:tc>
                  <a:txBody>
                    <a:bodyPr/>
                    <a:lstStyle/>
                    <a:p>
                      <a:pPr>
                        <a:lnSpc>
                          <a:spcPct val="100000"/>
                        </a:lnSpc>
                        <a:buNone/>
                      </a:pPr>
                      <a:r>
                        <a:rPr sz="1300" b="0">
                          <a:solidFill>
                            <a:srgbClr val="1F1F1F"/>
                          </a:solidFill>
                          <a:latin typeface="游ゴシック Medium"/>
                          <a:ea typeface="游ゴシック Medium"/>
                          <a:cs typeface="游ゴシック Medium"/>
                        </a:rPr>
                        <a:t>変換時のみ必要</a:t>
                      </a:r>
                    </a:p>
                  </a:txBody>
                  <a:tcPr marL="64000" marR="64000" marT="24000" marB="24000" anchor="ctr">
                    <a:solidFill>
                      <a:srgbClr val="F5F7FA"/>
                    </a:solidFill>
                  </a:tcPr>
                </a:tc>
                <a:tc>
                  <a:txBody>
                    <a:bodyPr/>
                    <a:lstStyle/>
                    <a:p>
                      <a:pPr>
                        <a:lnSpc>
                          <a:spcPct val="100000"/>
                        </a:lnSpc>
                        <a:buNone/>
                      </a:pPr>
                      <a:r>
                        <a:rPr sz="1300" b="0">
                          <a:solidFill>
                            <a:srgbClr val="1F1F1F"/>
                          </a:solidFill>
                          <a:latin typeface="游ゴシック Medium"/>
                          <a:ea typeface="游ゴシック Medium"/>
                          <a:cs typeface="游ゴシック Medium"/>
                        </a:rPr>
                        <a:t>中（部品名・階層・レイヤー・文字）</a:t>
                      </a:r>
                    </a:p>
                  </a:txBody>
                  <a:tcPr marL="64000" marR="64000" marT="24000" marB="24000" anchor="ctr">
                    <a:solidFill>
                      <a:srgbClr val="F5F7FA"/>
                    </a:solidFill>
                  </a:tcPr>
                </a:tc>
              </a:tr>
              <a:tr h="525000">
                <a:tc>
                  <a:txBody>
                    <a:bodyPr/>
                    <a:lstStyle/>
                    <a:p>
                      <a:pPr>
                        <a:lnSpc>
                          <a:spcPct val="100000"/>
                        </a:lnSpc>
                        <a:buNone/>
                      </a:pPr>
                      <a:r>
                        <a:rPr sz="1300" b="0">
                          <a:solidFill>
                            <a:srgbClr val="1F1F1F"/>
                          </a:solidFill>
                          <a:latin typeface="游ゴシック Medium"/>
                          <a:ea typeface="游ゴシック Medium"/>
                          <a:cs typeface="游ゴシック Medium"/>
                        </a:rPr>
                        <a:t>C</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客先支給などの既存STEP / DXF</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Python 汎用抽出器</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不要</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中</a:t>
                      </a:r>
                    </a:p>
                  </a:txBody>
                  <a:tcPr marL="64000" marR="64000" marT="24000" marB="24000" anchor="ctr">
                    <a:solidFill>
                      <a:srgbClr val="FFFFFF"/>
                    </a:solidFill>
                  </a:tcPr>
                </a:tc>
              </a:tr>
            </a:tbl>
          </a:graphicData>
        </a:graphic>
      </p:graphicFrame>
      <p:sp>
        <p:nvSpPr>
          <p:cNvPr id="5" name="TextBox 4">
            <a:extLst xmlns:a="http://schemas.openxmlformats.org/drawingml/2006/main">
              <a:ext uri="{FF2B5EF4-FFF2-40B4-BE49-F238E27FC236}">
                <a16:creationId xmlns:a16="http://schemas.microsoft.com/office/drawing/2014/main" id="{0AA9CED2-217F-4775-91D3-A4FF56315D83}"/>
              </a:ext>
            </a:extLst>
          </p:cNvPr>
          <p:cNvSpPr>
            <a:spLocks xmlns:a="http://schemas.openxmlformats.org/drawingml/2006/main" noGrp="1"/>
          </p:cNvSpPr>
          <p:nvPr/>
        </p:nvSpPr>
        <p:spPr>
          <a:xfrm xmlns:a="http://schemas.openxmlformats.org/drawingml/2006/main">
            <a:off x="457200" y="3524228"/>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経路Bと経路Cは同じ抽出器を使います。経路B・Cでは、ICAD本体がなくても抽出処理そのものは動きます（CHAPTER 05のライセンス論点に直結します）。</a:t>
            </a:r>
          </a:p>
        </p:txBody>
      </p:sp>
    </p:spTree>
    <p:extLst>
      <p:ext uri="{BB962C8B-B14F-4D97-AF65-F5344CB8AC3E}">
        <p14:creationId xmlns:p14="http://schemas.microsoft.com/office/powerpoint/2010/main" val="11870862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18A02B4-AB58-42A1-8744-3033BB4041D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800" b="1">
                <a:solidFill>
                  <a:srgbClr val="1F1F1F"/>
                </a:solidFill>
                <a:latin typeface="游ゴシック Medium"/>
                <a:ea typeface="游ゴシック Medium"/>
                <a:cs typeface="游ゴシック Medium"/>
              </a:rPr>
              <a:t>抽出元カタログ</a:t>
            </a:r>
          </a:p>
        </p:txBody>
      </p:sp>
      <p:sp>
        <p:nvSpPr>
          <p:cNvPr id="3" name="Text Placeholder 2">
            <a:extLst xmlns:a="http://schemas.openxmlformats.org/drawingml/2006/main">
              <a:ext uri="{FF2B5EF4-FFF2-40B4-BE49-F238E27FC236}">
                <a16:creationId xmlns:a16="http://schemas.microsoft.com/office/drawing/2014/main" id="{EAF912F5-8EA9-47C7-A4F6-125C2247E4D9}"/>
              </a:ext>
            </a:extLst>
          </p:cNvPr>
          <p:cNvSpPr>
            <a:spLocks xmlns:a="http://schemas.openxmlformats.org/drawingml/2006/main" noGrp="1"/>
          </p:cNvSpPr>
          <p:nvPr>
            <p:ph type="body" idx="2"/>
          </p:nvPr>
        </p:nvSpPr>
        <p:spPr/>
        <p:txBody>
          <a:bodyPr xmlns:a="http://schemas.openxmlformats.org/drawingml/2006/main"/>
          <a:lstStyle xmlns:a="http://schemas.openxmlformats.org/drawingml/2006/main"/>
          <a:p xmlns:a="http://schemas.openxmlformats.org/drawingml/2006/main">
            <a:r>
              <a:rPr sz="1400" b="1">
                <a:solidFill>
                  <a:srgbClr val="005BAC"/>
                </a:solidFill>
                <a:latin typeface="游ゴシック Medium"/>
                <a:ea typeface="游ゴシック Medium"/>
                <a:cs typeface="游ゴシック Medium"/>
              </a:rPr>
              <a:t>CHAPTER　02</a:t>
            </a:r>
          </a:p>
        </p:txBody>
      </p:sp>
      <p:sp>
        <p:nvSpPr>
          <p:cNvPr id="4" name="Text Placeholder 3">
            <a:extLst xmlns:a="http://schemas.openxmlformats.org/drawingml/2006/main">
              <a:ext uri="{FF2B5EF4-FFF2-40B4-BE49-F238E27FC236}">
                <a16:creationId xmlns:a16="http://schemas.microsoft.com/office/drawing/2014/main" id="{AB9921B3-C030-4C77-B902-83035D2564EA}"/>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200" b="1">
                <a:solidFill>
                  <a:srgbClr val="005BAC"/>
                </a:solidFill>
                <a:latin typeface="游ゴシック Medium"/>
                <a:ea typeface="游ゴシック Medium"/>
                <a:cs typeface="游ゴシック Medium"/>
              </a:rPr>
              <a:t>Extraction Sources</a:t>
            </a:r>
          </a:p>
        </p:txBody>
      </p:sp>
      <p:sp>
        <p:nvSpPr>
          <p:cNvPr id="5" name="Content Placeholder 4">
            <a:extLst xmlns:a="http://schemas.openxmlformats.org/drawingml/2006/main">
              <a:ext uri="{FF2B5EF4-FFF2-40B4-BE49-F238E27FC236}">
                <a16:creationId xmlns:a16="http://schemas.microsoft.com/office/drawing/2014/main" id="{1E1BCF59-E5D9-4E51-A0ED-F4683313C58D}"/>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400" b="0">
                <a:solidFill>
                  <a:srgbClr val="1F1F1F"/>
                </a:solidFill>
                <a:latin typeface="游ゴシック Medium"/>
                <a:ea typeface="游ゴシック Medium"/>
                <a:cs typeface="游ゴシック Medium"/>
              </a:rPr>
              <a:t>ICAD 3D／ICAD 2D／STEP／DXF それぞれの抽出元</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正規化後の属性キー（2D:133 / 3D:97）</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自動タグ11種類と、その生成に使う辞書</a:t>
            </a:r>
          </a:p>
        </p:txBody>
      </p:sp>
    </p:spTree>
    <p:extLst>
      <p:ext uri="{BB962C8B-B14F-4D97-AF65-F5344CB8AC3E}">
        <p14:creationId xmlns:p14="http://schemas.microsoft.com/office/powerpoint/2010/main" val="113573397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9DCCF19-A7B6-4C3D-B043-6F1D00228B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ICAD 3D の抽出元</a:t>
            </a:r>
          </a:p>
        </p:txBody>
      </p:sp>
      <p:sp>
        <p:nvSpPr>
          <p:cNvPr id="3" name="Text Placeholder 2">
            <a:extLst xmlns:a="http://schemas.openxmlformats.org/drawingml/2006/main">
              <a:ext uri="{FF2B5EF4-FFF2-40B4-BE49-F238E27FC236}">
                <a16:creationId xmlns:a16="http://schemas.microsoft.com/office/drawing/2014/main" id="{E8A1C23C-0785-4466-B44A-B6DD2CE98F17}"/>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SXNETに型付きAPIがあり、取得方針が明確な項目</a:t>
            </a:r>
          </a:p>
        </p:txBody>
      </p:sp>
      <p:graphicFrame>
        <p:nvGraphicFramePr>
          <p:cNvPr id="7" name="Table 3"/>
          <p:cNvGraphicFramePr/>
          <p:nvPr/>
        </p:nvGraphicFramePr>
        <p:xfrm>
          <a:off xmlns:a="http://schemas.openxmlformats.org/drawingml/2006/main" x="457200" y="1364228"/>
          <a:ext xmlns:a="http://schemas.openxmlformats.org/drawingml/2006/main" cx="11352211" cy="4562919"/>
        </p:xfrm>
        <a:graphic xmlns:a="http://schemas.openxmlformats.org/drawingml/2006/main">
          <a:graphicData uri="http://schemas.openxmlformats.org/drawingml/2006/table">
            <a:tbl>
              <a:tblPr firstRow="1" bandRow="1">
                <a:tableStyleId>{5C22544A-7EE6-4342-B048-85BDC9FD1C3A}</a:tableStyleId>
              </a:tblPr>
              <a:tblGrid>
                <a:gridCol w="3027256"/>
                <a:gridCol w="4067876"/>
                <a:gridCol w="4257079"/>
              </a:tblGrid>
              <a:tr h="456291">
                <a:tc>
                  <a:txBody>
                    <a:bodyPr/>
                    <a:lstStyle/>
                    <a:p>
                      <a:r>
                        <a:rPr sz="1100" b="1">
                          <a:solidFill>
                            <a:srgbClr val="FFFFFF"/>
                          </a:solidFill>
                          <a:latin typeface="游ゴシック Medium"/>
                          <a:ea typeface="游ゴシック Medium"/>
                          <a:cs typeface="游ゴシック Medium"/>
                        </a:rPr>
                        <a:t>抽出元</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SXNET根拠</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正規化先（canonical）</a:t>
                      </a:r>
                    </a:p>
                  </a:txBody>
                  <a:tcPr marL="64000" marR="64000" marT="45720" marB="45720" anchor="ctr">
                    <a:solidFill>
                      <a:srgbClr val="005BAC"/>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モデル名・格納フォルダ・コメント</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SxModel.getInf() → SxInfModel.name/path/comment</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model_name, model_path, model_comment</a:t>
                      </a:r>
                    </a:p>
                  </a:txBody>
                  <a:tcPr marL="64000" marR="64000" marT="24000" marB="24000" anchor="ctr">
                    <a:solidFill>
                      <a:srgbClr val="FFFFFF"/>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パーツ階層</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SxWF.getInfPartTree()</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part_tree_paths</a:t>
                      </a:r>
                    </a:p>
                  </a:txBody>
                  <a:tcPr marL="64000" marR="64000" marT="24000" marB="24000" anchor="ctr">
                    <a:solidFill>
                      <a:srgbClr val="F5F7FA"/>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パーツ名・コメント</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SxInfPart.name / comment</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part_names, part_comments</a:t>
                      </a:r>
                    </a:p>
                  </a:txBody>
                  <a:tcPr marL="64000" marR="64000" marT="24000" marB="24000" anchor="ctr">
                    <a:solidFill>
                      <a:srgbClr val="FFFFFF"/>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外部参照・ミラー・未解決参照</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SxInfPart.is_external / is_mirror / is_unloaded</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external_part_exists ほか</a:t>
                      </a:r>
                    </a:p>
                  </a:txBody>
                  <a:tcPr marL="64000" marR="64000" marT="24000" marB="24000" anchor="ctr">
                    <a:solidFill>
                      <a:srgbClr val="F5F7FA"/>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参照図面名・参照先パス</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SxInfPart.ref_model_name / path</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ref_model_names, ref_model_paths</a:t>
                      </a:r>
                    </a:p>
                  </a:txBody>
                  <a:tcPr marL="64000" marR="64000" marT="24000" marB="24000" anchor="ctr">
                    <a:solidFill>
                      <a:srgbClr val="FFFFFF"/>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材質（全体・部品単位）</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SxEnt.getInfMaterialList(), SxEntPart.getInfMaterialList()</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material_ids, material_names, material_keywords, part_material_candidates</a:t>
                      </a:r>
                    </a:p>
                  </a:txBody>
                  <a:tcPr marL="64000" marR="64000" marT="24000" marB="24000" anchor="ctr">
                    <a:solidFill>
                      <a:srgbClr val="F5F7FA"/>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質量・重量・体積・面積・密度</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SxEnt.getMass() → SxInfMass</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mass_value, weight_value, volume_value, area_value, density_value</a:t>
                      </a:r>
                    </a:p>
                  </a:txBody>
                  <a:tcPr marL="64000" marR="64000" marT="24000" marB="24000" anchor="ctr">
                    <a:solidFill>
                      <a:srgbClr val="FFFFFF"/>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重心・慣性モーメント</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SxInfMass.pos, inf_global_moment ほか</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center_of_gravity, global_moment, inertia_moment_candidates</a:t>
                      </a:r>
                    </a:p>
                  </a:txBody>
                  <a:tcPr marL="64000" marR="64000" marT="24000" marB="24000" anchor="ctr">
                    <a:solidFill>
                      <a:srgbClr val="F5F7FA"/>
                    </a:solidFill>
                  </a:tcPr>
                </a:tc>
              </a:tr>
              <a:tr h="456300">
                <a:tc>
                  <a:txBody>
                    <a:bodyPr/>
                    <a:lstStyle/>
                    <a:p>
                      <a:pPr>
                        <a:lnSpc>
                          <a:spcPct val="100000"/>
                        </a:lnSpc>
                        <a:buNone/>
                      </a:pPr>
                      <a:r>
                        <a:rPr sz="1050" b="0">
                          <a:solidFill>
                            <a:srgbClr val="1F1F1F"/>
                          </a:solidFill>
                          <a:latin typeface="游ゴシック Medium"/>
                          <a:ea typeface="游ゴシック Medium"/>
                          <a:cs typeface="游ゴシック Medium"/>
                        </a:rPr>
                        <a:t>トップパーツ付加情報</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SxWF.getInfExTopPart(), SxInfPartTree.ex_inf</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top_part_ex_info, part_ex_info_fields</a:t>
                      </a:r>
                    </a:p>
                  </a:txBody>
                  <a:tcPr marL="64000" marR="64000" marT="24000" marB="24000" anchor="ctr">
                    <a:solidFill>
                      <a:srgbClr val="FFFFFF"/>
                    </a:solidFill>
                  </a:tcPr>
                </a:tc>
              </a:tr>
            </a:tbl>
          </a:graphicData>
        </a:graphic>
      </p:graphicFrame>
    </p:spTree>
    <p:extLst>
      <p:ext uri="{BB962C8B-B14F-4D97-AF65-F5344CB8AC3E}">
        <p14:creationId xmlns:p14="http://schemas.microsoft.com/office/powerpoint/2010/main" val="65506682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20FEF7-8611-49F0-8783-9C64329A02B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ICAD 2D の抽出元</a:t>
            </a:r>
          </a:p>
        </p:txBody>
      </p:sp>
      <p:sp>
        <p:nvSpPr>
          <p:cNvPr id="3" name="Text Placeholder 2">
            <a:extLst xmlns:a="http://schemas.openxmlformats.org/drawingml/2006/main">
              <a:ext uri="{FF2B5EF4-FFF2-40B4-BE49-F238E27FC236}">
                <a16:creationId xmlns:a16="http://schemas.microsoft.com/office/drawing/2014/main" id="{7DA1F440-D8DD-4546-BD76-ED8B0A755937}"/>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図枠は文字・注記から候補化し、座標はレビュー証跡として保持する</a:t>
            </a:r>
          </a:p>
        </p:txBody>
      </p:sp>
      <p:graphicFrame>
        <p:nvGraphicFramePr>
          <p:cNvPr id="9" name="Table 3"/>
          <p:cNvGraphicFramePr/>
          <p:nvPr/>
        </p:nvGraphicFramePr>
        <p:xfrm>
          <a:off xmlns:a="http://schemas.openxmlformats.org/drawingml/2006/main" x="457200" y="1364228"/>
          <a:ext xmlns:a="http://schemas.openxmlformats.org/drawingml/2006/main" cx="11352211" cy="4562919"/>
        </p:xfrm>
        <a:graphic xmlns:a="http://schemas.openxmlformats.org/drawingml/2006/main">
          <a:graphicData uri="http://schemas.openxmlformats.org/drawingml/2006/table">
            <a:tbl>
              <a:tblPr firstRow="1" bandRow="1">
                <a:tableStyleId>{5C22544A-7EE6-4342-B048-85BDC9FD1C3A}</a:tableStyleId>
              </a:tblPr>
              <a:tblGrid>
                <a:gridCol w="3027256"/>
                <a:gridCol w="3405663"/>
                <a:gridCol w="4919292"/>
              </a:tblGrid>
              <a:tr h="380243">
                <a:tc>
                  <a:txBody>
                    <a:bodyPr/>
                    <a:lstStyle/>
                    <a:p>
                      <a:r>
                        <a:rPr sz="1100" b="1">
                          <a:solidFill>
                            <a:srgbClr val="FFFFFF"/>
                          </a:solidFill>
                          <a:latin typeface="游ゴシック Medium"/>
                          <a:ea typeface="游ゴシック Medium"/>
                          <a:cs typeface="游ゴシック Medium"/>
                        </a:rPr>
                        <a:t>抽出元</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raw_extract</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正規化先（canonical）</a:t>
                      </a:r>
                    </a:p>
                  </a:txBody>
                  <a:tcPr marL="64000" marR="64000" marT="45720" marB="45720" anchor="ctr">
                    <a:solidFill>
                      <a:srgbClr val="005BAC"/>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ビューシート名・尺度・種別</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view_sheets[]</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model_view_sheet_count, scale_candidates</a:t>
                      </a:r>
                    </a:p>
                  </a:txBody>
                  <a:tcPr marL="64000" marR="64000" marT="24000" marB="24000" anchor="ctr">
                    <a:solidFill>
                      <a:srgbClr val="FFFFFF"/>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出図範囲枠・用紙サイズ</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print_frames[]</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paper_size, 印刷枠内外判定</a:t>
                      </a:r>
                    </a:p>
                  </a:txBody>
                  <a:tcPr marL="64000" marR="64000" marT="24000" marB="24000" anchor="ctr">
                    <a:solidFill>
                      <a:srgbClr val="F5F7FA"/>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文字・注記</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texts[]</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text_tokens, label_texts</a:t>
                      </a:r>
                    </a:p>
                  </a:txBody>
                  <a:tcPr marL="64000" marR="64000" marT="24000" marB="24000" anchor="ctr">
                    <a:solidFill>
                      <a:srgbClr val="FFFFFF"/>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図枠のラベルと値</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texts[]（同一要素の同じ行／次行）</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title_block_candidates → title_block_fields</a:t>
                      </a:r>
                    </a:p>
                  </a:txBody>
                  <a:tcPr marL="64000" marR="64000" marT="24000" marB="24000" anchor="ctr">
                    <a:solidFill>
                      <a:srgbClr val="F5F7FA"/>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寸法</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dimensions[]</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dimension_values, dimension_symbols</a:t>
                      </a:r>
                    </a:p>
                  </a:txBody>
                  <a:tcPr marL="64000" marR="64000" marT="24000" marB="24000" anchor="ctr">
                    <a:solidFill>
                      <a:srgbClr val="FFFFFF"/>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公差・幾何公差</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tolerances[]</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tolerance_candidates</a:t>
                      </a:r>
                    </a:p>
                  </a:txBody>
                  <a:tcPr marL="64000" marR="64000" marT="24000" marB="24000" anchor="ctr">
                    <a:solidFill>
                      <a:srgbClr val="F5F7FA"/>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溶接記号・注記</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weld_notes[]</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weld_note_candidates</a:t>
                      </a:r>
                    </a:p>
                  </a:txBody>
                  <a:tcPr marL="64000" marR="64000" marT="24000" marB="24000" anchor="ctr">
                    <a:solidFill>
                      <a:srgbClr val="FFFFFF"/>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バルーン</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balloons[]</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balloon_candidates</a:t>
                      </a:r>
                    </a:p>
                  </a:txBody>
                  <a:tcPr marL="64000" marR="64000" marT="24000" marB="24000" anchor="ctr">
                    <a:solidFill>
                      <a:srgbClr val="F5F7FA"/>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面粗さ・仕上げ記号</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geometry_primitives[]</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surface_roughness_values, finish_mark_types</a:t>
                      </a:r>
                    </a:p>
                  </a:txBody>
                  <a:tcPr marL="64000" marR="64000" marT="24000" marB="24000" anchor="ctr">
                    <a:solidFill>
                      <a:srgbClr val="FFFFFF"/>
                    </a:solidFill>
                  </a:tcPr>
                </a:tc>
              </a:tr>
              <a:tr h="380243">
                <a:tc>
                  <a:txBody>
                    <a:bodyPr/>
                    <a:lstStyle/>
                    <a:p>
                      <a:pPr>
                        <a:lnSpc>
                          <a:spcPct val="100000"/>
                        </a:lnSpc>
                        <a:buNone/>
                      </a:pPr>
                      <a:r>
                        <a:rPr sz="1000" b="0">
                          <a:solidFill>
                            <a:srgbClr val="1F1F1F"/>
                          </a:solidFill>
                          <a:latin typeface="游ゴシック Medium"/>
                          <a:ea typeface="游ゴシック Medium"/>
                          <a:cs typeface="游ゴシック Medium"/>
                        </a:rPr>
                        <a:t>切断線・矢視・ハッチング</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geometry_primitives[]</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curve_section_candidates, cut_line_count, hatch_or_section_count</a:t>
                      </a:r>
                    </a:p>
                  </a:txBody>
                  <a:tcPr marL="64000" marR="64000" marT="24000" marB="24000" anchor="ctr">
                    <a:solidFill>
                      <a:srgbClr val="F5F7FA"/>
                    </a:solidFill>
                  </a:tcPr>
                </a:tc>
              </a:tr>
              <a:tr h="380246">
                <a:tc>
                  <a:txBody>
                    <a:bodyPr/>
                    <a:lstStyle/>
                    <a:p>
                      <a:pPr>
                        <a:lnSpc>
                          <a:spcPct val="100000"/>
                        </a:lnSpc>
                        <a:buNone/>
                      </a:pPr>
                      <a:r>
                        <a:rPr sz="1000" b="0">
                          <a:solidFill>
                            <a:srgbClr val="1F1F1F"/>
                          </a:solidFill>
                          <a:latin typeface="游ゴシック Medium"/>
                          <a:ea typeface="游ゴシック Medium"/>
                          <a:cs typeface="游ゴシック Medium"/>
                        </a:rPr>
                        <a:t>穴・長穴候補</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geometry_primitives[]</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hole_candidate_count, slot_candidate_count</a:t>
                      </a:r>
                    </a:p>
                  </a:txBody>
                  <a:tcPr marL="64000" marR="64000" marT="24000" marB="24000" anchor="ctr">
                    <a:solidFill>
                      <a:srgbClr val="FFFFFF"/>
                    </a:solidFill>
                  </a:tcPr>
                </a:tc>
              </a:tr>
            </a:tbl>
          </a:graphicData>
        </a:graphic>
      </p:graphicFrame>
      <p:sp>
        <p:nvSpPr>
          <p:cNvPr id="5" name="TextBox 4">
            <a:extLst xmlns:a="http://schemas.openxmlformats.org/drawingml/2006/main">
              <a:ext uri="{FF2B5EF4-FFF2-40B4-BE49-F238E27FC236}">
                <a16:creationId xmlns:a16="http://schemas.microsoft.com/office/drawing/2014/main" id="{0668521F-5993-4872-AA97-474B196CE2AE}"/>
              </a:ext>
            </a:extLst>
          </p:cNvPr>
          <p:cNvSpPr>
            <a:spLocks xmlns:a="http://schemas.openxmlformats.org/drawingml/2006/main" noGrp="1"/>
          </p:cNvSpPr>
          <p:nvPr/>
        </p:nvSpPr>
        <p:spPr>
          <a:xfrm xmlns:a="http://schemas.openxmlformats.org/drawingml/2006/main">
            <a:off x="457200" y="5987147"/>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図番・図面名・担当者・承認者・日付・材質・重量・表面処理・塗装指示・PRFX・ユニット番号は、SXNETの固定フィールドとしては存在しません。会社ごとの図枠差が大きいため、title_block_fields は固定列ではなく key-value 候補として持ち、採用条件を通ったものだけを確定値に上げています。</a:t>
            </a:r>
          </a:p>
        </p:txBody>
      </p:sp>
    </p:spTree>
    <p:extLst>
      <p:ext uri="{BB962C8B-B14F-4D97-AF65-F5344CB8AC3E}">
        <p14:creationId xmlns:p14="http://schemas.microsoft.com/office/powerpoint/2010/main" val="20817290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55E7924-F939-403F-959C-68A7DF3E9E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STEP / DXF の抽出元</a:t>
            </a:r>
          </a:p>
        </p:txBody>
      </p:sp>
      <p:sp>
        <p:nvSpPr>
          <p:cNvPr id="3" name="Text Placeholder 2">
            <a:extLst xmlns:a="http://schemas.openxmlformats.org/drawingml/2006/main">
              <a:ext uri="{FF2B5EF4-FFF2-40B4-BE49-F238E27FC236}">
                <a16:creationId xmlns:a16="http://schemas.microsoft.com/office/drawing/2014/main" id="{8C170353-8E51-428C-BB45-C248A7A6C1A5}"/>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外部CADライブラリを使わず、標準ライブラリだけで解析しています</a:t>
            </a:r>
          </a:p>
        </p:txBody>
      </p:sp>
      <p:graphicFrame>
        <p:nvGraphicFramePr>
          <p:cNvPr id="9" name="Table 3"/>
          <p:cNvGraphicFramePr/>
          <p:nvPr/>
        </p:nvGraphicFramePr>
        <p:xfrm>
          <a:off xmlns:a="http://schemas.openxmlformats.org/drawingml/2006/main" x="457200" y="1364228"/>
          <a:ext xmlns:a="http://schemas.openxmlformats.org/drawingml/2006/main" cx="11352212" cy="4562919"/>
        </p:xfrm>
        <a:graphic xmlns:a="http://schemas.openxmlformats.org/drawingml/2006/main">
          <a:graphicData uri="http://schemas.openxmlformats.org/drawingml/2006/table">
            <a:tbl>
              <a:tblPr firstRow="1" bandRow="1">
                <a:tableStyleId>{5C22544A-7EE6-4342-B048-85BDC9FD1C3A}</a:tableStyleId>
              </a:tblPr>
              <a:tblGrid>
                <a:gridCol w="900969"/>
                <a:gridCol w="3603877"/>
                <a:gridCol w="3243489"/>
                <a:gridCol w="3603877"/>
              </a:tblGrid>
              <a:tr h="456291">
                <a:tc>
                  <a:txBody>
                    <a:bodyPr/>
                    <a:lstStyle/>
                    <a:p>
                      <a:r>
                        <a:rPr sz="1100" b="1">
                          <a:solidFill>
                            <a:srgbClr val="FFFFFF"/>
                          </a:solidFill>
                          <a:latin typeface="游ゴシック Medium"/>
                          <a:ea typeface="游ゴシック Medium"/>
                          <a:cs typeface="游ゴシック Medium"/>
                        </a:rPr>
                        <a:t>形式</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抽出元</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raw_extract</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正規化先（canonical）</a:t>
                      </a:r>
                    </a:p>
                  </a:txBody>
                  <a:tcPr marL="64000" marR="64000" marT="45720" marB="45720" anchor="ctr">
                    <a:solidFill>
                      <a:srgbClr val="005BAC"/>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STEP</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ヘッダ（FILE_NAME, FILE_DESCRIPTION）</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model_info.name / comment</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model_name, model_comment</a:t>
                      </a:r>
                    </a:p>
                  </a:txBody>
                  <a:tcPr marL="64000" marR="64000" marT="24000" marB="24000" anchor="ctr">
                    <a:solidFill>
                      <a:srgbClr val="FFFFFF"/>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STEP</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PRODUCT / PRODUCT_DEFINITION</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step_products[]</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step_product_names</a:t>
                      </a:r>
                    </a:p>
                  </a:txBody>
                  <a:tcPr marL="64000" marR="64000" marT="24000" marB="24000" anchor="ctr">
                    <a:solidFill>
                      <a:srgbClr val="F5F7FA"/>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STEP</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NEXT_ASSEMBLY_USAGE_OCCURRENCE</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step_assembly_relationships[]</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step_assembly_relationship_count, parts[].tree_path</a:t>
                      </a:r>
                    </a:p>
                  </a:txBody>
                  <a:tcPr marL="64000" marR="64000" marT="24000" marB="24000" anchor="ctr">
                    <a:solidFill>
                      <a:srgbClr val="FFFFFF"/>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STEP</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文字列中の材質パターン</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materials[]</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material_keywords</a:t>
                      </a:r>
                    </a:p>
                  </a:txBody>
                  <a:tcPr marL="64000" marR="64000" marT="24000" marB="24000" anchor="ctr">
                    <a:solidFill>
                      <a:srgbClr val="F5F7FA"/>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DXF</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TEXT / MTEXT / ATTRIB / ATTDEF</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texts[]</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text_tokens, title_block_candidates</a:t>
                      </a:r>
                    </a:p>
                  </a:txBody>
                  <a:tcPr marL="64000" marR="64000" marT="24000" marB="24000" anchor="ctr">
                    <a:solidFill>
                      <a:srgbClr val="FFFFFF"/>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DXF</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INSERT + ATTRIB のブロック参照</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block_references[].attributes[]</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dxf_block_references, dxf_block_attribute_tokens</a:t>
                      </a:r>
                    </a:p>
                  </a:txBody>
                  <a:tcPr marL="64000" marR="64000" marT="24000" marB="24000" anchor="ctr">
                    <a:solidFill>
                      <a:srgbClr val="F5F7FA"/>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DXF</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DIMENSION の表示値候補</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dimensions[]</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dimension_values</a:t>
                      </a:r>
                    </a:p>
                  </a:txBody>
                  <a:tcPr marL="64000" marR="64000" marT="24000" marB="24000" anchor="ctr">
                    <a:solidFill>
                      <a:srgbClr val="FFFFFF"/>
                    </a:solidFill>
                  </a:tcPr>
                </a:tc>
              </a:tr>
              <a:tr h="456291">
                <a:tc>
                  <a:txBody>
                    <a:bodyPr/>
                    <a:lstStyle/>
                    <a:p>
                      <a:pPr>
                        <a:lnSpc>
                          <a:spcPct val="100000"/>
                        </a:lnSpc>
                        <a:buNone/>
                      </a:pPr>
                      <a:r>
                        <a:rPr sz="1050" b="0">
                          <a:solidFill>
                            <a:srgbClr val="1F1F1F"/>
                          </a:solidFill>
                          <a:latin typeface="游ゴシック Medium"/>
                          <a:ea typeface="游ゴシック Medium"/>
                          <a:cs typeface="游ゴシック Medium"/>
                        </a:rPr>
                        <a:t>DXF</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LINE / CIRCLE / ARC / LWPOLYLINE / HATCH ほか</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geometry_primitives[]</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形状特徴候補</a:t>
                      </a:r>
                    </a:p>
                  </a:txBody>
                  <a:tcPr marL="64000" marR="64000" marT="24000" marB="24000" anchor="ctr">
                    <a:solidFill>
                      <a:srgbClr val="F5F7FA"/>
                    </a:solidFill>
                  </a:tcPr>
                </a:tc>
              </a:tr>
              <a:tr h="456300">
                <a:tc>
                  <a:txBody>
                    <a:bodyPr/>
                    <a:lstStyle/>
                    <a:p>
                      <a:pPr>
                        <a:lnSpc>
                          <a:spcPct val="100000"/>
                        </a:lnSpc>
                        <a:buNone/>
                      </a:pPr>
                      <a:r>
                        <a:rPr sz="1050" b="0">
                          <a:solidFill>
                            <a:srgbClr val="1F1F1F"/>
                          </a:solidFill>
                          <a:latin typeface="游ゴシック Medium"/>
                          <a:ea typeface="游ゴシック Medium"/>
                          <a:cs typeface="游ゴシック Medium"/>
                        </a:rPr>
                        <a:t>DXF</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レイヤー一覧</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layers[]</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dxf_layers</a:t>
                      </a:r>
                    </a:p>
                  </a:txBody>
                  <a:tcPr marL="64000" marR="64000" marT="24000" marB="24000" anchor="ctr">
                    <a:solidFill>
                      <a:srgbClr val="FFFFFF"/>
                    </a:solidFill>
                  </a:tcPr>
                </a:tc>
              </a:tr>
            </a:tbl>
          </a:graphicData>
        </a:graphic>
      </p:graphicFrame>
      <p:sp>
        <p:nvSpPr>
          <p:cNvPr id="5" name="TextBox 4">
            <a:extLst xmlns:a="http://schemas.openxmlformats.org/drawingml/2006/main">
              <a:ext uri="{FF2B5EF4-FFF2-40B4-BE49-F238E27FC236}">
                <a16:creationId xmlns:a16="http://schemas.microsoft.com/office/drawing/2014/main" id="{8FDAD797-C7F3-44C7-960B-7D06C39995E6}"/>
              </a:ext>
            </a:extLst>
          </p:cNvPr>
          <p:cNvSpPr>
            <a:spLocks xmlns:a="http://schemas.openxmlformats.org/drawingml/2006/main" noGrp="1"/>
          </p:cNvSpPr>
          <p:nvPr/>
        </p:nvSpPr>
        <p:spPr>
          <a:xfrm xmlns:a="http://schemas.openxmlformats.org/drawingml/2006/main">
            <a:off x="457200" y="5987147"/>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両形式ともファイルパス・ファイル名を source_path_tokens として保持し、客先・案件・装置カテゴリの辞書照合に使います。</a:t>
            </a:r>
          </a:p>
        </p:txBody>
      </p:sp>
    </p:spTree>
    <p:extLst>
      <p:ext uri="{BB962C8B-B14F-4D97-AF65-F5344CB8AC3E}">
        <p14:creationId xmlns:p14="http://schemas.microsoft.com/office/powerpoint/2010/main" val="111936670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49C68BB-CE87-47AA-BBC5-133520A514F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正規化後の属性キー</a:t>
            </a:r>
          </a:p>
        </p:txBody>
      </p:sp>
      <p:sp>
        <p:nvSpPr>
          <p:cNvPr id="3" name="Text Placeholder 2">
            <a:extLst xmlns:a="http://schemas.openxmlformats.org/drawingml/2006/main">
              <a:ext uri="{FF2B5EF4-FFF2-40B4-BE49-F238E27FC236}">
                <a16:creationId xmlns:a16="http://schemas.microsoft.com/office/drawing/2014/main" id="{AA2A14DC-9332-4B7D-B62A-E09FE38A5780}"/>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固定スキーマ。2D snapshot で133キー、3D snapshot で97キー</a:t>
            </a:r>
          </a:p>
        </p:txBody>
      </p:sp>
      <p:sp>
        <p:nvSpPr>
          <p:cNvPr id="4" name="Content Placeholder 3">
            <a:extLst xmlns:a="http://schemas.openxmlformats.org/drawingml/2006/main">
              <a:ext uri="{FF2B5EF4-FFF2-40B4-BE49-F238E27FC236}">
                <a16:creationId xmlns:a16="http://schemas.microsoft.com/office/drawing/2014/main" id="{19E67736-68A7-4837-A815-0C248C5C4847}"/>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200" b="0">
                <a:solidFill>
                  <a:srgbClr val="1F1F1F"/>
                </a:solidFill>
                <a:latin typeface="游ゴシック Medium"/>
                <a:ea typeface="游ゴシック Medium"/>
                <a:cs typeface="游ゴシック Medium"/>
              </a:rPr>
              <a:t>図面識別　drawing_number, drawing_name, revision, drawing_size, paper_size, scale, document_kind</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担当・日付　designer, checker, approver, drawing_date, created_date, checked_date, approved_date, revision_date</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分類　customer_name, project_name, equipment_name, equipment_category, module_name, prfx, unit_number, owner, status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ファイル出所　source_full_path, source_directory_path, source_file_name, source_file_stem, source_path_tokens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質量特性（3D）　mass_value, weight_value, volume_value, area_value, density_value, center_of_gravity, global_moment, inertia_moment_candidates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材質　material_ids, material_names, material_keywords, unresolved_material_keywords, part_material_candidates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部品構成　part_names, part_comments, part_tree_paths, ref_model_names, external_part_exists, mirror_part_exists, unresolved_part_exists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2D注記・図枠　title_block_fields, title_block_candidates, revision_note_candidates, text_tokens, raw_2d_sections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2D寸法・記号　dimension_values, tolerance_candidates, weld_note_candidates, balloon_candidates, surface_roughness_values, hole_candidate_count, slot_candidate_count</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加工・処理　surface_treatment_tokens, paint, heat_treatment_keywords, hardness_spec_values, process_keywords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キーワード　part_keywords, maker_keywords, spec_tokens, inspection_keywords, change_keywords, issue_keywords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STEP/DXF固有　step_products, step_product_names, step_assembly_relationships, dxf_layers, dxf_block_references</a:t>
            </a:r>
          </a:p>
          <a:p xmlns:a="http://schemas.openxmlformats.org/drawingml/2006/main">
            <a:pPr>
              <a:spcAft>
                <a:spcPts val="600"/>
              </a:spcAft>
              <a:buNone/>
            </a:pPr>
            <a:r>
              <a:rPr sz="1200" b="0">
                <a:solidFill>
                  <a:srgbClr val="1F1F1F"/>
                </a:solidFill>
                <a:latin typeface="游ゴシック Medium"/>
                <a:ea typeface="游ゴシック Medium"/>
                <a:cs typeface="游ゴシック Medium"/>
              </a:rPr>
              <a:t>抽出メタ　extraction_status, ocr_used, confidence_summary, normalizer_version</a:t>
            </a:r>
          </a:p>
          <a:p xmlns:a="http://schemas.openxmlformats.org/drawingml/2006/main">
            <a:pPr lvl="1">
              <a:spcAft>
                <a:spcPts val="300"/>
              </a:spcAft>
              <a:buNone/>
            </a:pPr>
            <a:r>
              <a:rPr sz="1000" b="0">
                <a:solidFill>
                  <a:srgbClr val="5A5A5A"/>
                </a:solidFill>
                <a:latin typeface="游ゴシック Medium"/>
                <a:ea typeface="游ゴシック Medium"/>
                <a:cs typeface="游ゴシック Medium"/>
              </a:rPr>
              <a:t>値が取れなかったキーは null / 空配列のまま残します。「取れなかった」ことも情報として扱う方針です。</a:t>
            </a:r>
          </a:p>
        </p:txBody>
      </p:sp>
    </p:spTree>
    <p:extLst>
      <p:ext uri="{BB962C8B-B14F-4D97-AF65-F5344CB8AC3E}">
        <p14:creationId xmlns:p14="http://schemas.microsoft.com/office/powerpoint/2010/main" val="200643035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166F64-F3A3-4596-91FC-DF7EC3C3127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自動タグ11種類と辞書</a:t>
            </a:r>
          </a:p>
        </p:txBody>
      </p:sp>
      <p:sp>
        <p:nvSpPr>
          <p:cNvPr id="3" name="Text Placeholder 2">
            <a:extLst xmlns:a="http://schemas.openxmlformats.org/drawingml/2006/main">
              <a:ext uri="{FF2B5EF4-FFF2-40B4-BE49-F238E27FC236}">
                <a16:creationId xmlns:a16="http://schemas.microsoft.com/office/drawing/2014/main" id="{3A574B12-A5AD-4B0E-9877-775519FE54CA}"/>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各タグに source / evidence / confidence / reason を付与。根拠なしのタグは作らない</a:t>
            </a:r>
          </a:p>
        </p:txBody>
      </p:sp>
      <p:graphicFrame>
        <p:nvGraphicFramePr>
          <p:cNvPr id="9" name="Table 3"/>
          <p:cNvGraphicFramePr/>
          <p:nvPr/>
        </p:nvGraphicFramePr>
        <p:xfrm>
          <a:off xmlns:a="http://schemas.openxmlformats.org/drawingml/2006/main" x="457200" y="1364228"/>
          <a:ext xmlns:a="http://schemas.openxmlformats.org/drawingml/2006/main" cx="11352211" cy="4562919"/>
        </p:xfrm>
        <a:graphic xmlns:a="http://schemas.openxmlformats.org/drawingml/2006/main">
          <a:graphicData uri="http://schemas.openxmlformats.org/drawingml/2006/table">
            <a:tbl>
              <a:tblPr firstRow="1" bandRow="1">
                <a:tableStyleId>{5C22544A-7EE6-4342-B048-85BDC9FD1C3A}</a:tableStyleId>
              </a:tblPr>
              <a:tblGrid>
                <a:gridCol w="1513628"/>
                <a:gridCol w="4351681"/>
                <a:gridCol w="1135221"/>
                <a:gridCol w="4351681"/>
              </a:tblGrid>
              <a:tr h="380243">
                <a:tc>
                  <a:txBody>
                    <a:bodyPr/>
                    <a:lstStyle/>
                    <a:p>
                      <a:r>
                        <a:rPr sz="1100" b="1">
                          <a:solidFill>
                            <a:srgbClr val="FFFFFF"/>
                          </a:solidFill>
                          <a:latin typeface="游ゴシック Medium"/>
                          <a:ea typeface="游ゴシック Medium"/>
                          <a:cs typeface="游ゴシック Medium"/>
                        </a:rPr>
                        <a:t>タグ接頭辞</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生成元の属性キー</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確度</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辞書エントリ数（初期値）</a:t>
                      </a:r>
                    </a:p>
                  </a:txBody>
                  <a:tcPr marL="64000" marR="64000" marT="45720" marB="45720" anchor="ctr">
                    <a:solidFill>
                      <a:srgbClr val="005BAC"/>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客先:</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customer_name</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high</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3（コマツ小山、広島アルミ、澁谷工業）</a:t>
                      </a:r>
                    </a:p>
                  </a:txBody>
                  <a:tcPr marL="64000" marR="64000" marT="24000" marB="24000" anchor="ctr">
                    <a:solidFill>
                      <a:srgbClr val="FFFFFF"/>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案件:</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project_name</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high</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初期0件（画面から登録）</a:t>
                      </a:r>
                    </a:p>
                  </a:txBody>
                  <a:tcPr marL="64000" marR="64000" marT="24000" marB="24000" anchor="ctr">
                    <a:solidFill>
                      <a:srgbClr val="F5F7FA"/>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装置:</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equipment_category</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high</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30（ガントリー、治具、コンベア、架台 ほか）</a:t>
                      </a:r>
                    </a:p>
                  </a:txBody>
                  <a:tcPr marL="64000" marR="64000" marT="24000" marB="24000" anchor="ctr">
                    <a:solidFill>
                      <a:srgbClr val="FFFFFF"/>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メーカー:</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maker_keywords</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medium</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40（SMC、ミスミ、THK、NSK ほか）</a:t>
                      </a:r>
                    </a:p>
                  </a:txBody>
                  <a:tcPr marL="64000" marR="64000" marT="24000" marB="24000" anchor="ctr">
                    <a:solidFill>
                      <a:srgbClr val="F5F7FA"/>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材質:</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material_keywords, title_block_fields.material</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medium</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68（SS400、SUS304、S45C、FC300 ほか）</a:t>
                      </a:r>
                    </a:p>
                  </a:txBody>
                  <a:tcPr marL="64000" marR="64000" marT="24000" marB="24000" anchor="ctr">
                    <a:solidFill>
                      <a:srgbClr val="FFFFFF"/>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表面処理:</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surface_treatment_tokens</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medium</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a:t>
                      </a:r>
                    </a:p>
                  </a:txBody>
                  <a:tcPr marL="64000" marR="64000" marT="24000" marB="24000" anchor="ctr">
                    <a:solidFill>
                      <a:srgbClr val="F5F7FA"/>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塗装:</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paint_instruction_tokens</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medium</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a:t>
                      </a:r>
                    </a:p>
                  </a:txBody>
                  <a:tcPr marL="64000" marR="64000" marT="24000" marB="24000" anchor="ctr">
                    <a:solidFill>
                      <a:srgbClr val="FFFFFF"/>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熱処理:</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heat_treatment_keywords</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medium</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20（焼入れ、調質、浸炭、窒化 ほか）</a:t>
                      </a:r>
                    </a:p>
                  </a:txBody>
                  <a:tcPr marL="64000" marR="64000" marT="24000" marB="24000" anchor="ctr">
                    <a:solidFill>
                      <a:srgbClr val="F5F7FA"/>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PRFX:</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prfx_candidates, title_block_fields.prfx</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medium</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a:t>
                      </a:r>
                    </a:p>
                  </a:txBody>
                  <a:tcPr marL="64000" marR="64000" marT="24000" marB="24000" anchor="ctr">
                    <a:solidFill>
                      <a:srgbClr val="FFFFFF"/>
                    </a:solidFill>
                  </a:tcPr>
                </a:tc>
              </a:tr>
              <a:tr h="380243">
                <a:tc>
                  <a:txBody>
                    <a:bodyPr/>
                    <a:lstStyle/>
                    <a:p>
                      <a:pPr>
                        <a:lnSpc>
                          <a:spcPct val="100000"/>
                        </a:lnSpc>
                        <a:buNone/>
                      </a:pPr>
                      <a:r>
                        <a:rPr sz="1050" b="0">
                          <a:solidFill>
                            <a:srgbClr val="1F1F1F"/>
                          </a:solidFill>
                          <a:latin typeface="游ゴシック Medium"/>
                          <a:ea typeface="游ゴシック Medium"/>
                          <a:cs typeface="游ゴシック Medium"/>
                        </a:rPr>
                        <a:t>ユニット:</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unit_number_candidates</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medium</a:t>
                      </a:r>
                    </a:p>
                  </a:txBody>
                  <a:tcPr marL="64000" marR="64000" marT="24000" marB="24000" anchor="ctr">
                    <a:solidFill>
                      <a:srgbClr val="F5F7FA"/>
                    </a:solidFill>
                  </a:tcPr>
                </a:tc>
                <a:tc>
                  <a:txBody>
                    <a:bodyPr/>
                    <a:lstStyle/>
                    <a:p>
                      <a:pPr>
                        <a:lnSpc>
                          <a:spcPct val="100000"/>
                        </a:lnSpc>
                        <a:buNone/>
                      </a:pPr>
                      <a:r>
                        <a:rPr sz="1050" b="0">
                          <a:solidFill>
                            <a:srgbClr val="1F1F1F"/>
                          </a:solidFill>
                          <a:latin typeface="游ゴシック Medium"/>
                          <a:ea typeface="游ゴシック Medium"/>
                          <a:cs typeface="游ゴシック Medium"/>
                        </a:rPr>
                        <a:t>―</a:t>
                      </a:r>
                    </a:p>
                  </a:txBody>
                  <a:tcPr marL="64000" marR="64000" marT="24000" marB="24000" anchor="ctr">
                    <a:solidFill>
                      <a:srgbClr val="F5F7FA"/>
                    </a:solidFill>
                  </a:tcPr>
                </a:tc>
              </a:tr>
              <a:tr h="380246">
                <a:tc>
                  <a:txBody>
                    <a:bodyPr/>
                    <a:lstStyle/>
                    <a:p>
                      <a:pPr>
                        <a:lnSpc>
                          <a:spcPct val="100000"/>
                        </a:lnSpc>
                        <a:buNone/>
                      </a:pPr>
                      <a:r>
                        <a:rPr sz="1050" b="0">
                          <a:solidFill>
                            <a:srgbClr val="1F1F1F"/>
                          </a:solidFill>
                          <a:latin typeface="游ゴシック Medium"/>
                          <a:ea typeface="游ゴシック Medium"/>
                          <a:cs typeface="游ゴシック Medium"/>
                        </a:rPr>
                        <a:t>規格:</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spec_tokens のうち辞書一致語（現状 SES のみ）</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medium</a:t>
                      </a:r>
                    </a:p>
                  </a:txBody>
                  <a:tcPr marL="64000" marR="64000" marT="24000" marB="24000" anchor="ctr">
                    <a:solidFill>
                      <a:srgbClr val="FFFFFF"/>
                    </a:solidFill>
                  </a:tcPr>
                </a:tc>
                <a:tc>
                  <a:txBody>
                    <a:bodyPr/>
                    <a:lstStyle/>
                    <a:p>
                      <a:pPr>
                        <a:lnSpc>
                          <a:spcPct val="100000"/>
                        </a:lnSpc>
                        <a:buNone/>
                      </a:pPr>
                      <a:r>
                        <a:rPr sz="1050" b="0">
                          <a:solidFill>
                            <a:srgbClr val="1F1F1F"/>
                          </a:solidFill>
                          <a:latin typeface="游ゴシック Medium"/>
                          <a:ea typeface="游ゴシック Medium"/>
                          <a:cs typeface="游ゴシック Medium"/>
                        </a:rPr>
                        <a:t>7（SES、JIS、ISO、DIN、ANSI ほか）</a:t>
                      </a:r>
                    </a:p>
                  </a:txBody>
                  <a:tcPr marL="64000" marR="64000" marT="24000" marB="24000" anchor="ctr">
                    <a:solidFill>
                      <a:srgbClr val="FFFFFF"/>
                    </a:solidFill>
                  </a:tcPr>
                </a:tc>
              </a:tr>
            </a:tbl>
          </a:graphicData>
        </a:graphic>
      </p:graphicFrame>
      <p:sp>
        <p:nvSpPr>
          <p:cNvPr id="5" name="TextBox 4">
            <a:extLst xmlns:a="http://schemas.openxmlformats.org/drawingml/2006/main">
              <a:ext uri="{FF2B5EF4-FFF2-40B4-BE49-F238E27FC236}">
                <a16:creationId xmlns:a16="http://schemas.microsoft.com/office/drawing/2014/main" id="{B6EA761A-D0A3-4C7F-AB63-FBE44BB9EBAD}"/>
              </a:ext>
            </a:extLst>
          </p:cNvPr>
          <p:cNvSpPr>
            <a:spLocks xmlns:a="http://schemas.openxmlformats.org/drawingml/2006/main" noGrp="1"/>
          </p:cNvSpPr>
          <p:nvPr/>
        </p:nvSpPr>
        <p:spPr>
          <a:xfrm xmlns:a="http://schemas.openxmlformats.org/drawingml/2006/main">
            <a:off x="457200" y="5987147"/>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辞書はDB化済みで、画面（システム設定 &gt; タグ辞書管理）と /admin から編集できます。案件辞書は初期0件で、画面からの登録が正本です。照合対象はファイルパストークンだけでなく、モデル情報・図面内文字・DXFレイヤー等を合成した検索トークン列（part_keywords）です。なお spec_tokens は2Dでは図面内文字と公差テキストの生の集合（実例で1図面112件）で、その中の辞書一致語だけを 規格: タグにしています。</a:t>
            </a:r>
          </a:p>
        </p:txBody>
      </p:sp>
    </p:spTree>
    <p:extLst>
      <p:ext uri="{BB962C8B-B14F-4D97-AF65-F5344CB8AC3E}">
        <p14:creationId xmlns:p14="http://schemas.microsoft.com/office/powerpoint/2010/main" val="73768863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625D3B-2FFE-4521-BD16-7AD22C075AE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タグ化するもの／属性保持に留めるもの</a:t>
            </a:r>
          </a:p>
        </p:txBody>
      </p:sp>
      <p:sp>
        <p:nvSpPr>
          <p:cNvPr id="3" name="Text Placeholder 2">
            <a:extLst xmlns:a="http://schemas.openxmlformats.org/drawingml/2006/main">
              <a:ext uri="{FF2B5EF4-FFF2-40B4-BE49-F238E27FC236}">
                <a16:creationId xmlns:a16="http://schemas.microsoft.com/office/drawing/2014/main" id="{FAB261F5-B91E-4B8F-B008-AED107B504E0}"/>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存在するだけでタグにすると検索ノイズが大きくなるため、意図的に分けています</a:t>
            </a:r>
          </a:p>
        </p:txBody>
      </p:sp>
      <p:sp>
        <p:nvSpPr>
          <p:cNvPr id="4" name="TextBox 3">
            <a:extLst xmlns:a="http://schemas.openxmlformats.org/drawingml/2006/main">
              <a:ext uri="{FF2B5EF4-FFF2-40B4-BE49-F238E27FC236}">
                <a16:creationId xmlns:a16="http://schemas.microsoft.com/office/drawing/2014/main" id="{68FF784B-732C-4889-BEB5-75021F3CE520}"/>
              </a:ext>
            </a:extLst>
          </p:cNvPr>
          <p:cNvSpPr>
            <a:spLocks xmlns:a="http://schemas.openxmlformats.org/drawingml/2006/main" noGrp="1"/>
          </p:cNvSpPr>
          <p:nvPr/>
        </p:nvSpPr>
        <p:spPr>
          <a:xfrm xmlns:a="http://schemas.openxmlformats.org/drawingml/2006/main">
            <a:off x="457200" y="1364228"/>
            <a:ext cx="5576106"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自動タグ化する</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客先 / 案件 / 装置カテゴリ</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メーカー名</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正式材質</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表面処理・塗装</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熱処理</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PRFX・ユニット番号</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SES などの明確な規格識別子</a:t>
            </a:r>
          </a:p>
        </p:txBody>
      </p:sp>
      <p:sp>
        <p:nvSpPr>
          <p:cNvPr id="5" name="TextBox 4">
            <a:extLst xmlns:a="http://schemas.openxmlformats.org/drawingml/2006/main">
              <a:ext uri="{FF2B5EF4-FFF2-40B4-BE49-F238E27FC236}">
                <a16:creationId xmlns:a16="http://schemas.microsoft.com/office/drawing/2014/main" id="{83B25C64-5E30-4B6C-9352-FDEC05FC4F1B}"/>
              </a:ext>
            </a:extLst>
          </p:cNvPr>
          <p:cNvSpPr>
            <a:spLocks xmlns:a="http://schemas.openxmlformats.org/drawingml/2006/main" noGrp="1"/>
          </p:cNvSpPr>
          <p:nvPr/>
        </p:nvSpPr>
        <p:spPr>
          <a:xfrm xmlns:a="http://schemas.openxmlformats.org/drawingml/2006/main">
            <a:off x="6233306" y="1364228"/>
            <a:ext cx="5576106"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属性として保持し、タグ化しない</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寸法値・公差値</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溶接記号・バルーン</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穴・長穴・切断線・ハッチング等の形状特徴</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質量・体積・重心・慣性モーメント</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 図面レビューやRAG投入時の</a:t>
            </a:r>
          </a:p>
          <a:p xmlns:a="http://schemas.openxmlformats.org/drawingml/2006/main">
            <a:pPr>
              <a:spcAft>
                <a:spcPts val="400"/>
              </a:spcAft>
              <a:buNone/>
            </a:pPr>
            <a:r>
              <a:rPr sz="1300">
                <a:solidFill>
                  <a:srgbClr val="1F1F1F"/>
                </a:solidFill>
                <a:latin typeface="游ゴシック Medium"/>
                <a:ea typeface="游ゴシック Medium"/>
                <a:cs typeface="游ゴシック Medium"/>
              </a:rPr>
              <a:t>　 属性・根拠として保持します</a:t>
            </a:r>
          </a:p>
        </p:txBody>
      </p:sp>
    </p:spTree>
    <p:extLst>
      <p:ext uri="{BB962C8B-B14F-4D97-AF65-F5344CB8AC3E}">
        <p14:creationId xmlns:p14="http://schemas.microsoft.com/office/powerpoint/2010/main" val="174857840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FCB1F5-5323-4A06-BD99-0D3E6BBAB3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800" b="1">
                <a:solidFill>
                  <a:srgbClr val="1F1F1F"/>
                </a:solidFill>
                <a:latin typeface="游ゴシック Medium"/>
                <a:ea typeface="游ゴシック Medium"/>
                <a:cs typeface="游ゴシック Medium"/>
              </a:rPr>
              <a:t>具体例</a:t>
            </a:r>
          </a:p>
        </p:txBody>
      </p:sp>
      <p:sp>
        <p:nvSpPr>
          <p:cNvPr id="3" name="Text Placeholder 2">
            <a:extLst xmlns:a="http://schemas.openxmlformats.org/drawingml/2006/main">
              <a:ext uri="{FF2B5EF4-FFF2-40B4-BE49-F238E27FC236}">
                <a16:creationId xmlns:a16="http://schemas.microsoft.com/office/drawing/2014/main" id="{8DC76519-FBD3-4154-B0C3-ED582168648C}"/>
              </a:ext>
            </a:extLst>
          </p:cNvPr>
          <p:cNvSpPr>
            <a:spLocks xmlns:a="http://schemas.openxmlformats.org/drawingml/2006/main" noGrp="1"/>
          </p:cNvSpPr>
          <p:nvPr>
            <p:ph type="body" idx="2"/>
          </p:nvPr>
        </p:nvSpPr>
        <p:spPr/>
        <p:txBody>
          <a:bodyPr xmlns:a="http://schemas.openxmlformats.org/drawingml/2006/main"/>
          <a:lstStyle xmlns:a="http://schemas.openxmlformats.org/drawingml/2006/main"/>
          <a:p xmlns:a="http://schemas.openxmlformats.org/drawingml/2006/main">
            <a:r>
              <a:rPr sz="1400" b="1">
                <a:solidFill>
                  <a:srgbClr val="005BAC"/>
                </a:solidFill>
                <a:latin typeface="游ゴシック Medium"/>
                <a:ea typeface="游ゴシック Medium"/>
                <a:cs typeface="游ゴシック Medium"/>
              </a:rPr>
              <a:t>CHAPTER　03</a:t>
            </a:r>
          </a:p>
        </p:txBody>
      </p:sp>
      <p:sp>
        <p:nvSpPr>
          <p:cNvPr id="4" name="Text Placeholder 3">
            <a:extLst xmlns:a="http://schemas.openxmlformats.org/drawingml/2006/main">
              <a:ext uri="{FF2B5EF4-FFF2-40B4-BE49-F238E27FC236}">
                <a16:creationId xmlns:a16="http://schemas.microsoft.com/office/drawing/2014/main" id="{B157B201-69C2-4213-A36A-C9630EF7868A}"/>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200" b="1">
                <a:solidFill>
                  <a:srgbClr val="005BAC"/>
                </a:solidFill>
                <a:latin typeface="游ゴシック Medium"/>
                <a:ea typeface="游ゴシック Medium"/>
                <a:cs typeface="游ゴシック Medium"/>
              </a:rPr>
              <a:t>Real Extraction Results</a:t>
            </a:r>
          </a:p>
        </p:txBody>
      </p:sp>
      <p:sp>
        <p:nvSpPr>
          <p:cNvPr id="5" name="Content Placeholder 4">
            <a:extLst xmlns:a="http://schemas.openxmlformats.org/drawingml/2006/main">
              <a:ext uri="{FF2B5EF4-FFF2-40B4-BE49-F238E27FC236}">
                <a16:creationId xmlns:a16="http://schemas.microsoft.com/office/drawing/2014/main" id="{4729F617-CA09-4ECD-BCC8-F21D69DDB0A7}"/>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400" b="0">
                <a:solidFill>
                  <a:srgbClr val="1F1F1F"/>
                </a:solidFill>
                <a:latin typeface="游ゴシック Medium"/>
                <a:ea typeface="游ゴシック Medium"/>
                <a:cs typeface="游ゴシック Medium"/>
              </a:rPr>
              <a:t>共有いただいた実ICAD 39件の実測結果</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実ファイル5例の、実際の出力値（値は加工していません）</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具体例から読み取れる特性と、すり合わせが必要な点</a:t>
            </a:r>
          </a:p>
        </p:txBody>
      </p:sp>
    </p:spTree>
    <p:extLst>
      <p:ext uri="{BB962C8B-B14F-4D97-AF65-F5344CB8AC3E}">
        <p14:creationId xmlns:p14="http://schemas.microsoft.com/office/powerpoint/2010/main" val="39706077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474F66-C4E8-4BFC-97E2-F350F1C673B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実ICAD 39件の実測結果</a:t>
            </a:r>
          </a:p>
        </p:txBody>
      </p:sp>
      <p:sp>
        <p:nvSpPr>
          <p:cNvPr id="3" name="Text Placeholder 2">
            <a:extLst xmlns:a="http://schemas.openxmlformats.org/drawingml/2006/main">
              <a:ext uri="{FF2B5EF4-FFF2-40B4-BE49-F238E27FC236}">
                <a16:creationId xmlns:a16="http://schemas.microsoft.com/office/drawing/2014/main" id="{99C3B296-96FB-455F-B682-1F73A7D45739}"/>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共有いただいた実ICAD 39件を、抽出から画面表示まで通した結果（2026-07-17時点）</a:t>
            </a:r>
          </a:p>
        </p:txBody>
      </p:sp>
      <p:graphicFrame>
        <p:nvGraphicFramePr>
          <p:cNvPr id="9" name="Table 3"/>
          <p:cNvGraphicFramePr/>
          <p:nvPr/>
        </p:nvGraphicFramePr>
        <p:xfrm>
          <a:off xmlns:a="http://schemas.openxmlformats.org/drawingml/2006/main" x="457200" y="1364228"/>
          <a:ext xmlns:a="http://schemas.openxmlformats.org/drawingml/2006/main" cx="11352212" cy="2700000"/>
        </p:xfrm>
        <a:graphic xmlns:a="http://schemas.openxmlformats.org/drawingml/2006/main">
          <a:graphicData uri="http://schemas.openxmlformats.org/drawingml/2006/table">
            <a:tbl>
              <a:tblPr firstRow="1" bandRow="1">
                <a:tableStyleId>{5C22544A-7EE6-4342-B048-85BDC9FD1C3A}</a:tableStyleId>
              </a:tblPr>
              <a:tblGrid>
                <a:gridCol w="3385747"/>
                <a:gridCol w="7966465"/>
              </a:tblGrid>
              <a:tr h="385714">
                <a:tc>
                  <a:txBody>
                    <a:bodyPr/>
                    <a:lstStyle/>
                    <a:p>
                      <a:r>
                        <a:rPr sz="1100" b="1">
                          <a:solidFill>
                            <a:srgbClr val="FFFFFF"/>
                          </a:solidFill>
                          <a:latin typeface="游ゴシック Medium"/>
                          <a:ea typeface="游ゴシック Medium"/>
                          <a:cs typeface="游ゴシック Medium"/>
                        </a:rPr>
                        <a:t>観点</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結果</a:t>
                      </a:r>
                    </a:p>
                  </a:txBody>
                  <a:tcPr marL="64000" marR="64000" marT="45720" marB="45720" anchor="ctr">
                    <a:solidFill>
                      <a:srgbClr val="005BAC"/>
                    </a:solidFill>
                  </a:tcPr>
                </a:tc>
              </a:tr>
              <a:tr h="385714">
                <a:tc>
                  <a:txBody>
                    <a:bodyPr/>
                    <a:lstStyle/>
                    <a:p>
                      <a:pPr>
                        <a:lnSpc>
                          <a:spcPct val="100000"/>
                        </a:lnSpc>
                        <a:buNone/>
                      </a:pPr>
                      <a:r>
                        <a:rPr sz="1200" b="0">
                          <a:solidFill>
                            <a:srgbClr val="1F1F1F"/>
                          </a:solidFill>
                          <a:latin typeface="游ゴシック Medium"/>
                          <a:ea typeface="游ゴシック Medium"/>
                          <a:cs typeface="游ゴシック Medium"/>
                        </a:rPr>
                        <a:t>抽出完了</a:t>
                      </a:r>
                    </a:p>
                  </a:txBody>
                  <a:tcPr marL="64000" marR="64000" marT="24000" marB="24000" anchor="ctr">
                    <a:solidFill>
                      <a:srgbClr val="FFFFFF"/>
                    </a:solidFill>
                  </a:tcPr>
                </a:tc>
                <a:tc>
                  <a:txBody>
                    <a:bodyPr/>
                    <a:lstStyle/>
                    <a:p>
                      <a:pPr>
                        <a:lnSpc>
                          <a:spcPct val="100000"/>
                        </a:lnSpc>
                        <a:buNone/>
                      </a:pPr>
                      <a:r>
                        <a:rPr sz="1200" b="0">
                          <a:solidFill>
                            <a:srgbClr val="1F1F1F"/>
                          </a:solidFill>
                          <a:latin typeface="游ゴシック Medium"/>
                          <a:ea typeface="游ゴシック Medium"/>
                          <a:cs typeface="游ゴシック Medium"/>
                        </a:rPr>
                        <a:t>39件すべてで 2D snapshot / 3D snapshot の両方を保存済み、未抽出0件</a:t>
                      </a:r>
                    </a:p>
                  </a:txBody>
                  <a:tcPr marL="64000" marR="64000" marT="24000" marB="24000" anchor="ctr">
                    <a:solidFill>
                      <a:srgbClr val="FFFFFF"/>
                    </a:solidFill>
                  </a:tcPr>
                </a:tc>
              </a:tr>
              <a:tr h="385714">
                <a:tc>
                  <a:txBody>
                    <a:bodyPr/>
                    <a:lstStyle/>
                    <a:p>
                      <a:pPr>
                        <a:lnSpc>
                          <a:spcPct val="100000"/>
                        </a:lnSpc>
                        <a:buNone/>
                      </a:pPr>
                      <a:r>
                        <a:rPr sz="1200" b="0">
                          <a:solidFill>
                            <a:srgbClr val="1F1F1F"/>
                          </a:solidFill>
                          <a:latin typeface="游ゴシック Medium"/>
                          <a:ea typeface="游ゴシック Medium"/>
                          <a:cs typeface="游ゴシック Medium"/>
                        </a:rPr>
                        <a:t>部品名（part_names）</a:t>
                      </a:r>
                    </a:p>
                  </a:txBody>
                  <a:tcPr marL="64000" marR="64000" marT="24000" marB="24000" anchor="ctr">
                    <a:solidFill>
                      <a:srgbClr val="F5F7FA"/>
                    </a:solidFill>
                  </a:tcPr>
                </a:tc>
                <a:tc>
                  <a:txBody>
                    <a:bodyPr/>
                    <a:lstStyle/>
                    <a:p>
                      <a:pPr>
                        <a:lnSpc>
                          <a:spcPct val="100000"/>
                        </a:lnSpc>
                        <a:buNone/>
                      </a:pPr>
                      <a:r>
                        <a:rPr sz="1200" b="0">
                          <a:solidFill>
                            <a:srgbClr val="1F1F1F"/>
                          </a:solidFill>
                          <a:latin typeface="游ゴシック Medium"/>
                          <a:ea typeface="游ゴシック Medium"/>
                          <a:cs typeface="游ゴシック Medium"/>
                        </a:rPr>
                        <a:t>39 / 39 件で取得</a:t>
                      </a:r>
                    </a:p>
                  </a:txBody>
                  <a:tcPr marL="64000" marR="64000" marT="24000" marB="24000" anchor="ctr">
                    <a:solidFill>
                      <a:srgbClr val="F5F7FA"/>
                    </a:solidFill>
                  </a:tcPr>
                </a:tc>
              </a:tr>
              <a:tr h="385714">
                <a:tc>
                  <a:txBody>
                    <a:bodyPr/>
                    <a:lstStyle/>
                    <a:p>
                      <a:pPr>
                        <a:lnSpc>
                          <a:spcPct val="100000"/>
                        </a:lnSpc>
                        <a:buNone/>
                      </a:pPr>
                      <a:r>
                        <a:rPr sz="1200" b="0">
                          <a:solidFill>
                            <a:srgbClr val="1F1F1F"/>
                          </a:solidFill>
                          <a:latin typeface="游ゴシック Medium"/>
                          <a:ea typeface="游ゴシック Medium"/>
                          <a:cs typeface="游ゴシック Medium"/>
                        </a:rPr>
                        <a:t>質量・重量（mass_value / weight_value）</a:t>
                      </a:r>
                    </a:p>
                  </a:txBody>
                  <a:tcPr marL="64000" marR="64000" marT="24000" marB="24000" anchor="ctr">
                    <a:solidFill>
                      <a:srgbClr val="FFFFFF"/>
                    </a:solidFill>
                  </a:tcPr>
                </a:tc>
                <a:tc>
                  <a:txBody>
                    <a:bodyPr/>
                    <a:lstStyle/>
                    <a:p>
                      <a:pPr>
                        <a:lnSpc>
                          <a:spcPct val="100000"/>
                        </a:lnSpc>
                        <a:buNone/>
                      </a:pPr>
                      <a:r>
                        <a:rPr sz="1200" b="0">
                          <a:solidFill>
                            <a:srgbClr val="1F1F1F"/>
                          </a:solidFill>
                          <a:latin typeface="游ゴシック Medium"/>
                          <a:ea typeface="游ゴシック Medium"/>
                          <a:cs typeface="游ゴシック Medium"/>
                        </a:rPr>
                        <a:t>38 / 39 件で取得</a:t>
                      </a:r>
                    </a:p>
                  </a:txBody>
                  <a:tcPr marL="64000" marR="64000" marT="24000" marB="24000" anchor="ctr">
                    <a:solidFill>
                      <a:srgbClr val="FFFFFF"/>
                    </a:solidFill>
                  </a:tcPr>
                </a:tc>
              </a:tr>
              <a:tr h="385714">
                <a:tc>
                  <a:txBody>
                    <a:bodyPr/>
                    <a:lstStyle/>
                    <a:p>
                      <a:pPr>
                        <a:lnSpc>
                          <a:spcPct val="100000"/>
                        </a:lnSpc>
                        <a:buNone/>
                      </a:pPr>
                      <a:r>
                        <a:rPr sz="1200" b="0">
                          <a:solidFill>
                            <a:srgbClr val="1F1F1F"/>
                          </a:solidFill>
                          <a:latin typeface="游ゴシック Medium"/>
                          <a:ea typeface="游ゴシック Medium"/>
                          <a:cs typeface="游ゴシック Medium"/>
                        </a:rPr>
                        <a:t>材質（material_keywords）</a:t>
                      </a:r>
                    </a:p>
                  </a:txBody>
                  <a:tcPr marL="64000" marR="64000" marT="24000" marB="24000" anchor="ctr">
                    <a:solidFill>
                      <a:srgbClr val="F5F7FA"/>
                    </a:solidFill>
                  </a:tcPr>
                </a:tc>
                <a:tc>
                  <a:txBody>
                    <a:bodyPr/>
                    <a:lstStyle/>
                    <a:p>
                      <a:pPr>
                        <a:lnSpc>
                          <a:spcPct val="100000"/>
                        </a:lnSpc>
                        <a:buNone/>
                      </a:pPr>
                      <a:r>
                        <a:rPr sz="1200" b="0">
                          <a:solidFill>
                            <a:srgbClr val="1F1F1F"/>
                          </a:solidFill>
                          <a:latin typeface="游ゴシック Medium"/>
                          <a:ea typeface="游ゴシック Medium"/>
                          <a:cs typeface="游ゴシック Medium"/>
                        </a:rPr>
                        <a:t>33 / 39 件で取得</a:t>
                      </a:r>
                    </a:p>
                  </a:txBody>
                  <a:tcPr marL="64000" marR="64000" marT="24000" marB="24000" anchor="ctr">
                    <a:solidFill>
                      <a:srgbClr val="F5F7FA"/>
                    </a:solidFill>
                  </a:tcPr>
                </a:tc>
              </a:tr>
              <a:tr h="385714">
                <a:tc>
                  <a:txBody>
                    <a:bodyPr/>
                    <a:lstStyle/>
                    <a:p>
                      <a:pPr>
                        <a:lnSpc>
                          <a:spcPct val="100000"/>
                        </a:lnSpc>
                        <a:buNone/>
                      </a:pPr>
                      <a:r>
                        <a:rPr sz="1200" b="0">
                          <a:solidFill>
                            <a:srgbClr val="1F1F1F"/>
                          </a:solidFill>
                          <a:latin typeface="游ゴシック Medium"/>
                          <a:ea typeface="游ゴシック Medium"/>
                          <a:cs typeface="游ゴシック Medium"/>
                        </a:rPr>
                        <a:t>生成タグ（上位）</a:t>
                      </a:r>
                    </a:p>
                  </a:txBody>
                  <a:tcPr marL="64000" marR="64000" marT="24000" marB="24000" anchor="ctr">
                    <a:solidFill>
                      <a:srgbClr val="FFFFFF"/>
                    </a:solidFill>
                  </a:tcPr>
                </a:tc>
                <a:tc>
                  <a:txBody>
                    <a:bodyPr/>
                    <a:lstStyle/>
                    <a:p>
                      <a:pPr>
                        <a:lnSpc>
                          <a:spcPct val="100000"/>
                        </a:lnSpc>
                        <a:buNone/>
                      </a:pPr>
                      <a:r>
                        <a:rPr sz="1200" b="0">
                          <a:solidFill>
                            <a:srgbClr val="1F1F1F"/>
                          </a:solidFill>
                          <a:latin typeface="游ゴシック Medium"/>
                          <a:ea typeface="游ゴシック Medium"/>
                          <a:cs typeface="游ゴシック Medium"/>
                        </a:rPr>
                        <a:t>材質:SS400 13件　/　材質:SUS 13件　/　材質:SUS304 12件　/　メーカー:SMC 4件　/　材質:ねずみ鋳鉄 4件</a:t>
                      </a:r>
                    </a:p>
                  </a:txBody>
                  <a:tcPr marL="64000" marR="64000" marT="24000" marB="24000" anchor="ctr">
                    <a:solidFill>
                      <a:srgbClr val="FFFFFF"/>
                    </a:solidFill>
                  </a:tcPr>
                </a:tc>
              </a:tr>
              <a:tr h="385716">
                <a:tc>
                  <a:txBody>
                    <a:bodyPr/>
                    <a:lstStyle/>
                    <a:p>
                      <a:pPr>
                        <a:lnSpc>
                          <a:spcPct val="100000"/>
                        </a:lnSpc>
                        <a:buNone/>
                      </a:pPr>
                    </a:p>
                  </a:txBody>
                  <a:tcPr marL="64000" marR="64000" marT="24000" marB="24000" anchor="ctr">
                    <a:solidFill>
                      <a:srgbClr val="F5F7FA"/>
                    </a:solidFill>
                  </a:tcPr>
                </a:tc>
                <a:tc>
                  <a:txBody>
                    <a:bodyPr/>
                    <a:lstStyle/>
                    <a:p>
                      <a:pPr>
                        <a:lnSpc>
                          <a:spcPct val="100000"/>
                        </a:lnSpc>
                        <a:buNone/>
                      </a:pPr>
                      <a:r>
                        <a:rPr sz="1200" b="0">
                          <a:solidFill>
                            <a:srgbClr val="1F1F1F"/>
                          </a:solidFill>
                          <a:latin typeface="游ゴシック Medium"/>
                          <a:ea typeface="游ゴシック Medium"/>
                          <a:cs typeface="游ゴシック Medium"/>
                        </a:rPr>
                        <a:t>材質:SUS304B・SUS316・SPCC・A5052P・S45C・FC300 各3件　/　規格:SES 2件　/　客先:澁谷工業 1件　/　装置:治具 1件</a:t>
                      </a:r>
                    </a:p>
                  </a:txBody>
                  <a:tcPr marL="64000" marR="64000" marT="24000" marB="24000" anchor="ctr">
                    <a:solidFill>
                      <a:srgbClr val="F5F7FA"/>
                    </a:solidFill>
                  </a:tcPr>
                </a:tc>
              </a:tr>
            </a:tbl>
          </a:graphicData>
        </a:graphic>
      </p:graphicFrame>
      <p:sp>
        <p:nvSpPr>
          <p:cNvPr id="5" name="TextBox 4">
            <a:extLst xmlns:a="http://schemas.openxmlformats.org/drawingml/2006/main">
              <a:ext uri="{FF2B5EF4-FFF2-40B4-BE49-F238E27FC236}">
                <a16:creationId xmlns:a16="http://schemas.microsoft.com/office/drawing/2014/main" id="{5D429BA0-3DD2-46CF-B5C3-24B9A2EBFF29}"/>
              </a:ext>
            </a:extLst>
          </p:cNvPr>
          <p:cNvSpPr>
            <a:spLocks xmlns:a="http://schemas.openxmlformats.org/drawingml/2006/main" noGrp="1"/>
          </p:cNvSpPr>
          <p:nvPr/>
        </p:nvSpPr>
        <p:spPr>
          <a:xfrm xmlns:a="http://schemas.openxmlformats.org/drawingml/2006/main">
            <a:off x="457200" y="4124228"/>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材質タグは安定して出ます。客先・装置タグが少ないのは、この測定時点の客先辞書が3件しか入っていなかったためです（辞書のDB化は2026-07-17）。辞書を実運用の語彙で拡充すれば増える性質のもので、抽出ロジックの限界ではありません。</a:t>
            </a:r>
          </a:p>
        </p:txBody>
      </p:sp>
    </p:spTree>
    <p:extLst>
      <p:ext uri="{BB962C8B-B14F-4D97-AF65-F5344CB8AC3E}">
        <p14:creationId xmlns:p14="http://schemas.microsoft.com/office/powerpoint/2010/main" val="63677355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67BA18-D45B-42AE-B245-54D742E3EC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具体例①　客先・装置がパスから確定したケース</a:t>
            </a:r>
          </a:p>
        </p:txBody>
      </p:sp>
      <p:sp>
        <p:nvSpPr>
          <p:cNvPr id="3" name="Text Placeholder 2">
            <a:extLst xmlns:a="http://schemas.openxmlformats.org/drawingml/2006/main">
              <a:ext uri="{FF2B5EF4-FFF2-40B4-BE49-F238E27FC236}">
                <a16:creationId xmlns:a16="http://schemas.microsoft.com/office/drawing/2014/main" id="{D18A4175-2B2D-4C9E-8F52-FB2B400D7379}"/>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実ICADファイルの実際の出力（値は未加工）</a:t>
            </a:r>
          </a:p>
        </p:txBody>
      </p:sp>
      <p:sp>
        <p:nvSpPr>
          <p:cNvPr id="4" name="TextBox 3">
            <a:extLst xmlns:a="http://schemas.openxmlformats.org/drawingml/2006/main">
              <a:ext uri="{FF2B5EF4-FFF2-40B4-BE49-F238E27FC236}">
                <a16:creationId xmlns:a16="http://schemas.microsoft.com/office/drawing/2014/main" id="{6BF362F8-D595-45C3-8D76-BD95CD91CE5D}"/>
              </a:ext>
            </a:extLst>
          </p:cNvPr>
          <p:cNvSpPr>
            <a:spLocks xmlns:a="http://schemas.openxmlformats.org/drawingml/2006/main" noGrp="1"/>
          </p:cNvSpPr>
          <p:nvPr/>
        </p:nvSpPr>
        <p:spPr>
          <a:xfrm xmlns:a="http://schemas.openxmlformats.org/drawingml/2006/main">
            <a:off x="457200" y="1364228"/>
            <a:ext cx="11352213" cy="2242158"/>
          </a:xfrm>
          <a:prstGeom xmlns:a="http://schemas.openxmlformats.org/drawingml/2006/main" prst="rect">
            <a:avLst/>
          </a:prstGeom>
          <a:solidFill xmlns:a="http://schemas.openxmlformats.org/drawingml/2006/main">
            <a:srgbClr val="EAF2FA"/>
          </a:solidFill>
          <a:ln xmlns:a="http://schemas.openxmlformats.org/drawingml/2006/main" w="9525">
            <a:solidFill>
              <a:srgbClr val="C9D3DD"/>
            </a:solidFill>
          </a:ln>
        </p:spPr>
        <p:txBody>
          <a:bodyPr xmlns:a="http://schemas.openxmlformats.org/drawingml/2006/main" wrap="square" lIns="150000" tIns="90000" rIns="120000" bIns="90000">
            <a:spAutoFit/>
          </a:bodyPr>
          <a:lstStyle xmlns:a="http://schemas.openxmlformats.org/drawingml/2006/main"/>
          <a:p xmlns:a="http://schemas.openxmlformats.org/drawingml/2006/main">
            <a:pPr>
              <a:spcAft>
                <a:spcPts val="300"/>
              </a:spcAft>
              <a:buNone/>
            </a:pPr>
            <a:r>
              <a:rPr sz="1200" b="1">
                <a:solidFill>
                  <a:srgbClr val="005BAC"/>
                </a:solidFill>
                <a:latin typeface="游ゴシック Medium"/>
                <a:ea typeface="游ゴシック Medium"/>
                <a:cs typeface="游ゴシック Medium"/>
              </a:rPr>
              <a:t>U8105111315.icd</a:t>
            </a:r>
          </a:p>
          <a:p xmlns:a="http://schemas.openxmlformats.org/drawingml/2006/main">
            <a:pPr>
              <a:lnSpc>
                <a:spcPct val="100000"/>
              </a:lnSpc>
              <a:spcAft>
                <a:spcPts val="100"/>
              </a:spcAft>
              <a:buNone/>
            </a:pPr>
            <a:r>
              <a:rPr sz="1000">
                <a:solidFill>
                  <a:srgbClr val="1F1F1F"/>
                </a:solidFill>
                <a:latin typeface="Consolas"/>
                <a:ea typeface="Consolas"/>
                <a:cs typeface="Consolas"/>
              </a:rPr>
              <a:t>パス   : J:\SBY\アイソレータ\210126_エーザイ_アイソレータ_RAA4844\作業フォルダ\開閉扉\U8105111315.icd</a:t>
            </a:r>
          </a:p>
          <a:p xmlns:a="http://schemas.openxmlformats.org/drawingml/2006/main">
            <a:pPr>
              <a:lnSpc>
                <a:spcPct val="100000"/>
              </a:lnSpc>
              <a:spcAft>
                <a:spcPts val="100"/>
              </a:spcAft>
              <a:buNone/>
            </a:pPr>
            <a:r>
              <a:rPr sz="1000">
                <a:solidFill>
                  <a:srgbClr val="1F1F1F"/>
                </a:solidFill>
                <a:latin typeface="Consolas"/>
                <a:ea typeface="Consolas"/>
                <a:cs typeface="Consolas"/>
              </a:rPr>
              <a:t>タグ   : 客先:澁谷工業 / 材質:SUS304 / 材質:SUS / 規格:SES</a:t>
            </a:r>
          </a:p>
          <a:p xmlns:a="http://schemas.openxmlformats.org/drawingml/2006/main">
            <a:pPr>
              <a:lnSpc>
                <a:spcPct val="100000"/>
              </a:lnSpc>
              <a:spcAft>
                <a:spcPts val="100"/>
              </a:spcAft>
              <a:buNone/>
            </a:pPr>
            <a:r>
              <a:rPr sz="1000">
                <a:solidFill>
                  <a:srgbClr val="1F1F1F"/>
                </a:solidFill>
                <a:latin typeface="Consolas"/>
                <a:ea typeface="Consolas"/>
                <a:cs typeface="Consolas"/>
              </a:rPr>
              <a:t> 属性  : customer_name="澁谷工業", mass_value=0.18021418, weight_value=1.7672974,</a:t>
            </a:r>
          </a:p>
          <a:p xmlns:a="http://schemas.openxmlformats.org/drawingml/2006/main">
            <a:pPr>
              <a:lnSpc>
                <a:spcPct val="100000"/>
              </a:lnSpc>
              <a:spcAft>
                <a:spcPts val="100"/>
              </a:spcAft>
              <a:buNone/>
            </a:pPr>
            <a:r>
              <a:rPr sz="1000">
                <a:solidFill>
                  <a:srgbClr val="1F1F1F"/>
                </a:solidFill>
                <a:latin typeface="Consolas"/>
                <a:ea typeface="Consolas"/>
                <a:cs typeface="Consolas"/>
              </a:rPr>
              <a:t>         material_keywords=["SUS304","SUS"], part_names=["U81051113150"]</a:t>
            </a:r>
          </a:p>
        </p:txBody>
      </p:sp>
      <p:sp>
        <p:nvSpPr>
          <p:cNvPr id="5" name="TextBox 4">
            <a:extLst xmlns:a="http://schemas.openxmlformats.org/drawingml/2006/main">
              <a:ext uri="{FF2B5EF4-FFF2-40B4-BE49-F238E27FC236}">
                <a16:creationId xmlns:a16="http://schemas.microsoft.com/office/drawing/2014/main" id="{95E021C5-5C09-454F-AD33-9D7F8D12FC31}"/>
              </a:ext>
            </a:extLst>
          </p:cNvPr>
          <p:cNvSpPr>
            <a:spLocks xmlns:a="http://schemas.openxmlformats.org/drawingml/2006/main" noGrp="1"/>
          </p:cNvSpPr>
          <p:nvPr/>
        </p:nvSpPr>
        <p:spPr>
          <a:xfrm xmlns:a="http://schemas.openxmlformats.org/drawingml/2006/main">
            <a:off x="457200" y="3786386"/>
            <a:ext cx="11352213" cy="2242158"/>
          </a:xfrm>
          <a:prstGeom xmlns:a="http://schemas.openxmlformats.org/drawingml/2006/main" prst="rect">
            <a:avLst/>
          </a:prstGeom>
          <a:solidFill xmlns:a="http://schemas.openxmlformats.org/drawingml/2006/main">
            <a:srgbClr val="EAF2FA"/>
          </a:solidFill>
          <a:ln xmlns:a="http://schemas.openxmlformats.org/drawingml/2006/main" w="9525">
            <a:solidFill>
              <a:srgbClr val="C9D3DD"/>
            </a:solidFill>
          </a:ln>
        </p:spPr>
        <p:txBody>
          <a:bodyPr xmlns:a="http://schemas.openxmlformats.org/drawingml/2006/main" wrap="square" lIns="150000" tIns="90000" rIns="120000" bIns="90000">
            <a:spAutoFit/>
          </a:bodyPr>
          <a:lstStyle xmlns:a="http://schemas.openxmlformats.org/drawingml/2006/main"/>
          <a:p xmlns:a="http://schemas.openxmlformats.org/drawingml/2006/main">
            <a:pPr>
              <a:spcAft>
                <a:spcPts val="300"/>
              </a:spcAft>
              <a:buNone/>
            </a:pPr>
            <a:r>
              <a:rPr sz="1200" b="1">
                <a:solidFill>
                  <a:srgbClr val="005BAC"/>
                </a:solidFill>
                <a:latin typeface="游ゴシック Medium"/>
                <a:ea typeface="游ゴシック Medium"/>
                <a:cs typeface="游ゴシック Medium"/>
              </a:rPr>
              <a:t>XH30-A08001-R03-JP_ロードカップ部改造.icd</a:t>
            </a:r>
          </a:p>
          <a:p xmlns:a="http://schemas.openxmlformats.org/drawingml/2006/main">
            <a:pPr>
              <a:lnSpc>
                <a:spcPct val="100000"/>
              </a:lnSpc>
              <a:spcAft>
                <a:spcPts val="100"/>
              </a:spcAft>
              <a:buNone/>
            </a:pPr>
            <a:r>
              <a:rPr sz="1000">
                <a:solidFill>
                  <a:srgbClr val="1F1F1F"/>
                </a:solidFill>
                <a:latin typeface="Consolas"/>
                <a:ea typeface="Consolas"/>
                <a:cs typeface="Consolas"/>
              </a:rPr>
              <a:t>パス   : J:\ZCSET\300P_210312\作業\2_ロードカップ部\XH30-A08001-R03-JP_ロードカップ部改造.icd</a:t>
            </a:r>
          </a:p>
          <a:p xmlns:a="http://schemas.openxmlformats.org/drawingml/2006/main">
            <a:pPr>
              <a:lnSpc>
                <a:spcPct val="100000"/>
              </a:lnSpc>
              <a:spcAft>
                <a:spcPts val="100"/>
              </a:spcAft>
              <a:buNone/>
            </a:pPr>
            <a:r>
              <a:rPr sz="1000">
                <a:solidFill>
                  <a:srgbClr val="1F1F1F"/>
                </a:solidFill>
                <a:latin typeface="Consolas"/>
                <a:ea typeface="Consolas"/>
                <a:cs typeface="Consolas"/>
              </a:rPr>
              <a:t>タグ   : 装置:治具 / メーカー:SMC / 材質:SUS316 / 材質:PVC / 材質:PPS / 材質:PTFE /</a:t>
            </a:r>
          </a:p>
          <a:p xmlns:a="http://schemas.openxmlformats.org/drawingml/2006/main">
            <a:pPr>
              <a:lnSpc>
                <a:spcPct val="100000"/>
              </a:lnSpc>
              <a:spcAft>
                <a:spcPts val="100"/>
              </a:spcAft>
              <a:buNone/>
            </a:pPr>
            <a:r>
              <a:rPr sz="1000">
                <a:solidFill>
                  <a:srgbClr val="1F1F1F"/>
                </a:solidFill>
                <a:latin typeface="Consolas"/>
                <a:ea typeface="Consolas"/>
                <a:cs typeface="Consolas"/>
              </a:rPr>
              <a:t>         材質:A5052P / 材質:SUS304 / 材質:SUS / 材質:NBR / 材質:POM</a:t>
            </a:r>
          </a:p>
          <a:p xmlns:a="http://schemas.openxmlformats.org/drawingml/2006/main">
            <a:pPr>
              <a:lnSpc>
                <a:spcPct val="100000"/>
              </a:lnSpc>
              <a:spcAft>
                <a:spcPts val="100"/>
              </a:spcAft>
              <a:buNone/>
            </a:pPr>
            <a:r>
              <a:rPr sz="1000">
                <a:solidFill>
                  <a:srgbClr val="1F1F1F"/>
                </a:solidFill>
                <a:latin typeface="Consolas"/>
                <a:ea typeface="Consolas"/>
                <a:cs typeface="Consolas"/>
              </a:rPr>
              <a:t> 属性  : equipment_category="治具", mass_value=4.75944799, weight_value=46.67424068,</a:t>
            </a:r>
          </a:p>
          <a:p xmlns:a="http://schemas.openxmlformats.org/drawingml/2006/main">
            <a:pPr>
              <a:lnSpc>
                <a:spcPct val="100000"/>
              </a:lnSpc>
              <a:spcAft>
                <a:spcPts val="100"/>
              </a:spcAft>
              <a:buNone/>
            </a:pPr>
            <a:r>
              <a:rPr sz="1000">
                <a:solidFill>
                  <a:srgbClr val="1F1F1F"/>
                </a:solidFill>
                <a:latin typeface="Consolas"/>
                <a:ea typeface="Consolas"/>
                <a:cs typeface="Consolas"/>
              </a:rPr>
              <a:t>         part_names 108件（"＠リフト部", "CSP300R-8012-00_ノズルブラケット-1", "Oリング(S190)" ほか）</a:t>
            </a:r>
          </a:p>
          <a:p xmlns:a="http://schemas.openxmlformats.org/drawingml/2006/main">
            <a:pPr>
              <a:lnSpc>
                <a:spcPct val="100000"/>
              </a:lnSpc>
              <a:spcAft>
                <a:spcPts val="100"/>
              </a:spcAft>
              <a:buNone/>
            </a:pPr>
            <a:r>
              <a:rPr sz="1000">
                <a:solidFill>
                  <a:srgbClr val="1F1F1F"/>
                </a:solidFill>
                <a:latin typeface="Consolas"/>
                <a:ea typeface="Consolas"/>
                <a:cs typeface="Consolas"/>
              </a:rPr>
              <a:t>         unresolved_material_keywords=["75"]  ← 材質と断定できなかった値は別枠に隔離</a:t>
            </a:r>
          </a:p>
        </p:txBody>
      </p:sp>
    </p:spTree>
    <p:extLst>
      <p:ext uri="{BB962C8B-B14F-4D97-AF65-F5344CB8AC3E}">
        <p14:creationId xmlns:p14="http://schemas.microsoft.com/office/powerpoint/2010/main" val="205024142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17FAB1-C63A-4190-84D8-14B372C319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具体例②　大規模アセンブリ・規格・塗装</a:t>
            </a:r>
          </a:p>
        </p:txBody>
      </p:sp>
      <p:sp>
        <p:nvSpPr>
          <p:cNvPr id="3" name="Text Placeholder 2">
            <a:extLst xmlns:a="http://schemas.openxmlformats.org/drawingml/2006/main">
              <a:ext uri="{FF2B5EF4-FFF2-40B4-BE49-F238E27FC236}">
                <a16:creationId xmlns:a16="http://schemas.microsoft.com/office/drawing/2014/main" id="{ED617DEA-99E1-4FFC-BE6E-F9D61C1E9F8D}"/>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実ICADファイルの実際の出力（値は未加工）</a:t>
            </a:r>
          </a:p>
        </p:txBody>
      </p:sp>
      <p:sp>
        <p:nvSpPr>
          <p:cNvPr id="4" name="TextBox 3">
            <a:extLst xmlns:a="http://schemas.openxmlformats.org/drawingml/2006/main">
              <a:ext uri="{FF2B5EF4-FFF2-40B4-BE49-F238E27FC236}">
                <a16:creationId xmlns:a16="http://schemas.microsoft.com/office/drawing/2014/main" id="{DD3AB80D-661D-4E80-97C5-EAD0FAB0697E}"/>
              </a:ext>
            </a:extLst>
          </p:cNvPr>
          <p:cNvSpPr>
            <a:spLocks xmlns:a="http://schemas.openxmlformats.org/drawingml/2006/main" noGrp="1"/>
          </p:cNvSpPr>
          <p:nvPr/>
        </p:nvSpPr>
        <p:spPr>
          <a:xfrm xmlns:a="http://schemas.openxmlformats.org/drawingml/2006/main">
            <a:off x="457200" y="1364228"/>
            <a:ext cx="11352213" cy="1434772"/>
          </a:xfrm>
          <a:prstGeom xmlns:a="http://schemas.openxmlformats.org/drawingml/2006/main" prst="rect">
            <a:avLst/>
          </a:prstGeom>
          <a:solidFill xmlns:a="http://schemas.openxmlformats.org/drawingml/2006/main">
            <a:srgbClr val="EAF2FA"/>
          </a:solidFill>
          <a:ln xmlns:a="http://schemas.openxmlformats.org/drawingml/2006/main" w="9525">
            <a:solidFill>
              <a:srgbClr val="C9D3DD"/>
            </a:solidFill>
          </a:ln>
        </p:spPr>
        <p:txBody>
          <a:bodyPr xmlns:a="http://schemas.openxmlformats.org/drawingml/2006/main" wrap="square" lIns="150000" tIns="90000" rIns="120000" bIns="90000">
            <a:spAutoFit/>
          </a:bodyPr>
          <a:lstStyle xmlns:a="http://schemas.openxmlformats.org/drawingml/2006/main"/>
          <a:p xmlns:a="http://schemas.openxmlformats.org/drawingml/2006/main">
            <a:pPr>
              <a:spcAft>
                <a:spcPts val="300"/>
              </a:spcAft>
              <a:buNone/>
            </a:pPr>
            <a:r>
              <a:rPr sz="1200" b="1">
                <a:solidFill>
                  <a:srgbClr val="005BAC"/>
                </a:solidFill>
                <a:latin typeface="游ゴシック Medium"/>
                <a:ea typeface="游ゴシック Medium"/>
                <a:cs typeface="游ゴシック Medium"/>
              </a:rPr>
              <a:t>474300AC219.icd　（部品189件の大規模アセンブリ）</a:t>
            </a:r>
          </a:p>
          <a:p xmlns:a="http://schemas.openxmlformats.org/drawingml/2006/main">
            <a:pPr>
              <a:lnSpc>
                <a:spcPct val="100000"/>
              </a:lnSpc>
              <a:spcAft>
                <a:spcPts val="100"/>
              </a:spcAft>
              <a:buNone/>
            </a:pPr>
            <a:r>
              <a:rPr sz="1000">
                <a:solidFill>
                  <a:srgbClr val="1F1F1F"/>
                </a:solidFill>
                <a:latin typeface="Consolas"/>
                <a:ea typeface="Consolas"/>
                <a:cs typeface="Consolas"/>
              </a:rPr>
              <a:t>パス   : \\HONSYA-FILE01\data_cad3d\SBY\CAP\260527_AAM6351_アイリスオーヤマ_宮本様\474300AC219.icd</a:t>
            </a:r>
          </a:p>
          <a:p xmlns:a="http://schemas.openxmlformats.org/drawingml/2006/main">
            <a:pPr>
              <a:lnSpc>
                <a:spcPct val="100000"/>
              </a:lnSpc>
              <a:spcAft>
                <a:spcPts val="100"/>
              </a:spcAft>
              <a:buNone/>
            </a:pPr>
            <a:r>
              <a:rPr sz="1000">
                <a:solidFill>
                  <a:srgbClr val="1F1F1F"/>
                </a:solidFill>
                <a:latin typeface="Consolas"/>
                <a:ea typeface="Consolas"/>
                <a:cs typeface="Consolas"/>
              </a:rPr>
              <a:t>タグ   : メーカー:SMC / 材質:SUS304 / 材質:PET / 材質:H-PVC / 材質:NBR / 材質:EPDM ほか計19タグ</a:t>
            </a:r>
          </a:p>
          <a:p xmlns:a="http://schemas.openxmlformats.org/drawingml/2006/main">
            <a:pPr>
              <a:lnSpc>
                <a:spcPct val="100000"/>
              </a:lnSpc>
              <a:spcAft>
                <a:spcPts val="100"/>
              </a:spcAft>
              <a:buNone/>
            </a:pPr>
            <a:r>
              <a:rPr sz="1000">
                <a:solidFill>
                  <a:srgbClr val="1F1F1F"/>
                </a:solidFill>
                <a:latin typeface="Consolas"/>
                <a:ea typeface="Consolas"/>
                <a:cs typeface="Consolas"/>
              </a:rPr>
              <a:t> 属性  : mass_value=17.7113085, weight_value=173.68860346, material_keywords 18種, part_names 189件</a:t>
            </a:r>
          </a:p>
          <a:p xmlns:a="http://schemas.openxmlformats.org/drawingml/2006/main">
            <a:pPr>
              <a:lnSpc>
                <a:spcPct val="100000"/>
              </a:lnSpc>
              <a:spcAft>
                <a:spcPts val="100"/>
              </a:spcAft>
              <a:buNone/>
            </a:pPr>
            <a:r>
              <a:rPr sz="1000">
                <a:solidFill>
                  <a:srgbClr val="1F1F1F"/>
                </a:solidFill>
                <a:latin typeface="Consolas"/>
                <a:ea typeface="Consolas"/>
                <a:cs typeface="Consolas"/>
              </a:rPr>
              <a:t>         unresolved_material_keywords=["ZZZ"]</a:t>
            </a:r>
          </a:p>
        </p:txBody>
      </p:sp>
      <p:sp>
        <p:nvSpPr>
          <p:cNvPr id="5" name="TextBox 4">
            <a:extLst xmlns:a="http://schemas.openxmlformats.org/drawingml/2006/main">
              <a:ext uri="{FF2B5EF4-FFF2-40B4-BE49-F238E27FC236}">
                <a16:creationId xmlns:a16="http://schemas.microsoft.com/office/drawing/2014/main" id="{A0C0B886-C48C-4664-AA43-357A7FC9AA82}"/>
              </a:ext>
            </a:extLst>
          </p:cNvPr>
          <p:cNvSpPr>
            <a:spLocks xmlns:a="http://schemas.openxmlformats.org/drawingml/2006/main" noGrp="1"/>
          </p:cNvSpPr>
          <p:nvPr/>
        </p:nvSpPr>
        <p:spPr>
          <a:xfrm xmlns:a="http://schemas.openxmlformats.org/drawingml/2006/main">
            <a:off x="457200" y="2979000"/>
            <a:ext cx="11352213" cy="1434772"/>
          </a:xfrm>
          <a:prstGeom xmlns:a="http://schemas.openxmlformats.org/drawingml/2006/main" prst="rect">
            <a:avLst/>
          </a:prstGeom>
          <a:solidFill xmlns:a="http://schemas.openxmlformats.org/drawingml/2006/main">
            <a:srgbClr val="EAF2FA"/>
          </a:solidFill>
          <a:ln xmlns:a="http://schemas.openxmlformats.org/drawingml/2006/main" w="9525">
            <a:solidFill>
              <a:srgbClr val="C9D3DD"/>
            </a:solidFill>
          </a:ln>
        </p:spPr>
        <p:txBody>
          <a:bodyPr xmlns:a="http://schemas.openxmlformats.org/drawingml/2006/main" wrap="square" lIns="150000" tIns="90000" rIns="120000" bIns="90000">
            <a:spAutoFit/>
          </a:bodyPr>
          <a:lstStyle xmlns:a="http://schemas.openxmlformats.org/drawingml/2006/main"/>
          <a:p xmlns:a="http://schemas.openxmlformats.org/drawingml/2006/main">
            <a:pPr>
              <a:spcAft>
                <a:spcPts val="300"/>
              </a:spcAft>
              <a:buNone/>
            </a:pPr>
            <a:r>
              <a:rPr sz="1200" b="1">
                <a:solidFill>
                  <a:srgbClr val="005BAC"/>
                </a:solidFill>
                <a:latin typeface="游ゴシック Medium"/>
                <a:ea typeface="游ゴシック Medium"/>
                <a:cs typeface="游ゴシック Medium"/>
              </a:rPr>
              <a:t>TR1D9K99027.icd　（規格・面粗さ・公差）</a:t>
            </a:r>
          </a:p>
          <a:p xmlns:a="http://schemas.openxmlformats.org/drawingml/2006/main">
            <a:pPr>
              <a:lnSpc>
                <a:spcPct val="100000"/>
              </a:lnSpc>
              <a:spcAft>
                <a:spcPts val="100"/>
              </a:spcAft>
              <a:buNone/>
            </a:pPr>
            <a:r>
              <a:rPr sz="1000">
                <a:solidFill>
                  <a:srgbClr val="1F1F1F"/>
                </a:solidFill>
                <a:latin typeface="Consolas"/>
                <a:ea typeface="Consolas"/>
                <a:cs typeface="Consolas"/>
              </a:rPr>
              <a:t>パス   : J:\シブヤパッケージングシステム\25_9R_膨潤パレットアキューム部\...\部品図(新規、訂正)\9K\TR1D9K99027.icd</a:t>
            </a:r>
          </a:p>
          <a:p xmlns:a="http://schemas.openxmlformats.org/drawingml/2006/main">
            <a:pPr>
              <a:lnSpc>
                <a:spcPct val="100000"/>
              </a:lnSpc>
              <a:spcAft>
                <a:spcPts val="100"/>
              </a:spcAft>
              <a:buNone/>
            </a:pPr>
            <a:r>
              <a:rPr sz="1000">
                <a:solidFill>
                  <a:srgbClr val="1F1F1F"/>
                </a:solidFill>
                <a:latin typeface="Consolas"/>
                <a:ea typeface="Consolas"/>
                <a:cs typeface="Consolas"/>
              </a:rPr>
              <a:t>タグ   : 材質:A5000 / 材質:SUS304 / 材質:A1000 / 材質:SUS / 規格:SES</a:t>
            </a:r>
          </a:p>
          <a:p xmlns:a="http://schemas.openxmlformats.org/drawingml/2006/main">
            <a:pPr>
              <a:lnSpc>
                <a:spcPct val="100000"/>
              </a:lnSpc>
              <a:spcAft>
                <a:spcPts val="100"/>
              </a:spcAft>
              <a:buNone/>
            </a:pPr>
            <a:r>
              <a:rPr sz="1000">
                <a:solidFill>
                  <a:srgbClr val="1F1F1F"/>
                </a:solidFill>
                <a:latin typeface="Consolas"/>
                <a:ea typeface="Consolas"/>
                <a:cs typeface="Consolas"/>
              </a:rPr>
              <a:t> 属性  : mass_value=2.15703985, spec_tokens 112件（"Ra 6.3", "粗級", "中級", "±4", "±8", "±2" ほか）</a:t>
            </a:r>
          </a:p>
        </p:txBody>
      </p:sp>
      <p:sp>
        <p:nvSpPr>
          <p:cNvPr id="6" name="TextBox 5">
            <a:extLst xmlns:a="http://schemas.openxmlformats.org/drawingml/2006/main">
              <a:ext uri="{FF2B5EF4-FFF2-40B4-BE49-F238E27FC236}">
                <a16:creationId xmlns:a16="http://schemas.microsoft.com/office/drawing/2014/main" id="{8D281785-4F39-46F8-B126-92634B7838DA}"/>
              </a:ext>
            </a:extLst>
          </p:cNvPr>
          <p:cNvSpPr>
            <a:spLocks xmlns:a="http://schemas.openxmlformats.org/drawingml/2006/main" noGrp="1"/>
          </p:cNvSpPr>
          <p:nvPr/>
        </p:nvSpPr>
        <p:spPr>
          <a:xfrm xmlns:a="http://schemas.openxmlformats.org/drawingml/2006/main">
            <a:off x="457200" y="4593772"/>
            <a:ext cx="11352213" cy="1434772"/>
          </a:xfrm>
          <a:prstGeom xmlns:a="http://schemas.openxmlformats.org/drawingml/2006/main" prst="rect">
            <a:avLst/>
          </a:prstGeom>
          <a:solidFill xmlns:a="http://schemas.openxmlformats.org/drawingml/2006/main">
            <a:srgbClr val="EAF2FA"/>
          </a:solidFill>
          <a:ln xmlns:a="http://schemas.openxmlformats.org/drawingml/2006/main" w="9525">
            <a:solidFill>
              <a:srgbClr val="C9D3DD"/>
            </a:solidFill>
          </a:ln>
        </p:spPr>
        <p:txBody>
          <a:bodyPr xmlns:a="http://schemas.openxmlformats.org/drawingml/2006/main" wrap="square" lIns="150000" tIns="90000" rIns="120000" bIns="90000">
            <a:spAutoFit/>
          </a:bodyPr>
          <a:lstStyle xmlns:a="http://schemas.openxmlformats.org/drawingml/2006/main"/>
          <a:p xmlns:a="http://schemas.openxmlformats.org/drawingml/2006/main">
            <a:pPr>
              <a:spcAft>
                <a:spcPts val="300"/>
              </a:spcAft>
              <a:buNone/>
            </a:pPr>
            <a:r>
              <a:rPr sz="1200" b="1">
                <a:solidFill>
                  <a:srgbClr val="005BAC"/>
                </a:solidFill>
                <a:latin typeface="游ゴシック Medium"/>
                <a:ea typeface="游ゴシック Medium"/>
                <a:cs typeface="游ゴシック Medium"/>
              </a:rPr>
              <a:t>03_20K03379P00_ｼｭｰﾄﾍﾞｰｽ(No.2FFS_XS).icd　（図枠から塗装指示）</a:t>
            </a:r>
          </a:p>
          <a:p xmlns:a="http://schemas.openxmlformats.org/drawingml/2006/main">
            <a:pPr>
              <a:lnSpc>
                <a:spcPct val="100000"/>
              </a:lnSpc>
              <a:spcAft>
                <a:spcPts val="100"/>
              </a:spcAft>
              <a:buNone/>
            </a:pPr>
            <a:r>
              <a:rPr sz="1000">
                <a:solidFill>
                  <a:srgbClr val="1F1F1F"/>
                </a:solidFill>
                <a:latin typeface="Consolas"/>
                <a:ea typeface="Consolas"/>
                <a:cs typeface="Consolas"/>
              </a:rPr>
              <a:t>パス   : J:\アースエンジニアリング\251216_ツネイシカムテックス\...\AR05-A05-B04_No.2 F-FスクリーンスクリーンSシュート組立図\...</a:t>
            </a:r>
          </a:p>
          <a:p xmlns:a="http://schemas.openxmlformats.org/drawingml/2006/main">
            <a:pPr>
              <a:lnSpc>
                <a:spcPct val="100000"/>
              </a:lnSpc>
              <a:spcAft>
                <a:spcPts val="100"/>
              </a:spcAft>
              <a:buNone/>
            </a:pPr>
            <a:r>
              <a:rPr sz="1000">
                <a:solidFill>
                  <a:srgbClr val="1F1F1F"/>
                </a:solidFill>
                <a:latin typeface="Consolas"/>
                <a:ea typeface="Consolas"/>
                <a:cs typeface="Consolas"/>
              </a:rPr>
              <a:t>タグ   : 材質:SS400 / 塗装:ﾊ仕様書ﾆﾖﾙ</a:t>
            </a:r>
          </a:p>
          <a:p xmlns:a="http://schemas.openxmlformats.org/drawingml/2006/main">
            <a:pPr>
              <a:lnSpc>
                <a:spcPct val="100000"/>
              </a:lnSpc>
              <a:spcAft>
                <a:spcPts val="100"/>
              </a:spcAft>
              <a:buNone/>
            </a:pPr>
            <a:r>
              <a:rPr sz="1000">
                <a:solidFill>
                  <a:srgbClr val="1F1F1F"/>
                </a:solidFill>
                <a:latin typeface="Consolas"/>
                <a:ea typeface="Consolas"/>
                <a:cs typeface="Consolas"/>
              </a:rPr>
              <a:t> 属性  : mass_value=11.66198417, part_names=["03_20K03379P00_...", "溝形鋼_100*50*5*7.5"]</a:t>
            </a:r>
          </a:p>
        </p:txBody>
      </p:sp>
    </p:spTree>
    <p:extLst>
      <p:ext uri="{BB962C8B-B14F-4D97-AF65-F5344CB8AC3E}">
        <p14:creationId xmlns:p14="http://schemas.microsoft.com/office/powerpoint/2010/main" val="1099227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18AC1EC-379B-475B-88A1-99600DEF18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具体例から読み取れる特性</a:t>
            </a:r>
          </a:p>
        </p:txBody>
      </p:sp>
      <p:sp>
        <p:nvSpPr>
          <p:cNvPr id="3" name="Text Placeholder 2">
            <a:extLst xmlns:a="http://schemas.openxmlformats.org/drawingml/2006/main">
              <a:ext uri="{FF2B5EF4-FFF2-40B4-BE49-F238E27FC236}">
                <a16:creationId xmlns:a16="http://schemas.microsoft.com/office/drawing/2014/main" id="{CA24A173-A39D-42A5-A458-B675D53A49FA}"/>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実データを通したうえでの所見と、すり合わせが必要な点</a:t>
            </a:r>
          </a:p>
        </p:txBody>
      </p:sp>
      <p:sp>
        <p:nvSpPr>
          <p:cNvPr id="4" name="Content Placeholder 3">
            <a:extLst xmlns:a="http://schemas.openxmlformats.org/drawingml/2006/main">
              <a:ext uri="{FF2B5EF4-FFF2-40B4-BE49-F238E27FC236}">
                <a16:creationId xmlns:a16="http://schemas.microsoft.com/office/drawing/2014/main" id="{7ADCB4BC-4E80-4C9C-9822-556E4FD67530}"/>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600" b="1">
                <a:solidFill>
                  <a:srgbClr val="1F1F1F"/>
                </a:solidFill>
                <a:latin typeface="游ゴシック Medium"/>
                <a:ea typeface="游ゴシック Medium"/>
                <a:cs typeface="游ゴシック Medium"/>
              </a:rPr>
              <a:t>パスは強力な情報源です</a:t>
            </a:r>
          </a:p>
          <a:p xmlns:a="http://schemas.openxmlformats.org/drawingml/2006/main">
            <a:pPr lvl="1">
              <a:spcAft>
                <a:spcPts val="300"/>
              </a:spcAft>
              <a:buNone/>
            </a:pPr>
            <a:r>
              <a:rPr sz="1400" b="0">
                <a:solidFill>
                  <a:srgbClr val="5A5A5A"/>
                </a:solidFill>
                <a:latin typeface="游ゴシック Medium"/>
                <a:ea typeface="游ゴシック Medium"/>
                <a:cs typeface="游ゴシック Medium"/>
              </a:rPr>
              <a:t>客先・案件・装置は、図面内の文字よりフォルダ構成から確定できるケースが多い</a:t>
            </a:r>
          </a:p>
          <a:p xmlns:a="http://schemas.openxmlformats.org/drawingml/2006/main">
            <a:pPr lvl="1">
              <a:spcAft>
                <a:spcPts val="300"/>
              </a:spcAft>
              <a:buNone/>
            </a:pPr>
            <a:r>
              <a:rPr sz="1400" b="0">
                <a:solidFill>
                  <a:srgbClr val="5A5A5A"/>
                </a:solidFill>
                <a:latin typeface="游ゴシック Medium"/>
                <a:ea typeface="游ゴシック Medium"/>
                <a:cs typeface="游ゴシック Medium"/>
              </a:rPr>
              <a:t>source_path_tokens を含む検索トークン列（part_keywords）を辞書照合しています</a:t>
            </a:r>
          </a:p>
          <a:p xmlns:a="http://schemas.openxmlformats.org/drawingml/2006/main">
            <a:pPr>
              <a:spcAft>
                <a:spcPts val="600"/>
              </a:spcAft>
              <a:buNone/>
            </a:pPr>
            <a:r>
              <a:rPr sz="1600" b="1">
                <a:solidFill>
                  <a:srgbClr val="1F1F1F"/>
                </a:solidFill>
                <a:latin typeface="游ゴシック Medium"/>
                <a:ea typeface="游ゴシック Medium"/>
                <a:cs typeface="游ゴシック Medium"/>
              </a:rPr>
              <a:t>材質は3Dの材質APIから安定して取れます</a:t>
            </a:r>
          </a:p>
          <a:p xmlns:a="http://schemas.openxmlformats.org/drawingml/2006/main">
            <a:pPr lvl="1">
              <a:spcAft>
                <a:spcPts val="300"/>
              </a:spcAft>
              <a:buNone/>
            </a:pPr>
            <a:r>
              <a:rPr sz="1400" b="0">
                <a:solidFill>
                  <a:srgbClr val="5A5A5A"/>
                </a:solidFill>
                <a:latin typeface="游ゴシック Medium"/>
                <a:ea typeface="游ゴシック Medium"/>
                <a:cs typeface="游ゴシック Medium"/>
              </a:rPr>
              <a:t>ただし ZZZ / CDQ / 75 のような、材質と断定できない値が混ざります</a:t>
            </a:r>
          </a:p>
          <a:p xmlns:a="http://schemas.openxmlformats.org/drawingml/2006/main">
            <a:pPr lvl="1">
              <a:spcAft>
                <a:spcPts val="300"/>
              </a:spcAft>
              <a:buNone/>
            </a:pPr>
            <a:r>
              <a:rPr sz="1400" b="0">
                <a:solidFill>
                  <a:srgbClr val="5A5A5A"/>
                </a:solidFill>
                <a:latin typeface="游ゴシック Medium"/>
                <a:ea typeface="游ゴシック Medium"/>
                <a:cs typeface="游ゴシック Medium"/>
              </a:rPr>
              <a:t>これらは unresolved_material_keywords に隔離し、タグにはしません</a:t>
            </a:r>
          </a:p>
          <a:p xmlns:a="http://schemas.openxmlformats.org/drawingml/2006/main">
            <a:pPr>
              <a:spcAft>
                <a:spcPts val="600"/>
              </a:spcAft>
              <a:buNone/>
            </a:pPr>
            <a:r>
              <a:rPr sz="1600" b="1">
                <a:solidFill>
                  <a:srgbClr val="1F1F1F"/>
                </a:solidFill>
                <a:latin typeface="游ゴシック Medium"/>
                <a:ea typeface="游ゴシック Medium"/>
                <a:cs typeface="游ゴシック Medium"/>
              </a:rPr>
              <a:t>質量・重量は3Dからほぼ確実に取れます（38/39）</a:t>
            </a:r>
          </a:p>
          <a:p xmlns:a="http://schemas.openxmlformats.org/drawingml/2006/main">
            <a:pPr>
              <a:spcAft>
                <a:spcPts val="600"/>
              </a:spcAft>
              <a:buNone/>
            </a:pPr>
            <a:r>
              <a:rPr sz="1600" b="1">
                <a:solidFill>
                  <a:srgbClr val="1F1F1F"/>
                </a:solidFill>
                <a:latin typeface="游ゴシック Medium"/>
                <a:ea typeface="游ゴシック Medium"/>
                <a:cs typeface="游ゴシック Medium"/>
              </a:rPr>
              <a:t>半角カナ・機種依存文字がそのまま入ります</a:t>
            </a:r>
          </a:p>
          <a:p xmlns:a="http://schemas.openxmlformats.org/drawingml/2006/main">
            <a:pPr lvl="1">
              <a:spcAft>
                <a:spcPts val="300"/>
              </a:spcAft>
              <a:buNone/>
            </a:pPr>
            <a:r>
              <a:rPr sz="1400" b="0">
                <a:solidFill>
                  <a:srgbClr val="5A5A5A"/>
                </a:solidFill>
                <a:latin typeface="游ゴシック Medium"/>
                <a:ea typeface="游ゴシック Medium"/>
                <a:cs typeface="游ゴシック Medium"/>
              </a:rPr>
              <a:t>実例: ｼｭｰﾄﾍﾞｰｽ、ﾊ仕様書ﾆﾖﾙ</a:t>
            </a:r>
          </a:p>
          <a:p xmlns:a="http://schemas.openxmlformats.org/drawingml/2006/main">
            <a:pPr lvl="1">
              <a:spcAft>
                <a:spcPts val="300"/>
              </a:spcAft>
              <a:buNone/>
            </a:pPr>
            <a:r>
              <a:rPr sz="1400" b="0">
                <a:solidFill>
                  <a:srgbClr val="5A5A5A"/>
                </a:solidFill>
                <a:latin typeface="游ゴシック Medium"/>
                <a:ea typeface="游ゴシック Medium"/>
                <a:cs typeface="游ゴシック Medium"/>
              </a:rPr>
              <a:t>表示・検索時の正規化方針（半角カナの扱い、全角統一の要否）はすり合わせが必要です</a:t>
            </a:r>
          </a:p>
        </p:txBody>
      </p:sp>
    </p:spTree>
    <p:extLst>
      <p:ext uri="{BB962C8B-B14F-4D97-AF65-F5344CB8AC3E}">
        <p14:creationId xmlns:p14="http://schemas.microsoft.com/office/powerpoint/2010/main" val="18805176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9C62F7-07F3-4B30-BB86-669610CA49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800" b="1">
                <a:solidFill>
                  <a:srgbClr val="1F1F1F"/>
                </a:solidFill>
                <a:latin typeface="游ゴシック Medium"/>
                <a:ea typeface="游ゴシック Medium"/>
                <a:cs typeface="游ゴシック Medium"/>
              </a:rPr>
              <a:t>ソースの</a:t>
            </a:r>
          </a:p>
          <a:p xmlns:a="http://schemas.openxmlformats.org/drawingml/2006/main">
            <a:r>
              <a:rPr sz="2800" b="1">
                <a:solidFill>
                  <a:srgbClr val="1F1F1F"/>
                </a:solidFill>
                <a:latin typeface="游ゴシック Medium"/>
                <a:ea typeface="游ゴシック Medium"/>
                <a:cs typeface="游ゴシック Medium"/>
              </a:rPr>
              <a:t>切り出し範囲</a:t>
            </a:r>
          </a:p>
        </p:txBody>
      </p:sp>
      <p:sp>
        <p:nvSpPr>
          <p:cNvPr id="3" name="Text Placeholder 2">
            <a:extLst xmlns:a="http://schemas.openxmlformats.org/drawingml/2006/main">
              <a:ext uri="{FF2B5EF4-FFF2-40B4-BE49-F238E27FC236}">
                <a16:creationId xmlns:a16="http://schemas.microsoft.com/office/drawing/2014/main" id="{0373C2A5-999C-4B54-A686-87DB6119099D}"/>
              </a:ext>
            </a:extLst>
          </p:cNvPr>
          <p:cNvSpPr>
            <a:spLocks xmlns:a="http://schemas.openxmlformats.org/drawingml/2006/main" noGrp="1"/>
          </p:cNvSpPr>
          <p:nvPr>
            <p:ph type="body" idx="2"/>
          </p:nvPr>
        </p:nvSpPr>
        <p:spPr/>
        <p:txBody>
          <a:bodyPr xmlns:a="http://schemas.openxmlformats.org/drawingml/2006/main"/>
          <a:lstStyle xmlns:a="http://schemas.openxmlformats.org/drawingml/2006/main"/>
          <a:p xmlns:a="http://schemas.openxmlformats.org/drawingml/2006/main">
            <a:r>
              <a:rPr sz="1400" b="1">
                <a:solidFill>
                  <a:srgbClr val="005BAC"/>
                </a:solidFill>
                <a:latin typeface="游ゴシック Medium"/>
                <a:ea typeface="游ゴシック Medium"/>
                <a:cs typeface="游ゴシック Medium"/>
              </a:rPr>
              <a:t>CHAPTER　04</a:t>
            </a:r>
          </a:p>
        </p:txBody>
      </p:sp>
      <p:sp>
        <p:nvSpPr>
          <p:cNvPr id="4" name="Text Placeholder 3">
            <a:extLst xmlns:a="http://schemas.openxmlformats.org/drawingml/2006/main">
              <a:ext uri="{FF2B5EF4-FFF2-40B4-BE49-F238E27FC236}">
                <a16:creationId xmlns:a16="http://schemas.microsoft.com/office/drawing/2014/main" id="{F77A6A30-FEFC-45C9-A1B0-B1F426D654A9}"/>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200" b="1">
                <a:solidFill>
                  <a:srgbClr val="005BAC"/>
                </a:solidFill>
                <a:latin typeface="游ゴシック Medium"/>
                <a:ea typeface="游ゴシック Medium"/>
                <a:cs typeface="游ゴシック Medium"/>
              </a:rPr>
              <a:t>Module Boundary</a:t>
            </a:r>
          </a:p>
        </p:txBody>
      </p:sp>
      <p:sp>
        <p:nvSpPr>
          <p:cNvPr id="5" name="Content Placeholder 4">
            <a:extLst xmlns:a="http://schemas.openxmlformats.org/drawingml/2006/main">
              <a:ext uri="{FF2B5EF4-FFF2-40B4-BE49-F238E27FC236}">
                <a16:creationId xmlns:a16="http://schemas.microsoft.com/office/drawing/2014/main" id="{F3376D03-57EB-4651-A796-1F1BF6C2B1AB}"/>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400" b="0">
                <a:solidFill>
                  <a:srgbClr val="1F1F1F"/>
                </a:solidFill>
                <a:latin typeface="游ゴシック Medium"/>
                <a:ea typeface="游ゴシック Medium"/>
                <a:cs typeface="游ゴシック Medium"/>
              </a:rPr>
              <a:t>「タグ・属性抽出の部分だけ切り出したい」というご要望に対する回答</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C#側は独立ソリューション。ナレッジシステム本体への依存なし</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Python側のDjango結合は実質2点だけ</a:t>
            </a:r>
          </a:p>
        </p:txBody>
      </p:sp>
    </p:spTree>
    <p:extLst>
      <p:ext uri="{BB962C8B-B14F-4D97-AF65-F5344CB8AC3E}">
        <p14:creationId xmlns:p14="http://schemas.microsoft.com/office/powerpoint/2010/main" val="51016631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636FA9-A4D1-4BD8-B5C2-85D25ED0C16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C#側（ICAD抽出コア）</a:t>
            </a:r>
          </a:p>
        </p:txBody>
      </p:sp>
      <p:sp>
        <p:nvSpPr>
          <p:cNvPr id="3" name="Text Placeholder 2">
            <a:extLst xmlns:a="http://schemas.openxmlformats.org/drawingml/2006/main">
              <a:ext uri="{FF2B5EF4-FFF2-40B4-BE49-F238E27FC236}">
                <a16:creationId xmlns:a16="http://schemas.microsoft.com/office/drawing/2014/main" id="{2884D166-CFE9-4A91-9CAA-AF8D53474C94}"/>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独立ソリューション（IcadExtraction.sln、約4,700行）としてそのままお渡しできます</a:t>
            </a:r>
          </a:p>
        </p:txBody>
      </p:sp>
      <p:graphicFrame>
        <p:nvGraphicFramePr>
          <p:cNvPr id="9" name="Table 3"/>
          <p:cNvGraphicFramePr/>
          <p:nvPr/>
        </p:nvGraphicFramePr>
        <p:xfrm>
          <a:off xmlns:a="http://schemas.openxmlformats.org/drawingml/2006/main" x="457200" y="1364228"/>
          <a:ext xmlns:a="http://schemas.openxmlformats.org/drawingml/2006/main" cx="11352212" cy="1900000"/>
        </p:xfrm>
        <a:graphic xmlns:a="http://schemas.openxmlformats.org/drawingml/2006/main">
          <a:graphicData uri="http://schemas.openxmlformats.org/drawingml/2006/table">
            <a:tbl>
              <a:tblPr firstRow="1" bandRow="1">
                <a:tableStyleId>{5C22544A-7EE6-4342-B048-85BDC9FD1C3A}</a:tableStyleId>
              </a:tblPr>
              <a:tblGrid>
                <a:gridCol w="3096058"/>
                <a:gridCol w="8256154"/>
              </a:tblGrid>
              <a:tr h="475000">
                <a:tc>
                  <a:txBody>
                    <a:bodyPr/>
                    <a:lstStyle/>
                    <a:p>
                      <a:r>
                        <a:rPr sz="1100" b="1">
                          <a:solidFill>
                            <a:srgbClr val="FFFFFF"/>
                          </a:solidFill>
                          <a:latin typeface="游ゴシック Medium"/>
                          <a:ea typeface="游ゴシック Medium"/>
                          <a:cs typeface="游ゴシック Medium"/>
                        </a:rPr>
                        <a:t>プロジェクト</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役割</a:t>
                      </a:r>
                    </a:p>
                  </a:txBody>
                  <a:tcPr marL="64000" marR="64000" marT="45720" marB="45720" anchor="ctr">
                    <a:solidFill>
                      <a:srgbClr val="005BAC"/>
                    </a:solidFill>
                  </a:tcPr>
                </a:tc>
              </a:tr>
              <a:tr h="475000">
                <a:tc>
                  <a:txBody>
                    <a:bodyPr/>
                    <a:lstStyle/>
                    <a:p>
                      <a:pPr>
                        <a:lnSpc>
                          <a:spcPct val="100000"/>
                        </a:lnSpc>
                        <a:buNone/>
                      </a:pPr>
                      <a:r>
                        <a:rPr sz="1300" b="0">
                          <a:solidFill>
                            <a:srgbClr val="1F1F1F"/>
                          </a:solidFill>
                          <a:latin typeface="游ゴシック Medium"/>
                          <a:ea typeface="游ゴシック Medium"/>
                          <a:cs typeface="游ゴシック Medium"/>
                        </a:rPr>
                        <a:t>IcadExtraction.Contracts</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入出力のデータ契約（JSONスキーマ相当）</a:t>
                      </a:r>
                    </a:p>
                  </a:txBody>
                  <a:tcPr marL="64000" marR="64000" marT="24000" marB="24000" anchor="ctr">
                    <a:solidFill>
                      <a:srgbClr val="FFFFFF"/>
                    </a:solidFill>
                  </a:tcPr>
                </a:tc>
              </a:tr>
              <a:tr h="475000">
                <a:tc>
                  <a:txBody>
                    <a:bodyPr/>
                    <a:lstStyle/>
                    <a:p>
                      <a:pPr>
                        <a:lnSpc>
                          <a:spcPct val="100000"/>
                        </a:lnSpc>
                        <a:buNone/>
                      </a:pPr>
                      <a:r>
                        <a:rPr sz="1300" b="0">
                          <a:solidFill>
                            <a:srgbClr val="1F1F1F"/>
                          </a:solidFill>
                          <a:latin typeface="游ゴシック Medium"/>
                          <a:ea typeface="游ゴシック Medium"/>
                          <a:cs typeface="游ゴシック Medium"/>
                        </a:rPr>
                        <a:t>IcadExtraction.SxNet</a:t>
                      </a:r>
                    </a:p>
                  </a:txBody>
                  <a:tcPr marL="64000" marR="64000" marT="24000" marB="24000" anchor="ctr">
                    <a:solidFill>
                      <a:srgbClr val="F5F7FA"/>
                    </a:solidFill>
                  </a:tcPr>
                </a:tc>
                <a:tc>
                  <a:txBody>
                    <a:bodyPr/>
                    <a:lstStyle/>
                    <a:p>
                      <a:pPr>
                        <a:lnSpc>
                          <a:spcPct val="100000"/>
                        </a:lnSpc>
                        <a:buNone/>
                      </a:pPr>
                      <a:r>
                        <a:rPr sz="1300" b="0">
                          <a:solidFill>
                            <a:srgbClr val="1F1F1F"/>
                          </a:solidFill>
                          <a:latin typeface="游ゴシック Medium"/>
                          <a:ea typeface="游ゴシック Medium"/>
                          <a:cs typeface="游ゴシック Medium"/>
                        </a:rPr>
                        <a:t>SXNET経由の2D/3D抽出、材質・質量プローブ、STL/STEP/DXF出力</a:t>
                      </a:r>
                    </a:p>
                  </a:txBody>
                  <a:tcPr marL="64000" marR="64000" marT="24000" marB="24000" anchor="ctr">
                    <a:solidFill>
                      <a:srgbClr val="F5F7FA"/>
                    </a:solidFill>
                  </a:tcPr>
                </a:tc>
              </a:tr>
              <a:tr h="475000">
                <a:tc>
                  <a:txBody>
                    <a:bodyPr/>
                    <a:lstStyle/>
                    <a:p>
                      <a:pPr>
                        <a:lnSpc>
                          <a:spcPct val="100000"/>
                        </a:lnSpc>
                        <a:buNone/>
                      </a:pPr>
                      <a:r>
                        <a:rPr sz="1300" b="0">
                          <a:solidFill>
                            <a:srgbClr val="1F1F1F"/>
                          </a:solidFill>
                          <a:latin typeface="游ゴシック Medium"/>
                          <a:ea typeface="游ゴシック Medium"/>
                          <a:cs typeface="游ゴシック Medium"/>
                        </a:rPr>
                        <a:t>IcadExtraction.Runner</a:t>
                      </a:r>
                    </a:p>
                  </a:txBody>
                  <a:tcPr marL="64000" marR="64000" marT="24000" marB="24000" anchor="ctr">
                    <a:solidFill>
                      <a:srgbClr val="FFFFFF"/>
                    </a:solidFill>
                  </a:tcPr>
                </a:tc>
                <a:tc>
                  <a:txBody>
                    <a:bodyPr/>
                    <a:lstStyle/>
                    <a:p>
                      <a:pPr>
                        <a:lnSpc>
                          <a:spcPct val="100000"/>
                        </a:lnSpc>
                        <a:buNone/>
                      </a:pPr>
                      <a:r>
                        <a:rPr sz="1300" b="0">
                          <a:solidFill>
                            <a:srgbClr val="1F1F1F"/>
                          </a:solidFill>
                          <a:latin typeface="游ゴシック Medium"/>
                          <a:ea typeface="游ゴシック Medium"/>
                          <a:cs typeface="游ゴシック Medium"/>
                        </a:rPr>
                        <a:t>CLIエントリ。extract / extract-batch / detect / probe-2d-print / convert-cad /</a:t>
                      </a:r>
                    </a:p>
                    <a:p>
                      <a:pPr>
                        <a:lnSpc>
                          <a:spcPct val="100000"/>
                        </a:lnSpc>
                        <a:buNone/>
                      </a:pPr>
                      <a:r>
                        <a:rPr sz="1300" b="0">
                          <a:solidFill>
                            <a:srgbClr val="1F1F1F"/>
                          </a:solidFill>
                          <a:latin typeface="游ゴシック Medium"/>
                          <a:ea typeface="游ゴシック Medium"/>
                          <a:cs typeface="游ゴシック Medium"/>
                        </a:rPr>
                        <a:t>probe-cad-export-types / cancel / clear-command / shutdown-icad / self-check の10コマンド</a:t>
                      </a:r>
                    </a:p>
                  </a:txBody>
                  <a:tcPr marL="64000" marR="64000" marT="24000" marB="24000" anchor="ctr">
                    <a:solidFill>
                      <a:srgbClr val="FFFFFF"/>
                    </a:solidFill>
                  </a:tcPr>
                </a:tc>
              </a:tr>
            </a:tbl>
          </a:graphicData>
        </a:graphic>
      </p:graphicFrame>
      <p:sp>
        <p:nvSpPr>
          <p:cNvPr id="5" name="TextBox 4">
            <a:extLst xmlns:a="http://schemas.openxmlformats.org/drawingml/2006/main">
              <a:ext uri="{FF2B5EF4-FFF2-40B4-BE49-F238E27FC236}">
                <a16:creationId xmlns:a16="http://schemas.microsoft.com/office/drawing/2014/main" id="{EA39D369-8050-4942-98BB-DA30CE02737E}"/>
              </a:ext>
            </a:extLst>
          </p:cNvPr>
          <p:cNvSpPr>
            <a:spLocks xmlns:a="http://schemas.openxmlformats.org/drawingml/2006/main" noGrp="1"/>
          </p:cNvSpPr>
          <p:nvPr/>
        </p:nvSpPr>
        <p:spPr>
          <a:xfrm xmlns:a="http://schemas.openxmlformats.org/drawingml/2006/main">
            <a:off x="457200" y="3324228"/>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インターフェースは「1図面 = 1回のプロセス呼び出し」、入出力はJSONファイルです。呼び出し側の言語を選びません。ナレッジシステム本体への依存はありません。</a:t>
            </a:r>
          </a:p>
        </p:txBody>
      </p:sp>
    </p:spTree>
    <p:extLst>
      <p:ext uri="{BB962C8B-B14F-4D97-AF65-F5344CB8AC3E}">
        <p14:creationId xmlns:p14="http://schemas.microsoft.com/office/powerpoint/2010/main" val="1599603347"/>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CE4C90-32F0-479D-989F-412F469A8B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Python側（正規化・タグ生成コア）</a:t>
            </a:r>
          </a:p>
        </p:txBody>
      </p:sp>
      <p:sp>
        <p:nvSpPr>
          <p:cNvPr id="3" name="Text Placeholder 2">
            <a:extLst xmlns:a="http://schemas.openxmlformats.org/drawingml/2006/main">
              <a:ext uri="{FF2B5EF4-FFF2-40B4-BE49-F238E27FC236}">
                <a16:creationId xmlns:a16="http://schemas.microsoft.com/office/drawing/2014/main" id="{92745BED-85AD-41C8-8CF1-6CFB5F2FCBF1}"/>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この6ファイル（約2,800行）が本体です</a:t>
            </a:r>
          </a:p>
        </p:txBody>
      </p:sp>
      <p:graphicFrame>
        <p:nvGraphicFramePr>
          <p:cNvPr id="9" name="Table 3"/>
          <p:cNvGraphicFramePr/>
          <p:nvPr/>
        </p:nvGraphicFramePr>
        <p:xfrm>
          <a:off xmlns:a="http://schemas.openxmlformats.org/drawingml/2006/main" x="457200" y="1364228"/>
          <a:ext xmlns:a="http://schemas.openxmlformats.org/drawingml/2006/main" cx="11352212" cy="2500000"/>
        </p:xfrm>
        <a:graphic xmlns:a="http://schemas.openxmlformats.org/drawingml/2006/main">
          <a:graphicData uri="http://schemas.openxmlformats.org/drawingml/2006/table">
            <a:tbl>
              <a:tblPr firstRow="1" bandRow="1">
                <a:tableStyleId>{5C22544A-7EE6-4342-B048-85BDC9FD1C3A}</a:tableStyleId>
              </a:tblPr>
              <a:tblGrid>
                <a:gridCol w="3584909"/>
                <a:gridCol w="995808"/>
                <a:gridCol w="3584909"/>
                <a:gridCol w="3186586"/>
              </a:tblGrid>
              <a:tr h="357142">
                <a:tc>
                  <a:txBody>
                    <a:bodyPr/>
                    <a:lstStyle/>
                    <a:p>
                      <a:r>
                        <a:rPr sz="1100" b="1">
                          <a:solidFill>
                            <a:srgbClr val="FFFFFF"/>
                          </a:solidFill>
                          <a:latin typeface="游ゴシック Medium"/>
                          <a:ea typeface="游ゴシック Medium"/>
                          <a:cs typeface="游ゴシック Medium"/>
                        </a:rPr>
                        <a:t>ファイル</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行数</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役割</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外部依存</a:t>
                      </a:r>
                    </a:p>
                  </a:txBody>
                  <a:tcPr marL="64000" marR="64000" marT="45720" marB="45720" anchor="ctr">
                    <a:solidFill>
                      <a:srgbClr val="005BAC"/>
                    </a:solidFill>
                  </a:tcPr>
                </a:tc>
              </a:tr>
              <a:tr h="357142">
                <a:tc>
                  <a:txBody>
                    <a:bodyPr/>
                    <a:lstStyle/>
                    <a:p>
                      <a:pPr>
                        <a:lnSpc>
                          <a:spcPct val="100000"/>
                        </a:lnSpc>
                        <a:buNone/>
                      </a:pPr>
                      <a:r>
                        <a:rPr sz="1150" b="0">
                          <a:solidFill>
                            <a:srgbClr val="1F1F1F"/>
                          </a:solidFill>
                          <a:latin typeface="游ゴシック Medium"/>
                          <a:ea typeface="游ゴシック Medium"/>
                          <a:cs typeface="游ゴシック Medium"/>
                        </a:rPr>
                        <a:t>services/normalization.py</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1,860</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raw_extract → canonical_attributes</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settings 1定数、TagDictionaryEntry（定数参照のみ）</a:t>
                      </a:r>
                    </a:p>
                  </a:txBody>
                  <a:tcPr marL="64000" marR="64000" marT="24000" marB="24000" anchor="ctr">
                    <a:solidFill>
                      <a:srgbClr val="FFFFFF"/>
                    </a:solidFill>
                  </a:tcPr>
                </a:tc>
              </a:tr>
              <a:tr h="357142">
                <a:tc>
                  <a:txBody>
                    <a:bodyPr/>
                    <a:lstStyle/>
                    <a:p>
                      <a:pPr>
                        <a:lnSpc>
                          <a:spcPct val="100000"/>
                        </a:lnSpc>
                        <a:buNone/>
                      </a:pPr>
                      <a:r>
                        <a:rPr sz="1150" b="0">
                          <a:solidFill>
                            <a:srgbClr val="1F1F1F"/>
                          </a:solidFill>
                          <a:latin typeface="游ゴシック Medium"/>
                          <a:ea typeface="游ゴシック Medium"/>
                          <a:cs typeface="游ゴシック Medium"/>
                        </a:rPr>
                        <a:t>services/generic_cad_extractor.py</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519</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STEP/DXFの抽出（外部CADライブラリ不要）</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settings 1定数</a:t>
                      </a:r>
                    </a:p>
                  </a:txBody>
                  <a:tcPr marL="64000" marR="64000" marT="24000" marB="24000" anchor="ctr">
                    <a:solidFill>
                      <a:srgbClr val="F5F7FA"/>
                    </a:solidFill>
                  </a:tcPr>
                </a:tc>
              </a:tr>
              <a:tr h="357142">
                <a:tc>
                  <a:txBody>
                    <a:bodyPr/>
                    <a:lstStyle/>
                    <a:p>
                      <a:pPr>
                        <a:lnSpc>
                          <a:spcPct val="100000"/>
                        </a:lnSpc>
                        <a:buNone/>
                      </a:pPr>
                      <a:r>
                        <a:rPr sz="1150" b="0">
                          <a:solidFill>
                            <a:srgbClr val="1F1F1F"/>
                          </a:solidFill>
                          <a:latin typeface="游ゴシック Medium"/>
                          <a:ea typeface="游ゴシック Medium"/>
                          <a:cs typeface="游ゴシック Medium"/>
                        </a:rPr>
                        <a:t>services/seed_dictionaries.py</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222</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初期辞書（純Python）</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なし</a:t>
                      </a:r>
                    </a:p>
                  </a:txBody>
                  <a:tcPr marL="64000" marR="64000" marT="24000" marB="24000" anchor="ctr">
                    <a:solidFill>
                      <a:srgbClr val="FFFFFF"/>
                    </a:solidFill>
                  </a:tcPr>
                </a:tc>
              </a:tr>
              <a:tr h="357142">
                <a:tc>
                  <a:txBody>
                    <a:bodyPr/>
                    <a:lstStyle/>
                    <a:p>
                      <a:pPr>
                        <a:lnSpc>
                          <a:spcPct val="100000"/>
                        </a:lnSpc>
                        <a:buNone/>
                      </a:pPr>
                      <a:r>
                        <a:rPr sz="1150" b="0">
                          <a:solidFill>
                            <a:srgbClr val="1F1F1F"/>
                          </a:solidFill>
                          <a:latin typeface="游ゴシック Medium"/>
                          <a:ea typeface="游ゴシック Medium"/>
                          <a:cs typeface="游ゴシック Medium"/>
                        </a:rPr>
                        <a:t>services/tag_builder.py</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112</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canonical_attributes → derived_tags</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settings 1定数</a:t>
                      </a:r>
                    </a:p>
                  </a:txBody>
                  <a:tcPr marL="64000" marR="64000" marT="24000" marB="24000" anchor="ctr">
                    <a:solidFill>
                      <a:srgbClr val="F5F7FA"/>
                    </a:solidFill>
                  </a:tcPr>
                </a:tc>
              </a:tr>
              <a:tr h="357142">
                <a:tc>
                  <a:txBody>
                    <a:bodyPr/>
                    <a:lstStyle/>
                    <a:p>
                      <a:pPr>
                        <a:lnSpc>
                          <a:spcPct val="100000"/>
                        </a:lnSpc>
                        <a:buNone/>
                      </a:pPr>
                      <a:r>
                        <a:rPr sz="1150" b="0">
                          <a:solidFill>
                            <a:srgbClr val="1F1F1F"/>
                          </a:solidFill>
                          <a:latin typeface="游ゴシック Medium"/>
                          <a:ea typeface="游ゴシック Medium"/>
                          <a:cs typeface="游ゴシック Medium"/>
                        </a:rPr>
                        <a:t>services/dictionaries.py</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54</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辞書ロード（DB + 初期辞書のマージ）</a:t>
                      </a:r>
                    </a:p>
                  </a:txBody>
                  <a:tcPr marL="64000" marR="64000" marT="24000" marB="24000" anchor="ctr">
                    <a:solidFill>
                      <a:srgbClr val="FFFFFF"/>
                    </a:solidFill>
                  </a:tcPr>
                </a:tc>
                <a:tc>
                  <a:txBody>
                    <a:bodyPr/>
                    <a:lstStyle/>
                    <a:p>
                      <a:pPr>
                        <a:lnSpc>
                          <a:spcPct val="100000"/>
                        </a:lnSpc>
                        <a:buNone/>
                      </a:pPr>
                      <a:r>
                        <a:rPr sz="1150" b="0">
                          <a:solidFill>
                            <a:srgbClr val="1F1F1F"/>
                          </a:solidFill>
                          <a:latin typeface="游ゴシック Medium"/>
                          <a:ea typeface="游ゴシック Medium"/>
                          <a:cs typeface="游ゴシック Medium"/>
                        </a:rPr>
                        <a:t>TagDictionaryEntry（ORMクエリあり）</a:t>
                      </a:r>
                    </a:p>
                  </a:txBody>
                  <a:tcPr marL="64000" marR="64000" marT="24000" marB="24000" anchor="ctr">
                    <a:solidFill>
                      <a:srgbClr val="FFFFFF"/>
                    </a:solidFill>
                  </a:tcPr>
                </a:tc>
              </a:tr>
              <a:tr h="357148">
                <a:tc>
                  <a:txBody>
                    <a:bodyPr/>
                    <a:lstStyle/>
                    <a:p>
                      <a:pPr>
                        <a:lnSpc>
                          <a:spcPct val="100000"/>
                        </a:lnSpc>
                        <a:buNone/>
                      </a:pPr>
                      <a:r>
                        <a:rPr sz="1150" b="0">
                          <a:solidFill>
                            <a:srgbClr val="1F1F1F"/>
                          </a:solidFill>
                          <a:latin typeface="游ゴシック Medium"/>
                          <a:ea typeface="游ゴシック Medium"/>
                          <a:cs typeface="游ゴシック Medium"/>
                        </a:rPr>
                        <a:t>services/source_formats.py</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41</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拡張子→フォーマット判定（純Python）</a:t>
                      </a:r>
                    </a:p>
                  </a:txBody>
                  <a:tcPr marL="64000" marR="64000" marT="24000" marB="24000" anchor="ctr">
                    <a:solidFill>
                      <a:srgbClr val="F5F7FA"/>
                    </a:solidFill>
                  </a:tcPr>
                </a:tc>
                <a:tc>
                  <a:txBody>
                    <a:bodyPr/>
                    <a:lstStyle/>
                    <a:p>
                      <a:pPr>
                        <a:lnSpc>
                          <a:spcPct val="100000"/>
                        </a:lnSpc>
                        <a:buNone/>
                      </a:pPr>
                      <a:r>
                        <a:rPr sz="1150" b="0">
                          <a:solidFill>
                            <a:srgbClr val="1F1F1F"/>
                          </a:solidFill>
                          <a:latin typeface="游ゴシック Medium"/>
                          <a:ea typeface="游ゴシック Medium"/>
                          <a:cs typeface="游ゴシック Medium"/>
                        </a:rPr>
                        <a:t>なし</a:t>
                      </a:r>
                    </a:p>
                  </a:txBody>
                  <a:tcPr marL="64000" marR="64000" marT="24000" marB="24000" anchor="ctr">
                    <a:solidFill>
                      <a:srgbClr val="F5F7FA"/>
                    </a:solidFill>
                  </a:tcPr>
                </a:tc>
              </a:tr>
            </a:tbl>
          </a:graphicData>
        </a:graphic>
      </p:graphicFrame>
      <p:sp>
        <p:nvSpPr>
          <p:cNvPr id="5" name="TextBox 4">
            <a:extLst xmlns:a="http://schemas.openxmlformats.org/drawingml/2006/main">
              <a:ext uri="{FF2B5EF4-FFF2-40B4-BE49-F238E27FC236}">
                <a16:creationId xmlns:a16="http://schemas.microsoft.com/office/drawing/2014/main" id="{F14A0B6B-620C-4341-84D4-FF3155F259C2}"/>
              </a:ext>
            </a:extLst>
          </p:cNvPr>
          <p:cNvSpPr>
            <a:spLocks xmlns:a="http://schemas.openxmlformats.org/drawingml/2006/main" noGrp="1"/>
          </p:cNvSpPr>
          <p:nvPr/>
        </p:nvSpPr>
        <p:spPr>
          <a:xfrm xmlns:a="http://schemas.openxmlformats.org/drawingml/2006/main">
            <a:off x="457200" y="3924228"/>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Djangoへの結合は実質2点だけです。① settings のバージョン文字列3個（NORMALIZER_VERSION / TAG_RULE_VERSION / SCHEMA_VERSION）、② TagDictionaryEntry モデル（辞書のDB読み出し）。①は引数注入で置き換えるだけです。②はDBアクセスを伴いますが、dictionaries.load_keyword_mapping の1箇所に集約されており、辞書ロード関数をインターフェース化すれば分離できます。</a:t>
            </a:r>
          </a:p>
        </p:txBody>
      </p:sp>
    </p:spTree>
    <p:extLst>
      <p:ext uri="{BB962C8B-B14F-4D97-AF65-F5344CB8AC3E}">
        <p14:creationId xmlns:p14="http://schemas.microsoft.com/office/powerpoint/2010/main" val="129653864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B8973EA-542C-4145-8147-DE99A3349B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お渡しできる形と、含めないもの</a:t>
            </a:r>
          </a:p>
        </p:txBody>
      </p:sp>
      <p:sp>
        <p:nvSpPr>
          <p:cNvPr id="3" name="Text Placeholder 2">
            <a:extLst xmlns:a="http://schemas.openxmlformats.org/drawingml/2006/main">
              <a:ext uri="{FF2B5EF4-FFF2-40B4-BE49-F238E27FC236}">
                <a16:creationId xmlns:a16="http://schemas.microsoft.com/office/drawing/2014/main" id="{33895621-B9C7-42D3-8B28-05CE6DAE648F}"/>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ご希望の形に合わせます</a:t>
            </a:r>
          </a:p>
        </p:txBody>
      </p:sp>
      <p:sp>
        <p:nvSpPr>
          <p:cNvPr id="4" name="TextBox 3">
            <a:extLst xmlns:a="http://schemas.openxmlformats.org/drawingml/2006/main">
              <a:ext uri="{FF2B5EF4-FFF2-40B4-BE49-F238E27FC236}">
                <a16:creationId xmlns:a16="http://schemas.microsoft.com/office/drawing/2014/main" id="{9747A8ED-290B-4E2C-AC33-926E77FF9DBA}"/>
              </a:ext>
            </a:extLst>
          </p:cNvPr>
          <p:cNvSpPr>
            <a:spLocks xmlns:a="http://schemas.openxmlformats.org/drawingml/2006/main" noGrp="1"/>
          </p:cNvSpPr>
          <p:nvPr/>
        </p:nvSpPr>
        <p:spPr>
          <a:xfrm xmlns:a="http://schemas.openxmlformats.org/drawingml/2006/main">
            <a:off x="457200" y="1364228"/>
            <a:ext cx="5576106"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ご希望であればこの形で納品します</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icad_tag_extraction 単体パッケージ（Django非依存）</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サンプル入出力JSON</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単体テスト</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辞書の初期データ</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スキーマ定義</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C#側は IcadExtraction.sln 一式</a:t>
            </a:r>
          </a:p>
        </p:txBody>
      </p:sp>
      <p:sp>
        <p:nvSpPr>
          <p:cNvPr id="5" name="TextBox 4">
            <a:extLst xmlns:a="http://schemas.openxmlformats.org/drawingml/2006/main">
              <a:ext uri="{FF2B5EF4-FFF2-40B4-BE49-F238E27FC236}">
                <a16:creationId xmlns:a16="http://schemas.microsoft.com/office/drawing/2014/main" id="{BF7CA7F6-83B4-4F41-A900-25451E968D75}"/>
              </a:ext>
            </a:extLst>
          </p:cNvPr>
          <p:cNvSpPr>
            <a:spLocks xmlns:a="http://schemas.openxmlformats.org/drawingml/2006/main" noGrp="1"/>
          </p:cNvSpPr>
          <p:nvPr/>
        </p:nvSpPr>
        <p:spPr>
          <a:xfrm xmlns:a="http://schemas.openxmlformats.org/drawingml/2006/main">
            <a:off x="6233306" y="1364228"/>
            <a:ext cx="5576106"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切り出し対象に含めないもの</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Djangoモデル（RegisteredDrawing,</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　DrawingMetadataSnapshot, ExtractionJob,</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　AuditLog, TagDictionaryEntry）</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ジョブ管理・リトライ・タイムアウト制御・監査ログ</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画面（タグ辞書管理、抽出管理、レビューUI）</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 参考実装としてはお渡しできますが、</a:t>
            </a:r>
          </a:p>
          <a:p xmlns:a="http://schemas.openxmlformats.org/drawingml/2006/main">
            <a:pPr>
              <a:spcAft>
                <a:spcPts val="400"/>
              </a:spcAft>
              <a:buNone/>
            </a:pPr>
            <a:r>
              <a:rPr sz="1250">
                <a:solidFill>
                  <a:srgbClr val="1F1F1F"/>
                </a:solidFill>
                <a:latin typeface="游ゴシック Medium"/>
                <a:ea typeface="游ゴシック Medium"/>
                <a:cs typeface="游ゴシック Medium"/>
              </a:rPr>
              <a:t>　 そのまま組み込む前提では作っていません</a:t>
            </a:r>
          </a:p>
        </p:txBody>
      </p:sp>
    </p:spTree>
    <p:extLst>
      <p:ext uri="{BB962C8B-B14F-4D97-AF65-F5344CB8AC3E}">
        <p14:creationId xmlns:p14="http://schemas.microsoft.com/office/powerpoint/2010/main" val="39556071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CCB7284-30F7-4011-8998-AB0FB2320C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800" b="1">
                <a:solidFill>
                  <a:srgbClr val="1F1F1F"/>
                </a:solidFill>
                <a:latin typeface="游ゴシック Medium"/>
                <a:ea typeface="游ゴシック Medium"/>
                <a:cs typeface="游ゴシック Medium"/>
              </a:rPr>
              <a:t>STEP変換と</a:t>
            </a:r>
          </a:p>
          <a:p xmlns:a="http://schemas.openxmlformats.org/drawingml/2006/main">
            <a:r>
              <a:rPr sz="2800" b="1">
                <a:solidFill>
                  <a:srgbClr val="1F1F1F"/>
                </a:solidFill>
                <a:latin typeface="游ゴシック Medium"/>
                <a:ea typeface="游ゴシック Medium"/>
                <a:cs typeface="游ゴシック Medium"/>
              </a:rPr>
              <a:t>ICADライセンス</a:t>
            </a:r>
          </a:p>
        </p:txBody>
      </p:sp>
      <p:sp>
        <p:nvSpPr>
          <p:cNvPr id="3" name="Text Placeholder 2">
            <a:extLst xmlns:a="http://schemas.openxmlformats.org/drawingml/2006/main">
              <a:ext uri="{FF2B5EF4-FFF2-40B4-BE49-F238E27FC236}">
                <a16:creationId xmlns:a16="http://schemas.microsoft.com/office/drawing/2014/main" id="{B3A0D58B-EBE9-4A0D-A9E3-BA533472C0A7}"/>
              </a:ext>
            </a:extLst>
          </p:cNvPr>
          <p:cNvSpPr>
            <a:spLocks xmlns:a="http://schemas.openxmlformats.org/drawingml/2006/main" noGrp="1"/>
          </p:cNvSpPr>
          <p:nvPr>
            <p:ph type="body" idx="2"/>
          </p:nvPr>
        </p:nvSpPr>
        <p:spPr/>
        <p:txBody>
          <a:bodyPr xmlns:a="http://schemas.openxmlformats.org/drawingml/2006/main"/>
          <a:lstStyle xmlns:a="http://schemas.openxmlformats.org/drawingml/2006/main"/>
          <a:p xmlns:a="http://schemas.openxmlformats.org/drawingml/2006/main">
            <a:r>
              <a:rPr sz="1400" b="1">
                <a:solidFill>
                  <a:srgbClr val="005BAC"/>
                </a:solidFill>
                <a:latin typeface="游ゴシック Medium"/>
                <a:ea typeface="游ゴシック Medium"/>
                <a:cs typeface="游ゴシック Medium"/>
              </a:rPr>
              <a:t>CHAPTER　05</a:t>
            </a:r>
          </a:p>
        </p:txBody>
      </p:sp>
      <p:sp>
        <p:nvSpPr>
          <p:cNvPr id="4" name="Text Placeholder 3">
            <a:extLst xmlns:a="http://schemas.openxmlformats.org/drawingml/2006/main">
              <a:ext uri="{FF2B5EF4-FFF2-40B4-BE49-F238E27FC236}">
                <a16:creationId xmlns:a16="http://schemas.microsoft.com/office/drawing/2014/main" id="{FC92CF4D-5568-407E-B660-F6318AF78557}"/>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200" b="1">
                <a:solidFill>
                  <a:srgbClr val="005BAC"/>
                </a:solidFill>
                <a:latin typeface="游ゴシック Medium"/>
                <a:ea typeface="游ゴシック Medium"/>
                <a:cs typeface="游ゴシック Medium"/>
              </a:rPr>
              <a:t>Conversion &amp; License</a:t>
            </a:r>
          </a:p>
        </p:txBody>
      </p:sp>
      <p:sp>
        <p:nvSpPr>
          <p:cNvPr id="5" name="Content Placeholder 4">
            <a:extLst xmlns:a="http://schemas.openxmlformats.org/drawingml/2006/main">
              <a:ext uri="{FF2B5EF4-FFF2-40B4-BE49-F238E27FC236}">
                <a16:creationId xmlns:a16="http://schemas.microsoft.com/office/drawing/2014/main" id="{35C9904C-B5CF-4B0F-99A7-97391DCF50B6}"/>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400" b="0">
                <a:solidFill>
                  <a:srgbClr val="1F1F1F"/>
                </a:solidFill>
                <a:latin typeface="游ゴシック Medium"/>
                <a:ea typeface="游ゴシック Medium"/>
                <a:cs typeface="游ゴシック Medium"/>
              </a:rPr>
              <a:t>ICAD→STEP/DXF変換は実機で確認済み。ただし限界がある</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「ナレッジシステム専用ICAD」が技術的に必須という結論にはならない</a:t>
            </a:r>
          </a:p>
          <a:p xmlns:a="http://schemas.openxmlformats.org/drawingml/2006/main">
            <a:pPr>
              <a:spcAft>
                <a:spcPts val="600"/>
              </a:spcAft>
              <a:buNone/>
            </a:pPr>
            <a:r>
              <a:rPr sz="1400" b="0">
                <a:solidFill>
                  <a:srgbClr val="1F1F1F"/>
                </a:solidFill>
                <a:latin typeface="游ゴシック Medium"/>
                <a:ea typeface="游ゴシック Medium"/>
                <a:cs typeface="游ゴシック Medium"/>
              </a:rPr>
              <a:t>販売を前提にした場合の選択肢を整理</a:t>
            </a:r>
          </a:p>
        </p:txBody>
      </p:sp>
    </p:spTree>
    <p:extLst>
      <p:ext uri="{BB962C8B-B14F-4D97-AF65-F5344CB8AC3E}">
        <p14:creationId xmlns:p14="http://schemas.microsoft.com/office/powerpoint/2010/main" val="121921386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4E68909-C618-4DD5-ACD6-F2F00213D82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ICAD→STEP / DXF 変換の実測と限界</a:t>
            </a:r>
          </a:p>
        </p:txBody>
      </p:sp>
      <p:sp>
        <p:nvSpPr>
          <p:cNvPr id="3" name="Text Placeholder 2">
            <a:extLst xmlns:a="http://schemas.openxmlformats.org/drawingml/2006/main">
              <a:ext uri="{FF2B5EF4-FFF2-40B4-BE49-F238E27FC236}">
                <a16:creationId xmlns:a16="http://schemas.microsoft.com/office/drawing/2014/main" id="{E9EE778A-7708-4B6D-9901-93241D77297A}"/>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2026-07-26 に実機で確認した内容</a:t>
            </a:r>
          </a:p>
        </p:txBody>
      </p:sp>
      <p:sp>
        <p:nvSpPr>
          <p:cNvPr id="4" name="TextBox 3">
            <a:extLst xmlns:a="http://schemas.openxmlformats.org/drawingml/2006/main">
              <a:ext uri="{FF2B5EF4-FFF2-40B4-BE49-F238E27FC236}">
                <a16:creationId xmlns:a16="http://schemas.microsoft.com/office/drawing/2014/main" id="{08E40DA7-FF6F-4C4E-8082-D60E4262D633}"/>
              </a:ext>
            </a:extLst>
          </p:cNvPr>
          <p:cNvSpPr>
            <a:spLocks xmlns:a="http://schemas.openxmlformats.org/drawingml/2006/main" noGrp="1"/>
          </p:cNvSpPr>
          <p:nvPr/>
        </p:nvSpPr>
        <p:spPr>
          <a:xfrm xmlns:a="http://schemas.openxmlformats.org/drawingml/2006/main">
            <a:off x="457200" y="1364228"/>
            <a:ext cx="5576106"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できたこと</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実機SXNETの出力形式定数を確認</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　FILE_TYPE_STEP=11 / FILE_TYPE_DXF=1</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　形式別の数値オーバーライドなしで変換可能</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9NK452WX90-00-LINER-A3-3D-01.icd を</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STEP / DXF へ変換し、抽出・snapshot保存まで完了</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変換後STEP: step_product_names=</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　["Assembly", "...-prt0"], 親子関係1件</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変換後DXF: dxf_layers 5件を取得</a:t>
            </a:r>
          </a:p>
        </p:txBody>
      </p:sp>
      <p:sp>
        <p:nvSpPr>
          <p:cNvPr id="5" name="TextBox 4">
            <a:extLst xmlns:a="http://schemas.openxmlformats.org/drawingml/2006/main">
              <a:ext uri="{FF2B5EF4-FFF2-40B4-BE49-F238E27FC236}">
                <a16:creationId xmlns:a16="http://schemas.microsoft.com/office/drawing/2014/main" id="{7E29E6D3-6623-4F5E-A7F4-73FD33FAE186}"/>
              </a:ext>
            </a:extLst>
          </p:cNvPr>
          <p:cNvSpPr>
            <a:spLocks xmlns:a="http://schemas.openxmlformats.org/drawingml/2006/main" noGrp="1"/>
          </p:cNvSpPr>
          <p:nvPr/>
        </p:nvSpPr>
        <p:spPr>
          <a:xfrm xmlns:a="http://schemas.openxmlformats.org/drawingml/2006/main">
            <a:off x="6233306" y="1364228"/>
            <a:ext cx="5576106" cy="4461520"/>
          </a:xfrm>
          <a:prstGeom xmlns:a="http://schemas.openxmlformats.org/drawingml/2006/main" prst="rect">
            <a:avLst/>
          </a:prstGeom>
          <a:solidFill xmlns:a="http://schemas.openxmlformats.org/drawingml/2006/main">
            <a:srgbClr val="FFFFFF"/>
          </a:solidFill>
          <a:ln xmlns:a="http://schemas.openxmlformats.org/drawingml/2006/main" w="12700">
            <a:solidFill>
              <a:srgbClr val="C9D3DD"/>
            </a:solidFill>
          </a:ln>
        </p:spPr>
        <p:txBody>
          <a:bodyPr xmlns:a="http://schemas.openxmlformats.org/drawingml/2006/main" wrap="square" lIns="140000" tIns="110000" rIns="120000">
            <a:spAutoFit/>
          </a:bodyPr>
          <a:lstStyle xmlns:a="http://schemas.openxmlformats.org/drawingml/2006/main"/>
          <a:p xmlns:a="http://schemas.openxmlformats.org/drawingml/2006/main">
            <a:pPr>
              <a:spcAft>
                <a:spcPts val="600"/>
              </a:spcAft>
              <a:buNone/>
            </a:pPr>
            <a:r>
              <a:rPr sz="1400" b="1">
                <a:solidFill>
                  <a:srgbClr val="005BAC"/>
                </a:solidFill>
                <a:latin typeface="游ゴシック Medium"/>
                <a:ea typeface="游ゴシック Medium"/>
                <a:cs typeface="游ゴシック Medium"/>
              </a:rPr>
              <a:t>限界（重要）</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ICAD本体にある材質・質量は、STEP側に同等には残らない</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　→ 変換後データはICAD正本と等価ではない</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今回のDXFサンプルではブロック属性は0件</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　→ 図枠情報の有無は客先の図枠仕様に依存</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STEPはSXNETが .stp で出力（.step/.stp 両対応済み）</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DXF変換時、export成功後もrunner終了待ちが長いケースあり</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変換後の保存確認ダイアログは保存不要</a:t>
            </a:r>
          </a:p>
          <a:p xmlns:a="http://schemas.openxmlformats.org/drawingml/2006/main">
            <a:pPr>
              <a:spcAft>
                <a:spcPts val="400"/>
              </a:spcAft>
              <a:buNone/>
            </a:pPr>
            <a:r>
              <a:rPr sz="1150">
                <a:solidFill>
                  <a:srgbClr val="1F1F1F"/>
                </a:solidFill>
                <a:latin typeface="游ゴシック Medium"/>
                <a:ea typeface="游ゴシック Medium"/>
                <a:cs typeface="游ゴシック Medium"/>
              </a:rPr>
              <a:t>　（shutdown-icad で保存なし終了）</a:t>
            </a:r>
          </a:p>
        </p:txBody>
      </p:sp>
    </p:spTree>
    <p:extLst>
      <p:ext uri="{BB962C8B-B14F-4D97-AF65-F5344CB8AC3E}">
        <p14:creationId xmlns:p14="http://schemas.microsoft.com/office/powerpoint/2010/main" val="189253667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CAF68A-08AA-46DE-BAE2-F72E870813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変換に関する所見</a:t>
            </a:r>
          </a:p>
        </p:txBody>
      </p:sp>
      <p:sp>
        <p:nvSpPr>
          <p:cNvPr id="3" name="Text Placeholder 2">
            <a:extLst xmlns:a="http://schemas.openxmlformats.org/drawingml/2006/main">
              <a:ext uri="{FF2B5EF4-FFF2-40B4-BE49-F238E27FC236}">
                <a16:creationId xmlns:a16="http://schemas.microsoft.com/office/drawing/2014/main" id="{83A68A12-1897-4B4E-A181-01D87B0DB478}"/>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変換経由は「上位互換」ではなく「代替経路」です</a:t>
            </a:r>
          </a:p>
        </p:txBody>
      </p:sp>
      <p:sp>
        <p:nvSpPr>
          <p:cNvPr id="4" name="Content Placeholder 3">
            <a:extLst xmlns:a="http://schemas.openxmlformats.org/drawingml/2006/main">
              <a:ext uri="{FF2B5EF4-FFF2-40B4-BE49-F238E27FC236}">
                <a16:creationId xmlns:a16="http://schemas.microsoft.com/office/drawing/2014/main" id="{388240DC-1811-4F0C-9A52-B9D3ED9894D6}"/>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600" b="1">
                <a:solidFill>
                  <a:srgbClr val="1F1F1F"/>
                </a:solidFill>
                <a:latin typeface="游ゴシック Medium"/>
                <a:ea typeface="游ゴシック Medium"/>
                <a:cs typeface="游ゴシック Medium"/>
              </a:rPr>
              <a:t>「ICAD→STEP変換を機能として用意する」ことは技術的に成立します</a:t>
            </a:r>
          </a:p>
          <a:p xmlns:a="http://schemas.openxmlformats.org/drawingml/2006/main">
            <a:pPr>
              <a:spcAft>
                <a:spcPts val="600"/>
              </a:spcAft>
              <a:buNone/>
            </a:pPr>
            <a:r>
              <a:rPr sz="1600" b="1">
                <a:solidFill>
                  <a:srgbClr val="1F1F1F"/>
                </a:solidFill>
                <a:latin typeface="游ゴシック Medium"/>
                <a:ea typeface="游ゴシック Medium"/>
                <a:cs typeface="游ゴシック Medium"/>
              </a:rPr>
              <a:t>ただし、変換したSTEPから取れる情報は、ICAD正本から直接抜いた情報より確実に少ないという実測結果があります</a:t>
            </a:r>
          </a:p>
          <a:p xmlns:a="http://schemas.openxmlformats.org/drawingml/2006/main">
            <a:pPr lvl="1">
              <a:spcAft>
                <a:spcPts val="300"/>
              </a:spcAft>
              <a:buNone/>
            </a:pPr>
            <a:r>
              <a:rPr sz="1400" b="0">
                <a:solidFill>
                  <a:srgbClr val="5A5A5A"/>
                </a:solidFill>
                <a:latin typeface="游ゴシック Medium"/>
                <a:ea typeface="游ゴシック Medium"/>
                <a:cs typeface="游ゴシック Medium"/>
              </a:rPr>
              <a:t>材質・質量が落ちるのが最も大きい差です</a:t>
            </a:r>
          </a:p>
          <a:p xmlns:a="http://schemas.openxmlformats.org/drawingml/2006/main">
            <a:pPr>
              <a:spcAft>
                <a:spcPts val="600"/>
              </a:spcAft>
              <a:buNone/>
            </a:pPr>
            <a:r>
              <a:rPr sz="1600" b="1">
                <a:solidFill>
                  <a:srgbClr val="1F1F1F"/>
                </a:solidFill>
                <a:latin typeface="游ゴシック Medium"/>
                <a:ea typeface="游ゴシック Medium"/>
                <a:cs typeface="游ゴシック Medium"/>
              </a:rPr>
              <a:t>変換を経由するのは「ICADライセンスのない環境でも最低限の情報を取りたい」場合の代替経路であり、上位互換ではありません</a:t>
            </a:r>
          </a:p>
          <a:p xmlns:a="http://schemas.openxmlformats.org/drawingml/2006/main">
            <a:pPr>
              <a:spcAft>
                <a:spcPts val="600"/>
              </a:spcAft>
              <a:buNone/>
            </a:pPr>
            <a:r>
              <a:rPr sz="1600" b="1">
                <a:solidFill>
                  <a:srgbClr val="1F1F1F"/>
                </a:solidFill>
                <a:latin typeface="游ゴシック Medium"/>
                <a:ea typeface="游ゴシック Medium"/>
                <a:cs typeface="游ゴシック Medium"/>
              </a:rPr>
              <a:t>したがって、製品仕様としては「経路Aで取れる情報」と「経路B・Cで取れる情報」の差を明示し、顧客の環境に応じて構成を選べる形にすることを提案します</a:t>
            </a:r>
          </a:p>
        </p:txBody>
      </p:sp>
    </p:spTree>
    <p:extLst>
      <p:ext uri="{BB962C8B-B14F-4D97-AF65-F5344CB8AC3E}">
        <p14:creationId xmlns:p14="http://schemas.microsoft.com/office/powerpoint/2010/main" val="146711138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065A07-F58F-40A2-ACE8-389ECFD587E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ICADライセンス｜技術的な事実</a:t>
            </a:r>
          </a:p>
        </p:txBody>
      </p:sp>
      <p:sp>
        <p:nvSpPr>
          <p:cNvPr id="3" name="Text Placeholder 2">
            <a:extLst xmlns:a="http://schemas.openxmlformats.org/drawingml/2006/main">
              <a:ext uri="{FF2B5EF4-FFF2-40B4-BE49-F238E27FC236}">
                <a16:creationId xmlns:a16="http://schemas.microsoft.com/office/drawing/2014/main" id="{1C7D23AE-6BA2-4BE8-A4F7-D1C7B5832440}"/>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コード上で確認済みの事実。ここから判断の前提を揃えます</a:t>
            </a:r>
          </a:p>
        </p:txBody>
      </p:sp>
      <p:graphicFrame>
        <p:nvGraphicFramePr>
          <p:cNvPr id="9" name="Table 3"/>
          <p:cNvGraphicFramePr/>
          <p:nvPr/>
        </p:nvGraphicFramePr>
        <p:xfrm>
          <a:off xmlns:a="http://schemas.openxmlformats.org/drawingml/2006/main" x="457200" y="1364228"/>
          <a:ext xmlns:a="http://schemas.openxmlformats.org/drawingml/2006/main" cx="11352212" cy="3000000"/>
        </p:xfrm>
        <a:graphic xmlns:a="http://schemas.openxmlformats.org/drawingml/2006/main">
          <a:graphicData uri="http://schemas.openxmlformats.org/drawingml/2006/table">
            <a:tbl>
              <a:tblPr firstRow="1" bandRow="1">
                <a:tableStyleId>{5C22544A-7EE6-4342-B048-85BDC9FD1C3A}</a:tableStyleId>
              </a:tblPr>
              <a:tblGrid>
                <a:gridCol w="493574"/>
                <a:gridCol w="5429319"/>
                <a:gridCol w="5429319"/>
              </a:tblGrid>
              <a:tr h="500000">
                <a:tc>
                  <a:txBody>
                    <a:bodyPr/>
                    <a:lstStyle/>
                    <a:p>
                      <a:r>
                        <a:rPr sz="1100" b="1">
                          <a:solidFill>
                            <a:srgbClr val="FFFFFF"/>
                          </a:solidFill>
                          <a:latin typeface="游ゴシック Medium"/>
                          <a:ea typeface="游ゴシック Medium"/>
                          <a:cs typeface="游ゴシック Medium"/>
                        </a:rPr>
                        <a:t>#</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事実</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根拠</a:t>
                      </a:r>
                    </a:p>
                  </a:txBody>
                  <a:tcPr marL="64000" marR="64000" marT="45720" marB="45720" anchor="ctr">
                    <a:solidFill>
                      <a:srgbClr val="005BAC"/>
                    </a:solidFill>
                  </a:tcPr>
                </a:tc>
              </a:tr>
              <a:tr h="500000">
                <a:tc>
                  <a:txBody>
                    <a:bodyPr/>
                    <a:lstStyle/>
                    <a:p>
                      <a:pPr>
                        <a:lnSpc>
                          <a:spcPct val="100000"/>
                        </a:lnSpc>
                        <a:buNone/>
                      </a:pPr>
                      <a:r>
                        <a:rPr sz="1100" b="0">
                          <a:solidFill>
                            <a:srgbClr val="1F1F1F"/>
                          </a:solidFill>
                          <a:latin typeface="游ゴシック Medium"/>
                          <a:ea typeface="游ゴシック Medium"/>
                          <a:cs typeface="游ゴシック Medium"/>
                        </a:rPr>
                        <a:t>1</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経路A（ICAD正本から抽出）は、SXNET経由でICAD SX本体プロセスを必要とする</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IcadProcessStarter がICAD実行体を起動、または起動済みプロセスへ接続</a:t>
                      </a:r>
                    </a:p>
                  </a:txBody>
                  <a:tcPr marL="64000" marR="64000" marT="24000" marB="24000" anchor="ctr">
                    <a:solidFill>
                      <a:srgbClr val="FFFFFF"/>
                    </a:solidFill>
                  </a:tcPr>
                </a:tc>
              </a:tr>
              <a:tr h="500000">
                <a:tc>
                  <a:txBody>
                    <a:bodyPr/>
                    <a:lstStyle/>
                    <a:p>
                      <a:pPr>
                        <a:lnSpc>
                          <a:spcPct val="100000"/>
                        </a:lnSpc>
                        <a:buNone/>
                      </a:pPr>
                      <a:r>
                        <a:rPr sz="1100" b="0">
                          <a:solidFill>
                            <a:srgbClr val="1F1F1F"/>
                          </a:solidFill>
                          <a:latin typeface="游ゴシック Medium"/>
                          <a:ea typeface="游ゴシック Medium"/>
                          <a:cs typeface="游ゴシック Medium"/>
                        </a:rPr>
                        <a:t>2</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ICADセッションは1つずつ排他利用される。並列に複数の抽出は走らせない</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Local\KnowledgeSystem.IcadExtraction.IcadSession の Mutex で直列化（排他範囲はWindowsのログオンセッション単位）</a:t>
                      </a:r>
                    </a:p>
                  </a:txBody>
                  <a:tcPr marL="64000" marR="64000" marT="24000" marB="24000" anchor="ctr">
                    <a:solidFill>
                      <a:srgbClr val="F5F7FA"/>
                    </a:solidFill>
                  </a:tcPr>
                </a:tc>
              </a:tr>
              <a:tr h="500000">
                <a:tc>
                  <a:txBody>
                    <a:bodyPr/>
                    <a:lstStyle/>
                    <a:p>
                      <a:pPr>
                        <a:lnSpc>
                          <a:spcPct val="100000"/>
                        </a:lnSpc>
                        <a:buNone/>
                      </a:pPr>
                      <a:r>
                        <a:rPr sz="1100" b="0">
                          <a:solidFill>
                            <a:srgbClr val="1F1F1F"/>
                          </a:solidFill>
                          <a:latin typeface="游ゴシック Medium"/>
                          <a:ea typeface="游ゴシック Medium"/>
                          <a:cs typeface="游ゴシック Medium"/>
                        </a:rPr>
                        <a:t>3</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ICADが必要なのは登録・抽出のタイミングだけ。検索・閲覧・タグ表示・RAG回答にICADは不要</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抽出結果はsnapshotとしてDBに保存され、以降は参照されない</a:t>
                      </a:r>
                    </a:p>
                  </a:txBody>
                  <a:tcPr marL="64000" marR="64000" marT="24000" marB="24000" anchor="ctr">
                    <a:solidFill>
                      <a:srgbClr val="FFFFFF"/>
                    </a:solidFill>
                  </a:tcPr>
                </a:tc>
              </a:tr>
              <a:tr h="500000">
                <a:tc>
                  <a:txBody>
                    <a:bodyPr/>
                    <a:lstStyle/>
                    <a:p>
                      <a:pPr>
                        <a:lnSpc>
                          <a:spcPct val="100000"/>
                        </a:lnSpc>
                        <a:buNone/>
                      </a:pPr>
                      <a:r>
                        <a:rPr sz="1100" b="0">
                          <a:solidFill>
                            <a:srgbClr val="1F1F1F"/>
                          </a:solidFill>
                          <a:latin typeface="游ゴシック Medium"/>
                          <a:ea typeface="游ゴシック Medium"/>
                          <a:cs typeface="游ゴシック Medium"/>
                        </a:rPr>
                        <a:t>4</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経路B・C（STEP/DXFからの抽出）はICADなしで動く。外部CADライブラリも不要</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generic_cad_extractor.py は外部CADライブラリに依存せず、Python標準の文字列処理だけで解析</a:t>
                      </a:r>
                    </a:p>
                  </a:txBody>
                  <a:tcPr marL="64000" marR="64000" marT="24000" marB="24000" anchor="ctr">
                    <a:solidFill>
                      <a:srgbClr val="F5F7FA"/>
                    </a:solidFill>
                  </a:tcPr>
                </a:tc>
              </a:tr>
              <a:tr h="500000">
                <a:tc>
                  <a:txBody>
                    <a:bodyPr/>
                    <a:lstStyle/>
                    <a:p>
                      <a:pPr>
                        <a:lnSpc>
                          <a:spcPct val="100000"/>
                        </a:lnSpc>
                        <a:buNone/>
                      </a:pPr>
                      <a:r>
                        <a:rPr sz="1100" b="0">
                          <a:solidFill>
                            <a:srgbClr val="1F1F1F"/>
                          </a:solidFill>
                          <a:latin typeface="游ゴシック Medium"/>
                          <a:ea typeface="游ゴシック Medium"/>
                          <a:cs typeface="游ゴシック Medium"/>
                        </a:rPr>
                        <a:t>5</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ICAD→STEP/DXF変換の、その瞬間だけICADが要る</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IcadCadFormatExporter（SXNET SxModel.export）</a:t>
                      </a:r>
                    </a:p>
                  </a:txBody>
                  <a:tcPr marL="64000" marR="64000" marT="24000" marB="24000" anchor="ctr">
                    <a:solidFill>
                      <a:srgbClr val="FFFFFF"/>
                    </a:solidFill>
                  </a:tcPr>
                </a:tc>
              </a:tr>
            </a:tbl>
          </a:graphicData>
        </a:graphic>
      </p:graphicFrame>
      <p:sp>
        <p:nvSpPr>
          <p:cNvPr id="5" name="TextBox 4">
            <a:extLst xmlns:a="http://schemas.openxmlformats.org/drawingml/2006/main">
              <a:ext uri="{FF2B5EF4-FFF2-40B4-BE49-F238E27FC236}">
                <a16:creationId xmlns:a16="http://schemas.microsoft.com/office/drawing/2014/main" id="{1D251E28-AE2A-48E7-BBD9-9868EBC4960F}"/>
              </a:ext>
            </a:extLst>
          </p:cNvPr>
          <p:cNvSpPr>
            <a:spLocks xmlns:a="http://schemas.openxmlformats.org/drawingml/2006/main" noGrp="1"/>
          </p:cNvSpPr>
          <p:nvPr/>
        </p:nvSpPr>
        <p:spPr>
          <a:xfrm xmlns:a="http://schemas.openxmlformats.org/drawingml/2006/main">
            <a:off x="457200" y="4424228"/>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したがって「ナレッジシステム専用のICADライセンス」が技術的に必須という結論にはなりません。必要なのは「抽出処理を実行している間、そのICADセッションを占有できること」だけです。</a:t>
            </a:r>
          </a:p>
        </p:txBody>
      </p:sp>
    </p:spTree>
    <p:extLst>
      <p:ext uri="{BB962C8B-B14F-4D97-AF65-F5344CB8AC3E}">
        <p14:creationId xmlns:p14="http://schemas.microsoft.com/office/powerpoint/2010/main" val="1057271344"/>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34062E8-205F-4751-AEEB-D0F34319F77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販売を前提にした場合の選択肢</a:t>
            </a:r>
          </a:p>
        </p:txBody>
      </p:sp>
      <p:sp>
        <p:nvSpPr>
          <p:cNvPr id="3" name="Text Placeholder 2">
            <a:extLst xmlns:a="http://schemas.openxmlformats.org/drawingml/2006/main">
              <a:ext uri="{FF2B5EF4-FFF2-40B4-BE49-F238E27FC236}">
                <a16:creationId xmlns:a16="http://schemas.microsoft.com/office/drawing/2014/main" id="{CAA876AC-6B77-447C-8E66-7C57875D81EF}"/>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「顧客が150万円のICADを追加購入する」を前提にした製品は売りにくい。前提を分けて設計する</a:t>
            </a:r>
          </a:p>
        </p:txBody>
      </p:sp>
      <p:graphicFrame>
        <p:nvGraphicFramePr>
          <p:cNvPr id="9" name="Table 3"/>
          <p:cNvGraphicFramePr/>
          <p:nvPr/>
        </p:nvGraphicFramePr>
        <p:xfrm>
          <a:off xmlns:a="http://schemas.openxmlformats.org/drawingml/2006/main" x="457200" y="1364228"/>
          <a:ext xmlns:a="http://schemas.openxmlformats.org/drawingml/2006/main" cx="11352210" cy="4562919"/>
        </p:xfrm>
        <a:graphic xmlns:a="http://schemas.openxmlformats.org/drawingml/2006/main">
          <a:graphicData uri="http://schemas.openxmlformats.org/drawingml/2006/table">
            <a:tbl>
              <a:tblPr firstRow="1" bandRow="1">
                <a:tableStyleId>{5C22544A-7EE6-4342-B048-85BDC9FD1C3A}</a:tableStyleId>
              </a:tblPr>
              <a:tblGrid>
                <a:gridCol w="1579438"/>
                <a:gridCol w="3948595"/>
                <a:gridCol w="1480723"/>
                <a:gridCol w="1382008"/>
                <a:gridCol w="2961446"/>
              </a:tblGrid>
              <a:tr h="760486">
                <a:tc>
                  <a:txBody>
                    <a:bodyPr/>
                    <a:lstStyle/>
                    <a:p>
                      <a:r>
                        <a:rPr sz="1050" b="1">
                          <a:solidFill>
                            <a:srgbClr val="FFFFFF"/>
                          </a:solidFill>
                          <a:latin typeface="游ゴシック Medium"/>
                          <a:ea typeface="游ゴシック Medium"/>
                          <a:cs typeface="游ゴシック Medium"/>
                        </a:rPr>
                        <a:t>案</a:t>
                      </a:r>
                    </a:p>
                  </a:txBody>
                  <a:tcPr marL="64000" marR="64000" marT="45720" marB="45720" anchor="ctr">
                    <a:solidFill>
                      <a:srgbClr val="005BAC"/>
                    </a:solidFill>
                  </a:tcPr>
                </a:tc>
                <a:tc>
                  <a:txBody>
                    <a:bodyPr/>
                    <a:lstStyle/>
                    <a:p>
                      <a:r>
                        <a:rPr sz="1050" b="1">
                          <a:solidFill>
                            <a:srgbClr val="FFFFFF"/>
                          </a:solidFill>
                          <a:latin typeface="游ゴシック Medium"/>
                          <a:ea typeface="游ゴシック Medium"/>
                          <a:cs typeface="游ゴシック Medium"/>
                        </a:rPr>
                        <a:t>内容</a:t>
                      </a:r>
                    </a:p>
                  </a:txBody>
                  <a:tcPr marL="64000" marR="64000" marT="45720" marB="45720" anchor="ctr">
                    <a:solidFill>
                      <a:srgbClr val="005BAC"/>
                    </a:solidFill>
                  </a:tcPr>
                </a:tc>
                <a:tc>
                  <a:txBody>
                    <a:bodyPr/>
                    <a:lstStyle/>
                    <a:p>
                      <a:r>
                        <a:rPr sz="1050" b="1">
                          <a:solidFill>
                            <a:srgbClr val="FFFFFF"/>
                          </a:solidFill>
                          <a:latin typeface="游ゴシック Medium"/>
                          <a:ea typeface="游ゴシック Medium"/>
                          <a:cs typeface="游ゴシック Medium"/>
                        </a:rPr>
                        <a:t>顧客の追加ICAD費用</a:t>
                      </a:r>
                    </a:p>
                  </a:txBody>
                  <a:tcPr marL="64000" marR="64000" marT="45720" marB="45720" anchor="ctr">
                    <a:solidFill>
                      <a:srgbClr val="005BAC"/>
                    </a:solidFill>
                  </a:tcPr>
                </a:tc>
                <a:tc>
                  <a:txBody>
                    <a:bodyPr/>
                    <a:lstStyle/>
                    <a:p>
                      <a:r>
                        <a:rPr sz="1050" b="1">
                          <a:solidFill>
                            <a:srgbClr val="FFFFFF"/>
                          </a:solidFill>
                          <a:latin typeface="游ゴシック Medium"/>
                          <a:ea typeface="游ゴシック Medium"/>
                          <a:cs typeface="游ゴシック Medium"/>
                        </a:rPr>
                        <a:t>取得できる情報</a:t>
                      </a:r>
                    </a:p>
                  </a:txBody>
                  <a:tcPr marL="64000" marR="64000" marT="45720" marB="45720" anchor="ctr">
                    <a:solidFill>
                      <a:srgbClr val="005BAC"/>
                    </a:solidFill>
                  </a:tcPr>
                </a:tc>
                <a:tc>
                  <a:txBody>
                    <a:bodyPr/>
                    <a:lstStyle/>
                    <a:p>
                      <a:r>
                        <a:rPr sz="1050" b="1">
                          <a:solidFill>
                            <a:srgbClr val="FFFFFF"/>
                          </a:solidFill>
                          <a:latin typeface="游ゴシック Medium"/>
                          <a:ea typeface="游ゴシック Medium"/>
                          <a:cs typeface="游ゴシック Medium"/>
                        </a:rPr>
                        <a:t>主な制約</a:t>
                      </a:r>
                    </a:p>
                  </a:txBody>
                  <a:tcPr marL="64000" marR="64000" marT="45720" marB="45720" anchor="ctr">
                    <a:solidFill>
                      <a:srgbClr val="005BAC"/>
                    </a:solidFill>
                  </a:tcPr>
                </a:tc>
              </a:tr>
              <a:tr h="760486">
                <a:tc>
                  <a:txBody>
                    <a:bodyPr/>
                    <a:lstStyle/>
                    <a:p>
                      <a:pPr>
                        <a:lnSpc>
                          <a:spcPct val="100000"/>
                        </a:lnSpc>
                        <a:buNone/>
                      </a:pPr>
                      <a:r>
                        <a:rPr sz="1000" b="1">
                          <a:solidFill>
                            <a:srgbClr val="1F1F1F"/>
                          </a:solidFill>
                          <a:latin typeface="游ゴシック Medium"/>
                          <a:ea typeface="游ゴシック Medium"/>
                          <a:cs typeface="游ゴシック Medium"/>
                        </a:rPr>
                        <a:t>① 既存ライセンス兼用</a:t>
                      </a:r>
                    </a:p>
                    <a:p>
                      <a:pPr>
                        <a:lnSpc>
                          <a:spcPct val="100000"/>
                        </a:lnSpc>
                        <a:buNone/>
                      </a:pPr>
                      <a:r>
                        <a:rPr sz="1000" b="1">
                          <a:solidFill>
                            <a:srgbClr val="1F1F1F"/>
                          </a:solidFill>
                          <a:latin typeface="游ゴシック Medium"/>
                          <a:ea typeface="游ゴシック Medium"/>
                          <a:cs typeface="游ゴシック Medium"/>
                        </a:rPr>
                        <a:t>（夜間バッチ）</a:t>
                      </a:r>
                    </a:p>
                  </a:txBody>
                  <a:tcPr marL="64000" marR="64000" marT="24000" marB="24000" anchor="ctr">
                    <a:solidFill>
                      <a:srgbClr val="EAF2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顧客が既に持つICADを、設計者が使わない夜間・休日に抽出用として使う</a:t>
                      </a:r>
                    </a:p>
                  </a:txBody>
                  <a:tcPr marL="64000" marR="64000" marT="24000" marB="24000" anchor="ctr">
                    <a:solidFill>
                      <a:srgbClr val="EAF2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0円</a:t>
                      </a:r>
                    </a:p>
                  </a:txBody>
                  <a:tcPr marL="64000" marR="64000" marT="24000" marB="24000" anchor="ctr">
                    <a:solidFill>
                      <a:srgbClr val="EAF2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最大</a:t>
                      </a:r>
                    </a:p>
                  </a:txBody>
                  <a:tcPr marL="64000" marR="64000" marT="24000" marB="24000" anchor="ctr">
                    <a:solidFill>
                      <a:srgbClr val="EAF2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ライセンス条項の可否確認が必須。抽出中はその座席を占有</a:t>
                      </a:r>
                    </a:p>
                  </a:txBody>
                  <a:tcPr marL="64000" marR="64000" marT="24000" marB="24000" anchor="ctr">
                    <a:solidFill>
                      <a:srgbClr val="EAF2FA"/>
                    </a:solidFill>
                  </a:tcPr>
                </a:tc>
              </a:tr>
              <a:tr h="760486">
                <a:tc>
                  <a:txBody>
                    <a:bodyPr/>
                    <a:lstStyle/>
                    <a:p>
                      <a:pPr>
                        <a:lnSpc>
                          <a:spcPct val="100000"/>
                        </a:lnSpc>
                        <a:buNone/>
                      </a:pPr>
                      <a:r>
                        <a:rPr sz="1000" b="0">
                          <a:solidFill>
                            <a:srgbClr val="1F1F1F"/>
                          </a:solidFill>
                          <a:latin typeface="游ゴシック Medium"/>
                          <a:ea typeface="游ゴシック Medium"/>
                          <a:cs typeface="游ゴシック Medium"/>
                        </a:rPr>
                        <a:t>② 既存ライセンス兼用</a:t>
                      </a:r>
                    </a:p>
                    <a:p>
                      <a:pPr>
                        <a:lnSpc>
                          <a:spcPct val="100000"/>
                        </a:lnSpc>
                        <a:buNone/>
                      </a:pPr>
                      <a:r>
                        <a:rPr sz="1000" b="0">
                          <a:solidFill>
                            <a:srgbClr val="1F1F1F"/>
                          </a:solidFill>
                          <a:latin typeface="游ゴシック Medium"/>
                          <a:ea typeface="游ゴシック Medium"/>
                          <a:cs typeface="游ゴシック Medium"/>
                        </a:rPr>
                        <a:t>（専用PC1台）</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顧客の空き座席1本を抽出専用PCへ割り当て</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0円</a:t>
                      </a:r>
                    </a:p>
                    <a:p>
                      <a:pPr>
                        <a:lnSpc>
                          <a:spcPct val="100000"/>
                        </a:lnSpc>
                        <a:buNone/>
                      </a:pPr>
                      <a:r>
                        <a:rPr sz="1000" b="0">
                          <a:solidFill>
                            <a:srgbClr val="1F1F1F"/>
                          </a:solidFill>
                          <a:latin typeface="游ゴシック Medium"/>
                          <a:ea typeface="游ゴシック Medium"/>
                          <a:cs typeface="游ゴシック Medium"/>
                        </a:rPr>
                        <a:t>（座席の振替）</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最大</a:t>
                      </a:r>
                    </a:p>
                  </a:txBody>
                  <a:tcPr marL="64000" marR="64000" marT="24000" marB="24000" anchor="ctr">
                    <a:solidFill>
                      <a:srgbClr val="F5F7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空き座席がある顧客に限る</a:t>
                      </a:r>
                    </a:p>
                  </a:txBody>
                  <a:tcPr marL="64000" marR="64000" marT="24000" marB="24000" anchor="ctr">
                    <a:solidFill>
                      <a:srgbClr val="F5F7FA"/>
                    </a:solidFill>
                  </a:tcPr>
                </a:tc>
              </a:tr>
              <a:tr h="760486">
                <a:tc>
                  <a:txBody>
                    <a:bodyPr/>
                    <a:lstStyle/>
                    <a:p>
                      <a:pPr>
                        <a:lnSpc>
                          <a:spcPct val="100000"/>
                        </a:lnSpc>
                        <a:buNone/>
                      </a:pPr>
                      <a:r>
                        <a:rPr sz="1000" b="0">
                          <a:solidFill>
                            <a:srgbClr val="1F1F1F"/>
                          </a:solidFill>
                          <a:latin typeface="游ゴシック Medium"/>
                          <a:ea typeface="游ゴシック Medium"/>
                          <a:cs typeface="游ゴシック Medium"/>
                        </a:rPr>
                        <a:t>③ ICAD不要構成</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顧客側でSTEP/DXF/PDFへ出力済みのデータを取り込む（経路B・Cのみ）</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0円</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中</a:t>
                      </a:r>
                    </a:p>
                    <a:p>
                      <a:pPr>
                        <a:lnSpc>
                          <a:spcPct val="100000"/>
                        </a:lnSpc>
                        <a:buNone/>
                      </a:pPr>
                      <a:r>
                        <a:rPr sz="1000" b="0">
                          <a:solidFill>
                            <a:srgbClr val="1F1F1F"/>
                          </a:solidFill>
                          <a:latin typeface="游ゴシック Medium"/>
                          <a:ea typeface="游ゴシック Medium"/>
                          <a:cs typeface="游ゴシック Medium"/>
                        </a:rPr>
                        <a:t>（材質・質量は落ちる）</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顧客に出力運用を依頼する必要あり</a:t>
                      </a:r>
                    </a:p>
                  </a:txBody>
                  <a:tcPr marL="64000" marR="64000" marT="24000" marB="24000" anchor="ctr">
                    <a:solidFill>
                      <a:srgbClr val="FFFFFF"/>
                    </a:solidFill>
                  </a:tcPr>
                </a:tc>
              </a:tr>
              <a:tr h="760486">
                <a:tc>
                  <a:txBody>
                    <a:bodyPr/>
                    <a:lstStyle/>
                    <a:p>
                      <a:pPr>
                        <a:lnSpc>
                          <a:spcPct val="100000"/>
                        </a:lnSpc>
                        <a:buNone/>
                      </a:pPr>
                      <a:r>
                        <a:rPr sz="1000" b="1">
                          <a:solidFill>
                            <a:srgbClr val="1F1F1F"/>
                          </a:solidFill>
                          <a:latin typeface="游ゴシック Medium"/>
                          <a:ea typeface="游ゴシック Medium"/>
                          <a:cs typeface="游ゴシック Medium"/>
                        </a:rPr>
                        <a:t>④ 変換代行</a:t>
                      </a:r>
                    </a:p>
                  </a:txBody>
                  <a:tcPr marL="64000" marR="64000" marT="24000" marB="24000" anchor="ctr">
                    <a:solidFill>
                      <a:srgbClr val="EAF2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当社の余剰ライセンス＋当社サーバーでICAD→STEP/中間データ変換を代行</a:t>
                      </a:r>
                    </a:p>
                  </a:txBody>
                  <a:tcPr marL="64000" marR="64000" marT="24000" marB="24000" anchor="ctr">
                    <a:solidFill>
                      <a:srgbClr val="EAF2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0円</a:t>
                      </a:r>
                    </a:p>
                  </a:txBody>
                  <a:tcPr marL="64000" marR="64000" marT="24000" marB="24000" anchor="ctr">
                    <a:solidFill>
                      <a:srgbClr val="EAF2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最大〜中</a:t>
                      </a:r>
                    </a:p>
                  </a:txBody>
                  <a:tcPr marL="64000" marR="64000" marT="24000" marB="24000" anchor="ctr">
                    <a:solidFill>
                      <a:srgbClr val="EAF2FA"/>
                    </a:solidFill>
                  </a:tcPr>
                </a:tc>
                <a:tc>
                  <a:txBody>
                    <a:bodyPr/>
                    <a:lstStyle/>
                    <a:p>
                      <a:pPr>
                        <a:lnSpc>
                          <a:spcPct val="100000"/>
                        </a:lnSpc>
                        <a:buNone/>
                      </a:pPr>
                      <a:r>
                        <a:rPr sz="1000" b="0">
                          <a:solidFill>
                            <a:srgbClr val="1F1F1F"/>
                          </a:solidFill>
                          <a:latin typeface="游ゴシック Medium"/>
                          <a:ea typeface="游ゴシック Medium"/>
                          <a:cs typeface="游ゴシック Medium"/>
                        </a:rPr>
                        <a:t>図面データを社外（当社）へ出すことへの顧客同意が必要</a:t>
                      </a:r>
                    </a:p>
                  </a:txBody>
                  <a:tcPr marL="64000" marR="64000" marT="24000" marB="24000" anchor="ctr">
                    <a:solidFill>
                      <a:srgbClr val="EAF2FA"/>
                    </a:solidFill>
                  </a:tcPr>
                </a:tc>
              </a:tr>
              <a:tr h="760489">
                <a:tc>
                  <a:txBody>
                    <a:bodyPr/>
                    <a:lstStyle/>
                    <a:p>
                      <a:pPr>
                        <a:lnSpc>
                          <a:spcPct val="100000"/>
                        </a:lnSpc>
                        <a:buNone/>
                      </a:pPr>
                      <a:r>
                        <a:rPr sz="1000" b="0">
                          <a:solidFill>
                            <a:srgbClr val="1F1F1F"/>
                          </a:solidFill>
                          <a:latin typeface="游ゴシック Medium"/>
                          <a:ea typeface="游ゴシック Medium"/>
                          <a:cs typeface="游ゴシック Medium"/>
                        </a:rPr>
                        <a:t>⑤ 専用ライセンス</a:t>
                      </a:r>
                    </a:p>
                    <a:p>
                      <a:pPr>
                        <a:lnSpc>
                          <a:spcPct val="100000"/>
                        </a:lnSpc>
                        <a:buNone/>
                      </a:pPr>
                      <a:r>
                        <a:rPr sz="1000" b="0">
                          <a:solidFill>
                            <a:srgbClr val="1F1F1F"/>
                          </a:solidFill>
                          <a:latin typeface="游ゴシック Medium"/>
                          <a:ea typeface="游ゴシック Medium"/>
                          <a:cs typeface="游ゴシック Medium"/>
                        </a:rPr>
                        <a:t>新規購入</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顧客がナレッジシステム用にICADを1本追加</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約150万円</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最大</a:t>
                      </a:r>
                    </a:p>
                  </a:txBody>
                  <a:tcPr marL="64000" marR="64000" marT="24000" marB="24000" anchor="ctr">
                    <a:solidFill>
                      <a:srgbClr val="FFFFFF"/>
                    </a:solidFill>
                  </a:tcPr>
                </a:tc>
                <a:tc>
                  <a:txBody>
                    <a:bodyPr/>
                    <a:lstStyle/>
                    <a:p>
                      <a:pPr>
                        <a:lnSpc>
                          <a:spcPct val="100000"/>
                        </a:lnSpc>
                        <a:buNone/>
                      </a:pPr>
                      <a:r>
                        <a:rPr sz="1000" b="0">
                          <a:solidFill>
                            <a:srgbClr val="1F1F1F"/>
                          </a:solidFill>
                          <a:latin typeface="游ゴシック Medium"/>
                          <a:ea typeface="游ゴシック Medium"/>
                          <a:cs typeface="游ゴシック Medium"/>
                        </a:rPr>
                        <a:t>費用が導入判断のボトルネックになりやすい</a:t>
                      </a:r>
                    </a:p>
                  </a:txBody>
                  <a:tcPr marL="64000" marR="64000" marT="24000" marB="24000" anchor="ctr">
                    <a:solidFill>
                      <a:srgbClr val="FFFFFF"/>
                    </a:solidFill>
                  </a:tcPr>
                </a:tc>
              </a:tr>
            </a:tbl>
          </a:graphicData>
        </a:graphic>
      </p:graphicFrame>
      <p:sp>
        <p:nvSpPr>
          <p:cNvPr id="5" name="TextBox 4">
            <a:extLst xmlns:a="http://schemas.openxmlformats.org/drawingml/2006/main">
              <a:ext uri="{FF2B5EF4-FFF2-40B4-BE49-F238E27FC236}">
                <a16:creationId xmlns:a16="http://schemas.microsoft.com/office/drawing/2014/main" id="{DD9FD388-6135-49CB-AF71-5262F65103AD}"/>
              </a:ext>
            </a:extLst>
          </p:cNvPr>
          <p:cNvSpPr>
            <a:spLocks xmlns:a="http://schemas.openxmlformats.org/drawingml/2006/main" noGrp="1"/>
          </p:cNvSpPr>
          <p:nvPr/>
        </p:nvSpPr>
        <p:spPr>
          <a:xfrm xmlns:a="http://schemas.openxmlformats.org/drawingml/2006/main">
            <a:off x="457200" y="5987147"/>
            <a:ext cx="11352213" cy="400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5A5A5A"/>
                </a:solidFill>
                <a:latin typeface="游ゴシック Medium"/>
                <a:ea typeface="游ゴシック Medium"/>
                <a:cs typeface="游ゴシック Medium"/>
              </a:rPr>
              <a:t>当社には余剰ライセンスがあるため、④は当社が担げる現実的な選択肢です。また対象顧客はICADユーザーであることが多く、①②が成立する可能性も相応にあると見ています。</a:t>
            </a:r>
          </a:p>
        </p:txBody>
      </p:sp>
    </p:spTree>
    <p:extLst>
      <p:ext uri="{BB962C8B-B14F-4D97-AF65-F5344CB8AC3E}">
        <p14:creationId xmlns:p14="http://schemas.microsoft.com/office/powerpoint/2010/main" val="164265704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1C3463-6AA0-4255-B219-F8CCE9B603C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要確認事項とご相談</a:t>
            </a:r>
          </a:p>
        </p:txBody>
      </p:sp>
      <p:sp>
        <p:nvSpPr>
          <p:cNvPr id="3" name="Text Placeholder 2">
            <a:extLst xmlns:a="http://schemas.openxmlformats.org/drawingml/2006/main">
              <a:ext uri="{FF2B5EF4-FFF2-40B4-BE49-F238E27FC236}">
                <a16:creationId xmlns:a16="http://schemas.microsoft.com/office/drawing/2014/main" id="{25931ABE-91F5-4EB9-A945-D2FF36593120}"/>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ライセンス条項の問題であり、当社もまだ確認できていません。断定していません</a:t>
            </a:r>
          </a:p>
        </p:txBody>
      </p:sp>
      <p:sp>
        <p:nvSpPr>
          <p:cNvPr id="4" name="Content Placeholder 3">
            <a:extLst xmlns:a="http://schemas.openxmlformats.org/drawingml/2006/main">
              <a:ext uri="{FF2B5EF4-FFF2-40B4-BE49-F238E27FC236}">
                <a16:creationId xmlns:a16="http://schemas.microsoft.com/office/drawing/2014/main" id="{EA1CB142-5884-45DF-8795-A9533E0CB9D2}"/>
              </a:ext>
            </a:extLst>
          </p:cNvPr>
          <p:cNvSpPr>
            <a:spLocks xmlns:a="http://schemas.openxmlformats.org/drawingml/2006/main" noGrp="1"/>
          </p:cNvSpPr>
          <p:nvPr>
            <p:ph idx="18"/>
          </p:nvPr>
        </p:nvSpPr>
        <p:spPr/>
        <p:txBody>
          <a:bodyPr xmlns:a="http://schemas.openxmlformats.org/drawingml/2006/main" wrap="square"/>
          <a:lstStyle xmlns:a="http://schemas.openxmlformats.org/drawingml/2006/main"/>
          <a:p xmlns:a="http://schemas.openxmlformats.org/drawingml/2006/main">
            <a:pPr>
              <a:spcAft>
                <a:spcPts val="600"/>
              </a:spcAft>
              <a:buNone/>
            </a:pPr>
            <a:r>
              <a:rPr sz="1500" b="1">
                <a:solidFill>
                  <a:srgbClr val="1F1F1F"/>
                </a:solidFill>
                <a:latin typeface="游ゴシック Medium"/>
                <a:ea typeface="游ゴシック Medium"/>
                <a:cs typeface="游ゴシック Medium"/>
              </a:rPr>
              <a:t>当社 → 富士通／ICAD販売元 へ確認する事項</a:t>
            </a:r>
          </a:p>
          <a:p xmlns:a="http://schemas.openxmlformats.org/drawingml/2006/main">
            <a:pPr lvl="1">
              <a:spcAft>
                <a:spcPts val="300"/>
              </a:spcAft>
              <a:buNone/>
            </a:pPr>
            <a:r>
              <a:rPr sz="1300" b="0">
                <a:solidFill>
                  <a:srgbClr val="5A5A5A"/>
                </a:solidFill>
                <a:latin typeface="游ゴシック Medium"/>
                <a:ea typeface="游ゴシック Medium"/>
                <a:cs typeface="游ゴシック Medium"/>
              </a:rPr>
              <a:t>設計者向けライセンスを、無人のバッチ処理（サーバー常駐・自動起動）で使うことが許諾範囲か</a:t>
            </a:r>
          </a:p>
          <a:p xmlns:a="http://schemas.openxmlformats.org/drawingml/2006/main">
            <a:pPr lvl="1">
              <a:spcAft>
                <a:spcPts val="300"/>
              </a:spcAft>
              <a:buNone/>
            </a:pPr>
            <a:r>
              <a:rPr sz="1300" b="0">
                <a:solidFill>
                  <a:srgbClr val="5A5A5A"/>
                </a:solidFill>
                <a:latin typeface="游ゴシック Medium"/>
                <a:ea typeface="游ゴシック Medium"/>
                <a:cs typeface="游ゴシック Medium"/>
              </a:rPr>
              <a:t>ライセンス形態（ノードロック／フローティング等）と、フローティングの場合の借用可否</a:t>
            </a:r>
          </a:p>
          <a:p xmlns:a="http://schemas.openxmlformats.org/drawingml/2006/main">
            <a:pPr lvl="1">
              <a:spcAft>
                <a:spcPts val="300"/>
              </a:spcAft>
              <a:buNone/>
            </a:pPr>
            <a:r>
              <a:rPr sz="1300" b="0">
                <a:solidFill>
                  <a:srgbClr val="5A5A5A"/>
                </a:solidFill>
                <a:latin typeface="游ゴシック Medium"/>
                <a:ea typeface="游ゴシック Medium"/>
                <a:cs typeface="游ゴシック Medium"/>
              </a:rPr>
              <a:t>「同時使用」の定義。1座席を夜間だけ別PCで使う運用が可能か</a:t>
            </a:r>
          </a:p>
          <a:p xmlns:a="http://schemas.openxmlformats.org/drawingml/2006/main">
            <a:pPr lvl="1">
              <a:spcAft>
                <a:spcPts val="300"/>
              </a:spcAft>
              <a:buNone/>
            </a:pPr>
            <a:r>
              <a:rPr sz="1300" b="0">
                <a:solidFill>
                  <a:srgbClr val="5A5A5A"/>
                </a:solidFill>
                <a:latin typeface="游ゴシック Medium"/>
                <a:ea typeface="游ゴシック Medium"/>
                <a:cs typeface="游ゴシック Medium"/>
              </a:rPr>
              <a:t>当社の余剰ライセンスを使って他社図面の変換を受託することが許諾範囲か（案④の前提）</a:t>
            </a:r>
          </a:p>
          <a:p xmlns:a="http://schemas.openxmlformats.org/drawingml/2006/main">
            <a:pPr>
              <a:spcAft>
                <a:spcPts val="600"/>
              </a:spcAft>
              <a:buNone/>
            </a:pPr>
            <a:r>
              <a:rPr sz="1500" b="1">
                <a:solidFill>
                  <a:srgbClr val="1F1F1F"/>
                </a:solidFill>
                <a:latin typeface="游ゴシック Medium"/>
                <a:ea typeface="游ゴシック Medium"/>
                <a:cs typeface="游ゴシック Medium"/>
              </a:rPr>
              <a:t>創屋様へのご相談</a:t>
            </a:r>
          </a:p>
          <a:p xmlns:a="http://schemas.openxmlformats.org/drawingml/2006/main">
            <a:pPr lvl="1">
              <a:spcAft>
                <a:spcPts val="300"/>
              </a:spcAft>
              <a:buNone/>
            </a:pPr>
            <a:r>
              <a:rPr sz="1300" b="0">
                <a:solidFill>
                  <a:srgbClr val="5A5A5A"/>
                </a:solidFill>
                <a:latin typeface="游ゴシック Medium"/>
                <a:ea typeface="游ゴシック Medium"/>
                <a:cs typeface="游ゴシック Medium"/>
              </a:rPr>
              <a:t>製品としては「ICADがある構成」と「ICADがない構成」の両方を成立させる方向で進めたいと考えています</a:t>
            </a:r>
          </a:p>
          <a:p xmlns:a="http://schemas.openxmlformats.org/drawingml/2006/main">
            <a:pPr lvl="1">
              <a:spcAft>
                <a:spcPts val="300"/>
              </a:spcAft>
              <a:buNone/>
            </a:pPr>
            <a:r>
              <a:rPr sz="1300" b="0">
                <a:solidFill>
                  <a:srgbClr val="5A5A5A"/>
                </a:solidFill>
                <a:latin typeface="游ゴシック Medium"/>
                <a:ea typeface="游ゴシック Medium"/>
                <a:cs typeface="游ゴシック Medium"/>
              </a:rPr>
              <a:t>経路Aで取れる情報と経路B・Cで取れる情報の差を仕様として明示し、顧客環境に応じて構成を選べる形です</a:t>
            </a:r>
          </a:p>
          <a:p xmlns:a="http://schemas.openxmlformats.org/drawingml/2006/main">
            <a:pPr lvl="1">
              <a:spcAft>
                <a:spcPts val="300"/>
              </a:spcAft>
              <a:buNone/>
            </a:pPr>
            <a:r>
              <a:rPr sz="1300" b="0">
                <a:solidFill>
                  <a:srgbClr val="5A5A5A"/>
                </a:solidFill>
                <a:latin typeface="游ゴシック Medium"/>
                <a:ea typeface="游ゴシック Medium"/>
                <a:cs typeface="游ゴシック Medium"/>
              </a:rPr>
              <a:t>この方針で問題ないか、ご意見をいただきたいところです</a:t>
            </a:r>
          </a:p>
        </p:txBody>
      </p:sp>
    </p:spTree>
    <p:extLst>
      <p:ext uri="{BB962C8B-B14F-4D97-AF65-F5344CB8AC3E}">
        <p14:creationId xmlns:p14="http://schemas.microsoft.com/office/powerpoint/2010/main" val="1906997853"/>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DF5BCB3-2646-4ADC-B883-145A7EE5C93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sz="2400" b="1">
                <a:solidFill>
                  <a:srgbClr val="1F1F1F"/>
                </a:solidFill>
                <a:latin typeface="游ゴシック Medium"/>
                <a:ea typeface="游ゴシック Medium"/>
                <a:cs typeface="游ゴシック Medium"/>
              </a:rPr>
              <a:t>創屋様への確認事項</a:t>
            </a:r>
          </a:p>
        </p:txBody>
      </p:sp>
      <p:sp>
        <p:nvSpPr>
          <p:cNvPr id="3" name="Text Placeholder 2">
            <a:extLst xmlns:a="http://schemas.openxmlformats.org/drawingml/2006/main">
              <a:ext uri="{FF2B5EF4-FFF2-40B4-BE49-F238E27FC236}">
                <a16:creationId xmlns:a16="http://schemas.microsoft.com/office/drawing/2014/main" id="{813EE861-D4E0-4A74-9E0A-EEA0A654F420}"/>
              </a:ext>
            </a:extLst>
          </p:cNvPr>
          <p:cNvSpPr>
            <a:spLocks xmlns:a="http://schemas.openxmlformats.org/drawingml/2006/main" noGrp="1"/>
          </p:cNvSpPr>
          <p:nvPr>
            <p:ph type="body" idx="17"/>
          </p:nvPr>
        </p:nvSpPr>
        <p:spPr/>
        <p:txBody>
          <a:bodyPr xmlns:a="http://schemas.openxmlformats.org/drawingml/2006/main"/>
          <a:lstStyle xmlns:a="http://schemas.openxmlformats.org/drawingml/2006/main"/>
          <a:p xmlns:a="http://schemas.openxmlformats.org/drawingml/2006/main">
            <a:r>
              <a:rPr sz="1100" b="1">
                <a:solidFill>
                  <a:srgbClr val="005BAC"/>
                </a:solidFill>
                <a:latin typeface="游ゴシック Medium"/>
                <a:ea typeface="游ゴシック Medium"/>
                <a:cs typeface="游ゴシック Medium"/>
              </a:rPr>
              <a:t>本資料に対するご回答をいただきたい項目</a:t>
            </a:r>
          </a:p>
        </p:txBody>
      </p:sp>
      <p:graphicFrame>
        <p:nvGraphicFramePr>
          <p:cNvPr id="7" name="Table 3"/>
          <p:cNvGraphicFramePr/>
          <p:nvPr/>
        </p:nvGraphicFramePr>
        <p:xfrm>
          <a:off xmlns:a="http://schemas.openxmlformats.org/drawingml/2006/main" x="457200" y="1364228"/>
          <a:ext xmlns:a="http://schemas.openxmlformats.org/drawingml/2006/main" cx="11352212" cy="4562919"/>
        </p:xfrm>
        <a:graphic xmlns:a="http://schemas.openxmlformats.org/drawingml/2006/main">
          <a:graphicData uri="http://schemas.openxmlformats.org/drawingml/2006/table">
            <a:tbl>
              <a:tblPr firstRow="1" bandRow="1">
                <a:tableStyleId>{5C22544A-7EE6-4342-B048-85BDC9FD1C3A}</a:tableStyleId>
              </a:tblPr>
              <a:tblGrid>
                <a:gridCol w="1216308"/>
                <a:gridCol w="10135904"/>
              </a:tblGrid>
              <a:tr h="414810">
                <a:tc>
                  <a:txBody>
                    <a:bodyPr/>
                    <a:lstStyle/>
                    <a:p>
                      <a:r>
                        <a:rPr sz="1100" b="1">
                          <a:solidFill>
                            <a:srgbClr val="FFFFFF"/>
                          </a:solidFill>
                          <a:latin typeface="游ゴシック Medium"/>
                          <a:ea typeface="游ゴシック Medium"/>
                          <a:cs typeface="游ゴシック Medium"/>
                        </a:rPr>
                        <a:t>区分</a:t>
                      </a:r>
                    </a:p>
                  </a:txBody>
                  <a:tcPr marL="64000" marR="64000" marT="45720" marB="45720" anchor="ctr">
                    <a:solidFill>
                      <a:srgbClr val="005BAC"/>
                    </a:solidFill>
                  </a:tcPr>
                </a:tc>
                <a:tc>
                  <a:txBody>
                    <a:bodyPr/>
                    <a:lstStyle/>
                    <a:p>
                      <a:r>
                        <a:rPr sz="1100" b="1">
                          <a:solidFill>
                            <a:srgbClr val="FFFFFF"/>
                          </a:solidFill>
                          <a:latin typeface="游ゴシック Medium"/>
                          <a:ea typeface="游ゴシック Medium"/>
                          <a:cs typeface="游ゴシック Medium"/>
                        </a:rPr>
                        <a:t>確認事項</a:t>
                      </a:r>
                    </a:p>
                  </a:txBody>
                  <a:tcPr marL="64000" marR="64000" marT="45720" marB="45720" anchor="ctr">
                    <a:solidFill>
                      <a:srgbClr val="005BAC"/>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抽出</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1. STEPから製品名・部品名・部品階層・材質・質量特性を取得できるライブラリ／APIを、創屋様側でお持ちか</a:t>
                      </a:r>
                    </a:p>
                  </a:txBody>
                  <a:tcPr marL="64000" marR="64000" marT="24000" marB="24000" anchor="ctr">
                    <a:solidFill>
                      <a:srgbClr val="FFFFFF"/>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抽出</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2. DXFからTEXT/MTEXT、ブロック属性、レイヤー名、寸法、公差、溶接記号を分離取得できるか</a:t>
                      </a:r>
                    </a:p>
                  </a:txBody>
                  <a:tcPr marL="64000" marR="64000" marT="24000" marB="24000" anchor="ctr">
                    <a:solidFill>
                      <a:srgbClr val="F5F7FA"/>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抽出</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3. 図枠のラベルと値を同一TEXT/MTEXT要素またはDXFブロック属性として取得できるか（別要素の座標ペアリングは対象外）</a:t>
                      </a:r>
                    </a:p>
                  </a:txBody>
                  <a:tcPr marL="64000" marR="64000" marT="24000" marB="24000" anchor="ctr">
                    <a:solidFill>
                      <a:srgbClr val="FFFFFF"/>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抽出</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4. 材質が色・レイヤー・ブロック名にしか入っていないケースがあるか</a:t>
                      </a:r>
                    </a:p>
                  </a:txBody>
                  <a:tcPr marL="64000" marR="64000" marT="24000" marB="24000" anchor="ctr">
                    <a:solidFill>
                      <a:srgbClr val="F5F7FA"/>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抽出</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5. 抽出値に推測を混ぜず、取得元フィールドと信頼度を添えて返せるか</a:t>
                      </a:r>
                    </a:p>
                  </a:txBody>
                  <a:tcPr marL="64000" marR="64000" marT="24000" marB="24000" anchor="ctr">
                    <a:solidFill>
                      <a:srgbClr val="FFFFFF"/>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受け渡し</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6. Django非依存の純Pythonパッケージ形での納品でよいか。それとも現状のDjango app のまま渡す方が組み込みやすいか</a:t>
                      </a:r>
                    </a:p>
                  </a:txBody>
                  <a:tcPr marL="64000" marR="64000" marT="24000" marB="24000" anchor="ctr">
                    <a:solidFill>
                      <a:srgbClr val="F5F7FA"/>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受け渡し</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7. 一緒に欲しい成果物（サンプル入出力JSON、単体テスト、辞書初期データ、スキーマ定義）の優先順位</a:t>
                      </a:r>
                    </a:p>
                  </a:txBody>
                  <a:tcPr marL="64000" marR="64000" marT="24000" marB="24000" anchor="ctr">
                    <a:solidFill>
                      <a:srgbClr val="FFFFFF"/>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受け渡し</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8. タグ・属性の書き込み先API（drawing_attributes / product_attributes / part_attributes 相当）の確定仕様</a:t>
                      </a:r>
                    </a:p>
                  </a:txBody>
                  <a:tcPr marL="64000" marR="64000" marT="24000" marB="24000" anchor="ctr">
                    <a:solidFill>
                      <a:srgbClr val="F5F7FA"/>
                    </a:solidFill>
                  </a:tcPr>
                </a:tc>
              </a:tr>
              <a:tr h="414810">
                <a:tc>
                  <a:txBody>
                    <a:bodyPr/>
                    <a:lstStyle/>
                    <a:p>
                      <a:pPr>
                        <a:lnSpc>
                          <a:spcPct val="100000"/>
                        </a:lnSpc>
                        <a:buNone/>
                      </a:pPr>
                      <a:r>
                        <a:rPr sz="1100" b="0">
                          <a:solidFill>
                            <a:srgbClr val="1F1F1F"/>
                          </a:solidFill>
                          <a:latin typeface="游ゴシック Medium"/>
                          <a:ea typeface="游ゴシック Medium"/>
                          <a:cs typeface="游ゴシック Medium"/>
                        </a:rPr>
                        <a:t>構成</a:t>
                      </a:r>
                    </a:p>
                  </a:txBody>
                  <a:tcPr marL="64000" marR="64000" marT="24000" marB="24000" anchor="ctr">
                    <a:solidFill>
                      <a:srgbClr val="FFFFFF"/>
                    </a:solidFill>
                  </a:tcPr>
                </a:tc>
                <a:tc>
                  <a:txBody>
                    <a:bodyPr/>
                    <a:lstStyle/>
                    <a:p>
                      <a:pPr>
                        <a:lnSpc>
                          <a:spcPct val="100000"/>
                        </a:lnSpc>
                        <a:buNone/>
                      </a:pPr>
                      <a:r>
                        <a:rPr sz="1100" b="0">
                          <a:solidFill>
                            <a:srgbClr val="1F1F1F"/>
                          </a:solidFill>
                          <a:latin typeface="游ゴシック Medium"/>
                          <a:ea typeface="游ゴシック Medium"/>
                          <a:cs typeface="游ゴシック Medium"/>
                        </a:rPr>
                        <a:t>9. 「ICADあり／なし両構成」の方針で問題ないか</a:t>
                      </a:r>
                    </a:p>
                  </a:txBody>
                  <a:tcPr marL="64000" marR="64000" marT="24000" marB="24000" anchor="ctr">
                    <a:solidFill>
                      <a:srgbClr val="FFFFFF"/>
                    </a:solidFill>
                  </a:tcPr>
                </a:tc>
              </a:tr>
              <a:tr h="414819">
                <a:tc>
                  <a:txBody>
                    <a:bodyPr/>
                    <a:lstStyle/>
                    <a:p>
                      <a:pPr>
                        <a:lnSpc>
                          <a:spcPct val="100000"/>
                        </a:lnSpc>
                        <a:buNone/>
                      </a:pPr>
                      <a:r>
                        <a:rPr sz="1100" b="0">
                          <a:solidFill>
                            <a:srgbClr val="1F1F1F"/>
                          </a:solidFill>
                          <a:latin typeface="游ゴシック Medium"/>
                          <a:ea typeface="游ゴシック Medium"/>
                          <a:cs typeface="游ゴシック Medium"/>
                        </a:rPr>
                        <a:t>構成</a:t>
                      </a:r>
                    </a:p>
                  </a:txBody>
                  <a:tcPr marL="64000" marR="64000" marT="24000" marB="24000" anchor="ctr">
                    <a:solidFill>
                      <a:srgbClr val="F5F7FA"/>
                    </a:solidFill>
                  </a:tcPr>
                </a:tc>
                <a:tc>
                  <a:txBody>
                    <a:bodyPr/>
                    <a:lstStyle/>
                    <a:p>
                      <a:pPr>
                        <a:lnSpc>
                          <a:spcPct val="100000"/>
                        </a:lnSpc>
                        <a:buNone/>
                      </a:pPr>
                      <a:r>
                        <a:rPr sz="1100" b="0">
                          <a:solidFill>
                            <a:srgbClr val="1F1F1F"/>
                          </a:solidFill>
                          <a:latin typeface="游ゴシック Medium"/>
                          <a:ea typeface="游ゴシック Medium"/>
                          <a:cs typeface="游ゴシック Medium"/>
                        </a:rPr>
                        <a:t>10. ICAD→STEP変換を創屋様側で実装される場合、当社のC# convert-cad 実装をそのまま使うか、作り直すか</a:t>
                      </a:r>
                    </a:p>
                  </a:txBody>
                  <a:tcPr marL="64000" marR="64000" marT="24000" marB="24000" anchor="ctr">
                    <a:solidFill>
                      <a:srgbClr val="F5F7FA"/>
                    </a:solidFill>
                  </a:tcPr>
                </a:tc>
              </a:tr>
            </a:tbl>
          </a:graphicData>
        </a:graphic>
      </p:graphicFrame>
    </p:spTree>
    <p:extLst>
      <p:ext uri="{BB962C8B-B14F-4D97-AF65-F5344CB8AC3E}">
        <p14:creationId xmlns:p14="http://schemas.microsoft.com/office/powerpoint/2010/main" val="194499450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Tree>
    <p:extLst>
      <p:ext uri="{BB962C8B-B14F-4D97-AF65-F5344CB8AC3E}">
        <p14:creationId xmlns:p14="http://schemas.microsoft.com/office/powerpoint/2010/main" val="1230058389"/>
      </p:ext>
    </p:extLst>
  </p:cSld>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lumMod val="110000"/>
            <a:satMod val="105000"/>
          </a:schemeClr>
        </a:solidFill>
        <a:gradFill rotWithShape="1">
          <a:gsLst>
            <a:gs pos="0">
              <a:schemeClr val="phClr">
                <a:tint val="94000"/>
                <a:lumMod val="108000"/>
                <a:satMod val="100000"/>
              </a:schemeClr>
            </a:gs>
            <a:gs pos="50000">
              <a:schemeClr val="phClr">
                <a:tint val="98000"/>
                <a:shade val="100000"/>
                <a:lumMod val="100000"/>
                <a:satMod val="100000"/>
              </a:schemeClr>
            </a:gs>
            <a:gs pos="100000">
              <a:schemeClr val="phClr">
                <a:shade val="72000"/>
                <a:lumMod val="100000"/>
                <a:satMod val="120000"/>
              </a:schemeClr>
            </a:gs>
          </a:gsLst>
          <a:lin ang="5400000" scaled="0"/>
        </a:gradFill>
      </a:fillStyleLst>
      <a:lnStyleLst>
        <a:ln w="9525">
          <a:solidFill>
            <a:schemeClr val="phClr">
              <a:shade val="60000"/>
            </a:schemeClr>
          </a:solidFill>
          <a:prstDash val="solid"/>
        </a:ln>
        <a:ln w="15875">
          <a:solidFill>
            <a:schemeClr val="phClr"/>
          </a:solidFill>
          <a:prstDash val="solid"/>
        </a:ln>
        <a:ln w="22225">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lumMod val="112000"/>
                <a:satMod val="150000"/>
              </a:schemeClr>
            </a:gs>
            <a:gs pos="100000">
              <a:schemeClr val="phClr">
                <a:shade val="92000"/>
                <a:lumMod val="110000"/>
                <a:satMod val="14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2026-07-28T03:05:12.3530000Z</dcterms:created>
  <dcterms:modified xsi:type="dcterms:W3CDTF">2026-07-28T03:05:12.3530000Z</dcterms:modified>
</coreProperties>
</file>