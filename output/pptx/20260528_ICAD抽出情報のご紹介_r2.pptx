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7"/>
    <p:sldId id="257" r:id="rId8"/>
    <p:sldId id="258" r:id="rId9"/>
    <p:sldId id="259" r:id="rId6"/>
    <p:sldId id="260" r:id="rId5"/>
    <p:sldId id="261" r:id="rId4"/>
    <p:sldId id="262" r:id="rId3"/>
    <p:sldId id="263" r:id="rId2"/>
    <p:sldId id="26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8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DE7CC-BA49-441A-954A-D7313BCB9DA5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C8C8AF-17B2-4669-92EE-079BEB0104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6981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logo_large.jpg">
            <a:extLst>
              <a:ext uri="{FF2B5EF4-FFF2-40B4-BE49-F238E27FC236}">
                <a16:creationId xmlns:a16="http://schemas.microsoft.com/office/drawing/2014/main" id="{D11579AC-7796-D80E-3CC0-C7265D79DA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6400" y="609600"/>
            <a:ext cx="2606040" cy="1503485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DEFC902B-A52D-C521-E9E5-3F94762B39EF}"/>
              </a:ext>
            </a:extLst>
          </p:cNvPr>
          <p:cNvSpPr/>
          <p:nvPr userDrawn="1"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cap="none" baseline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3DC2CAB-9CE7-E662-77B8-5B3C6DB80BCD}"/>
              </a:ext>
            </a:extLst>
          </p:cNvPr>
          <p:cNvSpPr/>
          <p:nvPr userDrawn="1"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cap="none" baseline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833329"/>
            <a:ext cx="8689976" cy="2509213"/>
          </a:xfrm>
        </p:spPr>
        <p:txBody>
          <a:bodyPr anchor="b">
            <a:normAutofit/>
          </a:bodyPr>
          <a:lstStyle>
            <a:lvl1pPr algn="l">
              <a:defRPr sz="4800" b="1" cap="none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70949"/>
            <a:ext cx="8689976" cy="652995"/>
          </a:xfrm>
        </p:spPr>
        <p:txBody>
          <a:bodyPr>
            <a:normAutofit/>
          </a:bodyPr>
          <a:lstStyle>
            <a:lvl1pPr marL="0" indent="0" algn="l">
              <a:buNone/>
              <a:defRPr sz="2200" cap="none" baseline="0">
                <a:solidFill>
                  <a:srgbClr val="00A8E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60FBCDE1-018F-99EB-0276-8FFC2E77ED96}"/>
              </a:ext>
            </a:extLst>
          </p:cNvPr>
          <p:cNvSpPr/>
          <p:nvPr userDrawn="1"/>
        </p:nvSpPr>
        <p:spPr>
          <a:xfrm>
            <a:off x="914400" y="4160520"/>
            <a:ext cx="2011680" cy="36576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cap="none" baseline="0"/>
          </a:p>
        </p:txBody>
      </p:sp>
      <p:sp>
        <p:nvSpPr>
          <p:cNvPr id="24" name="テキスト プレースホルダー 23">
            <a:extLst>
              <a:ext uri="{FF2B5EF4-FFF2-40B4-BE49-F238E27FC236}">
                <a16:creationId xmlns:a16="http://schemas.microsoft.com/office/drawing/2014/main" id="{4F424697-34D8-E67D-84F2-7DBFA5AD7D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4343400"/>
            <a:ext cx="5166028" cy="914400"/>
          </a:xfrm>
        </p:spPr>
        <p:txBody>
          <a:bodyPr>
            <a:normAutofit/>
          </a:bodyPr>
          <a:lstStyle>
            <a:lvl1pPr>
              <a:buNone/>
              <a:defRPr sz="1600" cap="none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kumimoji="1" lang="en-US" altLang="ja-JP" dirty="0"/>
              <a:t>2026.MM.DD</a:t>
            </a:r>
            <a:r>
              <a:rPr kumimoji="1" lang="ja-JP" altLang="en-US" dirty="0"/>
              <a:t>　</a:t>
            </a:r>
            <a:r>
              <a:rPr kumimoji="1" lang="en-US" altLang="ja-JP" dirty="0"/>
              <a:t>/</a:t>
            </a:r>
            <a:r>
              <a:rPr kumimoji="1" lang="ja-JP" altLang="en-US" dirty="0"/>
              <a:t>　部署名　</a:t>
            </a:r>
            <a:r>
              <a:rPr kumimoji="1" lang="en-US" altLang="ja-JP" dirty="0"/>
              <a:t>/</a:t>
            </a:r>
            <a:r>
              <a:rPr kumimoji="1" lang="ja-JP" altLang="en-US" dirty="0"/>
              <a:t>　発表者氏名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C55F0FE-9421-CCC4-21CF-3EDC009B1D6C}"/>
              </a:ext>
            </a:extLst>
          </p:cNvPr>
          <p:cNvSpPr txBox="1"/>
          <p:nvPr userDrawn="1"/>
        </p:nvSpPr>
        <p:spPr>
          <a:xfrm>
            <a:off x="456228" y="6494780"/>
            <a:ext cx="8342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cap="none" baseline="0" dirty="0">
                <a:solidFill>
                  <a:schemeClr val="bg1"/>
                </a:solidFill>
              </a:rPr>
              <a:t>金石本社：〒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920-0336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 石川県金沢市金石本町ハ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13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番地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2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　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/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　小矢部事務所：〒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932-0132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 富山県小矢部市小森谷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19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番地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DC65298-5B5E-1D40-2C58-080E3E98BC90}"/>
              </a:ext>
            </a:extLst>
          </p:cNvPr>
          <p:cNvSpPr txBox="1"/>
          <p:nvPr userDrawn="1"/>
        </p:nvSpPr>
        <p:spPr>
          <a:xfrm>
            <a:off x="456228" y="6182577"/>
            <a:ext cx="31133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600" cap="none" baseline="0" dirty="0">
                <a:solidFill>
                  <a:schemeClr val="bg1"/>
                </a:solidFill>
              </a:rPr>
              <a:t>株式会社 アルパイン設計事務所</a:t>
            </a:r>
          </a:p>
        </p:txBody>
      </p:sp>
    </p:spTree>
    <p:extLst>
      <p:ext uri="{BB962C8B-B14F-4D97-AF65-F5344CB8AC3E}">
        <p14:creationId xmlns:p14="http://schemas.microsoft.com/office/powerpoint/2010/main" val="1533615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5">
            <a:extLst>
              <a:ext uri="{FF2B5EF4-FFF2-40B4-BE49-F238E27FC236}">
                <a16:creationId xmlns:a16="http://schemas.microsoft.com/office/drawing/2014/main" id="{7A9930C5-9CE5-CD3F-0B34-BA742C592203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411481"/>
            <a:ext cx="10364451" cy="502919"/>
          </a:xfrm>
        </p:spPr>
        <p:txBody>
          <a:bodyPr anchor="t"/>
          <a:lstStyle>
            <a:lvl1pPr algn="l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69DF8EF-F888-3401-8278-4FAF9AF9F2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73C56A4-895E-D5C5-3104-BF85ABACF34C}"/>
              </a:ext>
            </a:extLst>
          </p:cNvPr>
          <p:cNvSpPr/>
          <p:nvPr userDrawn="1"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2EECE7D1-9EB4-934E-9375-5673AE1CDFA5}"/>
              </a:ext>
            </a:extLst>
          </p:cNvPr>
          <p:cNvSpPr/>
          <p:nvPr userDrawn="1"/>
        </p:nvSpPr>
        <p:spPr>
          <a:xfrm>
            <a:off x="457200" y="1235016"/>
            <a:ext cx="11274552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テキスト プレースホルダー 52">
            <a:extLst>
              <a:ext uri="{FF2B5EF4-FFF2-40B4-BE49-F238E27FC236}">
                <a16:creationId xmlns:a16="http://schemas.microsoft.com/office/drawing/2014/main" id="{F8CF3099-468C-D418-D6F8-EC2CC9B3FA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6927" y="923635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54" name="図 53">
            <a:extLst>
              <a:ext uri="{FF2B5EF4-FFF2-40B4-BE49-F238E27FC236}">
                <a16:creationId xmlns:a16="http://schemas.microsoft.com/office/drawing/2014/main" id="{CAA03307-0E99-F9A7-C662-A5190938D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56" name="コンテンツ プレースホルダー 55">
            <a:extLst>
              <a:ext uri="{FF2B5EF4-FFF2-40B4-BE49-F238E27FC236}">
                <a16:creationId xmlns:a16="http://schemas.microsoft.com/office/drawing/2014/main" id="{96E4A612-04F1-1448-C938-8AAFF71EA8F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364228"/>
            <a:ext cx="11352213" cy="50699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00A8E6"/>
              </a:buClr>
              <a:buFont typeface="Wingdings" panose="05000000000000000000" pitchFamily="2" charset="2"/>
              <a:buChar char="n"/>
              <a:defRPr sz="2800">
                <a:solidFill>
                  <a:srgbClr val="00A8E6"/>
                </a:solidFill>
              </a:defRPr>
            </a:lvl1pPr>
            <a:lvl2pPr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l"/>
              <a:defRPr sz="2400">
                <a:solidFill>
                  <a:schemeClr val="tx2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buClrTx/>
              <a:buFont typeface="Wingdings" panose="05000000000000000000" pitchFamily="2" charset="2"/>
              <a:buChar char="ü"/>
              <a:defRPr sz="2000">
                <a:solidFill>
                  <a:schemeClr val="tx2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133749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78863" y="2254861"/>
            <a:ext cx="5314214" cy="4105132"/>
          </a:xfrm>
          <a:ln>
            <a:noFill/>
          </a:ln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293796" y="2254861"/>
            <a:ext cx="5311302" cy="4105132"/>
          </a:xfrm>
          <a:ln>
            <a:noFill/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" name="スライド番号プレースホルダー 8">
            <a:extLst>
              <a:ext uri="{FF2B5EF4-FFF2-40B4-BE49-F238E27FC236}">
                <a16:creationId xmlns:a16="http://schemas.microsoft.com/office/drawing/2014/main" id="{ED4643BD-04A4-AAD5-193A-DD596DEDF4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7661BAC-0965-CE22-FC5F-315F9C011D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F75F8A81-F90D-2AC3-0758-21B5A019D68D}"/>
              </a:ext>
            </a:extLst>
          </p:cNvPr>
          <p:cNvSpPr/>
          <p:nvPr userDrawn="1"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9155C07D-C31C-4422-BF59-9288C1D406E6}"/>
              </a:ext>
            </a:extLst>
          </p:cNvPr>
          <p:cNvSpPr/>
          <p:nvPr userDrawn="1"/>
        </p:nvSpPr>
        <p:spPr>
          <a:xfrm>
            <a:off x="457200" y="1235016"/>
            <a:ext cx="11274552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テキスト プレースホルダー 52">
            <a:extLst>
              <a:ext uri="{FF2B5EF4-FFF2-40B4-BE49-F238E27FC236}">
                <a16:creationId xmlns:a16="http://schemas.microsoft.com/office/drawing/2014/main" id="{AC66AFE9-42C5-EE6E-B6B2-8EA75548D3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6927" y="923635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5" name="Rectangle 35">
            <a:extLst>
              <a:ext uri="{FF2B5EF4-FFF2-40B4-BE49-F238E27FC236}">
                <a16:creationId xmlns:a16="http://schemas.microsoft.com/office/drawing/2014/main" id="{23617758-0468-2D94-736E-042159DAECEF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C7D1CD9-9C02-E9DE-D16A-ED000EBB426D}"/>
              </a:ext>
            </a:extLst>
          </p:cNvPr>
          <p:cNvSpPr/>
          <p:nvPr userDrawn="1"/>
        </p:nvSpPr>
        <p:spPr>
          <a:xfrm>
            <a:off x="463297" y="1377086"/>
            <a:ext cx="5553456" cy="508660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E71A640-007B-2631-D5F9-60E543D46707}"/>
              </a:ext>
            </a:extLst>
          </p:cNvPr>
          <p:cNvSpPr/>
          <p:nvPr userDrawn="1"/>
        </p:nvSpPr>
        <p:spPr>
          <a:xfrm>
            <a:off x="6166104" y="1362578"/>
            <a:ext cx="5562600" cy="510332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9172225F-2066-1B77-8C65-F71571935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11481"/>
            <a:ext cx="10364451" cy="502919"/>
          </a:xfrm>
        </p:spPr>
        <p:txBody>
          <a:bodyPr anchor="t"/>
          <a:lstStyle>
            <a:lvl1pPr algn="l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0F5C33EA-A7A6-0093-1CFC-5DE6B341E6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1362578"/>
            <a:ext cx="5559552" cy="781179"/>
          </a:xfrm>
          <a:solidFill>
            <a:schemeClr val="tx1">
              <a:lumMod val="50000"/>
              <a:lumOff val="50000"/>
            </a:schemeClr>
          </a:solidFill>
        </p:spPr>
        <p:txBody>
          <a:bodyPr anchor="ctr"/>
          <a:lstStyle>
            <a:lvl1pPr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0" name="テキスト プレースホルダー 18">
            <a:extLst>
              <a:ext uri="{FF2B5EF4-FFF2-40B4-BE49-F238E27FC236}">
                <a16:creationId xmlns:a16="http://schemas.microsoft.com/office/drawing/2014/main" id="{295F1E9E-2E02-71DD-4D1F-FAFBE4409F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69152" y="1362578"/>
            <a:ext cx="5559552" cy="781179"/>
          </a:xfrm>
          <a:solidFill>
            <a:srgbClr val="00A8E6"/>
          </a:solidFill>
        </p:spPr>
        <p:txBody>
          <a:bodyPr anchor="ctr"/>
          <a:lstStyle>
            <a:lvl1pPr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494569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" y="1399929"/>
            <a:ext cx="6138154" cy="5181600"/>
          </a:xfrm>
          <a:prstGeom prst="roundRect">
            <a:avLst>
              <a:gd name="adj" fmla="val 4943"/>
            </a:avLst>
          </a:prstGeom>
          <a:noFill/>
          <a:ln w="19050" cap="sq">
            <a:solidFill>
              <a:srgbClr val="00A8E6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 prstMaterial="matte"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6042" y="2931911"/>
            <a:ext cx="4709159" cy="351460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スライド番号プレースホルダー 8">
            <a:extLst>
              <a:ext uri="{FF2B5EF4-FFF2-40B4-BE49-F238E27FC236}">
                <a16:creationId xmlns:a16="http://schemas.microsoft.com/office/drawing/2014/main" id="{A6A0EC3A-8208-2F63-BA4C-FE456AB7AFE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63A2F520-B158-CC14-8966-4D18A9D95E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3B41F546-F6F6-79FF-2DF9-0F26E1F2D298}"/>
              </a:ext>
            </a:extLst>
          </p:cNvPr>
          <p:cNvSpPr/>
          <p:nvPr userDrawn="1"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98711BEE-A631-6371-0A47-BCE73CC8F679}"/>
              </a:ext>
            </a:extLst>
          </p:cNvPr>
          <p:cNvSpPr/>
          <p:nvPr userDrawn="1"/>
        </p:nvSpPr>
        <p:spPr>
          <a:xfrm>
            <a:off x="457200" y="1235016"/>
            <a:ext cx="11274552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テキスト プレースホルダー 52">
            <a:extLst>
              <a:ext uri="{FF2B5EF4-FFF2-40B4-BE49-F238E27FC236}">
                <a16:creationId xmlns:a16="http://schemas.microsoft.com/office/drawing/2014/main" id="{93543058-FC54-28CC-6D04-0980939B6B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6927" y="923635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4" name="Rectangle 35">
            <a:extLst>
              <a:ext uri="{FF2B5EF4-FFF2-40B4-BE49-F238E27FC236}">
                <a16:creationId xmlns:a16="http://schemas.microsoft.com/office/drawing/2014/main" id="{565548AB-4F85-1922-397A-15828B82CD68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4F66BA0C-576F-D7DD-05AB-7247A3CE95EF}"/>
              </a:ext>
            </a:extLst>
          </p:cNvPr>
          <p:cNvSpPr/>
          <p:nvPr userDrawn="1"/>
        </p:nvSpPr>
        <p:spPr>
          <a:xfrm>
            <a:off x="6858000" y="2710303"/>
            <a:ext cx="640080" cy="3657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テキスト プレースホルダー 52">
            <a:extLst>
              <a:ext uri="{FF2B5EF4-FFF2-40B4-BE49-F238E27FC236}">
                <a16:creationId xmlns:a16="http://schemas.microsoft.com/office/drawing/2014/main" id="{860C1474-869A-0810-7EF3-9014B952FCA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76042" y="1466743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5C7C5BC-539B-2087-C4DA-65CC2040F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11481"/>
            <a:ext cx="10364451" cy="502919"/>
          </a:xfrm>
        </p:spPr>
        <p:txBody>
          <a:bodyPr anchor="t"/>
          <a:lstStyle>
            <a:lvl1pPr algn="l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07AECB8-4D72-3F83-4F09-8BB49A8F946F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776042" y="1859448"/>
            <a:ext cx="4709159" cy="544230"/>
          </a:xfrm>
        </p:spPr>
        <p:txBody>
          <a:bodyPr>
            <a:normAutofit/>
          </a:bodyPr>
          <a:lstStyle>
            <a:lvl1pPr marL="0" indent="0" algn="l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767352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0C0DB40-5F2F-F35A-86C4-01E32B225B0D}"/>
              </a:ext>
            </a:extLst>
          </p:cNvPr>
          <p:cNvSpPr/>
          <p:nvPr userDrawn="1"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568D18EB-93BD-0FF9-EB13-FAC166CC8116}"/>
              </a:ext>
            </a:extLst>
          </p:cNvPr>
          <p:cNvSpPr/>
          <p:nvPr userDrawn="1"/>
        </p:nvSpPr>
        <p:spPr>
          <a:xfrm>
            <a:off x="4389120" y="6729984"/>
            <a:ext cx="7802575" cy="128016"/>
          </a:xfrm>
          <a:prstGeom prst="rect">
            <a:avLst/>
          </a:prstGeom>
          <a:solidFill>
            <a:srgbClr val="0A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731" y="3242452"/>
            <a:ext cx="3676119" cy="2023252"/>
          </a:xfrm>
        </p:spPr>
        <p:txBody>
          <a:bodyPr anchor="t">
            <a:norm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7731" y="2423769"/>
            <a:ext cx="3676120" cy="418166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751F391-8EE4-1296-D5AE-03886A4EE68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C28693DB-7C05-F742-72BD-AAE7D00BDB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E6212A41-BD99-9E37-D686-4516D7835ED0}"/>
              </a:ext>
            </a:extLst>
          </p:cNvPr>
          <p:cNvSpPr/>
          <p:nvPr userDrawn="1"/>
        </p:nvSpPr>
        <p:spPr>
          <a:xfrm>
            <a:off x="640080" y="3063240"/>
            <a:ext cx="54864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0575233-4969-A31B-6759-06E9D74CF34A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5078062" y="2681650"/>
            <a:ext cx="3676120" cy="418166"/>
          </a:xfrm>
        </p:spPr>
        <p:txBody>
          <a:bodyPr/>
          <a:lstStyle>
            <a:lvl1pPr marL="0" indent="0" algn="l">
              <a:buNone/>
              <a:defRPr sz="1600" b="0">
                <a:solidFill>
                  <a:srgbClr val="00A8E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8" name="コンテンツ プレースホルダー 17">
            <a:extLst>
              <a:ext uri="{FF2B5EF4-FFF2-40B4-BE49-F238E27FC236}">
                <a16:creationId xmlns:a16="http://schemas.microsoft.com/office/drawing/2014/main" id="{11E6EC22-F40F-ADE9-9D6F-63DED8B2850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78061" y="3242451"/>
            <a:ext cx="6320539" cy="2944339"/>
          </a:xfrm>
        </p:spPr>
        <p:txBody>
          <a:bodyPr>
            <a:normAutofit/>
          </a:bodyPr>
          <a:lstStyle>
            <a:lvl1pPr marL="0">
              <a:lnSpc>
                <a:spcPct val="100000"/>
              </a:lnSpc>
              <a:buNone/>
              <a:defRPr sz="2800" b="1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 sz="2000" b="1"/>
            </a:lvl2pPr>
            <a:lvl3pPr>
              <a:defRPr sz="1800" b="1"/>
            </a:lvl3pPr>
            <a:lvl4pPr>
              <a:defRPr sz="1600" b="1"/>
            </a:lvl4pPr>
            <a:lvl5pPr>
              <a:defRPr sz="1600" b="1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105011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5">
            <a:extLst>
              <a:ext uri="{FF2B5EF4-FFF2-40B4-BE49-F238E27FC236}">
                <a16:creationId xmlns:a16="http://schemas.microsoft.com/office/drawing/2014/main" id="{7A9930C5-9CE5-CD3F-0B34-BA742C592203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117" y="590117"/>
            <a:ext cx="10364451" cy="502919"/>
          </a:xfrm>
        </p:spPr>
        <p:txBody>
          <a:bodyPr anchor="t"/>
          <a:lstStyle>
            <a:lvl1pPr algn="l">
              <a:defRPr b="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69DF8EF-F888-3401-8278-4FAF9AF9F2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3" name="テキスト プレースホルダー 52">
            <a:extLst>
              <a:ext uri="{FF2B5EF4-FFF2-40B4-BE49-F238E27FC236}">
                <a16:creationId xmlns:a16="http://schemas.microsoft.com/office/drawing/2014/main" id="{F8CF3099-468C-D418-D6F8-EC2CC9B3FA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3117" y="277487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200" b="1">
                <a:solidFill>
                  <a:srgbClr val="0070C0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54" name="図 53">
            <a:extLst>
              <a:ext uri="{FF2B5EF4-FFF2-40B4-BE49-F238E27FC236}">
                <a16:creationId xmlns:a16="http://schemas.microsoft.com/office/drawing/2014/main" id="{CAA03307-0E99-F9A7-C662-A5190938D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B0E02CB6-6242-8B4F-E9ED-2424F73EEA9F}"/>
              </a:ext>
            </a:extLst>
          </p:cNvPr>
          <p:cNvSpPr/>
          <p:nvPr userDrawn="1"/>
        </p:nvSpPr>
        <p:spPr>
          <a:xfrm>
            <a:off x="457200" y="1234440"/>
            <a:ext cx="914400" cy="0"/>
          </a:xfrm>
          <a:prstGeom prst="line">
            <a:avLst/>
          </a:prstGeom>
          <a:noFill/>
          <a:ln w="38100">
            <a:solidFill>
              <a:srgbClr val="00A8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Rectangle 35">
            <a:extLst>
              <a:ext uri="{FF2B5EF4-FFF2-40B4-BE49-F238E27FC236}">
                <a16:creationId xmlns:a16="http://schemas.microsoft.com/office/drawing/2014/main" id="{D4D631C2-ED8A-15C5-915E-0BE64E42497C}"/>
              </a:ext>
            </a:extLst>
          </p:cNvPr>
          <p:cNvSpPr/>
          <p:nvPr userDrawn="1"/>
        </p:nvSpPr>
        <p:spPr>
          <a:xfrm>
            <a:off x="0" y="0"/>
            <a:ext cx="12191695" cy="7200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コンテンツ プレースホルダー 55">
            <a:extLst>
              <a:ext uri="{FF2B5EF4-FFF2-40B4-BE49-F238E27FC236}">
                <a16:creationId xmlns:a16="http://schemas.microsoft.com/office/drawing/2014/main" id="{0683C0E1-DA8A-EE7F-FB55-CFD653A4BB1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364228"/>
            <a:ext cx="11352213" cy="50699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00A8E6"/>
              </a:buClr>
              <a:buFont typeface="Wingdings" panose="05000000000000000000" pitchFamily="2" charset="2"/>
              <a:buChar char="n"/>
              <a:defRPr sz="2800">
                <a:solidFill>
                  <a:srgbClr val="00A8E6"/>
                </a:solidFill>
              </a:defRPr>
            </a:lvl1pPr>
            <a:lvl2pPr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l"/>
              <a:defRPr sz="2400">
                <a:solidFill>
                  <a:schemeClr val="tx2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buClrTx/>
              <a:buFont typeface="Wingdings" panose="05000000000000000000" pitchFamily="2" charset="2"/>
              <a:buChar char="ü"/>
              <a:defRPr sz="2000">
                <a:solidFill>
                  <a:schemeClr val="tx2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391937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8">
            <a:extLst>
              <a:ext uri="{FF2B5EF4-FFF2-40B4-BE49-F238E27FC236}">
                <a16:creationId xmlns:a16="http://schemas.microsoft.com/office/drawing/2014/main" id="{E34F8C15-2E77-C57B-CF55-C0A99E1EBA9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5381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最終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BC1721-93D6-7F2B-8921-5DD357B79065}"/>
              </a:ext>
            </a:extLst>
          </p:cNvPr>
          <p:cNvSpPr/>
          <p:nvPr userDrawn="1"/>
        </p:nvSpPr>
        <p:spPr>
          <a:xfrm>
            <a:off x="0" y="3840480"/>
            <a:ext cx="12191695" cy="30175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A76C3186-35FC-3408-4D37-4586EDD08488}"/>
              </a:ext>
            </a:extLst>
          </p:cNvPr>
          <p:cNvSpPr txBox="1"/>
          <p:nvPr userDrawn="1"/>
        </p:nvSpPr>
        <p:spPr>
          <a:xfrm>
            <a:off x="457200" y="1182753"/>
            <a:ext cx="11274552" cy="11092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6400" b="1" dirty="0">
                <a:solidFill>
                  <a:srgbClr val="0A3D62"/>
                </a:solidFill>
                <a:latin typeface="+mn-lt"/>
              </a:rPr>
              <a:t>Thank you.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861A40CE-BF53-2C94-0A7D-049A2403DB0A}"/>
              </a:ext>
            </a:extLst>
          </p:cNvPr>
          <p:cNvSpPr txBox="1"/>
          <p:nvPr userDrawn="1"/>
        </p:nvSpPr>
        <p:spPr>
          <a:xfrm>
            <a:off x="457200" y="2468880"/>
            <a:ext cx="11274552" cy="3595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dirty="0">
                <a:solidFill>
                  <a:srgbClr val="1F2937"/>
                </a:solidFill>
                <a:latin typeface="+mj-ea"/>
                <a:ea typeface="+mj-ea"/>
              </a:rPr>
              <a:t>ご清聴ありがとうございました。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9FA7DD3F-EDCA-0FF7-58CA-A09625313264}"/>
              </a:ext>
            </a:extLst>
          </p:cNvPr>
          <p:cNvSpPr/>
          <p:nvPr userDrawn="1"/>
        </p:nvSpPr>
        <p:spPr>
          <a:xfrm>
            <a:off x="5733288" y="3200400"/>
            <a:ext cx="731520" cy="45720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D7BAF6BC-2072-52CE-218A-71338896F250}"/>
              </a:ext>
            </a:extLst>
          </p:cNvPr>
          <p:cNvSpPr/>
          <p:nvPr userDrawn="1"/>
        </p:nvSpPr>
        <p:spPr>
          <a:xfrm>
            <a:off x="1371600" y="4206240"/>
            <a:ext cx="9445752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93C7BDA9-7A09-6783-3614-0BD781D1880A}"/>
              </a:ext>
            </a:extLst>
          </p:cNvPr>
          <p:cNvSpPr txBox="1"/>
          <p:nvPr userDrawn="1"/>
        </p:nvSpPr>
        <p:spPr>
          <a:xfrm>
            <a:off x="1691640" y="4434840"/>
            <a:ext cx="8686800" cy="3954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ja-JP" altLang="en-US" sz="2200" b="1" dirty="0">
                <a:solidFill>
                  <a:srgbClr val="0A3D62"/>
                </a:solidFill>
                <a:latin typeface="+mn-ea"/>
                <a:ea typeface="+mn-ea"/>
              </a:rPr>
              <a:t>株式会社 アルパイン設計事務所</a:t>
            </a:r>
            <a:endParaRPr sz="2200" b="1" dirty="0">
              <a:solidFill>
                <a:srgbClr val="0A3D62"/>
              </a:solidFill>
              <a:latin typeface="+mn-ea"/>
              <a:ea typeface="+mn-ea"/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4D61C277-9045-F328-47B3-539A732094C4}"/>
              </a:ext>
            </a:extLst>
          </p:cNvPr>
          <p:cNvSpPr/>
          <p:nvPr userDrawn="1"/>
        </p:nvSpPr>
        <p:spPr>
          <a:xfrm>
            <a:off x="1691640" y="4983480"/>
            <a:ext cx="640080" cy="3657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523E39DE-E3DD-E236-8E59-A7EEB3599882}"/>
              </a:ext>
            </a:extLst>
          </p:cNvPr>
          <p:cNvSpPr txBox="1"/>
          <p:nvPr userDrawn="1"/>
        </p:nvSpPr>
        <p:spPr>
          <a:xfrm>
            <a:off x="1691640" y="5166360"/>
            <a:ext cx="4114800" cy="215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dirty="0">
                <a:solidFill>
                  <a:srgbClr val="00A8E6"/>
                </a:solidFill>
                <a:latin typeface="+mn-ea"/>
                <a:ea typeface="+mn-ea"/>
              </a:rPr>
              <a:t>■</a:t>
            </a:r>
            <a:r>
              <a:rPr lang="ja-JP" altLang="en-US" sz="1200" b="1" dirty="0">
                <a:solidFill>
                  <a:srgbClr val="00A8E6"/>
                </a:solidFill>
                <a:latin typeface="+mn-ea"/>
                <a:ea typeface="+mn-ea"/>
              </a:rPr>
              <a:t> 金石本社</a:t>
            </a:r>
            <a:endParaRPr sz="1200" b="1" dirty="0">
              <a:solidFill>
                <a:srgbClr val="00A8E6"/>
              </a:solidFill>
              <a:latin typeface="+mn-ea"/>
              <a:ea typeface="+mn-ea"/>
            </a:endParaRP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D11AEF3F-2467-563E-5E97-CF56FDB96122}"/>
              </a:ext>
            </a:extLst>
          </p:cNvPr>
          <p:cNvSpPr txBox="1"/>
          <p:nvPr userDrawn="1"/>
        </p:nvSpPr>
        <p:spPr>
          <a:xfrm>
            <a:off x="6400800" y="5166360"/>
            <a:ext cx="4114800" cy="215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8E6"/>
                </a:solidFill>
                <a:latin typeface="+mn-ea"/>
                <a:ea typeface="+mn-ea"/>
              </a:rPr>
              <a:t>■ 小矢部事務所</a:t>
            </a:r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F7C33A59-B42F-91B1-2F9C-878473A282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9554022" y="4394615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4BDC41E-A9A8-8CD5-68F4-58D64142BE20}"/>
              </a:ext>
            </a:extLst>
          </p:cNvPr>
          <p:cNvSpPr txBox="1"/>
          <p:nvPr userDrawn="1"/>
        </p:nvSpPr>
        <p:spPr>
          <a:xfrm>
            <a:off x="1691640" y="5486400"/>
            <a:ext cx="32047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〒</a:t>
            </a:r>
            <a:r>
              <a:rPr kumimoji="1" lang="en-US" altLang="ja-JP" sz="1100" dirty="0"/>
              <a:t>920-0336</a:t>
            </a:r>
            <a:r>
              <a:rPr kumimoji="1" lang="ja-JP" altLang="en-US" sz="1100" dirty="0"/>
              <a:t> 石川県金沢市金石本町ハ１３番地２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E2A9F2B-0B5C-392B-AFEE-E738FCE5AD70}"/>
              </a:ext>
            </a:extLst>
          </p:cNvPr>
          <p:cNvSpPr txBox="1"/>
          <p:nvPr userDrawn="1"/>
        </p:nvSpPr>
        <p:spPr>
          <a:xfrm>
            <a:off x="6400800" y="5486400"/>
            <a:ext cx="29225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〒</a:t>
            </a:r>
            <a:r>
              <a:rPr kumimoji="1" lang="en-US" altLang="ja-JP" sz="1100" dirty="0"/>
              <a:t>932-0132</a:t>
            </a:r>
            <a:r>
              <a:rPr kumimoji="1" lang="ja-JP" altLang="en-US" sz="1100" dirty="0"/>
              <a:t> 富山県小矢部市小森谷１９番地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3DFDEB9-B4E2-8305-A9E5-B26B232CAC63}"/>
              </a:ext>
            </a:extLst>
          </p:cNvPr>
          <p:cNvSpPr txBox="1"/>
          <p:nvPr userDrawn="1"/>
        </p:nvSpPr>
        <p:spPr>
          <a:xfrm>
            <a:off x="1691640" y="5806440"/>
            <a:ext cx="15488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TEL</a:t>
            </a:r>
            <a:r>
              <a:rPr kumimoji="1" lang="ja-JP" altLang="en-US" sz="1100" dirty="0"/>
              <a:t>　</a:t>
            </a:r>
            <a:r>
              <a:rPr kumimoji="1" lang="en-US" altLang="ja-JP" sz="1100" dirty="0"/>
              <a:t>( 076</a:t>
            </a:r>
            <a:r>
              <a:rPr kumimoji="1" lang="ja-JP" altLang="en-US" sz="1100" dirty="0"/>
              <a:t> </a:t>
            </a:r>
            <a:r>
              <a:rPr kumimoji="1" lang="en-US" altLang="ja-JP" sz="1100" dirty="0"/>
              <a:t>) 266-3467</a:t>
            </a:r>
            <a:endParaRPr kumimoji="1" lang="ja-JP" altLang="en-US" sz="11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6EE78410-AC80-F986-CA08-D27FFD5E0C0F}"/>
              </a:ext>
            </a:extLst>
          </p:cNvPr>
          <p:cNvSpPr txBox="1"/>
          <p:nvPr userDrawn="1"/>
        </p:nvSpPr>
        <p:spPr>
          <a:xfrm>
            <a:off x="6400800" y="5806440"/>
            <a:ext cx="15488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TEL</a:t>
            </a:r>
            <a:r>
              <a:rPr kumimoji="1" lang="ja-JP" altLang="en-US" sz="1100" dirty="0"/>
              <a:t>　</a:t>
            </a:r>
            <a:r>
              <a:rPr kumimoji="1" lang="en-US" altLang="ja-JP" sz="1100" dirty="0"/>
              <a:t>( 0766</a:t>
            </a:r>
            <a:r>
              <a:rPr kumimoji="1" lang="ja-JP" altLang="en-US" sz="1100" dirty="0"/>
              <a:t> </a:t>
            </a:r>
            <a:r>
              <a:rPr kumimoji="1" lang="en-US" altLang="ja-JP" sz="1100" dirty="0"/>
              <a:t>) 69-7888</a:t>
            </a:r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51230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2329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748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7263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7993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つの画像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79090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87677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0182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baseline="0"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none" baseline="0"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baseline="0">
                <a:solidFill>
                  <a:schemeClr val="tx1"/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2565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9" r:id="rId4"/>
    <p:sldLayoutId id="2147483668" r:id="rId5"/>
    <p:sldLayoutId id="2147483678" r:id="rId6"/>
    <p:sldLayoutId id="2147483667" r:id="rId7"/>
    <p:sldLayoutId id="2147483665" r:id="rId8"/>
    <p:sldLayoutId id="2147483666" r:id="rId9"/>
    <p:sldLayoutId id="2147483670" r:id="rId10"/>
    <p:sldLayoutId id="2147483671" r:id="rId11"/>
    <p:sldLayoutId id="2147483674" r:id="rId12"/>
    <p:sldLayoutId id="2147483675" r:id="rId13"/>
    <p:sldLayoutId id="2147483676" r:id="rId14"/>
    <p:sldLayoutId id="2147483677" r:id="rId15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3600" kern="1200" cap="none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kumimoji="1" sz="20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0">
                <a:solidFill>
                  <a:srgbClr val="355071"/>
                </a:solidFill>
                <a:latin typeface="游ゴシック Medium"/>
                <a:ea typeface="游ゴシック Medium"/>
              </a:rPr>
              <a:t>ICAD 2D/3D 抽出情報のご紹介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2FA3EE"/>
                </a:solidFill>
                <a:latin typeface="游ゴシック Medium"/>
                <a:ea typeface="游ゴシック Medium"/>
              </a:rPr>
              <a:t>ナレッジシステム連携に向けた抽出可能項目の整理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sz="1300">
                <a:solidFill>
                  <a:srgbClr val="595959"/>
                </a:solidFill>
                <a:latin typeface="游ゴシック Medium"/>
                <a:ea typeface="游ゴシック Medium"/>
              </a:rPr>
              <a:t>2026.05.28　/　株式会社アルパイン設計事務所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355071"/>
                </a:solidFill>
                <a:latin typeface="游ゴシック Medium"/>
                <a:ea typeface="游ゴシック Medium"/>
              </a:rPr>
              <a:t>目次　Agenda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00000" y="1500000"/>
            <a:ext cx="700000" cy="560000"/>
          </a:xfrm>
          <a:prstGeom prst="roundRect">
            <a:avLst/>
          </a:prstGeom>
          <a:solidFill>
            <a:srgbClr val="2FA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游ゴシック Medium"/>
                <a:ea typeface="游ゴシック Medium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0000" y="1500000"/>
            <a:ext cx="9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r>
              <a:rPr sz="1800" b="1">
                <a:solidFill>
                  <a:srgbClr val="355071"/>
                </a:solidFill>
                <a:latin typeface="游ゴシック Medium"/>
                <a:ea typeface="游ゴシック Medium"/>
              </a:rPr>
              <a:t>背景と目的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50000" y="1780000"/>
            <a:ext cx="10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游ゴシック Medium"/>
                <a:ea typeface="游ゴシック Medium"/>
              </a:rPr>
              <a:t>なぜ ICAD ネイティブ抽出に取り組むか</a:t>
            </a:r>
          </a:p>
        </p:txBody>
      </p:sp>
      <p:sp>
        <p:nvSpPr>
          <p:cNvPr id="6" name="Rectangle 5"/>
          <p:cNvSpPr/>
          <p:nvPr/>
        </p:nvSpPr>
        <p:spPr>
          <a:xfrm>
            <a:off x="1650000" y="2120000"/>
            <a:ext cx="10000000" cy="8000"/>
          </a:xfrm>
          <a:prstGeom prst="rect">
            <a:avLst/>
          </a:prstGeom>
          <a:solidFill>
            <a:srgbClr val="E6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0000" y="2220000"/>
            <a:ext cx="700000" cy="560000"/>
          </a:xfrm>
          <a:prstGeom prst="roundRect">
            <a:avLst/>
          </a:prstGeom>
          <a:solidFill>
            <a:srgbClr val="2FA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游ゴシック Medium"/>
                <a:ea typeface="游ゴシック Medium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220000"/>
            <a:ext cx="9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r>
              <a:rPr sz="1800" b="1">
                <a:solidFill>
                  <a:srgbClr val="355071"/>
                </a:solidFill>
                <a:latin typeface="游ゴシック Medium"/>
                <a:ea typeface="游ゴシック Medium"/>
              </a:rPr>
              <a:t>ICAD 3D から取れる情報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0000" y="2500000"/>
            <a:ext cx="10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游ゴシック Medium"/>
                <a:ea typeface="游ゴシック Medium"/>
              </a:rPr>
              <a:t>部品階層・コメント・任意情報・外部参照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50000" y="2840000"/>
            <a:ext cx="10000000" cy="8000"/>
          </a:xfrm>
          <a:prstGeom prst="rect">
            <a:avLst/>
          </a:prstGeom>
          <a:solidFill>
            <a:srgbClr val="E6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0000" y="2940000"/>
            <a:ext cx="700000" cy="560000"/>
          </a:xfrm>
          <a:prstGeom prst="roundRect">
            <a:avLst/>
          </a:prstGeom>
          <a:solidFill>
            <a:srgbClr val="2FA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游ゴシック Medium"/>
                <a:ea typeface="游ゴシック Medium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2940000"/>
            <a:ext cx="9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r>
              <a:rPr sz="1800" b="1">
                <a:solidFill>
                  <a:srgbClr val="355071"/>
                </a:solidFill>
                <a:latin typeface="游ゴシック Medium"/>
                <a:ea typeface="游ゴシック Medium"/>
              </a:rPr>
              <a:t>ICAD 2D から取れる情報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0000" y="3220000"/>
            <a:ext cx="10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游ゴシック Medium"/>
                <a:ea typeface="游ゴシック Medium"/>
              </a:rPr>
              <a:t>文字・寸法・公差・注記・溶接・バルーン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50000" y="3560000"/>
            <a:ext cx="10000000" cy="8000"/>
          </a:xfrm>
          <a:prstGeom prst="rect">
            <a:avLst/>
          </a:prstGeom>
          <a:solidFill>
            <a:srgbClr val="E6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0000" y="3660000"/>
            <a:ext cx="700000" cy="560000"/>
          </a:xfrm>
          <a:prstGeom prst="roundRect">
            <a:avLst/>
          </a:prstGeom>
          <a:solidFill>
            <a:srgbClr val="2FA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游ゴシック Medium"/>
                <a:ea typeface="游ゴシック Medium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3660000"/>
            <a:ext cx="9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r>
              <a:rPr sz="1800" b="1">
                <a:solidFill>
                  <a:srgbClr val="355071"/>
                </a:solidFill>
                <a:latin typeface="游ゴシック Medium"/>
                <a:ea typeface="游ゴシック Medium"/>
              </a:rPr>
              <a:t>「取れる項目」と「使う項目」の整理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0000" y="3940000"/>
            <a:ext cx="10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游ゴシック Medium"/>
                <a:ea typeface="游ゴシック Medium"/>
              </a:rPr>
              <a:t>技術的可能性と運用上の優先度を切り分け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50000" y="4280000"/>
            <a:ext cx="10000000" cy="8000"/>
          </a:xfrm>
          <a:prstGeom prst="rect">
            <a:avLst/>
          </a:prstGeom>
          <a:solidFill>
            <a:srgbClr val="E6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0000" y="4380000"/>
            <a:ext cx="700000" cy="560000"/>
          </a:xfrm>
          <a:prstGeom prst="roundRect">
            <a:avLst/>
          </a:prstGeom>
          <a:solidFill>
            <a:srgbClr val="2FA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游ゴシック Medium"/>
                <a:ea typeface="游ゴシック Medium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4380000"/>
            <a:ext cx="9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r>
              <a:rPr sz="1800" b="1">
                <a:solidFill>
                  <a:srgbClr val="355071"/>
                </a:solidFill>
                <a:latin typeface="游ゴシック Medium"/>
                <a:ea typeface="游ゴシック Medium"/>
              </a:rPr>
              <a:t>形式別の抽出特性と速度感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50000" y="4660000"/>
            <a:ext cx="10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游ゴシック Medium"/>
                <a:ea typeface="游ゴシック Medium"/>
              </a:rPr>
              <a:t>ICAD ／ PDF ／ STEP ／ OCR の比較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50000" y="5000000"/>
            <a:ext cx="10000000" cy="8000"/>
          </a:xfrm>
          <a:prstGeom prst="rect">
            <a:avLst/>
          </a:prstGeom>
          <a:solidFill>
            <a:srgbClr val="E6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355071"/>
                </a:solidFill>
                <a:latin typeface="游ゴシック Medium"/>
                <a:ea typeface="游ゴシック Medium"/>
              </a:rPr>
              <a:t>背景と目的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rPr sz="1400">
                <a:solidFill>
                  <a:srgbClr val="2FA3EE"/>
                </a:solidFill>
                <a:latin typeface="游ゴシック Medium"/>
                <a:ea typeface="游ゴシック Medium"/>
              </a:rPr>
              <a:t>なぜ ICAD ネイティブ抽出を整理するのか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1500000"/>
            <a:ext cx="10792000" cy="55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>
            <a:spAutoFit/>
          </a:bodyPr>
          <a:lstStyle/>
          <a:p>
            <a:r>
              <a:rPr sz="1500" b="1">
                <a:solidFill>
                  <a:srgbClr val="355071"/>
                </a:solidFill>
                <a:latin typeface="游ゴシック Medium"/>
                <a:ea typeface="游ゴシック Medium"/>
              </a:rPr>
              <a:t>ナレッジシステムの精度課題は「自然言語処理」ではなく「事前メタデータ不足」に起因する部分が大きい。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000" y="2200000"/>
            <a:ext cx="3497333" cy="500000"/>
          </a:xfrm>
          <a:prstGeom prst="roundRect">
            <a:avLst/>
          </a:prstGeom>
          <a:solidFill>
            <a:srgbClr val="CE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</a:rPr>
              <a:t>現状の課題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2740000"/>
            <a:ext cx="3497333" cy="3160000"/>
          </a:xfrm>
          <a:prstGeom prst="rect">
            <a:avLst/>
          </a:prstGeom>
          <a:solidFill>
            <a:srgbClr val="F2F5F8"/>
          </a:solidFill>
          <a:ln w="6350">
            <a:solidFill>
              <a:srgbClr val="CE6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000" y="2860000"/>
            <a:ext cx="3197333" cy="300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>
            <a:spAutoFit/>
          </a:bodyPr>
          <a:lstStyle/>
          <a:p>
            <a:pPr>
              <a:lnSpc>
                <a:spcPct val="14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・案件・客先・カテゴリ名の切り分け不足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・BOM／部品情報から案件名へ上がれない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・資料なし時に無関係資料を混入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・規格表・仕様書の精度が不安定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7333" y="2200000"/>
            <a:ext cx="3497333" cy="500000"/>
          </a:xfrm>
          <a:prstGeom prst="roundRect">
            <a:avLst/>
          </a:prstGeom>
          <a:solidFill>
            <a:srgbClr val="2FA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</a:rPr>
              <a:t>狙い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4397333" y="2740000"/>
            <a:ext cx="3497333" cy="3160000"/>
          </a:xfrm>
          <a:prstGeom prst="rect">
            <a:avLst/>
          </a:prstGeom>
          <a:solidFill>
            <a:srgbClr val="F2F5F8"/>
          </a:solidFill>
          <a:ln w="6350">
            <a:solidFill>
              <a:srgbClr val="2FA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7333" y="2860000"/>
            <a:ext cx="3197333" cy="300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>
            <a:spAutoFit/>
          </a:bodyPr>
          <a:lstStyle/>
          <a:p>
            <a:pPr>
              <a:lnSpc>
                <a:spcPct val="14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・ICAD 2D／3D からネイティブで構造情報を取得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・OCR や形状変換に頼らず確実に取れる項目を整理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・「取れる項目」と「使う項目」を切り分ける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・後工程（PDM／RAG）の共通入力源として整備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4666" y="2200000"/>
            <a:ext cx="3497333" cy="500000"/>
          </a:xfrm>
          <a:prstGeom prst="roundRect">
            <a:avLst/>
          </a:prstGeom>
          <a:solidFill>
            <a:srgbClr val="4BC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 Medium"/>
                <a:ea typeface="游ゴシック Medium"/>
              </a:rPr>
              <a:t>期待効果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4666" y="2740000"/>
            <a:ext cx="3497333" cy="3160000"/>
          </a:xfrm>
          <a:prstGeom prst="rect">
            <a:avLst/>
          </a:prstGeom>
          <a:solidFill>
            <a:srgbClr val="F2F5F8"/>
          </a:solidFill>
          <a:ln w="6350">
            <a:solidFill>
              <a:srgbClr val="4BC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4666" y="2860000"/>
            <a:ext cx="3197333" cy="300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>
            <a:spAutoFit/>
          </a:bodyPr>
          <a:lstStyle/>
          <a:p>
            <a:pPr>
              <a:lnSpc>
                <a:spcPct val="14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・案件・客先・装置の事前フィルタが安定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・部品情報から案件・装置へ辿れる経路ができる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・回答根拠が分かる図面表示につながる</a:t>
            </a:r>
          </a:p>
          <a:p>
            <a:pPr>
              <a:lnSpc>
                <a:spcPct val="140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・手動補正コストの削減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游ゴシック Medium"/>
                <a:ea typeface="游ゴシック Medium"/>
              </a:rPr>
              <a:t>ICAD から取れる情報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rPr sz="1800" b="1">
                <a:solidFill>
                  <a:srgbClr val="FFFFFF"/>
                </a:solidFill>
                <a:latin typeface="游ゴシック Medium"/>
                <a:ea typeface="游ゴシック Medium"/>
              </a:rPr>
              <a:t>CHAPTER　01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half"/>
          </p:nvPr>
        </p:nvSpPr>
        <p:spPr/>
        <p:txBody>
          <a:bodyPr/>
          <a:lstStyle/>
          <a:p>
            <a:r>
              <a:rPr sz="1600" b="1">
                <a:solidFill>
                  <a:srgbClr val="2FA3EE"/>
                </a:solidFill>
                <a:latin typeface="游ゴシック Medium"/>
                <a:ea typeface="游ゴシック Medium"/>
              </a:rPr>
              <a:t>Introduction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r>
              <a:rPr sz="1600" b="0">
                <a:solidFill>
                  <a:srgbClr val="355071"/>
                </a:solidFill>
                <a:latin typeface="游ゴシック Medium"/>
                <a:ea typeface="游ゴシック Medium"/>
              </a:rPr>
              <a:t>sxnet（.NET API）を使えば、ICAD 3D／2D それぞれから</a:t>
            </a:r>
          </a:p>
          <a:p>
            <a:pPr>
              <a:lnSpc>
                <a:spcPct val="140000"/>
              </a:lnSpc>
            </a:pPr>
            <a:r>
              <a:rPr sz="1600" b="0">
                <a:solidFill>
                  <a:srgbClr val="355071"/>
                </a:solidFill>
                <a:latin typeface="游ゴシック Medium"/>
                <a:ea typeface="游ゴシック Medium"/>
              </a:rPr>
              <a:t>ネイティブな構造情報を直接取得できる。</a:t>
            </a:r>
          </a:p>
          <a:p>
            <a:pPr>
              <a:lnSpc>
                <a:spcPct val="140000"/>
              </a:lnSpc>
            </a:pPr>
            <a:r>
              <a:rPr sz="1600" b="0">
                <a:solidFill>
                  <a:srgbClr val="355071"/>
                </a:solidFill>
                <a:latin typeface="游ゴシック Medium"/>
                <a:ea typeface="游ゴシック Medium"/>
              </a:rPr>
              <a:t/>
            </a:r>
          </a:p>
          <a:p>
            <a:pPr>
              <a:lnSpc>
                <a:spcPct val="140000"/>
              </a:lnSpc>
            </a:pPr>
            <a:r>
              <a:rPr sz="1600" b="0">
                <a:solidFill>
                  <a:srgbClr val="355071"/>
                </a:solidFill>
                <a:latin typeface="游ゴシック Medium"/>
                <a:ea typeface="游ゴシック Medium"/>
              </a:rPr>
              <a:t>OCR や形状変換に頼らず、まず「確実に取れる項目」を整理し、</a:t>
            </a:r>
          </a:p>
          <a:p>
            <a:pPr>
              <a:lnSpc>
                <a:spcPct val="140000"/>
              </a:lnSpc>
            </a:pPr>
            <a:r>
              <a:rPr sz="1600" b="0">
                <a:solidFill>
                  <a:srgbClr val="355071"/>
                </a:solidFill>
                <a:latin typeface="游ゴシック Medium"/>
                <a:ea typeface="游ゴシック Medium"/>
              </a:rPr>
              <a:t>後段の活用方針を決められる状態にすることが本資料の目的。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355071"/>
                </a:solidFill>
                <a:latin typeface="游ゴシック Medium"/>
                <a:ea typeface="游ゴシック Medium"/>
              </a:rPr>
              <a:t>ICAD 3D から取れる情報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7000" y="950000"/>
            <a:ext cx="1096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r>
              <a:rPr sz="1400" b="0">
                <a:solidFill>
                  <a:srgbClr val="2FA3EE"/>
                </a:solidFill>
                <a:latin typeface="游ゴシック Medium"/>
                <a:ea typeface="游ゴシック Medium"/>
              </a:rPr>
              <a:t>sxnet の一括取得 API（getInfPartTree／getInfExTopPart）で、部品階層＋詳細＋任意情報をまとめて取得できる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0000" y="1900000"/>
            <a:ext cx="5346000" cy="460000"/>
          </a:xfrm>
          <a:prstGeom prst="roundRect">
            <a:avLst/>
          </a:prstGeom>
          <a:solidFill>
            <a:srgbClr val="2FA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 Medium"/>
                <a:ea typeface="游ゴシック Medium"/>
              </a:rPr>
              <a:t>最上位パーツ情報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2380000"/>
            <a:ext cx="5346000" cy="1699000"/>
          </a:xfrm>
          <a:prstGeom prst="rect">
            <a:avLst/>
          </a:prstGeom>
          <a:solidFill>
            <a:srgbClr val="F2F5F8"/>
          </a:solidFill>
          <a:ln w="6350">
            <a:solidFill>
              <a:srgbClr val="2FA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0000" y="2480000"/>
            <a:ext cx="5026000" cy="1499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>
            <a:spAutoFit/>
          </a:bodyPr>
          <a:lstStyle/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・top_part_name（最上位パーツ名）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・top_part_comment（コメント）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・top_part_ex_info（任意情報文字列）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・→ 案件名・装置名候補の主供給源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6000" y="1900000"/>
            <a:ext cx="5346000" cy="460000"/>
          </a:xfrm>
          <a:prstGeom prst="roundRect">
            <a:avLst/>
          </a:prstGeom>
          <a:solidFill>
            <a:srgbClr val="4BC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 Medium"/>
                <a:ea typeface="游ゴシック Medium"/>
              </a:rPr>
              <a:t>部品階層・部品詳細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6000" y="2380000"/>
            <a:ext cx="5346000" cy="1699000"/>
          </a:xfrm>
          <a:prstGeom prst="rect">
            <a:avLst/>
          </a:prstGeom>
          <a:solidFill>
            <a:srgbClr val="F2F5F8"/>
          </a:solidFill>
          <a:ln w="6350">
            <a:solidFill>
              <a:srgbClr val="4BC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6000" y="2480000"/>
            <a:ext cx="5026000" cy="1499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>
            <a:spAutoFit/>
          </a:bodyPr>
          <a:lstStyle/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・part_names[]（全パーツ名）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・part_comments[]（コメント）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・part_tree_paths[]（階層パス）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・→ BOM 相当の構造情報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0000" y="4279000"/>
            <a:ext cx="5346000" cy="460000"/>
          </a:xfrm>
          <a:prstGeom prst="roundRect">
            <a:avLst/>
          </a:prstGeom>
          <a:solidFill>
            <a:srgbClr val="D99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 Medium"/>
                <a:ea typeface="游ゴシック Medium"/>
              </a:rPr>
              <a:t>外部参照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0000" y="4759000"/>
            <a:ext cx="5346000" cy="1699000"/>
          </a:xfrm>
          <a:prstGeom prst="rect">
            <a:avLst/>
          </a:prstGeom>
          <a:solidFill>
            <a:srgbClr val="F2F5F8"/>
          </a:solidFill>
          <a:ln w="6350">
            <a:solidFill>
              <a:srgbClr val="D99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0000" y="4859000"/>
            <a:ext cx="5026000" cy="1499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>
            <a:spAutoFit/>
          </a:bodyPr>
          <a:lstStyle/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・ref_model_names[]（参照図面名）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・ref_model_paths[]（参照パス）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・external_part_exists（外部参照有無）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・→ 関連図面トレースの起点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6000" y="4279000"/>
            <a:ext cx="5346000" cy="460000"/>
          </a:xfrm>
          <a:prstGeom prst="roundRect">
            <a:avLst/>
          </a:prstGeom>
          <a:solidFill>
            <a:srgbClr val="A35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 Medium"/>
                <a:ea typeface="游ゴシック Medium"/>
              </a:rPr>
              <a:t>状態フラグ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6000" y="4759000"/>
            <a:ext cx="5346000" cy="1699000"/>
          </a:xfrm>
          <a:prstGeom prst="rect">
            <a:avLst/>
          </a:prstGeom>
          <a:solidFill>
            <a:srgbClr val="F2F5F8"/>
          </a:solidFill>
          <a:ln w="6350">
            <a:solidFill>
              <a:srgbClr val="A35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6000" y="4859000"/>
            <a:ext cx="5026000" cy="1499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>
            <a:spAutoFit/>
          </a:bodyPr>
          <a:lstStyle/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・is_mirror（ミラー部品）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・is_unloaded（未ロード部品）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・is_read_only（読取専用）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・→ 抽出品質の判定材料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355071"/>
                </a:solidFill>
                <a:latin typeface="游ゴシック Medium"/>
                <a:ea typeface="游ゴシック Medium"/>
              </a:rPr>
              <a:t>ICAD 2D から取れる情報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7000" y="950000"/>
            <a:ext cx="1096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r>
              <a:rPr sz="1400" b="0">
                <a:solidFill>
                  <a:srgbClr val="2FA3EE"/>
                </a:solidFill>
                <a:latin typeface="游ゴシック Medium"/>
                <a:ea typeface="游ゴシック Medium"/>
              </a:rPr>
              <a:t>sxnet の getGeomList() で、文字・寸法・注記・記号・溶接情報を OCR に頼らずネイティブ抽出できる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0000" y="1900000"/>
            <a:ext cx="5346000" cy="460000"/>
          </a:xfrm>
          <a:prstGeom prst="roundRect">
            <a:avLst/>
          </a:prstGeom>
          <a:solidFill>
            <a:srgbClr val="2FA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 Medium"/>
                <a:ea typeface="游ゴシック Medium"/>
              </a:rPr>
              <a:t>文字情報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2380000"/>
            <a:ext cx="5346000" cy="1699000"/>
          </a:xfrm>
          <a:prstGeom prst="rect">
            <a:avLst/>
          </a:prstGeom>
          <a:solidFill>
            <a:srgbClr val="F2F5F8"/>
          </a:solidFill>
          <a:ln w="6350">
            <a:solidFill>
              <a:srgbClr val="2FA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0000" y="2480000"/>
            <a:ext cx="5026000" cy="1499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>
            <a:spAutoFit/>
          </a:bodyPr>
          <a:lstStyle/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・text_tokens[]（一般文字）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・label_texts[]（ラベル文字）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・title_block_fields（表題欄文字）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・→ 図面番号・案件・客先候補の供給源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6000" y="1900000"/>
            <a:ext cx="5346000" cy="460000"/>
          </a:xfrm>
          <a:prstGeom prst="roundRect">
            <a:avLst/>
          </a:prstGeom>
          <a:solidFill>
            <a:srgbClr val="4BC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 Medium"/>
                <a:ea typeface="游ゴシック Medium"/>
              </a:rPr>
              <a:t>寸法・公差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6000" y="2380000"/>
            <a:ext cx="5346000" cy="1699000"/>
          </a:xfrm>
          <a:prstGeom prst="rect">
            <a:avLst/>
          </a:prstGeom>
          <a:solidFill>
            <a:srgbClr val="F2F5F8"/>
          </a:solidFill>
          <a:ln w="6350">
            <a:solidFill>
              <a:srgbClr val="4BCA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6000" y="2480000"/>
            <a:ext cx="5026000" cy="1499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>
            <a:spAutoFit/>
          </a:bodyPr>
          <a:lstStyle/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・dimension_values[]（寸法値）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・dimension_symbols[]（径・面取等）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・tolerance_texts[]（公差文字）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・→ 規格・仕様マッチングに利用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0000" y="4279000"/>
            <a:ext cx="5346000" cy="460000"/>
          </a:xfrm>
          <a:prstGeom prst="roundRect">
            <a:avLst/>
          </a:prstGeom>
          <a:solidFill>
            <a:srgbClr val="D99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 Medium"/>
                <a:ea typeface="游ゴシック Medium"/>
              </a:rPr>
              <a:t>注記・溶接・バルーン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0000" y="4759000"/>
            <a:ext cx="5346000" cy="1699000"/>
          </a:xfrm>
          <a:prstGeom prst="rect">
            <a:avLst/>
          </a:prstGeom>
          <a:solidFill>
            <a:srgbClr val="F2F5F8"/>
          </a:solidFill>
          <a:ln w="6350">
            <a:solidFill>
              <a:srgbClr val="D99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0000" y="4859000"/>
            <a:ext cx="5026000" cy="1499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>
            <a:spAutoFit/>
          </a:bodyPr>
          <a:lstStyle/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・weld_note_texts[]（溶接注記）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・balloon_keys[]（バルーン番号）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・surface_treatment_tokens[]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・→ 工程・処理・部品照合に利用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6000" y="4279000"/>
            <a:ext cx="5346000" cy="460000"/>
          </a:xfrm>
          <a:prstGeom prst="roundRect">
            <a:avLst/>
          </a:prstGeom>
          <a:solidFill>
            <a:srgbClr val="A35D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游ゴシック Medium"/>
                <a:ea typeface="游ゴシック Medium"/>
              </a:rPr>
              <a:t>業務補助キーワード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6000" y="4759000"/>
            <a:ext cx="5346000" cy="1699000"/>
          </a:xfrm>
          <a:prstGeom prst="rect">
            <a:avLst/>
          </a:prstGeom>
          <a:solidFill>
            <a:srgbClr val="F2F5F8"/>
          </a:solidFill>
          <a:ln w="6350">
            <a:solidFill>
              <a:srgbClr val="A35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6000" y="4859000"/>
            <a:ext cx="5026000" cy="1499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>
            <a:spAutoFit/>
          </a:bodyPr>
          <a:lstStyle/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・material_keywords[]（材料）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・process_keywords[]（工程）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・maker_keywords[]（メーカー）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游ゴシック Medium"/>
                <a:ea typeface="游ゴシック Medium"/>
              </a:rPr>
              <a:t>・→ 後段の絞り込み・再ランキング材料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355071"/>
                </a:solidFill>
                <a:latin typeface="游ゴシック Medium"/>
                <a:ea typeface="游ゴシック Medium"/>
              </a:rPr>
              <a:t>「取れる項目」と「使う項目」を分けて整理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7000" y="950000"/>
            <a:ext cx="1096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r>
              <a:rPr sz="1400" b="0">
                <a:solidFill>
                  <a:srgbClr val="2FA3EE"/>
                </a:solidFill>
                <a:latin typeface="游ゴシック Medium"/>
                <a:ea typeface="游ゴシック Medium"/>
              </a:rPr>
              <a:t>技術的に「取れるもの」を全て使うわけではない。実運用で価値が高い項目を優先する。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1900000"/>
            <a:ext cx="1300000" cy="45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900000"/>
            <a:ext cx="13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 Medium"/>
                <a:ea typeface="游ゴシック Medium"/>
              </a:rPr>
              <a:t>分類</a:t>
            </a:r>
          </a:p>
        </p:txBody>
      </p:sp>
      <p:sp>
        <p:nvSpPr>
          <p:cNvPr id="8" name="Rectangle 7"/>
          <p:cNvSpPr/>
          <p:nvPr/>
        </p:nvSpPr>
        <p:spPr>
          <a:xfrm>
            <a:off x="2000000" y="1900000"/>
            <a:ext cx="3400000" cy="45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00000" y="1900000"/>
            <a:ext cx="34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 Medium"/>
                <a:ea typeface="游ゴシック Medium"/>
              </a:rPr>
              <a:t>取れる項目（技術的に可能）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0" y="1900000"/>
            <a:ext cx="3400000" cy="45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0" y="1900000"/>
            <a:ext cx="34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 Medium"/>
                <a:ea typeface="游ゴシック Medium"/>
              </a:rPr>
              <a:t>使う項目（運用で活用）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00000" y="1900000"/>
            <a:ext cx="2700000" cy="45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0000" y="1900000"/>
            <a:ext cx="27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 Medium"/>
                <a:ea typeface="游ゴシック Medium"/>
              </a:rPr>
              <a:t>用途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000" y="2350000"/>
            <a:ext cx="1300000" cy="550000"/>
          </a:xfrm>
          <a:prstGeom prst="rect">
            <a:avLst/>
          </a:prstGeom>
          <a:solidFill>
            <a:srgbClr val="F2F5F8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2350000"/>
            <a:ext cx="118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ctr"/>
            <a:r>
              <a:rPr sz="1200" b="1">
                <a:solidFill>
                  <a:srgbClr val="2FA3EE"/>
                </a:solidFill>
                <a:latin typeface="游ゴシック Medium"/>
                <a:ea typeface="游ゴシック Medium"/>
              </a:rPr>
              <a:t>3D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00000" y="2350000"/>
            <a:ext cx="3400000" cy="550000"/>
          </a:xfrm>
          <a:prstGeom prst="rect">
            <a:avLst/>
          </a:prstGeom>
          <a:solidFill>
            <a:srgbClr val="F2F5F8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60000" y="2350000"/>
            <a:ext cx="328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部品階層・部品名・コメント・外部参照・任意情報・全パス・状態フラグ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00" y="2350000"/>
            <a:ext cx="3400000" cy="550000"/>
          </a:xfrm>
          <a:prstGeom prst="rect">
            <a:avLst/>
          </a:prstGeom>
          <a:solidFill>
            <a:srgbClr val="F2F5F8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60000" y="2350000"/>
            <a:ext cx="328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top_part_ex_info / part_names / ref_model_names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00000" y="2350000"/>
            <a:ext cx="2700000" cy="550000"/>
          </a:xfrm>
          <a:prstGeom prst="rect">
            <a:avLst/>
          </a:prstGeom>
          <a:solidFill>
            <a:srgbClr val="F2F5F8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0000" y="2350000"/>
            <a:ext cx="258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案件名／装置／BOM 相当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0000" y="2900000"/>
            <a:ext cx="1300000" cy="5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2900000"/>
            <a:ext cx="118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ctr"/>
            <a:r>
              <a:rPr sz="1200" b="1">
                <a:solidFill>
                  <a:srgbClr val="2FA3EE"/>
                </a:solidFill>
                <a:latin typeface="游ゴシック Medium"/>
                <a:ea typeface="游ゴシック Medium"/>
              </a:rPr>
              <a:t>2D 文字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00000" y="2900000"/>
            <a:ext cx="3400000" cy="5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60000" y="2900000"/>
            <a:ext cx="328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全文字列・ラベル・表題欄・段落構造・座標位置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00" y="2900000"/>
            <a:ext cx="3400000" cy="5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60000" y="2900000"/>
            <a:ext cx="328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title_block_fields / label_texts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00000" y="2900000"/>
            <a:ext cx="2700000" cy="5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0000" y="2900000"/>
            <a:ext cx="258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図面番号／客先／案件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0000" y="3450000"/>
            <a:ext cx="1300000" cy="550000"/>
          </a:xfrm>
          <a:prstGeom prst="rect">
            <a:avLst/>
          </a:prstGeom>
          <a:solidFill>
            <a:srgbClr val="F2F5F8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0000" y="3450000"/>
            <a:ext cx="118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ctr"/>
            <a:r>
              <a:rPr sz="1200" b="1">
                <a:solidFill>
                  <a:srgbClr val="2FA3EE"/>
                </a:solidFill>
                <a:latin typeface="游ゴシック Medium"/>
                <a:ea typeface="游ゴシック Medium"/>
              </a:rPr>
              <a:t>2D 寸法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00000" y="3450000"/>
            <a:ext cx="3400000" cy="550000"/>
          </a:xfrm>
          <a:prstGeom prst="rect">
            <a:avLst/>
          </a:prstGeom>
          <a:solidFill>
            <a:srgbClr val="F2F5F8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60000" y="3450000"/>
            <a:ext cx="328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全寸法値・公差・前後語・上下限・記号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00000" y="3450000"/>
            <a:ext cx="3400000" cy="550000"/>
          </a:xfrm>
          <a:prstGeom prst="rect">
            <a:avLst/>
          </a:prstGeom>
          <a:solidFill>
            <a:srgbClr val="F2F5F8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60000" y="3450000"/>
            <a:ext cx="328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dimension_values / tolerance_texts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00000" y="3450000"/>
            <a:ext cx="2700000" cy="550000"/>
          </a:xfrm>
          <a:prstGeom prst="rect">
            <a:avLst/>
          </a:prstGeom>
          <a:solidFill>
            <a:srgbClr val="F2F5F8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0000" y="3450000"/>
            <a:ext cx="258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規格マッチング／公差検索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0000" y="4000000"/>
            <a:ext cx="1300000" cy="5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0000" y="4000000"/>
            <a:ext cx="118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ctr"/>
            <a:r>
              <a:rPr sz="1200" b="1">
                <a:solidFill>
                  <a:srgbClr val="2FA3EE"/>
                </a:solidFill>
                <a:latin typeface="游ゴシック Medium"/>
                <a:ea typeface="游ゴシック Medium"/>
              </a:rPr>
              <a:t>2D 注記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00000" y="4000000"/>
            <a:ext cx="3400000" cy="5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60000" y="4000000"/>
            <a:ext cx="328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溶接注記・バルーン・面取記号・指示記号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00000" y="4000000"/>
            <a:ext cx="3400000" cy="5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60000" y="4000000"/>
            <a:ext cx="328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weld_note_texts / balloon_keys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00000" y="4000000"/>
            <a:ext cx="2700000" cy="5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60000" y="4000000"/>
            <a:ext cx="258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工程／部品照合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0000" y="4550000"/>
            <a:ext cx="1300000" cy="550000"/>
          </a:xfrm>
          <a:prstGeom prst="rect">
            <a:avLst/>
          </a:prstGeom>
          <a:solidFill>
            <a:srgbClr val="F2F5F8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0000" y="4550000"/>
            <a:ext cx="118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ctr"/>
            <a:r>
              <a:rPr sz="1200" b="1">
                <a:solidFill>
                  <a:srgbClr val="2FA3EE"/>
                </a:solidFill>
                <a:latin typeface="游ゴシック Medium"/>
                <a:ea typeface="游ゴシック Medium"/>
              </a:rPr>
              <a:t>業務語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00000" y="4550000"/>
            <a:ext cx="3400000" cy="550000"/>
          </a:xfrm>
          <a:prstGeom prst="rect">
            <a:avLst/>
          </a:prstGeom>
          <a:solidFill>
            <a:srgbClr val="F2F5F8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60000" y="4550000"/>
            <a:ext cx="328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全テキスト→キーワード抽出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00000" y="4550000"/>
            <a:ext cx="3400000" cy="550000"/>
          </a:xfrm>
          <a:prstGeom prst="rect">
            <a:avLst/>
          </a:prstGeom>
          <a:solidFill>
            <a:srgbClr val="F2F5F8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60000" y="4550000"/>
            <a:ext cx="328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material / process / maker / heat_treatment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00000" y="4550000"/>
            <a:ext cx="2700000" cy="550000"/>
          </a:xfrm>
          <a:prstGeom prst="rect">
            <a:avLst/>
          </a:prstGeom>
          <a:solidFill>
            <a:srgbClr val="F2F5F8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60000" y="4550000"/>
            <a:ext cx="258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後段の絞り込み材料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0000" y="5100000"/>
            <a:ext cx="1300000" cy="5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0000" y="5100000"/>
            <a:ext cx="118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ctr"/>
            <a:r>
              <a:rPr sz="1200" b="1">
                <a:solidFill>
                  <a:srgbClr val="2FA3EE"/>
                </a:solidFill>
                <a:latin typeface="游ゴシック Medium"/>
                <a:ea typeface="游ゴシック Medium"/>
              </a:rPr>
              <a:t>メタ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00000" y="5100000"/>
            <a:ext cx="3400000" cy="5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60000" y="5100000"/>
            <a:ext cx="328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抽出時間・警告・抽出器バージョン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00000" y="5100000"/>
            <a:ext cx="3400000" cy="5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60000" y="5100000"/>
            <a:ext cx="328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extraction_status / confidence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800000" y="5100000"/>
            <a:ext cx="2700000" cy="5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60000" y="5100000"/>
            <a:ext cx="258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抽出品質の判定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355071"/>
                </a:solidFill>
                <a:latin typeface="游ゴシック Medium"/>
                <a:ea typeface="游ゴシック Medium"/>
              </a:rPr>
              <a:t>形式別の抽出特性と速度感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7000" y="950000"/>
            <a:ext cx="1096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r>
              <a:rPr sz="1400" b="0">
                <a:solidFill>
                  <a:srgbClr val="2FA3EE"/>
                </a:solidFill>
                <a:latin typeface="游ゴシック Medium"/>
                <a:ea typeface="游ゴシック Medium"/>
              </a:rPr>
              <a:t>費用対効果が高いのは ICAD 3D／2D のネイティブ抽出。STEP と OCR は別工程として切り分ける。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1900000"/>
            <a:ext cx="2200000" cy="45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900000"/>
            <a:ext cx="22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 Medium"/>
                <a:ea typeface="游ゴシック Medium"/>
              </a:rPr>
              <a:t>形式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2900000" y="1900000"/>
            <a:ext cx="2900000" cy="45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00000" y="1900000"/>
            <a:ext cx="29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 Medium"/>
                <a:ea typeface="游ゴシック Medium"/>
              </a:rPr>
              <a:t>主な抽出内容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0000" y="1900000"/>
            <a:ext cx="2200000" cy="45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0000" y="1900000"/>
            <a:ext cx="22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 Medium"/>
                <a:ea typeface="游ゴシック Medium"/>
              </a:rPr>
              <a:t>速度感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0000" y="1900000"/>
            <a:ext cx="1500000" cy="45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0000" y="1900000"/>
            <a:ext cx="15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 Medium"/>
                <a:ea typeface="游ゴシック Medium"/>
              </a:rPr>
              <a:t>OCR 依存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0000" y="1900000"/>
            <a:ext cx="2000000" cy="450000"/>
          </a:xfrm>
          <a:prstGeom prst="rect">
            <a:avLst/>
          </a:prstGeom>
          <a:solidFill>
            <a:srgbClr val="35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0000" y="1900000"/>
            <a:ext cx="20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游ゴシック Medium"/>
                <a:ea typeface="游ゴシック Medium"/>
              </a:rPr>
              <a:t>実装上の扱い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0000" y="2350000"/>
            <a:ext cx="2200000" cy="580000"/>
          </a:xfrm>
          <a:prstGeom prst="rect">
            <a:avLst/>
          </a:prstGeom>
          <a:solidFill>
            <a:srgbClr val="F2F5F8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0000" y="2530000"/>
            <a:ext cx="80000" cy="220000"/>
          </a:xfrm>
          <a:prstGeom prst="rect">
            <a:avLst/>
          </a:prstGeom>
          <a:solidFill>
            <a:srgbClr val="2FA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000" y="2350000"/>
            <a:ext cx="194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l"/>
            <a:r>
              <a:rPr sz="1200" b="1">
                <a:solidFill>
                  <a:srgbClr val="355071"/>
                </a:solidFill>
                <a:latin typeface="游ゴシック Medium"/>
                <a:ea typeface="游ゴシック Medium"/>
              </a:rPr>
              <a:t>ICAD 3D（.icd）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00000" y="2350000"/>
            <a:ext cx="2900000" cy="580000"/>
          </a:xfrm>
          <a:prstGeom prst="rect">
            <a:avLst/>
          </a:prstGeom>
          <a:solidFill>
            <a:srgbClr val="F2F5F8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60000" y="2350000"/>
            <a:ext cx="278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部品階層・任意情報・参照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00000" y="2350000"/>
            <a:ext cx="2200000" cy="580000"/>
          </a:xfrm>
          <a:prstGeom prst="rect">
            <a:avLst/>
          </a:prstGeom>
          <a:solidFill>
            <a:srgbClr val="F2F5F8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60000" y="2350000"/>
            <a:ext cx="208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速い（サブ秒〜数秒）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0" y="2350000"/>
            <a:ext cx="1500000" cy="580000"/>
          </a:xfrm>
          <a:prstGeom prst="rect">
            <a:avLst/>
          </a:prstGeom>
          <a:solidFill>
            <a:srgbClr val="F2F5F8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60000" y="2350000"/>
            <a:ext cx="138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なし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0000" y="2350000"/>
            <a:ext cx="2000000" cy="580000"/>
          </a:xfrm>
          <a:prstGeom prst="rect">
            <a:avLst/>
          </a:prstGeom>
          <a:solidFill>
            <a:srgbClr val="F2F5F8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60000" y="2350000"/>
            <a:ext cx="188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登録時の同期抽出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0000" y="2930000"/>
            <a:ext cx="2200000" cy="5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0000" y="3110000"/>
            <a:ext cx="80000" cy="220000"/>
          </a:xfrm>
          <a:prstGeom prst="rect">
            <a:avLst/>
          </a:prstGeom>
          <a:solidFill>
            <a:srgbClr val="2FA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000" y="2930000"/>
            <a:ext cx="194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l"/>
            <a:r>
              <a:rPr sz="1200" b="1">
                <a:solidFill>
                  <a:srgbClr val="355071"/>
                </a:solidFill>
                <a:latin typeface="游ゴシック Medium"/>
                <a:ea typeface="游ゴシック Medium"/>
              </a:rPr>
              <a:t>ICAD 2D（.icd）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00000" y="2930000"/>
            <a:ext cx="2900000" cy="5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60000" y="2930000"/>
            <a:ext cx="278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文字・寸法・注記・溶接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00000" y="2930000"/>
            <a:ext cx="2200000" cy="5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60000" y="2930000"/>
            <a:ext cx="208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速い〜中（サブ秒〜数秒）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00000" y="2930000"/>
            <a:ext cx="1500000" cy="5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60000" y="2930000"/>
            <a:ext cx="138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なし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00000" y="2930000"/>
            <a:ext cx="2000000" cy="5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60000" y="2930000"/>
            <a:ext cx="188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登録時の同期抽出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0000" y="3510000"/>
            <a:ext cx="2200000" cy="580000"/>
          </a:xfrm>
          <a:prstGeom prst="rect">
            <a:avLst/>
          </a:prstGeom>
          <a:solidFill>
            <a:srgbClr val="F2F5F8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80000" y="3690000"/>
            <a:ext cx="80000" cy="220000"/>
          </a:xfrm>
          <a:prstGeom prst="rect">
            <a:avLst/>
          </a:prstGeom>
          <a:solidFill>
            <a:srgbClr val="D99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000" y="3510000"/>
            <a:ext cx="194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l"/>
            <a:r>
              <a:rPr sz="1200" b="1">
                <a:solidFill>
                  <a:srgbClr val="355071"/>
                </a:solidFill>
                <a:latin typeface="游ゴシック Medium"/>
                <a:ea typeface="游ゴシック Medium"/>
              </a:rPr>
              <a:t>PDF（サーチャブル）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00000" y="3510000"/>
            <a:ext cx="2900000" cy="580000"/>
          </a:xfrm>
          <a:prstGeom prst="rect">
            <a:avLst/>
          </a:prstGeom>
          <a:solidFill>
            <a:srgbClr val="F2F5F8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60000" y="3510000"/>
            <a:ext cx="278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本文・見出し・表題欄文字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00000" y="3510000"/>
            <a:ext cx="2200000" cy="580000"/>
          </a:xfrm>
          <a:prstGeom prst="rect">
            <a:avLst/>
          </a:prstGeom>
          <a:solidFill>
            <a:srgbClr val="F2F5F8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60000" y="3510000"/>
            <a:ext cx="208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中（数秒〜十秒未満）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00000" y="3510000"/>
            <a:ext cx="1500000" cy="580000"/>
          </a:xfrm>
          <a:prstGeom prst="rect">
            <a:avLst/>
          </a:prstGeom>
          <a:solidFill>
            <a:srgbClr val="F2F5F8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60000" y="3510000"/>
            <a:ext cx="138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なし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00000" y="3510000"/>
            <a:ext cx="2000000" cy="580000"/>
          </a:xfrm>
          <a:prstGeom prst="rect">
            <a:avLst/>
          </a:prstGeom>
          <a:solidFill>
            <a:srgbClr val="F2F5F8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60000" y="3510000"/>
            <a:ext cx="188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原則同期、大規模のみ非同期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0000" y="4090000"/>
            <a:ext cx="2200000" cy="5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80000" y="4270000"/>
            <a:ext cx="80000" cy="220000"/>
          </a:xfrm>
          <a:prstGeom prst="rect">
            <a:avLst/>
          </a:prstGeom>
          <a:solidFill>
            <a:srgbClr val="CE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0000" y="4090000"/>
            <a:ext cx="194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l"/>
            <a:r>
              <a:rPr sz="1200" b="1">
                <a:solidFill>
                  <a:srgbClr val="355071"/>
                </a:solidFill>
                <a:latin typeface="游ゴシック Medium"/>
                <a:ea typeface="游ゴシック Medium"/>
              </a:rPr>
              <a:t>STEP（.stp/.step）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00000" y="4090000"/>
            <a:ext cx="2900000" cy="5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60000" y="4090000"/>
            <a:ext cx="278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viewer 変換用途／属性は要検証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00000" y="4090000"/>
            <a:ext cx="2200000" cy="5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60000" y="4090000"/>
            <a:ext cx="208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遅い（数秒〜数十秒）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00000" y="4090000"/>
            <a:ext cx="1500000" cy="5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60000" y="4090000"/>
            <a:ext cx="138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なし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500000" y="4090000"/>
            <a:ext cx="2000000" cy="5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60000" y="4090000"/>
            <a:ext cx="188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非同期ジョブ前提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0000" y="4670000"/>
            <a:ext cx="2200000" cy="580000"/>
          </a:xfrm>
          <a:prstGeom prst="rect">
            <a:avLst/>
          </a:prstGeom>
          <a:solidFill>
            <a:srgbClr val="F2F5F8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80000" y="4850000"/>
            <a:ext cx="80000" cy="220000"/>
          </a:xfrm>
          <a:prstGeom prst="rect">
            <a:avLst/>
          </a:prstGeom>
          <a:solidFill>
            <a:srgbClr val="CE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0000" y="4670000"/>
            <a:ext cx="194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l"/>
            <a:r>
              <a:rPr sz="1200" b="1">
                <a:solidFill>
                  <a:srgbClr val="355071"/>
                </a:solidFill>
                <a:latin typeface="游ゴシック Medium"/>
                <a:ea typeface="游ゴシック Medium"/>
              </a:rPr>
              <a:t>画像／TIFF（OCR）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00000" y="4670000"/>
            <a:ext cx="2900000" cy="580000"/>
          </a:xfrm>
          <a:prstGeom prst="rect">
            <a:avLst/>
          </a:prstGeom>
          <a:solidFill>
            <a:srgbClr val="F2F5F8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60000" y="4670000"/>
            <a:ext cx="278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OCR 後文字列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800000" y="4670000"/>
            <a:ext cx="2200000" cy="580000"/>
          </a:xfrm>
          <a:prstGeom prst="rect">
            <a:avLst/>
          </a:prstGeom>
          <a:solidFill>
            <a:srgbClr val="F2F5F8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860000" y="4670000"/>
            <a:ext cx="208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最も遅い（数十秒以上）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00000" y="4670000"/>
            <a:ext cx="1500000" cy="580000"/>
          </a:xfrm>
          <a:prstGeom prst="rect">
            <a:avLst/>
          </a:prstGeom>
          <a:solidFill>
            <a:srgbClr val="F2F5F8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60000" y="4670000"/>
            <a:ext cx="138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あり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00000" y="4670000"/>
            <a:ext cx="2000000" cy="580000"/>
          </a:xfrm>
          <a:prstGeom prst="rect">
            <a:avLst/>
          </a:prstGeom>
          <a:solidFill>
            <a:srgbClr val="F2F5F8"/>
          </a:solidFill>
          <a:ln w="6350">
            <a:solidFill>
              <a:srgbClr val="E6F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560000" y="4670000"/>
            <a:ext cx="188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80000" rIns="80000" tIns="60000" bIns="6000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游ゴシック Medium"/>
                <a:ea typeface="游ゴシック Medium"/>
              </a:rPr>
              <a:t>常に非同期、補助手段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しずく">
  <a:themeElements>
    <a:clrScheme name="しずく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テンプレート1">
      <a:majorFont>
        <a:latin typeface="Segoe UI"/>
        <a:ea typeface="游ゴシック Medium"/>
        <a:cs typeface=""/>
      </a:majorFont>
      <a:minorFont>
        <a:latin typeface="Segoe UI"/>
        <a:ea typeface="游ゴシック Medium"/>
        <a:cs typeface=""/>
      </a:minorFont>
    </a:fontScheme>
    <a:fmtScheme name="しずく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TM04033925[[fn=しずく]]</Template>
  <TotalTime>310</TotalTime>
  <Words>238</Words>
  <Application>Microsoft Office PowerPoint</Application>
  <PresentationFormat>ワイド画面</PresentationFormat>
  <Paragraphs>40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4" baseType="lpstr">
      <vt:lpstr>Meiryo UI</vt:lpstr>
      <vt:lpstr>游ゴシック</vt:lpstr>
      <vt:lpstr>Arial</vt:lpstr>
      <vt:lpstr>Segoe UI</vt:lpstr>
      <vt:lpstr>Wingdings</vt:lpstr>
      <vt:lpstr>しずく</vt:lpstr>
      <vt:lpstr>PowerPointフォーマット</vt:lpstr>
      <vt:lpstr>フォントについて１</vt:lpstr>
      <vt:lpstr>フォントについて２</vt:lpstr>
      <vt:lpstr>章タイトル Chapter Title</vt:lpstr>
      <vt:lpstr>要約と結言を含むフォーマット</vt:lpstr>
      <vt:lpstr>２つの比較ページサンプル</vt:lpstr>
      <vt:lpstr>画像説明ページのサンプル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薮内裕之</dc:creator>
  <cp:lastModifiedBy>薮内裕之</cp:lastModifiedBy>
  <cp:revision>5</cp:revision>
  <dcterms:created xsi:type="dcterms:W3CDTF">2026-05-12T02:31:46Z</dcterms:created>
  <dcterms:modified xsi:type="dcterms:W3CDTF">2026-05-25T07:53:42Z</dcterms:modified>
</cp:coreProperties>
</file>