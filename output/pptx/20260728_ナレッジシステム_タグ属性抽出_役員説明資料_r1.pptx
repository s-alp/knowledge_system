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7"/>
    <p:sldId id="257" r:id="rId8"/>
    <p:sldId id="258" r:id="rId9"/>
    <p:sldId id="259" r:id="rId6"/>
    <p:sldId id="260" r:id="rId5"/>
    <p:sldId id="261" r:id="rId4"/>
    <p:sldId id="262" r:id="rId3"/>
    <p:sldId id="263" r:id="rId2"/>
    <p:sldId id="264" r:id="rId15"/>
    <p:sldId id="265" r:id="rId16"/>
    <p:sldId id="266" r:id="rId17"/>
    <p:sldId id="267" r:id="rId18"/>
    <p:sldId id="268" r:id="rId19"/>
    <p:sldId id="269" r:id="rId20"/>
    <p:sldId id="270" r:id="rId21"/>
    <p:sldId id="271" r:id="rId22"/>
    <p:sldId id="272" r:id="rId23"/>
    <p:sldId id="27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8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25" autoAdjust="0"/>
    <p:restoredTop sz="94660"/>
  </p:normalViewPr>
  <p:slideViewPr>
    <p:cSldViewPr snapToGrid="0">
      <p:cViewPr varScale="1">
        <p:scale>
          <a:sx n="115" d="100"/>
          <a:sy n="115" d="100"/>
        </p:scale>
        <p:origin x="14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EDE7CC-BA49-441A-954A-D7313BCB9DA5}" type="datetimeFigureOut">
              <a:rPr kumimoji="1" lang="ja-JP" altLang="en-US" smtClean="0"/>
              <a:t>2026/5/25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8C8AF-17B2-4669-92EE-079BEB01048F}" type="slidenum">
              <a:rPr kumimoji="1" lang="ja-JP" altLang="en-US" smtClean="0"/>
              <a:t>‹#›</a:t>
            </a:fld>
            <a:endParaRPr kumimoji="1" lang="ja-JP" altLang="en-US"/>
          </a:p>
        </p:txBody>
      </p:sp>
    </p:spTree>
    <p:extLst>
      <p:ext uri="{BB962C8B-B14F-4D97-AF65-F5344CB8AC3E}">
        <p14:creationId xmlns:p14="http://schemas.microsoft.com/office/powerpoint/2010/main" val="74698194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17" name="Picture 2" descr="logo_large.jpg">
            <a:extLst>
              <a:ext uri="{FF2B5EF4-FFF2-40B4-BE49-F238E27FC236}">
                <a16:creationId xmlns:a16="http://schemas.microsoft.com/office/drawing/2014/main" id="{D11579AC-7796-D80E-3CC0-C7265D79DAEC}"/>
              </a:ext>
            </a:extLst>
          </p:cNvPr>
          <p:cNvPicPr>
            <a:picLocks noChangeAspect="1"/>
          </p:cNvPicPr>
          <p:nvPr userDrawn="1"/>
        </p:nvPicPr>
        <p:blipFill>
          <a:blip r:embed="rId2"/>
          <a:stretch>
            <a:fillRect/>
          </a:stretch>
        </p:blipFill>
        <p:spPr>
          <a:xfrm>
            <a:off x="9296400" y="609600"/>
            <a:ext cx="2606040" cy="1503485"/>
          </a:xfrm>
          <a:prstGeom prst="rect">
            <a:avLst/>
          </a:prstGeom>
        </p:spPr>
      </p:pic>
      <p:sp>
        <p:nvSpPr>
          <p:cNvPr id="8" name="Rectangle 1">
            <a:extLst>
              <a:ext uri="{FF2B5EF4-FFF2-40B4-BE49-F238E27FC236}">
                <a16:creationId xmlns:a16="http://schemas.microsoft.com/office/drawing/2014/main" id="{DEFC902B-A52D-C521-E9E5-3F94762B39EF}"/>
              </a:ext>
            </a:extLst>
          </p:cNvPr>
          <p:cNvSpPr/>
          <p:nvPr userDrawn="1"/>
        </p:nvSpPr>
        <p:spPr>
          <a:xfrm>
            <a:off x="0" y="0"/>
            <a:ext cx="320040" cy="6858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9" name="Rectangle 7">
            <a:extLst>
              <a:ext uri="{FF2B5EF4-FFF2-40B4-BE49-F238E27FC236}">
                <a16:creationId xmlns:a16="http://schemas.microsoft.com/office/drawing/2014/main" id="{43DC2CAB-9CE7-E662-77B8-5B3C6DB80BCD}"/>
              </a:ext>
            </a:extLst>
          </p:cNvPr>
          <p:cNvSpPr/>
          <p:nvPr userDrawn="1"/>
        </p:nvSpPr>
        <p:spPr>
          <a:xfrm>
            <a:off x="0" y="6080760"/>
            <a:ext cx="12191695" cy="77724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2" name="Title 1"/>
          <p:cNvSpPr>
            <a:spLocks noGrp="1"/>
          </p:cNvSpPr>
          <p:nvPr>
            <p:ph type="ctrTitle"/>
          </p:nvPr>
        </p:nvSpPr>
        <p:spPr>
          <a:xfrm>
            <a:off x="914400" y="833329"/>
            <a:ext cx="8689976" cy="2509213"/>
          </a:xfrm>
        </p:spPr>
        <p:txBody>
          <a:bodyPr anchor="b">
            <a:normAutofit/>
          </a:bodyPr>
          <a:lstStyle>
            <a:lvl1pPr algn="l">
              <a:defRPr sz="4800" b="1" cap="none" baseline="0">
                <a:solidFill>
                  <a:schemeClr val="tx2">
                    <a:lumMod val="75000"/>
                  </a:schemeClr>
                </a:solidFill>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914400" y="3470949"/>
            <a:ext cx="8689976" cy="652995"/>
          </a:xfrm>
        </p:spPr>
        <p:txBody>
          <a:bodyPr>
            <a:normAutofit/>
          </a:bodyPr>
          <a:lstStyle>
            <a:lvl1pPr marL="0" indent="0" algn="l">
              <a:buNone/>
              <a:defRPr sz="2200" cap="none" baseline="0">
                <a:solidFill>
                  <a:srgbClr val="00A8E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
        <p:nvSpPr>
          <p:cNvPr id="19" name="Rectangle 5">
            <a:extLst>
              <a:ext uri="{FF2B5EF4-FFF2-40B4-BE49-F238E27FC236}">
                <a16:creationId xmlns:a16="http://schemas.microsoft.com/office/drawing/2014/main" id="{60FBCDE1-018F-99EB-0276-8FFC2E77ED96}"/>
              </a:ext>
            </a:extLst>
          </p:cNvPr>
          <p:cNvSpPr/>
          <p:nvPr userDrawn="1"/>
        </p:nvSpPr>
        <p:spPr>
          <a:xfrm>
            <a:off x="914400" y="4160520"/>
            <a:ext cx="2011680" cy="36576"/>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24" name="テキスト プレースホルダー 23">
            <a:extLst>
              <a:ext uri="{FF2B5EF4-FFF2-40B4-BE49-F238E27FC236}">
                <a16:creationId xmlns:a16="http://schemas.microsoft.com/office/drawing/2014/main" id="{4F424697-34D8-E67D-84F2-7DBFA5AD7DD2}"/>
              </a:ext>
            </a:extLst>
          </p:cNvPr>
          <p:cNvSpPr>
            <a:spLocks noGrp="1"/>
          </p:cNvSpPr>
          <p:nvPr>
            <p:ph type="body" sz="quarter" idx="10" hasCustomPrompt="1"/>
          </p:nvPr>
        </p:nvSpPr>
        <p:spPr>
          <a:xfrm>
            <a:off x="914400" y="4343400"/>
            <a:ext cx="5166028" cy="914400"/>
          </a:xfrm>
        </p:spPr>
        <p:txBody>
          <a:bodyPr>
            <a:normAutofit/>
          </a:bodyPr>
          <a:lstStyle>
            <a:lvl1pPr>
              <a:buNone/>
              <a:defRPr sz="1600" cap="none" baseline="0">
                <a:solidFill>
                  <a:schemeClr val="tx1">
                    <a:lumMod val="65000"/>
                    <a:lumOff val="35000"/>
                  </a:schemeClr>
                </a:solidFill>
              </a:defRPr>
            </a:lvl1pPr>
            <a:lvl2pPr>
              <a:buNone/>
              <a:defRPr/>
            </a:lvl2pPr>
          </a:lstStyle>
          <a:p>
            <a:pPr lvl="0"/>
            <a:r>
              <a:rPr kumimoji="1" lang="en-US" altLang="ja-JP" dirty="0"/>
              <a:t>2026.MM.DD</a:t>
            </a:r>
            <a:r>
              <a:rPr kumimoji="1" lang="ja-JP" altLang="en-US" dirty="0"/>
              <a:t>　</a:t>
            </a:r>
            <a:r>
              <a:rPr kumimoji="1" lang="en-US" altLang="ja-JP" dirty="0"/>
              <a:t>/</a:t>
            </a:r>
            <a:r>
              <a:rPr kumimoji="1" lang="ja-JP" altLang="en-US" dirty="0"/>
              <a:t>　部署名　</a:t>
            </a:r>
            <a:r>
              <a:rPr kumimoji="1" lang="en-US" altLang="ja-JP" dirty="0"/>
              <a:t>/</a:t>
            </a:r>
            <a:r>
              <a:rPr kumimoji="1" lang="ja-JP" altLang="en-US" dirty="0"/>
              <a:t>　発表者氏名</a:t>
            </a:r>
          </a:p>
        </p:txBody>
      </p:sp>
      <p:sp>
        <p:nvSpPr>
          <p:cNvPr id="27" name="テキスト ボックス 26">
            <a:extLst>
              <a:ext uri="{FF2B5EF4-FFF2-40B4-BE49-F238E27FC236}">
                <a16:creationId xmlns:a16="http://schemas.microsoft.com/office/drawing/2014/main" id="{EC55F0FE-9421-CCC4-21CF-3EDC009B1D6C}"/>
              </a:ext>
            </a:extLst>
          </p:cNvPr>
          <p:cNvSpPr txBox="1"/>
          <p:nvPr userDrawn="1"/>
        </p:nvSpPr>
        <p:spPr>
          <a:xfrm>
            <a:off x="456228" y="6494780"/>
            <a:ext cx="8342348" cy="276999"/>
          </a:xfrm>
          <a:prstGeom prst="rect">
            <a:avLst/>
          </a:prstGeom>
          <a:noFill/>
        </p:spPr>
        <p:txBody>
          <a:bodyPr wrap="none" rtlCol="0">
            <a:spAutoFit/>
          </a:bodyPr>
          <a:lstStyle/>
          <a:p>
            <a:pPr algn="l"/>
            <a:r>
              <a:rPr kumimoji="1" lang="ja-JP" altLang="en-US" sz="1200" cap="none" baseline="0" dirty="0">
                <a:solidFill>
                  <a:schemeClr val="bg1"/>
                </a:solidFill>
              </a:rPr>
              <a:t>金石本社：〒</a:t>
            </a:r>
            <a:r>
              <a:rPr kumimoji="1" lang="en-US" altLang="ja-JP" sz="1200" cap="none" baseline="0" dirty="0">
                <a:solidFill>
                  <a:schemeClr val="bg1"/>
                </a:solidFill>
              </a:rPr>
              <a:t>920-0336</a:t>
            </a:r>
            <a:r>
              <a:rPr kumimoji="1" lang="ja-JP" altLang="en-US" sz="1200" cap="none" baseline="0" dirty="0">
                <a:solidFill>
                  <a:schemeClr val="bg1"/>
                </a:solidFill>
              </a:rPr>
              <a:t> 石川県金沢市金石本町ハ</a:t>
            </a:r>
            <a:r>
              <a:rPr kumimoji="1" lang="en-US" altLang="ja-JP" sz="1200" cap="none" baseline="0" dirty="0">
                <a:solidFill>
                  <a:schemeClr val="bg1"/>
                </a:solidFill>
              </a:rPr>
              <a:t>13</a:t>
            </a:r>
            <a:r>
              <a:rPr kumimoji="1" lang="ja-JP" altLang="en-US" sz="1200" cap="none" baseline="0" dirty="0">
                <a:solidFill>
                  <a:schemeClr val="bg1"/>
                </a:solidFill>
              </a:rPr>
              <a:t>番地</a:t>
            </a:r>
            <a:r>
              <a:rPr kumimoji="1" lang="en-US" altLang="ja-JP" sz="1200" cap="none" baseline="0" dirty="0">
                <a:solidFill>
                  <a:schemeClr val="bg1"/>
                </a:solidFill>
              </a:rPr>
              <a:t>2</a:t>
            </a:r>
            <a:r>
              <a:rPr kumimoji="1" lang="ja-JP" altLang="en-US" sz="1200" cap="none" baseline="0" dirty="0">
                <a:solidFill>
                  <a:schemeClr val="bg1"/>
                </a:solidFill>
              </a:rPr>
              <a:t>　</a:t>
            </a:r>
            <a:r>
              <a:rPr kumimoji="1" lang="en-US" altLang="ja-JP" sz="1200" cap="none" baseline="0" dirty="0">
                <a:solidFill>
                  <a:schemeClr val="bg1"/>
                </a:solidFill>
              </a:rPr>
              <a:t>/</a:t>
            </a:r>
            <a:r>
              <a:rPr kumimoji="1" lang="ja-JP" altLang="en-US" sz="1200" cap="none" baseline="0" dirty="0">
                <a:solidFill>
                  <a:schemeClr val="bg1"/>
                </a:solidFill>
              </a:rPr>
              <a:t>　小矢部事務所：〒</a:t>
            </a:r>
            <a:r>
              <a:rPr kumimoji="1" lang="en-US" altLang="ja-JP" sz="1200" cap="none" baseline="0" dirty="0">
                <a:solidFill>
                  <a:schemeClr val="bg1"/>
                </a:solidFill>
              </a:rPr>
              <a:t>932-0132</a:t>
            </a:r>
            <a:r>
              <a:rPr kumimoji="1" lang="ja-JP" altLang="en-US" sz="1200" cap="none" baseline="0" dirty="0">
                <a:solidFill>
                  <a:schemeClr val="bg1"/>
                </a:solidFill>
              </a:rPr>
              <a:t> 富山県小矢部市小森谷</a:t>
            </a:r>
            <a:r>
              <a:rPr kumimoji="1" lang="en-US" altLang="ja-JP" sz="1200" cap="none" baseline="0" dirty="0">
                <a:solidFill>
                  <a:schemeClr val="bg1"/>
                </a:solidFill>
              </a:rPr>
              <a:t>19</a:t>
            </a:r>
            <a:r>
              <a:rPr kumimoji="1" lang="ja-JP" altLang="en-US" sz="1200" cap="none" baseline="0" dirty="0">
                <a:solidFill>
                  <a:schemeClr val="bg1"/>
                </a:solidFill>
              </a:rPr>
              <a:t>番地</a:t>
            </a:r>
          </a:p>
        </p:txBody>
      </p:sp>
      <p:sp>
        <p:nvSpPr>
          <p:cNvPr id="28" name="テキスト ボックス 27">
            <a:extLst>
              <a:ext uri="{FF2B5EF4-FFF2-40B4-BE49-F238E27FC236}">
                <a16:creationId xmlns:a16="http://schemas.microsoft.com/office/drawing/2014/main" id="{3DC65298-5B5E-1D40-2C58-080E3E98BC90}"/>
              </a:ext>
            </a:extLst>
          </p:cNvPr>
          <p:cNvSpPr txBox="1"/>
          <p:nvPr userDrawn="1"/>
        </p:nvSpPr>
        <p:spPr>
          <a:xfrm>
            <a:off x="456228" y="6182577"/>
            <a:ext cx="3113353" cy="338554"/>
          </a:xfrm>
          <a:prstGeom prst="rect">
            <a:avLst/>
          </a:prstGeom>
          <a:noFill/>
        </p:spPr>
        <p:txBody>
          <a:bodyPr wrap="none" rtlCol="0">
            <a:spAutoFit/>
          </a:bodyPr>
          <a:lstStyle/>
          <a:p>
            <a:pPr algn="l"/>
            <a:r>
              <a:rPr kumimoji="1" lang="ja-JP" altLang="en-US" sz="1600" cap="none" baseline="0" dirty="0">
                <a:solidFill>
                  <a:schemeClr val="bg1"/>
                </a:solidFill>
              </a:rPr>
              <a:t>株式会社 アルパイン設計事務所</a:t>
            </a:r>
          </a:p>
        </p:txBody>
      </p:sp>
    </p:spTree>
    <p:extLst>
      <p:ext uri="{BB962C8B-B14F-4D97-AF65-F5344CB8AC3E}">
        <p14:creationId xmlns:p14="http://schemas.microsoft.com/office/powerpoint/2010/main" val="1533615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15" name="Rectangle 35">
            <a:extLst>
              <a:ext uri="{FF2B5EF4-FFF2-40B4-BE49-F238E27FC236}">
                <a16:creationId xmlns:a16="http://schemas.microsoft.com/office/drawing/2014/main" id="{7A9930C5-9CE5-CD3F-0B34-BA742C592203}"/>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9" name="スライド番号プレースホルダー 8">
            <a:extLst>
              <a:ext uri="{FF2B5EF4-FFF2-40B4-BE49-F238E27FC236}">
                <a16:creationId xmlns:a16="http://schemas.microsoft.com/office/drawing/2014/main" id="{769DF8EF-F888-3401-8278-4FAF9AF9F249}"/>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dirty="0"/>
          </a:p>
        </p:txBody>
      </p:sp>
      <p:sp>
        <p:nvSpPr>
          <p:cNvPr id="10" name="Rectangle 1">
            <a:extLst>
              <a:ext uri="{FF2B5EF4-FFF2-40B4-BE49-F238E27FC236}">
                <a16:creationId xmlns:a16="http://schemas.microsoft.com/office/drawing/2014/main" id="{273C56A4-895E-D5C5-3104-BF85ABACF34C}"/>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4">
            <a:extLst>
              <a:ext uri="{FF2B5EF4-FFF2-40B4-BE49-F238E27FC236}">
                <a16:creationId xmlns:a16="http://schemas.microsoft.com/office/drawing/2014/main" id="{2EECE7D1-9EB4-934E-9375-5673AE1CDFA5}"/>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テキスト プレースホルダー 52">
            <a:extLst>
              <a:ext uri="{FF2B5EF4-FFF2-40B4-BE49-F238E27FC236}">
                <a16:creationId xmlns:a16="http://schemas.microsoft.com/office/drawing/2014/main" id="{F8CF3099-468C-D418-D6F8-EC2CC9B3FAEC}"/>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pic>
        <p:nvPicPr>
          <p:cNvPr id="54" name="図 53">
            <a:extLst>
              <a:ext uri="{FF2B5EF4-FFF2-40B4-BE49-F238E27FC236}">
                <a16:creationId xmlns:a16="http://schemas.microsoft.com/office/drawing/2014/main" id="{CAA03307-0E99-F9A7-C662-A5190938DBD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56" name="コンテンツ プレースホルダー 55">
            <a:extLst>
              <a:ext uri="{FF2B5EF4-FFF2-40B4-BE49-F238E27FC236}">
                <a16:creationId xmlns:a16="http://schemas.microsoft.com/office/drawing/2014/main" id="{96E4A612-04F1-1448-C938-8AAFF71EA8FC}"/>
              </a:ext>
            </a:extLst>
          </p:cNvPr>
          <p:cNvSpPr>
            <a:spLocks noGrp="1"/>
          </p:cNvSpPr>
          <p:nvPr>
            <p:ph sz="quarter" idx="18"/>
          </p:nvPr>
        </p:nvSpPr>
        <p:spPr>
          <a:xfrm>
            <a:off x="457200" y="1364228"/>
            <a:ext cx="11352213" cy="5069910"/>
          </a:xfrm>
        </p:spPr>
        <p:txBody>
          <a:bodyPr>
            <a:normAutofit/>
          </a:bodyPr>
          <a:lstStyle>
            <a:lvl1pPr>
              <a:lnSpc>
                <a:spcPct val="100000"/>
              </a:lnSpc>
              <a:buClr>
                <a:srgbClr val="00A8E6"/>
              </a:buClr>
              <a:buFont typeface="Wingdings" panose="05000000000000000000" pitchFamily="2" charset="2"/>
              <a:buChar char="n"/>
              <a:defRPr sz="2800">
                <a:solidFill>
                  <a:srgbClr val="00A8E6"/>
                </a:solidFill>
              </a:defRPr>
            </a:lvl1pPr>
            <a:lvl2pPr>
              <a:lnSpc>
                <a:spcPct val="100000"/>
              </a:lnSpc>
              <a:buClr>
                <a:schemeClr val="tx1"/>
              </a:buClr>
              <a:buFont typeface="Wingdings" panose="05000000000000000000" pitchFamily="2" charset="2"/>
              <a:buChar char="l"/>
              <a:defRPr sz="2400">
                <a:solidFill>
                  <a:schemeClr val="tx2">
                    <a:lumMod val="75000"/>
                  </a:schemeClr>
                </a:solidFill>
              </a:defRPr>
            </a:lvl2pPr>
            <a:lvl3pPr>
              <a:lnSpc>
                <a:spcPct val="100000"/>
              </a:lnSpc>
              <a:buClrTx/>
              <a:buFont typeface="Wingdings" panose="05000000000000000000" pitchFamily="2" charset="2"/>
              <a:buChar char="ü"/>
              <a:defRPr sz="2000">
                <a:solidFill>
                  <a:schemeClr val="tx2">
                    <a:lumMod val="75000"/>
                  </a:schemeClr>
                </a:solidFill>
              </a:defRPr>
            </a:lvl3pPr>
            <a:lvl4pPr>
              <a:lnSpc>
                <a:spcPct val="100000"/>
              </a:lnSpc>
              <a:buClrTx/>
              <a:defRPr sz="1800">
                <a:solidFill>
                  <a:schemeClr val="tx2">
                    <a:lumMod val="75000"/>
                  </a:schemeClr>
                </a:solidFill>
              </a:defRPr>
            </a:lvl4pPr>
            <a:lvl5pPr>
              <a:lnSpc>
                <a:spcPct val="100000"/>
              </a:lnSpc>
              <a:buClrTx/>
              <a:defRPr sz="1800">
                <a:solidFill>
                  <a:schemeClr val="tx2">
                    <a:lumMod val="7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13374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12" name="Content Placeholder 2"/>
          <p:cNvSpPr>
            <a:spLocks noGrp="1"/>
          </p:cNvSpPr>
          <p:nvPr>
            <p:ph sz="quarter" idx="13"/>
          </p:nvPr>
        </p:nvSpPr>
        <p:spPr>
          <a:xfrm>
            <a:off x="578863" y="2254861"/>
            <a:ext cx="5314214" cy="4105132"/>
          </a:xfrm>
          <a:ln>
            <a:noFill/>
          </a:ln>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13" name="Content Placeholder 3"/>
          <p:cNvSpPr>
            <a:spLocks noGrp="1"/>
          </p:cNvSpPr>
          <p:nvPr>
            <p:ph sz="quarter" idx="14"/>
          </p:nvPr>
        </p:nvSpPr>
        <p:spPr>
          <a:xfrm>
            <a:off x="6293796" y="2254861"/>
            <a:ext cx="5311302" cy="4105132"/>
          </a:xfrm>
          <a:ln>
            <a:no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 name="スライド番号プレースホルダー 8">
            <a:extLst>
              <a:ext uri="{FF2B5EF4-FFF2-40B4-BE49-F238E27FC236}">
                <a16:creationId xmlns:a16="http://schemas.microsoft.com/office/drawing/2014/main" id="{ED4643BD-04A4-AAD5-193A-DD596DEDF432}"/>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3" name="図 2">
            <a:extLst>
              <a:ext uri="{FF2B5EF4-FFF2-40B4-BE49-F238E27FC236}">
                <a16:creationId xmlns:a16="http://schemas.microsoft.com/office/drawing/2014/main" id="{97661BAC-0965-CE22-FC5F-315F9C011DA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8" name="Rectangle 1">
            <a:extLst>
              <a:ext uri="{FF2B5EF4-FFF2-40B4-BE49-F238E27FC236}">
                <a16:creationId xmlns:a16="http://schemas.microsoft.com/office/drawing/2014/main" id="{F75F8A81-F90D-2AC3-0758-21B5A019D68D}"/>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4">
            <a:extLst>
              <a:ext uri="{FF2B5EF4-FFF2-40B4-BE49-F238E27FC236}">
                <a16:creationId xmlns:a16="http://schemas.microsoft.com/office/drawing/2014/main" id="{9155C07D-C31C-4422-BF59-9288C1D406E6}"/>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テキスト プレースホルダー 52">
            <a:extLst>
              <a:ext uri="{FF2B5EF4-FFF2-40B4-BE49-F238E27FC236}">
                <a16:creationId xmlns:a16="http://schemas.microsoft.com/office/drawing/2014/main" id="{AC66AFE9-42C5-EE6E-B6B2-8EA75548D399}"/>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sp>
        <p:nvSpPr>
          <p:cNvPr id="15" name="Rectangle 35">
            <a:extLst>
              <a:ext uri="{FF2B5EF4-FFF2-40B4-BE49-F238E27FC236}">
                <a16:creationId xmlns:a16="http://schemas.microsoft.com/office/drawing/2014/main" id="{23617758-0468-2D94-736E-042159DAECEF}"/>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正方形/長方形 20">
            <a:extLst>
              <a:ext uri="{FF2B5EF4-FFF2-40B4-BE49-F238E27FC236}">
                <a16:creationId xmlns:a16="http://schemas.microsoft.com/office/drawing/2014/main" id="{9C7D1CD9-9C02-E9DE-D16A-ED000EBB426D}"/>
              </a:ext>
            </a:extLst>
          </p:cNvPr>
          <p:cNvSpPr/>
          <p:nvPr userDrawn="1"/>
        </p:nvSpPr>
        <p:spPr>
          <a:xfrm>
            <a:off x="463297" y="1377086"/>
            <a:ext cx="5553456" cy="508660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AE71A640-007B-2631-D5F9-60E543D46707}"/>
              </a:ext>
            </a:extLst>
          </p:cNvPr>
          <p:cNvSpPr/>
          <p:nvPr userDrawn="1"/>
        </p:nvSpPr>
        <p:spPr>
          <a:xfrm>
            <a:off x="6166104" y="1362578"/>
            <a:ext cx="5562600" cy="5103325"/>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Title 1">
            <a:extLst>
              <a:ext uri="{FF2B5EF4-FFF2-40B4-BE49-F238E27FC236}">
                <a16:creationId xmlns:a16="http://schemas.microsoft.com/office/drawing/2014/main" id="{9172225F-2066-1B77-8C65-F715719351AA}"/>
              </a:ext>
            </a:extLst>
          </p:cNvPr>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19" name="テキスト プレースホルダー 18">
            <a:extLst>
              <a:ext uri="{FF2B5EF4-FFF2-40B4-BE49-F238E27FC236}">
                <a16:creationId xmlns:a16="http://schemas.microsoft.com/office/drawing/2014/main" id="{0F5C33EA-A7A6-0093-1CFC-5DE6B341E6BF}"/>
              </a:ext>
            </a:extLst>
          </p:cNvPr>
          <p:cNvSpPr>
            <a:spLocks noGrp="1"/>
          </p:cNvSpPr>
          <p:nvPr>
            <p:ph type="body" sz="quarter" idx="18"/>
          </p:nvPr>
        </p:nvSpPr>
        <p:spPr>
          <a:xfrm>
            <a:off x="457200" y="1362578"/>
            <a:ext cx="5559552" cy="781179"/>
          </a:xfrm>
          <a:solidFill>
            <a:schemeClr val="tx1">
              <a:lumMod val="50000"/>
              <a:lumOff val="50000"/>
            </a:schemeClr>
          </a:solidFill>
        </p:spPr>
        <p:txBody>
          <a:bodyPr anchor="ctr"/>
          <a:lstStyle>
            <a:lvl1pPr algn="ctr">
              <a:buNone/>
              <a:defRPr b="1">
                <a:solidFill>
                  <a:schemeClr val="bg1"/>
                </a:solidFill>
              </a:defRPr>
            </a:lvl1pPr>
          </a:lstStyle>
          <a:p>
            <a:pPr lvl="0"/>
            <a:r>
              <a:rPr kumimoji="1" lang="ja-JP" altLang="en-US" dirty="0"/>
              <a:t>マスター テキストの書式設定</a:t>
            </a:r>
          </a:p>
        </p:txBody>
      </p:sp>
      <p:sp>
        <p:nvSpPr>
          <p:cNvPr id="20" name="テキスト プレースホルダー 18">
            <a:extLst>
              <a:ext uri="{FF2B5EF4-FFF2-40B4-BE49-F238E27FC236}">
                <a16:creationId xmlns:a16="http://schemas.microsoft.com/office/drawing/2014/main" id="{295F1E9E-2E02-71DD-4D1F-FAFBE4409FE5}"/>
              </a:ext>
            </a:extLst>
          </p:cNvPr>
          <p:cNvSpPr>
            <a:spLocks noGrp="1"/>
          </p:cNvSpPr>
          <p:nvPr>
            <p:ph type="body" sz="quarter" idx="19"/>
          </p:nvPr>
        </p:nvSpPr>
        <p:spPr>
          <a:xfrm>
            <a:off x="6169152" y="1362578"/>
            <a:ext cx="5559552" cy="781179"/>
          </a:xfrm>
          <a:solidFill>
            <a:srgbClr val="00A8E6"/>
          </a:solidFill>
        </p:spPr>
        <p:txBody>
          <a:bodyPr anchor="ctr"/>
          <a:lstStyle>
            <a:lvl1pPr algn="ctr">
              <a:buNone/>
              <a:defRPr b="1">
                <a:solidFill>
                  <a:schemeClr val="bg1"/>
                </a:solidFill>
              </a:defRPr>
            </a:lvl1pPr>
          </a:lstStyle>
          <a:p>
            <a:pPr lvl="0"/>
            <a:r>
              <a:rPr kumimoji="1" lang="ja-JP" altLang="en-US" dirty="0"/>
              <a:t>マスター テキストの書式設定</a:t>
            </a:r>
          </a:p>
        </p:txBody>
      </p:sp>
    </p:spTree>
    <p:extLst>
      <p:ext uri="{BB962C8B-B14F-4D97-AF65-F5344CB8AC3E}">
        <p14:creationId xmlns:p14="http://schemas.microsoft.com/office/powerpoint/2010/main" val="3494569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付きの図">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457200" y="1399929"/>
            <a:ext cx="6138154" cy="5181600"/>
          </a:xfrm>
          <a:prstGeom prst="roundRect">
            <a:avLst>
              <a:gd name="adj" fmla="val 4943"/>
            </a:avLst>
          </a:prstGeom>
          <a:noFill/>
          <a:ln w="19050" cap="sq">
            <a:solidFill>
              <a:srgbClr val="00A8E6"/>
            </a:solidFill>
            <a:miter lim="800000"/>
          </a:ln>
          <a:effectLst/>
          <a:scene3d>
            <a:camera prst="orthographicFront"/>
            <a:lightRig rig="threePt" dir="t">
              <a:rot lat="0" lon="0" rev="2700000"/>
            </a:lightRig>
          </a:scene3d>
          <a:sp3d contourW="6350" prstMaterial="matte">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776042" y="2931911"/>
            <a:ext cx="4709159" cy="351460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8" name="スライド番号プレースホルダー 8">
            <a:extLst>
              <a:ext uri="{FF2B5EF4-FFF2-40B4-BE49-F238E27FC236}">
                <a16:creationId xmlns:a16="http://schemas.microsoft.com/office/drawing/2014/main" id="{A6A0EC3A-8208-2F63-BA4C-FE456AB7AFED}"/>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9" name="図 8">
            <a:extLst>
              <a:ext uri="{FF2B5EF4-FFF2-40B4-BE49-F238E27FC236}">
                <a16:creationId xmlns:a16="http://schemas.microsoft.com/office/drawing/2014/main" id="{63A2F520-B158-CC14-8966-4D18A9D95E98}"/>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11" name="Rectangle 1">
            <a:extLst>
              <a:ext uri="{FF2B5EF4-FFF2-40B4-BE49-F238E27FC236}">
                <a16:creationId xmlns:a16="http://schemas.microsoft.com/office/drawing/2014/main" id="{3B41F546-F6F6-79FF-2DF9-0F26E1F2D298}"/>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4">
            <a:extLst>
              <a:ext uri="{FF2B5EF4-FFF2-40B4-BE49-F238E27FC236}">
                <a16:creationId xmlns:a16="http://schemas.microsoft.com/office/drawing/2014/main" id="{98711BEE-A631-6371-0A47-BCE73CC8F679}"/>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テキスト プレースホルダー 52">
            <a:extLst>
              <a:ext uri="{FF2B5EF4-FFF2-40B4-BE49-F238E27FC236}">
                <a16:creationId xmlns:a16="http://schemas.microsoft.com/office/drawing/2014/main" id="{93543058-FC54-28CC-6D04-0980939B6B7D}"/>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sp>
        <p:nvSpPr>
          <p:cNvPr id="14" name="Rectangle 35">
            <a:extLst>
              <a:ext uri="{FF2B5EF4-FFF2-40B4-BE49-F238E27FC236}">
                <a16:creationId xmlns:a16="http://schemas.microsoft.com/office/drawing/2014/main" id="{565548AB-4F85-1922-397A-15828B82CD68}"/>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0">
            <a:extLst>
              <a:ext uri="{FF2B5EF4-FFF2-40B4-BE49-F238E27FC236}">
                <a16:creationId xmlns:a16="http://schemas.microsoft.com/office/drawing/2014/main" id="{4F66BA0C-576F-D7DD-05AB-7247A3CE95EF}"/>
              </a:ext>
            </a:extLst>
          </p:cNvPr>
          <p:cNvSpPr/>
          <p:nvPr userDrawn="1"/>
        </p:nvSpPr>
        <p:spPr>
          <a:xfrm>
            <a:off x="6858000" y="2710303"/>
            <a:ext cx="640080" cy="3657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テキスト プレースホルダー 52">
            <a:extLst>
              <a:ext uri="{FF2B5EF4-FFF2-40B4-BE49-F238E27FC236}">
                <a16:creationId xmlns:a16="http://schemas.microsoft.com/office/drawing/2014/main" id="{860C1474-869A-0810-7EF3-9014B952FCAD}"/>
              </a:ext>
            </a:extLst>
          </p:cNvPr>
          <p:cNvSpPr>
            <a:spLocks noGrp="1"/>
          </p:cNvSpPr>
          <p:nvPr>
            <p:ph type="body" sz="quarter" idx="18"/>
          </p:nvPr>
        </p:nvSpPr>
        <p:spPr>
          <a:xfrm>
            <a:off x="6776042" y="1466743"/>
            <a:ext cx="3679148" cy="248005"/>
          </a:xfrm>
        </p:spPr>
        <p:txBody>
          <a:bodyPr anchor="ctr">
            <a:noAutofit/>
          </a:bodyPr>
          <a:lstStyle>
            <a:lvl1pPr>
              <a:buNone/>
              <a:defRPr sz="1400" b="1">
                <a:solidFill>
                  <a:schemeClr val="accent4"/>
                </a:solidFill>
              </a:defRPr>
            </a:lvl1pPr>
          </a:lstStyle>
          <a:p>
            <a:pPr lvl="0"/>
            <a:r>
              <a:rPr kumimoji="1" lang="ja-JP" altLang="en-US" dirty="0"/>
              <a:t>マスター テキストの書式設定</a:t>
            </a:r>
          </a:p>
        </p:txBody>
      </p:sp>
      <p:sp>
        <p:nvSpPr>
          <p:cNvPr id="21" name="Title 1">
            <a:extLst>
              <a:ext uri="{FF2B5EF4-FFF2-40B4-BE49-F238E27FC236}">
                <a16:creationId xmlns:a16="http://schemas.microsoft.com/office/drawing/2014/main" id="{65C7C5BC-539B-2087-C4DA-65CC2040FC37}"/>
              </a:ext>
            </a:extLst>
          </p:cNvPr>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22" name="Text Placeholder 3">
            <a:extLst>
              <a:ext uri="{FF2B5EF4-FFF2-40B4-BE49-F238E27FC236}">
                <a16:creationId xmlns:a16="http://schemas.microsoft.com/office/drawing/2014/main" id="{407AECB8-4D72-3F83-4F09-8BB49A8F946F}"/>
              </a:ext>
            </a:extLst>
          </p:cNvPr>
          <p:cNvSpPr>
            <a:spLocks noGrp="1"/>
          </p:cNvSpPr>
          <p:nvPr>
            <p:ph type="body" sz="half" idx="19"/>
          </p:nvPr>
        </p:nvSpPr>
        <p:spPr>
          <a:xfrm>
            <a:off x="6776042" y="1859448"/>
            <a:ext cx="4709159" cy="544230"/>
          </a:xfrm>
        </p:spPr>
        <p:txBody>
          <a:bodyPr>
            <a:normAutofit/>
          </a:bodyPr>
          <a:lstStyle>
            <a:lvl1pPr marL="0" indent="0" algn="l">
              <a:buNone/>
              <a:defRPr sz="24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Tree>
    <p:extLst>
      <p:ext uri="{BB962C8B-B14F-4D97-AF65-F5344CB8AC3E}">
        <p14:creationId xmlns:p14="http://schemas.microsoft.com/office/powerpoint/2010/main" val="3767352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付きのコンテンツ">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70C0DB40-5F2F-F35A-86C4-01E32B225B0D}"/>
              </a:ext>
            </a:extLst>
          </p:cNvPr>
          <p:cNvSpPr/>
          <p:nvPr userDrawn="1"/>
        </p:nvSpPr>
        <p:spPr>
          <a:xfrm>
            <a:off x="0" y="0"/>
            <a:ext cx="4389120" cy="6858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8">
            <a:extLst>
              <a:ext uri="{FF2B5EF4-FFF2-40B4-BE49-F238E27FC236}">
                <a16:creationId xmlns:a16="http://schemas.microsoft.com/office/drawing/2014/main" id="{568D18EB-93BD-0FF9-EB13-FAC166CC8116}"/>
              </a:ext>
            </a:extLst>
          </p:cNvPr>
          <p:cNvSpPr/>
          <p:nvPr userDrawn="1"/>
        </p:nvSpPr>
        <p:spPr>
          <a:xfrm>
            <a:off x="4389120" y="6729984"/>
            <a:ext cx="7802575" cy="128016"/>
          </a:xfrm>
          <a:prstGeom prst="rect">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67731" y="3242452"/>
            <a:ext cx="3676119" cy="2023252"/>
          </a:xfrm>
        </p:spPr>
        <p:txBody>
          <a:bodyPr anchor="t">
            <a:normAutofit/>
          </a:bodyPr>
          <a:lstStyle>
            <a:lvl1pPr algn="l">
              <a:defRPr sz="3600" b="1">
                <a:solidFill>
                  <a:schemeClr val="bg1"/>
                </a:solidFill>
              </a:defRPr>
            </a:lvl1pPr>
          </a:lstStyle>
          <a:p>
            <a:r>
              <a:rPr lang="ja-JP" altLang="en-US" dirty="0"/>
              <a:t>マスター タイトルの書式設定</a:t>
            </a:r>
            <a:endParaRPr lang="en-US" dirty="0"/>
          </a:p>
        </p:txBody>
      </p:sp>
      <p:sp>
        <p:nvSpPr>
          <p:cNvPr id="4" name="Text Placeholder 3"/>
          <p:cNvSpPr>
            <a:spLocks noGrp="1"/>
          </p:cNvSpPr>
          <p:nvPr>
            <p:ph type="body" sz="half" idx="2"/>
          </p:nvPr>
        </p:nvSpPr>
        <p:spPr>
          <a:xfrm>
            <a:off x="567731" y="2423769"/>
            <a:ext cx="3676120" cy="418166"/>
          </a:xfrm>
        </p:spPr>
        <p:txBody>
          <a:bodyPr>
            <a:normAutofit/>
          </a:bodyPr>
          <a:lstStyle>
            <a:lvl1pPr marL="0" indent="0" algn="l">
              <a:buNone/>
              <a:defRPr sz="1800" b="1">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9" name="スライド番号プレースホルダー 8">
            <a:extLst>
              <a:ext uri="{FF2B5EF4-FFF2-40B4-BE49-F238E27FC236}">
                <a16:creationId xmlns:a16="http://schemas.microsoft.com/office/drawing/2014/main" id="{6751F391-8EE4-1296-D5AE-03886A4EE68B}"/>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12" name="図 11">
            <a:extLst>
              <a:ext uri="{FF2B5EF4-FFF2-40B4-BE49-F238E27FC236}">
                <a16:creationId xmlns:a16="http://schemas.microsoft.com/office/drawing/2014/main" id="{C28693DB-7C05-F742-72BD-AAE7D00BDB28}"/>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13" name="Rectangle 3">
            <a:extLst>
              <a:ext uri="{FF2B5EF4-FFF2-40B4-BE49-F238E27FC236}">
                <a16:creationId xmlns:a16="http://schemas.microsoft.com/office/drawing/2014/main" id="{E6212A41-BD99-9E37-D686-4516D7835ED0}"/>
              </a:ext>
            </a:extLst>
          </p:cNvPr>
          <p:cNvSpPr/>
          <p:nvPr userDrawn="1"/>
        </p:nvSpPr>
        <p:spPr>
          <a:xfrm>
            <a:off x="640080" y="3063240"/>
            <a:ext cx="548640"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 Placeholder 3">
            <a:extLst>
              <a:ext uri="{FF2B5EF4-FFF2-40B4-BE49-F238E27FC236}">
                <a16:creationId xmlns:a16="http://schemas.microsoft.com/office/drawing/2014/main" id="{B0575233-4969-A31B-6759-06E9D74CF34A}"/>
              </a:ext>
            </a:extLst>
          </p:cNvPr>
          <p:cNvSpPr>
            <a:spLocks noGrp="1"/>
          </p:cNvSpPr>
          <p:nvPr>
            <p:ph type="body" sz="half" idx="17"/>
          </p:nvPr>
        </p:nvSpPr>
        <p:spPr>
          <a:xfrm>
            <a:off x="5078062" y="2681650"/>
            <a:ext cx="3676120" cy="418166"/>
          </a:xfrm>
        </p:spPr>
        <p:txBody>
          <a:bodyPr/>
          <a:lstStyle>
            <a:lvl1pPr marL="0" indent="0" algn="l">
              <a:buNone/>
              <a:defRPr sz="1600" b="0">
                <a:solidFill>
                  <a:srgbClr val="00A8E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18" name="コンテンツ プレースホルダー 17">
            <a:extLst>
              <a:ext uri="{FF2B5EF4-FFF2-40B4-BE49-F238E27FC236}">
                <a16:creationId xmlns:a16="http://schemas.microsoft.com/office/drawing/2014/main" id="{11E6EC22-F40F-ADE9-9D6F-63DED8B28503}"/>
              </a:ext>
            </a:extLst>
          </p:cNvPr>
          <p:cNvSpPr>
            <a:spLocks noGrp="1"/>
          </p:cNvSpPr>
          <p:nvPr>
            <p:ph sz="quarter" idx="18"/>
          </p:nvPr>
        </p:nvSpPr>
        <p:spPr>
          <a:xfrm>
            <a:off x="5078061" y="3242451"/>
            <a:ext cx="6320539" cy="2944339"/>
          </a:xfrm>
        </p:spPr>
        <p:txBody>
          <a:bodyPr>
            <a:normAutofit/>
          </a:bodyPr>
          <a:lstStyle>
            <a:lvl1pPr marL="0">
              <a:lnSpc>
                <a:spcPct val="100000"/>
              </a:lnSpc>
              <a:buNone/>
              <a:defRPr sz="2800" b="1">
                <a:solidFill>
                  <a:schemeClr val="tx2">
                    <a:lumMod val="75000"/>
                  </a:schemeClr>
                </a:solidFill>
              </a:defRPr>
            </a:lvl1pPr>
            <a:lvl2pPr>
              <a:defRPr sz="2000" b="1"/>
            </a:lvl2pPr>
            <a:lvl3pPr>
              <a:defRPr sz="1800" b="1"/>
            </a:lvl3pPr>
            <a:lvl4pPr>
              <a:defRPr sz="1600" b="1"/>
            </a:lvl4pPr>
            <a:lvl5pPr>
              <a:defRPr sz="1600" b="1"/>
            </a:lvl5pPr>
          </a:lstStyle>
          <a:p>
            <a:pPr lvl="0"/>
            <a:r>
              <a:rPr kumimoji="1" lang="ja-JP" altLang="en-US" dirty="0"/>
              <a:t>マスター テキストの書式設定</a:t>
            </a:r>
          </a:p>
        </p:txBody>
      </p:sp>
    </p:spTree>
    <p:extLst>
      <p:ext uri="{BB962C8B-B14F-4D97-AF65-F5344CB8AC3E}">
        <p14:creationId xmlns:p14="http://schemas.microsoft.com/office/powerpoint/2010/main" val="4105011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15" name="Rectangle 35">
            <a:extLst>
              <a:ext uri="{FF2B5EF4-FFF2-40B4-BE49-F238E27FC236}">
                <a16:creationId xmlns:a16="http://schemas.microsoft.com/office/drawing/2014/main" id="{7A9930C5-9CE5-CD3F-0B34-BA742C592203}"/>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53117" y="590117"/>
            <a:ext cx="10364451" cy="502919"/>
          </a:xfrm>
        </p:spPr>
        <p:txBody>
          <a:bodyPr anchor="t"/>
          <a:lstStyle>
            <a:lvl1pPr algn="l">
              <a:defRPr b="1">
                <a:solidFill>
                  <a:schemeClr val="tx2">
                    <a:lumMod val="75000"/>
                  </a:schemeClr>
                </a:solidFill>
              </a:defRPr>
            </a:lvl1pPr>
          </a:lstStyle>
          <a:p>
            <a:r>
              <a:rPr lang="ja-JP" altLang="en-US" dirty="0"/>
              <a:t>マスター タイトルの書式設定</a:t>
            </a:r>
            <a:endParaRPr lang="en-US" dirty="0"/>
          </a:p>
        </p:txBody>
      </p:sp>
      <p:sp>
        <p:nvSpPr>
          <p:cNvPr id="9" name="スライド番号プレースホルダー 8">
            <a:extLst>
              <a:ext uri="{FF2B5EF4-FFF2-40B4-BE49-F238E27FC236}">
                <a16:creationId xmlns:a16="http://schemas.microsoft.com/office/drawing/2014/main" id="{769DF8EF-F888-3401-8278-4FAF9AF9F249}"/>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sp>
        <p:nvSpPr>
          <p:cNvPr id="53" name="テキスト プレースホルダー 52">
            <a:extLst>
              <a:ext uri="{FF2B5EF4-FFF2-40B4-BE49-F238E27FC236}">
                <a16:creationId xmlns:a16="http://schemas.microsoft.com/office/drawing/2014/main" id="{F8CF3099-468C-D418-D6F8-EC2CC9B3FAEC}"/>
              </a:ext>
            </a:extLst>
          </p:cNvPr>
          <p:cNvSpPr>
            <a:spLocks noGrp="1"/>
          </p:cNvSpPr>
          <p:nvPr>
            <p:ph type="body" sz="quarter" idx="17"/>
          </p:nvPr>
        </p:nvSpPr>
        <p:spPr>
          <a:xfrm>
            <a:off x="353117" y="277487"/>
            <a:ext cx="3679148" cy="248005"/>
          </a:xfrm>
        </p:spPr>
        <p:txBody>
          <a:bodyPr anchor="ctr">
            <a:noAutofit/>
          </a:bodyPr>
          <a:lstStyle>
            <a:lvl1pPr>
              <a:buNone/>
              <a:defRPr sz="1200" b="1">
                <a:solidFill>
                  <a:srgbClr val="0070C0"/>
                </a:solidFill>
              </a:defRPr>
            </a:lvl1pPr>
          </a:lstStyle>
          <a:p>
            <a:pPr lvl="0"/>
            <a:r>
              <a:rPr kumimoji="1" lang="ja-JP" altLang="en-US" dirty="0"/>
              <a:t>マスター テキストの書式設定</a:t>
            </a:r>
          </a:p>
        </p:txBody>
      </p:sp>
      <p:pic>
        <p:nvPicPr>
          <p:cNvPr id="54" name="図 53">
            <a:extLst>
              <a:ext uri="{FF2B5EF4-FFF2-40B4-BE49-F238E27FC236}">
                <a16:creationId xmlns:a16="http://schemas.microsoft.com/office/drawing/2014/main" id="{CAA03307-0E99-F9A7-C662-A5190938DBD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3" name="Shape 3">
            <a:extLst>
              <a:ext uri="{FF2B5EF4-FFF2-40B4-BE49-F238E27FC236}">
                <a16:creationId xmlns:a16="http://schemas.microsoft.com/office/drawing/2014/main" id="{B0E02CB6-6242-8B4F-E9ED-2424F73EEA9F}"/>
              </a:ext>
            </a:extLst>
          </p:cNvPr>
          <p:cNvSpPr/>
          <p:nvPr userDrawn="1"/>
        </p:nvSpPr>
        <p:spPr>
          <a:xfrm>
            <a:off x="457200" y="1234440"/>
            <a:ext cx="914400" cy="0"/>
          </a:xfrm>
          <a:prstGeom prst="line">
            <a:avLst/>
          </a:prstGeom>
          <a:noFill/>
          <a:ln w="38100">
            <a:solidFill>
              <a:srgbClr val="00A8E6"/>
            </a:solidFill>
            <a:prstDash val="solid"/>
          </a:ln>
        </p:spPr>
        <p:txBody>
          <a:bodyPr/>
          <a:lstStyle/>
          <a:p>
            <a:endParaRPr lang="ja-JP" altLang="en-US"/>
          </a:p>
        </p:txBody>
      </p:sp>
      <p:sp>
        <p:nvSpPr>
          <p:cNvPr id="16" name="Rectangle 35">
            <a:extLst>
              <a:ext uri="{FF2B5EF4-FFF2-40B4-BE49-F238E27FC236}">
                <a16:creationId xmlns:a16="http://schemas.microsoft.com/office/drawing/2014/main" id="{D4D631C2-ED8A-15C5-915E-0BE64E42497C}"/>
              </a:ext>
            </a:extLst>
          </p:cNvPr>
          <p:cNvSpPr/>
          <p:nvPr userDrawn="1"/>
        </p:nvSpPr>
        <p:spPr>
          <a:xfrm>
            <a:off x="0" y="0"/>
            <a:ext cx="12191695" cy="72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コンテンツ プレースホルダー 55">
            <a:extLst>
              <a:ext uri="{FF2B5EF4-FFF2-40B4-BE49-F238E27FC236}">
                <a16:creationId xmlns:a16="http://schemas.microsoft.com/office/drawing/2014/main" id="{0683C0E1-DA8A-EE7F-FB55-CFD653A4BB18}"/>
              </a:ext>
            </a:extLst>
          </p:cNvPr>
          <p:cNvSpPr>
            <a:spLocks noGrp="1"/>
          </p:cNvSpPr>
          <p:nvPr>
            <p:ph sz="quarter" idx="18"/>
          </p:nvPr>
        </p:nvSpPr>
        <p:spPr>
          <a:xfrm>
            <a:off x="457200" y="1364228"/>
            <a:ext cx="11352213" cy="5069910"/>
          </a:xfrm>
        </p:spPr>
        <p:txBody>
          <a:bodyPr>
            <a:normAutofit/>
          </a:bodyPr>
          <a:lstStyle>
            <a:lvl1pPr>
              <a:lnSpc>
                <a:spcPct val="100000"/>
              </a:lnSpc>
              <a:buClr>
                <a:srgbClr val="00A8E6"/>
              </a:buClr>
              <a:buFont typeface="Wingdings" panose="05000000000000000000" pitchFamily="2" charset="2"/>
              <a:buChar char="n"/>
              <a:defRPr sz="2800">
                <a:solidFill>
                  <a:srgbClr val="00A8E6"/>
                </a:solidFill>
              </a:defRPr>
            </a:lvl1pPr>
            <a:lvl2pPr>
              <a:lnSpc>
                <a:spcPct val="100000"/>
              </a:lnSpc>
              <a:buClr>
                <a:schemeClr val="tx1"/>
              </a:buClr>
              <a:buFont typeface="Wingdings" panose="05000000000000000000" pitchFamily="2" charset="2"/>
              <a:buChar char="l"/>
              <a:defRPr sz="2400">
                <a:solidFill>
                  <a:schemeClr val="tx2">
                    <a:lumMod val="75000"/>
                  </a:schemeClr>
                </a:solidFill>
              </a:defRPr>
            </a:lvl2pPr>
            <a:lvl3pPr>
              <a:lnSpc>
                <a:spcPct val="100000"/>
              </a:lnSpc>
              <a:buClrTx/>
              <a:buFont typeface="Wingdings" panose="05000000000000000000" pitchFamily="2" charset="2"/>
              <a:buChar char="ü"/>
              <a:defRPr sz="2000">
                <a:solidFill>
                  <a:schemeClr val="tx2">
                    <a:lumMod val="75000"/>
                  </a:schemeClr>
                </a:solidFill>
              </a:defRPr>
            </a:lvl3pPr>
            <a:lvl4pPr>
              <a:lnSpc>
                <a:spcPct val="100000"/>
              </a:lnSpc>
              <a:buClrTx/>
              <a:defRPr sz="1800">
                <a:solidFill>
                  <a:schemeClr val="tx2">
                    <a:lumMod val="75000"/>
                  </a:schemeClr>
                </a:solidFill>
              </a:defRPr>
            </a:lvl4pPr>
            <a:lvl5pPr>
              <a:lnSpc>
                <a:spcPct val="100000"/>
              </a:lnSpc>
              <a:buClrTx/>
              <a:defRPr sz="1800">
                <a:solidFill>
                  <a:schemeClr val="tx2">
                    <a:lumMod val="7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391937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5" name="スライド番号プレースホルダー 8">
            <a:extLst>
              <a:ext uri="{FF2B5EF4-FFF2-40B4-BE49-F238E27FC236}">
                <a16:creationId xmlns:a16="http://schemas.microsoft.com/office/drawing/2014/main" id="{E34F8C15-2E77-C57B-CF55-C0A99E1EBA92}"/>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spTree>
    <p:extLst>
      <p:ext uri="{BB962C8B-B14F-4D97-AF65-F5344CB8AC3E}">
        <p14:creationId xmlns:p14="http://schemas.microsoft.com/office/powerpoint/2010/main" val="2495381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最終スライド">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BC1721-93D6-7F2B-8921-5DD357B79065}"/>
              </a:ext>
            </a:extLst>
          </p:cNvPr>
          <p:cNvSpPr/>
          <p:nvPr userDrawn="1"/>
        </p:nvSpPr>
        <p:spPr>
          <a:xfrm>
            <a:off x="0" y="3840480"/>
            <a:ext cx="12191695" cy="30175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
            <a:extLst>
              <a:ext uri="{FF2B5EF4-FFF2-40B4-BE49-F238E27FC236}">
                <a16:creationId xmlns:a16="http://schemas.microsoft.com/office/drawing/2014/main" id="{A76C3186-35FC-3408-4D37-4586EDD08488}"/>
              </a:ext>
            </a:extLst>
          </p:cNvPr>
          <p:cNvSpPr txBox="1"/>
          <p:nvPr userDrawn="1"/>
        </p:nvSpPr>
        <p:spPr>
          <a:xfrm>
            <a:off x="457200" y="1182753"/>
            <a:ext cx="11274552" cy="1109214"/>
          </a:xfrm>
          <a:prstGeom prst="rect">
            <a:avLst/>
          </a:prstGeom>
          <a:noFill/>
        </p:spPr>
        <p:txBody>
          <a:bodyPr wrap="square" lIns="0" tIns="0" rIns="0" bIns="0" anchor="ctr">
            <a:spAutoFit/>
          </a:bodyPr>
          <a:lstStyle/>
          <a:p>
            <a:pPr algn="ctr">
              <a:lnSpc>
                <a:spcPct val="125000"/>
              </a:lnSpc>
            </a:pPr>
            <a:r>
              <a:rPr sz="6400" b="1" dirty="0">
                <a:solidFill>
                  <a:srgbClr val="0A3D62"/>
                </a:solidFill>
                <a:latin typeface="+mn-lt"/>
              </a:rPr>
              <a:t>Thank you.</a:t>
            </a:r>
          </a:p>
        </p:txBody>
      </p:sp>
      <p:sp>
        <p:nvSpPr>
          <p:cNvPr id="6" name="TextBox 3">
            <a:extLst>
              <a:ext uri="{FF2B5EF4-FFF2-40B4-BE49-F238E27FC236}">
                <a16:creationId xmlns:a16="http://schemas.microsoft.com/office/drawing/2014/main" id="{861A40CE-BF53-2C94-0A7D-049A2403DB0A}"/>
              </a:ext>
            </a:extLst>
          </p:cNvPr>
          <p:cNvSpPr txBox="1"/>
          <p:nvPr userDrawn="1"/>
        </p:nvSpPr>
        <p:spPr>
          <a:xfrm>
            <a:off x="457200" y="2468880"/>
            <a:ext cx="11274552" cy="359522"/>
          </a:xfrm>
          <a:prstGeom prst="rect">
            <a:avLst/>
          </a:prstGeom>
          <a:noFill/>
        </p:spPr>
        <p:txBody>
          <a:bodyPr wrap="square" lIns="0" tIns="0" rIns="0" bIns="0" anchor="t">
            <a:spAutoFit/>
          </a:bodyPr>
          <a:lstStyle/>
          <a:p>
            <a:pPr algn="ctr">
              <a:lnSpc>
                <a:spcPct val="125000"/>
              </a:lnSpc>
            </a:pPr>
            <a:r>
              <a:rPr sz="2000" b="0" dirty="0">
                <a:solidFill>
                  <a:srgbClr val="1F2937"/>
                </a:solidFill>
                <a:latin typeface="+mj-ea"/>
                <a:ea typeface="+mj-ea"/>
              </a:rPr>
              <a:t>ご清聴ありがとうございました。</a:t>
            </a:r>
          </a:p>
        </p:txBody>
      </p:sp>
      <p:sp>
        <p:nvSpPr>
          <p:cNvPr id="10" name="Rectangle 4">
            <a:extLst>
              <a:ext uri="{FF2B5EF4-FFF2-40B4-BE49-F238E27FC236}">
                <a16:creationId xmlns:a16="http://schemas.microsoft.com/office/drawing/2014/main" id="{9FA7DD3F-EDCA-0FF7-58CA-A09625313264}"/>
              </a:ext>
            </a:extLst>
          </p:cNvPr>
          <p:cNvSpPr/>
          <p:nvPr userDrawn="1"/>
        </p:nvSpPr>
        <p:spPr>
          <a:xfrm>
            <a:off x="5733288" y="3200400"/>
            <a:ext cx="731520" cy="45720"/>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5">
            <a:extLst>
              <a:ext uri="{FF2B5EF4-FFF2-40B4-BE49-F238E27FC236}">
                <a16:creationId xmlns:a16="http://schemas.microsoft.com/office/drawing/2014/main" id="{D7BAF6BC-2072-52CE-218A-71338896F250}"/>
              </a:ext>
            </a:extLst>
          </p:cNvPr>
          <p:cNvSpPr/>
          <p:nvPr userDrawn="1"/>
        </p:nvSpPr>
        <p:spPr>
          <a:xfrm>
            <a:off x="1371600" y="4206240"/>
            <a:ext cx="9445752" cy="21945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6">
            <a:extLst>
              <a:ext uri="{FF2B5EF4-FFF2-40B4-BE49-F238E27FC236}">
                <a16:creationId xmlns:a16="http://schemas.microsoft.com/office/drawing/2014/main" id="{93C7BDA9-7A09-6783-3614-0BD781D1880A}"/>
              </a:ext>
            </a:extLst>
          </p:cNvPr>
          <p:cNvSpPr txBox="1"/>
          <p:nvPr userDrawn="1"/>
        </p:nvSpPr>
        <p:spPr>
          <a:xfrm>
            <a:off x="1691640" y="4434840"/>
            <a:ext cx="8686800" cy="395493"/>
          </a:xfrm>
          <a:prstGeom prst="rect">
            <a:avLst/>
          </a:prstGeom>
          <a:noFill/>
        </p:spPr>
        <p:txBody>
          <a:bodyPr wrap="square" lIns="0" tIns="0" rIns="0" bIns="0" anchor="t">
            <a:spAutoFit/>
          </a:bodyPr>
          <a:lstStyle/>
          <a:p>
            <a:pPr algn="l">
              <a:lnSpc>
                <a:spcPct val="125000"/>
              </a:lnSpc>
            </a:pPr>
            <a:r>
              <a:rPr lang="ja-JP" altLang="en-US" sz="2200" b="1" dirty="0">
                <a:solidFill>
                  <a:srgbClr val="0A3D62"/>
                </a:solidFill>
                <a:latin typeface="+mn-ea"/>
                <a:ea typeface="+mn-ea"/>
              </a:rPr>
              <a:t>株式会社 アルパイン設計事務所</a:t>
            </a:r>
            <a:endParaRPr sz="2200" b="1" dirty="0">
              <a:solidFill>
                <a:srgbClr val="0A3D62"/>
              </a:solidFill>
              <a:latin typeface="+mn-ea"/>
              <a:ea typeface="+mn-ea"/>
            </a:endParaRPr>
          </a:p>
        </p:txBody>
      </p:sp>
      <p:sp>
        <p:nvSpPr>
          <p:cNvPr id="17" name="Rectangle 7">
            <a:extLst>
              <a:ext uri="{FF2B5EF4-FFF2-40B4-BE49-F238E27FC236}">
                <a16:creationId xmlns:a16="http://schemas.microsoft.com/office/drawing/2014/main" id="{4D61C277-9045-F328-47B3-539A732094C4}"/>
              </a:ext>
            </a:extLst>
          </p:cNvPr>
          <p:cNvSpPr/>
          <p:nvPr userDrawn="1"/>
        </p:nvSpPr>
        <p:spPr>
          <a:xfrm>
            <a:off x="1691640" y="4983480"/>
            <a:ext cx="640080" cy="3657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8">
            <a:extLst>
              <a:ext uri="{FF2B5EF4-FFF2-40B4-BE49-F238E27FC236}">
                <a16:creationId xmlns:a16="http://schemas.microsoft.com/office/drawing/2014/main" id="{523E39DE-E3DD-E236-8E59-A7EEB3599882}"/>
              </a:ext>
            </a:extLst>
          </p:cNvPr>
          <p:cNvSpPr txBox="1"/>
          <p:nvPr userDrawn="1"/>
        </p:nvSpPr>
        <p:spPr>
          <a:xfrm>
            <a:off x="1691640" y="5166360"/>
            <a:ext cx="4114800" cy="215765"/>
          </a:xfrm>
          <a:prstGeom prst="rect">
            <a:avLst/>
          </a:prstGeom>
          <a:noFill/>
        </p:spPr>
        <p:txBody>
          <a:bodyPr wrap="square" lIns="0" tIns="0" rIns="0" bIns="0" anchor="t">
            <a:spAutoFit/>
          </a:bodyPr>
          <a:lstStyle/>
          <a:p>
            <a:pPr algn="l">
              <a:lnSpc>
                <a:spcPct val="125000"/>
              </a:lnSpc>
            </a:pPr>
            <a:r>
              <a:rPr sz="1200" b="1" dirty="0">
                <a:solidFill>
                  <a:srgbClr val="00A8E6"/>
                </a:solidFill>
                <a:latin typeface="+mn-ea"/>
                <a:ea typeface="+mn-ea"/>
              </a:rPr>
              <a:t>■</a:t>
            </a:r>
            <a:r>
              <a:rPr lang="ja-JP" altLang="en-US" sz="1200" b="1" dirty="0">
                <a:solidFill>
                  <a:srgbClr val="00A8E6"/>
                </a:solidFill>
                <a:latin typeface="+mn-ea"/>
                <a:ea typeface="+mn-ea"/>
              </a:rPr>
              <a:t> 金石本社</a:t>
            </a:r>
            <a:endParaRPr sz="1200" b="1" dirty="0">
              <a:solidFill>
                <a:srgbClr val="00A8E6"/>
              </a:solidFill>
              <a:latin typeface="+mn-ea"/>
              <a:ea typeface="+mn-ea"/>
            </a:endParaRPr>
          </a:p>
        </p:txBody>
      </p:sp>
      <p:sp>
        <p:nvSpPr>
          <p:cNvPr id="21" name="TextBox 11">
            <a:extLst>
              <a:ext uri="{FF2B5EF4-FFF2-40B4-BE49-F238E27FC236}">
                <a16:creationId xmlns:a16="http://schemas.microsoft.com/office/drawing/2014/main" id="{D11AEF3F-2467-563E-5E97-CF56FDB96122}"/>
              </a:ext>
            </a:extLst>
          </p:cNvPr>
          <p:cNvSpPr txBox="1"/>
          <p:nvPr userDrawn="1"/>
        </p:nvSpPr>
        <p:spPr>
          <a:xfrm>
            <a:off x="6400800" y="5166360"/>
            <a:ext cx="4114800" cy="215765"/>
          </a:xfrm>
          <a:prstGeom prst="rect">
            <a:avLst/>
          </a:prstGeom>
          <a:noFill/>
        </p:spPr>
        <p:txBody>
          <a:bodyPr wrap="square" lIns="0" tIns="0" rIns="0" bIns="0" anchor="t">
            <a:spAutoFit/>
          </a:bodyPr>
          <a:lstStyle/>
          <a:p>
            <a:pPr algn="l">
              <a:lnSpc>
                <a:spcPct val="125000"/>
              </a:lnSpc>
            </a:pPr>
            <a:r>
              <a:rPr sz="1200" b="1">
                <a:solidFill>
                  <a:srgbClr val="00A8E6"/>
                </a:solidFill>
                <a:latin typeface="+mn-ea"/>
                <a:ea typeface="+mn-ea"/>
              </a:rPr>
              <a:t>■ 小矢部事務所</a:t>
            </a:r>
          </a:p>
        </p:txBody>
      </p:sp>
      <p:pic>
        <p:nvPicPr>
          <p:cNvPr id="24" name="図 23">
            <a:extLst>
              <a:ext uri="{FF2B5EF4-FFF2-40B4-BE49-F238E27FC236}">
                <a16:creationId xmlns:a16="http://schemas.microsoft.com/office/drawing/2014/main" id="{F7C33A59-B42F-91B1-2F9C-878473A282B2}"/>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9554022" y="4394615"/>
            <a:ext cx="1090555" cy="484017"/>
          </a:xfrm>
          <a:prstGeom prst="rect">
            <a:avLst/>
          </a:prstGeom>
          <a:effectLst>
            <a:glow>
              <a:schemeClr val="bg1"/>
            </a:glow>
          </a:effectLst>
        </p:spPr>
      </p:pic>
      <p:sp>
        <p:nvSpPr>
          <p:cNvPr id="25" name="テキスト ボックス 24">
            <a:extLst>
              <a:ext uri="{FF2B5EF4-FFF2-40B4-BE49-F238E27FC236}">
                <a16:creationId xmlns:a16="http://schemas.microsoft.com/office/drawing/2014/main" id="{94BDC41E-A9A8-8CD5-68F4-58D64142BE20}"/>
              </a:ext>
            </a:extLst>
          </p:cNvPr>
          <p:cNvSpPr txBox="1"/>
          <p:nvPr userDrawn="1"/>
        </p:nvSpPr>
        <p:spPr>
          <a:xfrm>
            <a:off x="1691640" y="5486400"/>
            <a:ext cx="3204723" cy="261610"/>
          </a:xfrm>
          <a:prstGeom prst="rect">
            <a:avLst/>
          </a:prstGeom>
          <a:noFill/>
        </p:spPr>
        <p:txBody>
          <a:bodyPr wrap="none" rtlCol="0">
            <a:spAutoFit/>
          </a:bodyPr>
          <a:lstStyle/>
          <a:p>
            <a:r>
              <a:rPr kumimoji="1" lang="ja-JP" altLang="en-US" sz="1100" dirty="0"/>
              <a:t>〒</a:t>
            </a:r>
            <a:r>
              <a:rPr kumimoji="1" lang="en-US" altLang="ja-JP" sz="1100" dirty="0"/>
              <a:t>920-0336</a:t>
            </a:r>
            <a:r>
              <a:rPr kumimoji="1" lang="ja-JP" altLang="en-US" sz="1100" dirty="0"/>
              <a:t> 石川県金沢市金石本町ハ１３番地２</a:t>
            </a:r>
          </a:p>
        </p:txBody>
      </p:sp>
      <p:sp>
        <p:nvSpPr>
          <p:cNvPr id="26" name="テキスト ボックス 25">
            <a:extLst>
              <a:ext uri="{FF2B5EF4-FFF2-40B4-BE49-F238E27FC236}">
                <a16:creationId xmlns:a16="http://schemas.microsoft.com/office/drawing/2014/main" id="{DE2A9F2B-0B5C-392B-AFEE-E738FCE5AD70}"/>
              </a:ext>
            </a:extLst>
          </p:cNvPr>
          <p:cNvSpPr txBox="1"/>
          <p:nvPr userDrawn="1"/>
        </p:nvSpPr>
        <p:spPr>
          <a:xfrm>
            <a:off x="6400800" y="5486400"/>
            <a:ext cx="2922595" cy="261610"/>
          </a:xfrm>
          <a:prstGeom prst="rect">
            <a:avLst/>
          </a:prstGeom>
          <a:noFill/>
        </p:spPr>
        <p:txBody>
          <a:bodyPr wrap="none" rtlCol="0">
            <a:spAutoFit/>
          </a:bodyPr>
          <a:lstStyle/>
          <a:p>
            <a:r>
              <a:rPr kumimoji="1" lang="ja-JP" altLang="en-US" sz="1100" dirty="0"/>
              <a:t>〒</a:t>
            </a:r>
            <a:r>
              <a:rPr kumimoji="1" lang="en-US" altLang="ja-JP" sz="1100" dirty="0"/>
              <a:t>932-0132</a:t>
            </a:r>
            <a:r>
              <a:rPr kumimoji="1" lang="ja-JP" altLang="en-US" sz="1100" dirty="0"/>
              <a:t> 富山県小矢部市小森谷１９番地</a:t>
            </a:r>
          </a:p>
        </p:txBody>
      </p:sp>
      <p:sp>
        <p:nvSpPr>
          <p:cNvPr id="27" name="テキスト ボックス 26">
            <a:extLst>
              <a:ext uri="{FF2B5EF4-FFF2-40B4-BE49-F238E27FC236}">
                <a16:creationId xmlns:a16="http://schemas.microsoft.com/office/drawing/2014/main" id="{73DFDEB9-B4E2-8305-A9E5-B26B232CAC63}"/>
              </a:ext>
            </a:extLst>
          </p:cNvPr>
          <p:cNvSpPr txBox="1"/>
          <p:nvPr userDrawn="1"/>
        </p:nvSpPr>
        <p:spPr>
          <a:xfrm>
            <a:off x="1691640" y="5806440"/>
            <a:ext cx="1548822" cy="261610"/>
          </a:xfrm>
          <a:prstGeom prst="rect">
            <a:avLst/>
          </a:prstGeom>
          <a:noFill/>
        </p:spPr>
        <p:txBody>
          <a:bodyPr wrap="none" rtlCol="0">
            <a:spAutoFit/>
          </a:bodyPr>
          <a:lstStyle/>
          <a:p>
            <a:r>
              <a:rPr kumimoji="1" lang="en-US" altLang="ja-JP" sz="1100" dirty="0"/>
              <a:t>TEL</a:t>
            </a:r>
            <a:r>
              <a:rPr kumimoji="1" lang="ja-JP" altLang="en-US" sz="1100" dirty="0"/>
              <a:t>　</a:t>
            </a:r>
            <a:r>
              <a:rPr kumimoji="1" lang="en-US" altLang="ja-JP" sz="1100" dirty="0"/>
              <a:t>( 076</a:t>
            </a:r>
            <a:r>
              <a:rPr kumimoji="1" lang="ja-JP" altLang="en-US" sz="1100" dirty="0"/>
              <a:t> </a:t>
            </a:r>
            <a:r>
              <a:rPr kumimoji="1" lang="en-US" altLang="ja-JP" sz="1100" dirty="0"/>
              <a:t>) 266-3467</a:t>
            </a:r>
            <a:endParaRPr kumimoji="1" lang="ja-JP" altLang="en-US" sz="1100" dirty="0"/>
          </a:p>
        </p:txBody>
      </p:sp>
      <p:sp>
        <p:nvSpPr>
          <p:cNvPr id="29" name="テキスト ボックス 28">
            <a:extLst>
              <a:ext uri="{FF2B5EF4-FFF2-40B4-BE49-F238E27FC236}">
                <a16:creationId xmlns:a16="http://schemas.microsoft.com/office/drawing/2014/main" id="{6EE78410-AC80-F986-CA08-D27FFD5E0C0F}"/>
              </a:ext>
            </a:extLst>
          </p:cNvPr>
          <p:cNvSpPr txBox="1"/>
          <p:nvPr userDrawn="1"/>
        </p:nvSpPr>
        <p:spPr>
          <a:xfrm>
            <a:off x="6400800" y="5806440"/>
            <a:ext cx="1548822" cy="261610"/>
          </a:xfrm>
          <a:prstGeom prst="rect">
            <a:avLst/>
          </a:prstGeom>
          <a:noFill/>
        </p:spPr>
        <p:txBody>
          <a:bodyPr wrap="none" rtlCol="0">
            <a:spAutoFit/>
          </a:bodyPr>
          <a:lstStyle/>
          <a:p>
            <a:r>
              <a:rPr kumimoji="1" lang="en-US" altLang="ja-JP" sz="1100" dirty="0"/>
              <a:t>TEL</a:t>
            </a:r>
            <a:r>
              <a:rPr kumimoji="1" lang="ja-JP" altLang="en-US" sz="1100" dirty="0"/>
              <a:t>　</a:t>
            </a:r>
            <a:r>
              <a:rPr kumimoji="1" lang="en-US" altLang="ja-JP" sz="1100" dirty="0"/>
              <a:t>( 0766</a:t>
            </a:r>
            <a:r>
              <a:rPr kumimoji="1" lang="ja-JP" altLang="en-US" sz="1100" dirty="0"/>
              <a:t> </a:t>
            </a:r>
            <a:r>
              <a:rPr kumimoji="1" lang="en-US" altLang="ja-JP" sz="1100" dirty="0"/>
              <a:t>) 69-7888</a:t>
            </a:r>
            <a:endParaRPr kumimoji="1" lang="ja-JP" altLang="en-US" sz="1100" dirty="0"/>
          </a:p>
        </p:txBody>
      </p:sp>
    </p:spTree>
    <p:extLst>
      <p:ext uri="{BB962C8B-B14F-4D97-AF65-F5344CB8AC3E}">
        <p14:creationId xmlns:p14="http://schemas.microsoft.com/office/powerpoint/2010/main" val="51230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532329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13794" y="4289374"/>
            <a:ext cx="10364432" cy="81161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405748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913774" y="609599"/>
            <a:ext cx="10364452" cy="3427245"/>
          </a:xfrm>
        </p:spPr>
        <p:txBody>
          <a:bodyPr anchor="ctr"/>
          <a:lstStyle>
            <a:lvl1pPr algn="ctr">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3077263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15" name="Title 1"/>
          <p:cNvSpPr>
            <a:spLocks noGrp="1"/>
          </p:cNvSpPr>
          <p:nvPr>
            <p:ph type="title"/>
          </p:nvPr>
        </p:nvSpPr>
        <p:spPr>
          <a:xfrm>
            <a:off x="913774" y="609600"/>
            <a:ext cx="10364452" cy="1605094"/>
          </a:xfrm>
        </p:spPr>
        <p:txBody>
          <a:bodyPr/>
          <a:lstStyle/>
          <a:p>
            <a:r>
              <a:rPr lang="ja-JP" altLang="en-US"/>
              <a:t>マスター タイトルの書式設定</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3257993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sp>
        <p:nvSpPr>
          <p:cNvPr id="30" name="Title 1"/>
          <p:cNvSpPr>
            <a:spLocks noGrp="1"/>
          </p:cNvSpPr>
          <p:nvPr>
            <p:ph type="title"/>
          </p:nvPr>
        </p:nvSpPr>
        <p:spPr>
          <a:xfrm>
            <a:off x="913774" y="610772"/>
            <a:ext cx="10364452" cy="1603922"/>
          </a:xfrm>
        </p:spPr>
        <p:txBody>
          <a:bodyPr/>
          <a:lstStyle/>
          <a:p>
            <a:r>
              <a:rPr lang="ja-JP" altLang="en-US"/>
              <a:t>マスター タイトルの書式設定</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2987909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11487677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ja-JP" altLang="en-US"/>
              <a:t>マスター タイトルの書式設定</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4601820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cap="none" baseline="0">
                <a:solidFill>
                  <a:schemeClr val="tx1"/>
                </a:solidFill>
              </a:defRPr>
            </a:lvl1pPr>
          </a:lstStyle>
          <a:p>
            <a:endParaRPr kumimoji="1" lang="ja-JP" alt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cap="none" baseline="0">
                <a:solidFill>
                  <a:schemeClr val="tx1"/>
                </a:solidFill>
              </a:defRPr>
            </a:lvl1pPr>
          </a:lstStyle>
          <a:p>
            <a:endParaRPr kumimoji="1" lang="ja-JP" alt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cap="none" baseline="0">
                <a:solidFill>
                  <a:schemeClr val="tx1"/>
                </a:solidFill>
              </a:defRPr>
            </a:lvl1pPr>
          </a:lstStyle>
          <a:p>
            <a:fld id="{7744AD22-693D-4773-9028-20E660F2F223}" type="slidenum">
              <a:rPr kumimoji="1" lang="ja-JP" altLang="en-US" smtClean="0"/>
              <a:pPr/>
              <a:t>‹#›</a:t>
            </a:fld>
            <a:endParaRPr kumimoji="1" lang="ja-JP" altLang="en-US"/>
          </a:p>
        </p:txBody>
      </p:sp>
    </p:spTree>
    <p:extLst>
      <p:ext uri="{BB962C8B-B14F-4D97-AF65-F5344CB8AC3E}">
        <p14:creationId xmlns:p14="http://schemas.microsoft.com/office/powerpoint/2010/main" val="38525656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9" r:id="rId4"/>
    <p:sldLayoutId id="2147483668" r:id="rId5"/>
    <p:sldLayoutId id="2147483678" r:id="rId6"/>
    <p:sldLayoutId id="2147483667" r:id="rId7"/>
    <p:sldLayoutId id="2147483665" r:id="rId8"/>
    <p:sldLayoutId id="2147483666" r:id="rId9"/>
    <p:sldLayoutId id="2147483670" r:id="rId10"/>
    <p:sldLayoutId id="2147483671" r:id="rId11"/>
    <p:sldLayoutId id="2147483674" r:id="rId12"/>
    <p:sldLayoutId id="2147483675" r:id="rId13"/>
    <p:sldLayoutId id="2147483676" r:id="rId14"/>
    <p:sldLayoutId id="2147483677" r:id="rId15"/>
  </p:sldLayoutIdLst>
  <p:hf hdr="0" ftr="0" dt="0"/>
  <p:txStyles>
    <p:titleStyle>
      <a:lvl1pPr algn="ctr" defTabSz="914400" rtl="0" eaLnBrk="1" latinLnBrk="0" hangingPunct="1">
        <a:lnSpc>
          <a:spcPct val="90000"/>
        </a:lnSpc>
        <a:spcBef>
          <a:spcPct val="0"/>
        </a:spcBef>
        <a:buNone/>
        <a:defRPr kumimoji="1" sz="3600" kern="1200" cap="none"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kumimoji="1" sz="2000" kern="1200" cap="none"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kumimoji="1" sz="1600" kern="1200" cap="none"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none"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600" b="1">
                <a:solidFill>
                  <a:srgbClr val="1F1F1F"/>
                </a:solidFill>
                <a:latin typeface="游ゴシック Medium"/>
              </a:rPr>
              <a:t>ナレッジシステム</a:t>
            </a:r>
          </a:p>
          <a:p>
            <a:r>
              <a:rPr sz="3600" b="1">
                <a:solidFill>
                  <a:srgbClr val="1F1F1F"/>
                </a:solidFill>
                <a:latin typeface="游ゴシック Medium"/>
              </a:rPr>
              <a:t>CADタグ・属性の自動抽出</a:t>
            </a:r>
          </a:p>
        </p:txBody>
      </p:sp>
      <p:sp>
        <p:nvSpPr>
          <p:cNvPr id="3" name="Subtitle 2"/>
          <p:cNvSpPr>
            <a:spLocks noGrp="1"/>
          </p:cNvSpPr>
          <p:nvPr>
            <p:ph type="subTitle" idx="1"/>
          </p:nvPr>
        </p:nvSpPr>
        <p:spPr/>
        <p:txBody>
          <a:bodyPr/>
          <a:lstStyle/>
          <a:p>
            <a:r>
              <a:rPr sz="1800">
                <a:solidFill>
                  <a:srgbClr val="5A5A5A"/>
                </a:solidFill>
                <a:latin typeface="游ゴシック Medium"/>
              </a:rPr>
              <a:t>開発到達点・業務インパクト・ICADライセンスのご判断事項</a:t>
            </a:r>
          </a:p>
        </p:txBody>
      </p:sp>
      <p:sp>
        <p:nvSpPr>
          <p:cNvPr id="4" name="Text Placeholder 3"/>
          <p:cNvSpPr>
            <a:spLocks noGrp="1"/>
          </p:cNvSpPr>
          <p:nvPr>
            <p:ph type="body" idx="10" sz="quarter"/>
          </p:nvPr>
        </p:nvSpPr>
        <p:spPr/>
        <p:txBody>
          <a:bodyPr/>
          <a:lstStyle/>
          <a:p>
            <a:r>
              <a:rPr sz="1200">
                <a:solidFill>
                  <a:srgbClr val="5A5A5A"/>
                </a:solidFill>
                <a:latin typeface="游ゴシック Medium"/>
              </a:rPr>
              <a:t>2026.07.28　/　株式会社アルパイン設計事務所　/　役員会ご説明用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1F1F1F"/>
                </a:solidFill>
                <a:latin typeface="游ゴシック Medium"/>
              </a:rPr>
              <a:t>要旨</a:t>
            </a:r>
          </a:p>
        </p:txBody>
      </p:sp>
      <p:sp>
        <p:nvSpPr>
          <p:cNvPr id="3" name="Text Placeholder 2"/>
          <p:cNvSpPr>
            <a:spLocks noGrp="1"/>
          </p:cNvSpPr>
          <p:nvPr>
            <p:ph type="body" idx="17" sz="quarter"/>
          </p:nvPr>
        </p:nvSpPr>
        <p:spPr/>
        <p:txBody>
          <a:bodyPr/>
          <a:lstStyle/>
          <a:p>
            <a:r>
              <a:rPr sz="1100" b="1">
                <a:solidFill>
                  <a:srgbClr val="005BAC"/>
                </a:solidFill>
                <a:latin typeface="游ゴシック Medium"/>
              </a:rPr>
              <a:t>本日ご判断いただきたいことは3点です</a:t>
            </a:r>
          </a:p>
        </p:txBody>
      </p:sp>
      <p:sp>
        <p:nvSpPr>
          <p:cNvPr id="4" name="TextBox 3"/>
          <p:cNvSpPr txBox="1"/>
          <p:nvPr/>
        </p:nvSpPr>
        <p:spPr>
          <a:xfrm>
            <a:off x="457200" y="1364228"/>
            <a:ext cx="3650737" cy="4461520"/>
          </a:xfrm>
          <a:prstGeom prst="rect">
            <a:avLst/>
          </a:prstGeom>
          <a:solidFill>
            <a:srgbClr val="FFFFFF"/>
          </a:solidFill>
          <a:ln w="12700">
            <a:solidFill>
              <a:srgbClr val="C9D3DD"/>
            </a:solidFill>
          </a:ln>
        </p:spPr>
        <p:txBody>
          <a:bodyPr wrap="square" lIns="140000" rIns="120000" tIns="110000">
            <a:spAutoFit/>
          </a:bodyPr>
          <a:lstStyle/>
          <a:p>
            <a:pPr>
              <a:spcAft>
                <a:spcPts val="600"/>
              </a:spcAft>
            </a:pPr>
            <a:r>
              <a:rPr sz="1400" b="1">
                <a:solidFill>
                  <a:srgbClr val="005BAC"/>
                </a:solidFill>
                <a:latin typeface="游ゴシック Medium"/>
              </a:rPr>
              <a:t>① 開発は動く段階まで来ている</a:t>
            </a:r>
          </a:p>
          <a:p>
            <a:pPr>
              <a:spcAft>
                <a:spcPts val="400"/>
              </a:spcAft>
            </a:pPr>
            <a:r>
              <a:rPr sz="1150">
                <a:solidFill>
                  <a:srgbClr val="1F1F1F"/>
                </a:solidFill>
                <a:latin typeface="游ゴシック Medium"/>
              </a:rPr>
              <a:t>実ICAD 39件で、抽出→正規化→タグ生成→</a:t>
            </a:r>
          </a:p>
          <a:p>
            <a:pPr>
              <a:spcAft>
                <a:spcPts val="400"/>
              </a:spcAft>
            </a:pPr>
            <a:r>
              <a:rPr sz="1150">
                <a:solidFill>
                  <a:srgbClr val="1F1F1F"/>
                </a:solidFill>
                <a:latin typeface="游ゴシック Medium"/>
              </a:rPr>
              <a:t>画面表示まで一気通貫で動作を確認済み。</a:t>
            </a:r>
          </a:p>
          <a:p>
            <a:pPr>
              <a:spcAft>
                <a:spcPts val="400"/>
              </a:spcAft>
            </a:pPr>
            <a:r>
              <a:rPr sz="1150">
                <a:solidFill>
                  <a:srgbClr val="1F1F1F"/>
                </a:solidFill>
                <a:latin typeface="游ゴシック Medium"/>
              </a:rPr>
              <a:t/>
            </a:r>
          </a:p>
          <a:p>
            <a:pPr>
              <a:spcAft>
                <a:spcPts val="400"/>
              </a:spcAft>
            </a:pPr>
            <a:r>
              <a:rPr sz="1150">
                <a:solidFill>
                  <a:srgbClr val="1F1F1F"/>
                </a:solidFill>
                <a:latin typeface="游ゴシック Medium"/>
              </a:rPr>
              <a:t>材質・質量・部品構成は実データで安定取得。</a:t>
            </a:r>
          </a:p>
          <a:p>
            <a:pPr>
              <a:spcAft>
                <a:spcPts val="400"/>
              </a:spcAft>
            </a:pPr>
            <a:r>
              <a:rPr sz="1150">
                <a:solidFill>
                  <a:srgbClr val="1F1F1F"/>
                </a:solidFill>
                <a:latin typeface="游ゴシック Medium"/>
              </a:rPr>
              <a:t/>
            </a:r>
          </a:p>
          <a:p>
            <a:pPr>
              <a:spcAft>
                <a:spcPts val="400"/>
              </a:spcAft>
            </a:pPr>
            <a:r>
              <a:rPr sz="1150">
                <a:solidFill>
                  <a:srgbClr val="1F1F1F"/>
                </a:solidFill>
                <a:latin typeface="游ゴシック Medium"/>
              </a:rPr>
              <a:t>残るのは辞書の拡充と、</a:t>
            </a:r>
          </a:p>
          <a:p>
            <a:pPr>
              <a:spcAft>
                <a:spcPts val="400"/>
              </a:spcAft>
            </a:pPr>
            <a:r>
              <a:rPr sz="1150">
                <a:solidFill>
                  <a:srgbClr val="1F1F1F"/>
                </a:solidFill>
                <a:latin typeface="游ゴシック Medium"/>
              </a:rPr>
              <a:t>創屋への受け渡し形式の確定。</a:t>
            </a:r>
          </a:p>
        </p:txBody>
      </p:sp>
      <p:sp>
        <p:nvSpPr>
          <p:cNvPr id="5" name="TextBox 4"/>
          <p:cNvSpPr txBox="1"/>
          <p:nvPr/>
        </p:nvSpPr>
        <p:spPr>
          <a:xfrm>
            <a:off x="4307937" y="1364228"/>
            <a:ext cx="3650737" cy="4461520"/>
          </a:xfrm>
          <a:prstGeom prst="rect">
            <a:avLst/>
          </a:prstGeom>
          <a:solidFill>
            <a:srgbClr val="FFFFFF"/>
          </a:solidFill>
          <a:ln w="12700">
            <a:solidFill>
              <a:srgbClr val="C9D3DD"/>
            </a:solidFill>
          </a:ln>
        </p:spPr>
        <p:txBody>
          <a:bodyPr wrap="square" lIns="140000" rIns="120000" tIns="110000">
            <a:spAutoFit/>
          </a:bodyPr>
          <a:lstStyle/>
          <a:p>
            <a:pPr>
              <a:spcAft>
                <a:spcPts val="600"/>
              </a:spcAft>
            </a:pPr>
            <a:r>
              <a:rPr sz="1400" b="1">
                <a:solidFill>
                  <a:srgbClr val="005BAC"/>
                </a:solidFill>
                <a:latin typeface="游ゴシック Medium"/>
              </a:rPr>
              <a:t>② ICAD専用ライセンスは必須ではない</a:t>
            </a:r>
          </a:p>
          <a:p>
            <a:pPr>
              <a:spcAft>
                <a:spcPts val="400"/>
              </a:spcAft>
            </a:pPr>
            <a:r>
              <a:rPr sz="1150">
                <a:solidFill>
                  <a:srgbClr val="1F1F1F"/>
                </a:solidFill>
                <a:latin typeface="游ゴシック Medium"/>
              </a:rPr>
              <a:t>「ナレッジシステム専用に150万円の</a:t>
            </a:r>
          </a:p>
          <a:p>
            <a:pPr>
              <a:spcAft>
                <a:spcPts val="400"/>
              </a:spcAft>
            </a:pPr>
            <a:r>
              <a:rPr sz="1150">
                <a:solidFill>
                  <a:srgbClr val="1F1F1F"/>
                </a:solidFill>
                <a:latin typeface="游ゴシック Medium"/>
              </a:rPr>
              <a:t>ICADを追加購入」が前提だと売りにくい。</a:t>
            </a:r>
          </a:p>
          <a:p>
            <a:pPr>
              <a:spcAft>
                <a:spcPts val="400"/>
              </a:spcAft>
            </a:pPr>
            <a:r>
              <a:rPr sz="1150">
                <a:solidFill>
                  <a:srgbClr val="1F1F1F"/>
                </a:solidFill>
                <a:latin typeface="游ゴシック Medium"/>
              </a:rPr>
              <a:t/>
            </a:r>
          </a:p>
          <a:p>
            <a:pPr>
              <a:spcAft>
                <a:spcPts val="400"/>
              </a:spcAft>
            </a:pPr>
            <a:r>
              <a:rPr sz="1150">
                <a:solidFill>
                  <a:srgbClr val="1F1F1F"/>
                </a:solidFill>
                <a:latin typeface="游ゴシック Medium"/>
              </a:rPr>
              <a:t>技術的には、ICADが要るのは</a:t>
            </a:r>
          </a:p>
          <a:p>
            <a:pPr>
              <a:spcAft>
                <a:spcPts val="400"/>
              </a:spcAft>
            </a:pPr>
            <a:r>
              <a:rPr sz="1150">
                <a:solidFill>
                  <a:srgbClr val="1F1F1F"/>
                </a:solidFill>
                <a:latin typeface="游ゴシック Medium"/>
              </a:rPr>
              <a:t>登録・抽出の瞬間だけ。</a:t>
            </a:r>
          </a:p>
          <a:p>
            <a:pPr>
              <a:spcAft>
                <a:spcPts val="400"/>
              </a:spcAft>
            </a:pPr>
            <a:r>
              <a:rPr sz="1150">
                <a:solidFill>
                  <a:srgbClr val="1F1F1F"/>
                </a:solidFill>
                <a:latin typeface="游ゴシック Medium"/>
              </a:rPr>
              <a:t/>
            </a:r>
          </a:p>
          <a:p>
            <a:pPr>
              <a:spcAft>
                <a:spcPts val="400"/>
              </a:spcAft>
            </a:pPr>
            <a:r>
              <a:rPr sz="1150">
                <a:solidFill>
                  <a:srgbClr val="1F1F1F"/>
                </a:solidFill>
                <a:latin typeface="游ゴシック Medium"/>
              </a:rPr>
              <a:t>既存ライセンス兼用／当社の余剰ライセンス</a:t>
            </a:r>
          </a:p>
          <a:p>
            <a:pPr>
              <a:spcAft>
                <a:spcPts val="400"/>
              </a:spcAft>
            </a:pPr>
            <a:r>
              <a:rPr sz="1150">
                <a:solidFill>
                  <a:srgbClr val="1F1F1F"/>
                </a:solidFill>
                <a:latin typeface="游ゴシック Medium"/>
              </a:rPr>
              <a:t>による変換代行／ICAD不要構成が取り得る。</a:t>
            </a:r>
          </a:p>
        </p:txBody>
      </p:sp>
      <p:sp>
        <p:nvSpPr>
          <p:cNvPr id="6" name="TextBox 5"/>
          <p:cNvSpPr txBox="1"/>
          <p:nvPr/>
        </p:nvSpPr>
        <p:spPr>
          <a:xfrm>
            <a:off x="8158674" y="1364228"/>
            <a:ext cx="3650737" cy="4461520"/>
          </a:xfrm>
          <a:prstGeom prst="rect">
            <a:avLst/>
          </a:prstGeom>
          <a:solidFill>
            <a:srgbClr val="FFFFFF"/>
          </a:solidFill>
          <a:ln w="12700">
            <a:solidFill>
              <a:srgbClr val="C9D3DD"/>
            </a:solidFill>
          </a:ln>
        </p:spPr>
        <p:txBody>
          <a:bodyPr wrap="square" lIns="140000" rIns="120000" tIns="110000">
            <a:spAutoFit/>
          </a:bodyPr>
          <a:lstStyle/>
          <a:p>
            <a:pPr>
              <a:spcAft>
                <a:spcPts val="600"/>
              </a:spcAft>
            </a:pPr>
            <a:r>
              <a:rPr sz="1400" b="1">
                <a:solidFill>
                  <a:srgbClr val="005BAC"/>
                </a:solidFill>
                <a:latin typeface="游ゴシック Medium"/>
              </a:rPr>
              <a:t>③ 外販を見据えた構成判断が要る</a:t>
            </a:r>
          </a:p>
          <a:p>
            <a:pPr>
              <a:spcAft>
                <a:spcPts val="400"/>
              </a:spcAft>
            </a:pPr>
            <a:r>
              <a:rPr sz="1150">
                <a:solidFill>
                  <a:srgbClr val="1F1F1F"/>
                </a:solidFill>
                <a:latin typeface="游ゴシック Medium"/>
              </a:rPr>
              <a:t>「ICADがある構成」と「ICADがない構成」の</a:t>
            </a:r>
          </a:p>
          <a:p>
            <a:pPr>
              <a:spcAft>
                <a:spcPts val="400"/>
              </a:spcAft>
            </a:pPr>
            <a:r>
              <a:rPr sz="1150">
                <a:solidFill>
                  <a:srgbClr val="1F1F1F"/>
                </a:solidFill>
                <a:latin typeface="游ゴシック Medium"/>
              </a:rPr>
              <a:t>両方を成立させる方向で進めたい。</a:t>
            </a:r>
          </a:p>
          <a:p>
            <a:pPr>
              <a:spcAft>
                <a:spcPts val="400"/>
              </a:spcAft>
            </a:pPr>
            <a:r>
              <a:rPr sz="1150">
                <a:solidFill>
                  <a:srgbClr val="1F1F1F"/>
                </a:solidFill>
                <a:latin typeface="游ゴシック Medium"/>
              </a:rPr>
              <a:t/>
            </a:r>
          </a:p>
          <a:p>
            <a:pPr>
              <a:spcAft>
                <a:spcPts val="400"/>
              </a:spcAft>
            </a:pPr>
            <a:r>
              <a:rPr sz="1150">
                <a:solidFill>
                  <a:srgbClr val="1F1F1F"/>
                </a:solidFill>
                <a:latin typeface="游ゴシック Medium"/>
              </a:rPr>
              <a:t>ライセンス条項の可否は富士通・販売元へ</a:t>
            </a:r>
          </a:p>
          <a:p>
            <a:pPr>
              <a:spcAft>
                <a:spcPts val="400"/>
              </a:spcAft>
            </a:pPr>
            <a:r>
              <a:rPr sz="1150">
                <a:solidFill>
                  <a:srgbClr val="1F1F1F"/>
                </a:solidFill>
                <a:latin typeface="游ゴシック Medium"/>
              </a:rPr>
              <a:t>確認が必要（未確認）。</a:t>
            </a:r>
          </a:p>
          <a:p>
            <a:pPr>
              <a:spcAft>
                <a:spcPts val="400"/>
              </a:spcAft>
            </a:pPr>
            <a:r>
              <a:rPr sz="1150">
                <a:solidFill>
                  <a:srgbClr val="1F1F1F"/>
                </a:solidFill>
                <a:latin typeface="游ゴシック Medium"/>
              </a:rPr>
              <a:t/>
            </a:r>
          </a:p>
          <a:p>
            <a:pPr>
              <a:spcAft>
                <a:spcPts val="400"/>
              </a:spcAft>
            </a:pPr>
            <a:r>
              <a:rPr sz="1150">
                <a:solidFill>
                  <a:srgbClr val="1F1F1F"/>
                </a:solidFill>
                <a:latin typeface="游ゴシック Medium"/>
              </a:rPr>
              <a:t>→ この方針でよいかのご判断をお願いします。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1F1F1F"/>
                </a:solidFill>
                <a:latin typeface="游ゴシック Medium"/>
              </a:rPr>
              <a:t>現在の開発到達点</a:t>
            </a:r>
          </a:p>
        </p:txBody>
      </p:sp>
      <p:sp>
        <p:nvSpPr>
          <p:cNvPr id="3" name="Text Placeholder 2"/>
          <p:cNvSpPr>
            <a:spLocks noGrp="1"/>
          </p:cNvSpPr>
          <p:nvPr>
            <p:ph type="body" idx="2" sz="half"/>
          </p:nvPr>
        </p:nvSpPr>
        <p:spPr/>
        <p:txBody>
          <a:bodyPr/>
          <a:lstStyle/>
          <a:p>
            <a:r>
              <a:rPr sz="1400" b="1">
                <a:solidFill>
                  <a:srgbClr val="005BAC"/>
                </a:solidFill>
                <a:latin typeface="游ゴシック Medium"/>
              </a:rPr>
              <a:t>CHAPTER　01</a:t>
            </a:r>
          </a:p>
        </p:txBody>
      </p:sp>
      <p:sp>
        <p:nvSpPr>
          <p:cNvPr id="4" name="Text Placeholder 3"/>
          <p:cNvSpPr>
            <a:spLocks noGrp="1"/>
          </p:cNvSpPr>
          <p:nvPr>
            <p:ph type="body" idx="17" sz="half"/>
          </p:nvPr>
        </p:nvSpPr>
        <p:spPr/>
        <p:txBody>
          <a:bodyPr/>
          <a:lstStyle/>
          <a:p>
            <a:r>
              <a:rPr sz="1200" b="1">
                <a:solidFill>
                  <a:srgbClr val="005BAC"/>
                </a:solidFill>
                <a:latin typeface="游ゴシック Medium"/>
              </a:rPr>
              <a:t>Progress</a:t>
            </a:r>
          </a:p>
        </p:txBody>
      </p:sp>
      <p:sp>
        <p:nvSpPr>
          <p:cNvPr id="5" name="Content Placeholder 4"/>
          <p:cNvSpPr>
            <a:spLocks noGrp="1"/>
          </p:cNvSpPr>
          <p:nvPr>
            <p:ph idx="18" sz="quarter"/>
          </p:nvPr>
        </p:nvSpPr>
        <p:spPr/>
        <p:txBody>
          <a:bodyPr wrap="square"/>
          <a:lstStyle/>
          <a:p>
            <a:pPr>
              <a:spcAft>
                <a:spcPts val="600"/>
              </a:spcAft>
            </a:pPr>
            <a:r>
              <a:rPr sz="1400" b="0">
                <a:solidFill>
                  <a:srgbClr val="1F1F1F"/>
                </a:solidFill>
                <a:latin typeface="游ゴシック Medium"/>
              </a:rPr>
              <a:t>何ができるようになったか</a:t>
            </a:r>
          </a:p>
          <a:p>
            <a:pPr>
              <a:spcAft>
                <a:spcPts val="600"/>
              </a:spcAft>
            </a:pPr>
            <a:r>
              <a:rPr sz="1400" b="0">
                <a:solidFill>
                  <a:srgbClr val="1F1F1F"/>
                </a:solidFill>
                <a:latin typeface="游ゴシック Medium"/>
              </a:rPr>
              <a:t>実データでどこまで取れたか</a:t>
            </a:r>
          </a:p>
          <a:p>
            <a:pPr>
              <a:spcAft>
                <a:spcPts val="600"/>
              </a:spcAft>
            </a:pPr>
            <a:r>
              <a:rPr sz="1400" b="0">
                <a:solidFill>
                  <a:srgbClr val="1F1F1F"/>
                </a:solidFill>
                <a:latin typeface="游ゴシック Medium"/>
              </a:rPr>
              <a:t>図面1枚から実際に何が出るか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1F1F1F"/>
                </a:solidFill>
                <a:latin typeface="游ゴシック Medium"/>
              </a:rPr>
              <a:t>何ができるようになったか</a:t>
            </a:r>
          </a:p>
        </p:txBody>
      </p:sp>
      <p:sp>
        <p:nvSpPr>
          <p:cNvPr id="3" name="Text Placeholder 2"/>
          <p:cNvSpPr>
            <a:spLocks noGrp="1"/>
          </p:cNvSpPr>
          <p:nvPr>
            <p:ph type="body" idx="17" sz="quarter"/>
          </p:nvPr>
        </p:nvSpPr>
        <p:spPr/>
        <p:txBody>
          <a:bodyPr/>
          <a:lstStyle/>
          <a:p>
            <a:r>
              <a:rPr sz="1100" b="1">
                <a:solidFill>
                  <a:srgbClr val="005BAC"/>
                </a:solidFill>
                <a:latin typeface="游ゴシック Medium"/>
              </a:rPr>
              <a:t>図面ファイルを登録すると、人手を介さずタグと属性が付く</a:t>
            </a:r>
          </a:p>
        </p:txBody>
      </p:sp>
      <p:sp>
        <p:nvSpPr>
          <p:cNvPr id="4" name="TextBox 3"/>
          <p:cNvSpPr txBox="1"/>
          <p:nvPr/>
        </p:nvSpPr>
        <p:spPr>
          <a:xfrm>
            <a:off x="457200" y="1364228"/>
            <a:ext cx="3650737" cy="4461520"/>
          </a:xfrm>
          <a:prstGeom prst="rect">
            <a:avLst/>
          </a:prstGeom>
          <a:solidFill>
            <a:srgbClr val="FFFFFF"/>
          </a:solidFill>
          <a:ln w="12700">
            <a:solidFill>
              <a:srgbClr val="C9D3DD"/>
            </a:solidFill>
          </a:ln>
        </p:spPr>
        <p:txBody>
          <a:bodyPr wrap="square" lIns="140000" rIns="120000" tIns="110000">
            <a:spAutoFit/>
          </a:bodyPr>
          <a:lstStyle/>
          <a:p>
            <a:pPr>
              <a:spcAft>
                <a:spcPts val="600"/>
              </a:spcAft>
            </a:pPr>
            <a:r>
              <a:rPr sz="1400" b="1">
                <a:solidFill>
                  <a:srgbClr val="005BAC"/>
                </a:solidFill>
                <a:latin typeface="游ゴシック Medium"/>
              </a:rPr>
              <a:t>① CADから中身を読み出す</a:t>
            </a:r>
          </a:p>
          <a:p>
            <a:pPr>
              <a:spcAft>
                <a:spcPts val="400"/>
              </a:spcAft>
            </a:pPr>
            <a:r>
              <a:rPr sz="1200">
                <a:solidFill>
                  <a:srgbClr val="1F1F1F"/>
                </a:solidFill>
                <a:latin typeface="游ゴシック Medium"/>
              </a:rPr>
              <a:t>ICADの2D図面・3Dモデルから、</a:t>
            </a:r>
          </a:p>
          <a:p>
            <a:pPr>
              <a:spcAft>
                <a:spcPts val="400"/>
              </a:spcAft>
            </a:pPr>
            <a:r>
              <a:rPr sz="1200">
                <a:solidFill>
                  <a:srgbClr val="1F1F1F"/>
                </a:solidFill>
                <a:latin typeface="游ゴシック Medium"/>
              </a:rPr>
              <a:t>材質・質量・部品構成・寸法・注記・</a:t>
            </a:r>
          </a:p>
          <a:p>
            <a:pPr>
              <a:spcAft>
                <a:spcPts val="400"/>
              </a:spcAft>
            </a:pPr>
            <a:r>
              <a:rPr sz="1200">
                <a:solidFill>
                  <a:srgbClr val="1F1F1F"/>
                </a:solidFill>
                <a:latin typeface="游ゴシック Medium"/>
              </a:rPr>
              <a:t>図枠情報を機械的に取り出す。</a:t>
            </a:r>
          </a:p>
          <a:p>
            <a:pPr>
              <a:spcAft>
                <a:spcPts val="400"/>
              </a:spcAft>
            </a:pPr>
            <a:r>
              <a:rPr sz="1200">
                <a:solidFill>
                  <a:srgbClr val="1F1F1F"/>
                </a:solidFill>
                <a:latin typeface="游ゴシック Medium"/>
              </a:rPr>
              <a:t/>
            </a:r>
          </a:p>
          <a:p>
            <a:pPr>
              <a:spcAft>
                <a:spcPts val="400"/>
              </a:spcAft>
            </a:pPr>
            <a:r>
              <a:rPr sz="1200">
                <a:solidFill>
                  <a:srgbClr val="1F1F1F"/>
                </a:solidFill>
                <a:latin typeface="游ゴシック Medium"/>
              </a:rPr>
              <a:t>ICADのAPI（SXNET）を直接使用。</a:t>
            </a:r>
          </a:p>
          <a:p>
            <a:pPr>
              <a:spcAft>
                <a:spcPts val="400"/>
              </a:spcAft>
            </a:pPr>
            <a:r>
              <a:rPr sz="1200">
                <a:solidFill>
                  <a:srgbClr val="1F1F1F"/>
                </a:solidFill>
                <a:latin typeface="游ゴシック Medium"/>
              </a:rPr>
              <a:t>画面操作の自動化ではない。</a:t>
            </a:r>
          </a:p>
        </p:txBody>
      </p:sp>
      <p:sp>
        <p:nvSpPr>
          <p:cNvPr id="5" name="TextBox 4"/>
          <p:cNvSpPr txBox="1"/>
          <p:nvPr/>
        </p:nvSpPr>
        <p:spPr>
          <a:xfrm>
            <a:off x="4307937" y="1364228"/>
            <a:ext cx="3650737" cy="4461520"/>
          </a:xfrm>
          <a:prstGeom prst="rect">
            <a:avLst/>
          </a:prstGeom>
          <a:solidFill>
            <a:srgbClr val="FFFFFF"/>
          </a:solidFill>
          <a:ln w="12700">
            <a:solidFill>
              <a:srgbClr val="C9D3DD"/>
            </a:solidFill>
          </a:ln>
        </p:spPr>
        <p:txBody>
          <a:bodyPr wrap="square" lIns="140000" rIns="120000" tIns="110000">
            <a:spAutoFit/>
          </a:bodyPr>
          <a:lstStyle/>
          <a:p>
            <a:pPr>
              <a:spcAft>
                <a:spcPts val="600"/>
              </a:spcAft>
            </a:pPr>
            <a:r>
              <a:rPr sz="1400" b="1">
                <a:solidFill>
                  <a:srgbClr val="005BAC"/>
                </a:solidFill>
                <a:latin typeface="游ゴシック Medium"/>
              </a:rPr>
              <a:t>② 意味のある属性に整える</a:t>
            </a:r>
          </a:p>
          <a:p>
            <a:pPr>
              <a:spcAft>
                <a:spcPts val="400"/>
              </a:spcAft>
            </a:pPr>
            <a:r>
              <a:rPr sz="1200">
                <a:solidFill>
                  <a:srgbClr val="1F1F1F"/>
                </a:solidFill>
                <a:latin typeface="游ゴシック Medium"/>
              </a:rPr>
              <a:t>取り出した生データを、検索に使える</a:t>
            </a:r>
          </a:p>
          <a:p>
            <a:pPr>
              <a:spcAft>
                <a:spcPts val="400"/>
              </a:spcAft>
            </a:pPr>
            <a:r>
              <a:rPr sz="1200">
                <a:solidFill>
                  <a:srgbClr val="1F1F1F"/>
                </a:solidFill>
                <a:latin typeface="游ゴシック Medium"/>
              </a:rPr>
              <a:t>固定項目へ整形する。</a:t>
            </a:r>
          </a:p>
          <a:p>
            <a:pPr>
              <a:spcAft>
                <a:spcPts val="400"/>
              </a:spcAft>
            </a:pPr>
            <a:r>
              <a:rPr sz="1200">
                <a:solidFill>
                  <a:srgbClr val="1F1F1F"/>
                </a:solidFill>
                <a:latin typeface="游ゴシック Medium"/>
              </a:rPr>
              <a:t/>
            </a:r>
          </a:p>
          <a:p>
            <a:pPr>
              <a:spcAft>
                <a:spcPts val="400"/>
              </a:spcAft>
            </a:pPr>
            <a:r>
              <a:rPr sz="1200">
                <a:solidFill>
                  <a:srgbClr val="1F1F1F"/>
                </a:solidFill>
                <a:latin typeface="游ゴシック Medium"/>
              </a:rPr>
              <a:t>2D図面で133項目、3Dモデルで97項目。</a:t>
            </a:r>
          </a:p>
          <a:p>
            <a:pPr>
              <a:spcAft>
                <a:spcPts val="400"/>
              </a:spcAft>
            </a:pPr>
            <a:r>
              <a:rPr sz="1200">
                <a:solidFill>
                  <a:srgbClr val="1F1F1F"/>
                </a:solidFill>
                <a:latin typeface="游ゴシック Medium"/>
              </a:rPr>
              <a:t/>
            </a:r>
          </a:p>
          <a:p>
            <a:pPr>
              <a:spcAft>
                <a:spcPts val="400"/>
              </a:spcAft>
            </a:pPr>
            <a:r>
              <a:rPr sz="1200">
                <a:solidFill>
                  <a:srgbClr val="1F1F1F"/>
                </a:solidFill>
                <a:latin typeface="游ゴシック Medium"/>
              </a:rPr>
              <a:t>取れなかった項目は「取れなかった」と</a:t>
            </a:r>
          </a:p>
          <a:p>
            <a:pPr>
              <a:spcAft>
                <a:spcPts val="400"/>
              </a:spcAft>
            </a:pPr>
            <a:r>
              <a:rPr sz="1200">
                <a:solidFill>
                  <a:srgbClr val="1F1F1F"/>
                </a:solidFill>
                <a:latin typeface="游ゴシック Medium"/>
              </a:rPr>
              <a:t>記録し、推測で埋めない。</a:t>
            </a:r>
          </a:p>
        </p:txBody>
      </p:sp>
      <p:sp>
        <p:nvSpPr>
          <p:cNvPr id="6" name="TextBox 5"/>
          <p:cNvSpPr txBox="1"/>
          <p:nvPr/>
        </p:nvSpPr>
        <p:spPr>
          <a:xfrm>
            <a:off x="8158674" y="1364228"/>
            <a:ext cx="3650737" cy="4461520"/>
          </a:xfrm>
          <a:prstGeom prst="rect">
            <a:avLst/>
          </a:prstGeom>
          <a:solidFill>
            <a:srgbClr val="FFFFFF"/>
          </a:solidFill>
          <a:ln w="12700">
            <a:solidFill>
              <a:srgbClr val="C9D3DD"/>
            </a:solidFill>
          </a:ln>
        </p:spPr>
        <p:txBody>
          <a:bodyPr wrap="square" lIns="140000" rIns="120000" tIns="110000">
            <a:spAutoFit/>
          </a:bodyPr>
          <a:lstStyle/>
          <a:p>
            <a:pPr>
              <a:spcAft>
                <a:spcPts val="600"/>
              </a:spcAft>
            </a:pPr>
            <a:r>
              <a:rPr sz="1400" b="1">
                <a:solidFill>
                  <a:srgbClr val="005BAC"/>
                </a:solidFill>
                <a:latin typeface="游ゴシック Medium"/>
              </a:rPr>
              <a:t>③ タグを自動で付ける</a:t>
            </a:r>
          </a:p>
          <a:p>
            <a:pPr>
              <a:spcAft>
                <a:spcPts val="400"/>
              </a:spcAft>
            </a:pPr>
            <a:r>
              <a:rPr sz="1200">
                <a:solidFill>
                  <a:srgbClr val="1F1F1F"/>
                </a:solidFill>
                <a:latin typeface="游ゴシック Medium"/>
              </a:rPr>
              <a:t>客先・案件・装置・メーカー・材質・</a:t>
            </a:r>
          </a:p>
          <a:p>
            <a:pPr>
              <a:spcAft>
                <a:spcPts val="400"/>
              </a:spcAft>
            </a:pPr>
            <a:r>
              <a:rPr sz="1200">
                <a:solidFill>
                  <a:srgbClr val="1F1F1F"/>
                </a:solidFill>
                <a:latin typeface="游ゴシック Medium"/>
              </a:rPr>
              <a:t>表面処理・塗装・熱処理・PRFX・</a:t>
            </a:r>
          </a:p>
          <a:p>
            <a:pPr>
              <a:spcAft>
                <a:spcPts val="400"/>
              </a:spcAft>
            </a:pPr>
            <a:r>
              <a:rPr sz="1200">
                <a:solidFill>
                  <a:srgbClr val="1F1F1F"/>
                </a:solidFill>
                <a:latin typeface="游ゴシック Medium"/>
              </a:rPr>
              <a:t>ユニット・規格の11種類。</a:t>
            </a:r>
          </a:p>
          <a:p>
            <a:pPr>
              <a:spcAft>
                <a:spcPts val="400"/>
              </a:spcAft>
            </a:pPr>
            <a:r>
              <a:rPr sz="1200">
                <a:solidFill>
                  <a:srgbClr val="1F1F1F"/>
                </a:solidFill>
                <a:latin typeface="游ゴシック Medium"/>
              </a:rPr>
              <a:t/>
            </a:r>
          </a:p>
          <a:p>
            <a:pPr>
              <a:spcAft>
                <a:spcPts val="400"/>
              </a:spcAft>
            </a:pPr>
            <a:r>
              <a:rPr sz="1200">
                <a:solidFill>
                  <a:srgbClr val="1F1F1F"/>
                </a:solidFill>
                <a:latin typeface="游ゴシック Medium"/>
              </a:rPr>
              <a:t>全タグに根拠と確度が付く。</a:t>
            </a:r>
          </a:p>
          <a:p>
            <a:pPr>
              <a:spcAft>
                <a:spcPts val="400"/>
              </a:spcAft>
            </a:pPr>
            <a:r>
              <a:rPr sz="1200">
                <a:solidFill>
                  <a:srgbClr val="1F1F1F"/>
                </a:solidFill>
                <a:latin typeface="游ゴシック Medium"/>
              </a:rPr>
              <a:t>根拠のないタグは作らない。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1F1F1F"/>
                </a:solidFill>
                <a:latin typeface="游ゴシック Medium"/>
              </a:rPr>
              <a:t>実データでの実績</a:t>
            </a:r>
          </a:p>
        </p:txBody>
      </p:sp>
      <p:sp>
        <p:nvSpPr>
          <p:cNvPr id="3" name="Text Placeholder 2"/>
          <p:cNvSpPr>
            <a:spLocks noGrp="1"/>
          </p:cNvSpPr>
          <p:nvPr>
            <p:ph type="body" idx="17" sz="quarter"/>
          </p:nvPr>
        </p:nvSpPr>
        <p:spPr/>
        <p:txBody>
          <a:bodyPr/>
          <a:lstStyle/>
          <a:p>
            <a:r>
              <a:rPr sz="1100" b="1">
                <a:solidFill>
                  <a:srgbClr val="005BAC"/>
                </a:solidFill>
                <a:latin typeface="游ゴシック Medium"/>
              </a:rPr>
              <a:t>共有した実ICAD 39件を、実際に最後まで通した結果（2026-07-17時点）</a:t>
            </a:r>
          </a:p>
        </p:txBody>
      </p:sp>
      <p:graphicFrame>
        <p:nvGraphicFramePr>
          <p:cNvPr id="4" name="Table 3"/>
          <p:cNvGraphicFramePr>
            <a:graphicFrameLocks noGrp="1"/>
          </p:cNvGraphicFramePr>
          <p:nvPr/>
        </p:nvGraphicFramePr>
        <p:xfrm>
          <a:off x="457200" y="1364228"/>
          <a:ext cx="11352211" cy="2600000"/>
        </p:xfrm>
        <a:graphic>
          <a:graphicData uri="http://schemas.openxmlformats.org/drawingml/2006/table">
            <a:tbl>
              <a:tblPr firstRow="1" bandRow="1">
                <a:tableStyleId>{5C22544A-7EE6-4342-B048-85BDC9FD1C3A}</a:tableStyleId>
              </a:tblPr>
              <a:tblGrid>
                <a:gridCol w="2812937"/>
                <a:gridCol w="5525413"/>
                <a:gridCol w="3013861"/>
              </a:tblGrid>
              <a:tr h="433333">
                <a:tc>
                  <a:txBody>
                    <a:bodyPr/>
                    <a:lstStyle/>
                    <a:p>
                      <a:r>
                        <a:rPr sz="1200" b="1">
                          <a:solidFill>
                            <a:srgbClr val="FFFFFF"/>
                          </a:solidFill>
                          <a:latin typeface="游ゴシック Medium"/>
                        </a:rPr>
                        <a:t>観点</a:t>
                      </a:r>
                    </a:p>
                  </a:txBody>
                  <a:tcPr anchor="ctr" marL="64000" marR="64000">
                    <a:solidFill>
                      <a:srgbClr val="005BAC"/>
                    </a:solidFill>
                  </a:tcPr>
                </a:tc>
                <a:tc>
                  <a:txBody>
                    <a:bodyPr/>
                    <a:lstStyle/>
                    <a:p>
                      <a:r>
                        <a:rPr sz="1200" b="1">
                          <a:solidFill>
                            <a:srgbClr val="FFFFFF"/>
                          </a:solidFill>
                          <a:latin typeface="游ゴシック Medium"/>
                        </a:rPr>
                        <a:t>結果</a:t>
                      </a:r>
                    </a:p>
                  </a:txBody>
                  <a:tcPr anchor="ctr" marL="64000" marR="64000">
                    <a:solidFill>
                      <a:srgbClr val="005BAC"/>
                    </a:solidFill>
                  </a:tcPr>
                </a:tc>
                <a:tc>
                  <a:txBody>
                    <a:bodyPr/>
                    <a:lstStyle/>
                    <a:p>
                      <a:r>
                        <a:rPr sz="1200" b="1">
                          <a:solidFill>
                            <a:srgbClr val="FFFFFF"/>
                          </a:solidFill>
                          <a:latin typeface="游ゴシック Medium"/>
                        </a:rPr>
                        <a:t>評価</a:t>
                      </a:r>
                    </a:p>
                  </a:txBody>
                  <a:tcPr anchor="ctr" marL="64000" marR="64000">
                    <a:solidFill>
                      <a:srgbClr val="005BAC"/>
                    </a:solidFill>
                  </a:tcPr>
                </a:tc>
              </a:tr>
              <a:tr h="433333">
                <a:tc>
                  <a:txBody>
                    <a:bodyPr/>
                    <a:lstStyle/>
                    <a:p>
                      <a:pPr>
                        <a:lnSpc>
                          <a:spcPct val="100000"/>
                        </a:lnSpc>
                      </a:pPr>
                      <a:r>
                        <a:rPr sz="1300" b="0">
                          <a:solidFill>
                            <a:srgbClr val="1F1F1F"/>
                          </a:solidFill>
                          <a:latin typeface="游ゴシック Medium"/>
                        </a:rPr>
                        <a:t>抽出完了</a:t>
                      </a:r>
                    </a:p>
                  </a:txBody>
                  <a:tcPr anchor="ctr" marL="64000" marR="64000" marT="24000" marB="24000">
                    <a:solidFill>
                      <a:srgbClr val="FFFFFF"/>
                    </a:solidFill>
                  </a:tcPr>
                </a:tc>
                <a:tc>
                  <a:txBody>
                    <a:bodyPr/>
                    <a:lstStyle/>
                    <a:p>
                      <a:pPr>
                        <a:lnSpc>
                          <a:spcPct val="100000"/>
                        </a:lnSpc>
                      </a:pPr>
                      <a:r>
                        <a:rPr sz="1300" b="0">
                          <a:solidFill>
                            <a:srgbClr val="1F1F1F"/>
                          </a:solidFill>
                          <a:latin typeface="游ゴシック Medium"/>
                        </a:rPr>
                        <a:t>39 / 39 件（未抽出0件）</a:t>
                      </a:r>
                    </a:p>
                  </a:txBody>
                  <a:tcPr anchor="ctr" marL="64000" marR="64000" marT="24000" marB="24000">
                    <a:solidFill>
                      <a:srgbClr val="FFFFFF"/>
                    </a:solidFill>
                  </a:tcPr>
                </a:tc>
                <a:tc>
                  <a:txBody>
                    <a:bodyPr/>
                    <a:lstStyle/>
                    <a:p>
                      <a:pPr>
                        <a:lnSpc>
                          <a:spcPct val="100000"/>
                        </a:lnSpc>
                      </a:pPr>
                      <a:r>
                        <a:rPr sz="1300" b="0">
                          <a:solidFill>
                            <a:srgbClr val="1F1F1F"/>
                          </a:solidFill>
                          <a:latin typeface="游ゴシック Medium"/>
                        </a:rPr>
                        <a:t>◎ 落ちずに通る</a:t>
                      </a:r>
                    </a:p>
                  </a:txBody>
                  <a:tcPr anchor="ctr" marL="64000" marR="64000" marT="24000" marB="24000">
                    <a:solidFill>
                      <a:srgbClr val="FFFFFF"/>
                    </a:solidFill>
                  </a:tcPr>
                </a:tc>
              </a:tr>
              <a:tr h="433333">
                <a:tc>
                  <a:txBody>
                    <a:bodyPr/>
                    <a:lstStyle/>
                    <a:p>
                      <a:pPr>
                        <a:lnSpc>
                          <a:spcPct val="100000"/>
                        </a:lnSpc>
                      </a:pPr>
                      <a:r>
                        <a:rPr sz="1300" b="0">
                          <a:solidFill>
                            <a:srgbClr val="1F1F1F"/>
                          </a:solidFill>
                          <a:latin typeface="游ゴシック Medium"/>
                        </a:rPr>
                        <a:t>部品構成（部品名）</a:t>
                      </a:r>
                    </a:p>
                  </a:txBody>
                  <a:tcPr anchor="ctr" marL="64000" marR="64000" marT="24000" marB="24000">
                    <a:solidFill>
                      <a:srgbClr val="F5F7FA"/>
                    </a:solidFill>
                  </a:tcPr>
                </a:tc>
                <a:tc>
                  <a:txBody>
                    <a:bodyPr/>
                    <a:lstStyle/>
                    <a:p>
                      <a:pPr>
                        <a:lnSpc>
                          <a:spcPct val="100000"/>
                        </a:lnSpc>
                      </a:pPr>
                      <a:r>
                        <a:rPr sz="1300" b="0">
                          <a:solidFill>
                            <a:srgbClr val="1F1F1F"/>
                          </a:solidFill>
                          <a:latin typeface="游ゴシック Medium"/>
                        </a:rPr>
                        <a:t>39 / 39 件で取得</a:t>
                      </a:r>
                    </a:p>
                  </a:txBody>
                  <a:tcPr anchor="ctr" marL="64000" marR="64000" marT="24000" marB="24000">
                    <a:solidFill>
                      <a:srgbClr val="F5F7FA"/>
                    </a:solidFill>
                  </a:tcPr>
                </a:tc>
                <a:tc>
                  <a:txBody>
                    <a:bodyPr/>
                    <a:lstStyle/>
                    <a:p>
                      <a:pPr>
                        <a:lnSpc>
                          <a:spcPct val="100000"/>
                        </a:lnSpc>
                      </a:pPr>
                      <a:r>
                        <a:rPr sz="1300" b="0">
                          <a:solidFill>
                            <a:srgbClr val="1F1F1F"/>
                          </a:solidFill>
                          <a:latin typeface="游ゴシック Medium"/>
                        </a:rPr>
                        <a:t>◎ 全件取得</a:t>
                      </a:r>
                    </a:p>
                  </a:txBody>
                  <a:tcPr anchor="ctr" marL="64000" marR="64000" marT="24000" marB="24000">
                    <a:solidFill>
                      <a:srgbClr val="F5F7FA"/>
                    </a:solidFill>
                  </a:tcPr>
                </a:tc>
              </a:tr>
              <a:tr h="433333">
                <a:tc>
                  <a:txBody>
                    <a:bodyPr/>
                    <a:lstStyle/>
                    <a:p>
                      <a:pPr>
                        <a:lnSpc>
                          <a:spcPct val="100000"/>
                        </a:lnSpc>
                      </a:pPr>
                      <a:r>
                        <a:rPr sz="1300" b="0">
                          <a:solidFill>
                            <a:srgbClr val="1F1F1F"/>
                          </a:solidFill>
                          <a:latin typeface="游ゴシック Medium"/>
                        </a:rPr>
                        <a:t>質量・重量</a:t>
                      </a:r>
                    </a:p>
                  </a:txBody>
                  <a:tcPr anchor="ctr" marL="64000" marR="64000" marT="24000" marB="24000">
                    <a:solidFill>
                      <a:srgbClr val="FFFFFF"/>
                    </a:solidFill>
                  </a:tcPr>
                </a:tc>
                <a:tc>
                  <a:txBody>
                    <a:bodyPr/>
                    <a:lstStyle/>
                    <a:p>
                      <a:pPr>
                        <a:lnSpc>
                          <a:spcPct val="100000"/>
                        </a:lnSpc>
                      </a:pPr>
                      <a:r>
                        <a:rPr sz="1300" b="0">
                          <a:solidFill>
                            <a:srgbClr val="1F1F1F"/>
                          </a:solidFill>
                          <a:latin typeface="游ゴシック Medium"/>
                        </a:rPr>
                        <a:t>38 / 39 件で取得</a:t>
                      </a:r>
                    </a:p>
                  </a:txBody>
                  <a:tcPr anchor="ctr" marL="64000" marR="64000" marT="24000" marB="24000">
                    <a:solidFill>
                      <a:srgbClr val="FFFFFF"/>
                    </a:solidFill>
                  </a:tcPr>
                </a:tc>
                <a:tc>
                  <a:txBody>
                    <a:bodyPr/>
                    <a:lstStyle/>
                    <a:p>
                      <a:pPr>
                        <a:lnSpc>
                          <a:spcPct val="100000"/>
                        </a:lnSpc>
                      </a:pPr>
                      <a:r>
                        <a:rPr sz="1300" b="0">
                          <a:solidFill>
                            <a:srgbClr val="1F1F1F"/>
                          </a:solidFill>
                          <a:latin typeface="游ゴシック Medium"/>
                        </a:rPr>
                        <a:t>◎ ほぼ全件</a:t>
                      </a:r>
                    </a:p>
                  </a:txBody>
                  <a:tcPr anchor="ctr" marL="64000" marR="64000" marT="24000" marB="24000">
                    <a:solidFill>
                      <a:srgbClr val="FFFFFF"/>
                    </a:solidFill>
                  </a:tcPr>
                </a:tc>
              </a:tr>
              <a:tr h="433333">
                <a:tc>
                  <a:txBody>
                    <a:bodyPr/>
                    <a:lstStyle/>
                    <a:p>
                      <a:pPr>
                        <a:lnSpc>
                          <a:spcPct val="100000"/>
                        </a:lnSpc>
                      </a:pPr>
                      <a:r>
                        <a:rPr sz="1300" b="0">
                          <a:solidFill>
                            <a:srgbClr val="1F1F1F"/>
                          </a:solidFill>
                          <a:latin typeface="游ゴシック Medium"/>
                        </a:rPr>
                        <a:t>材質</a:t>
                      </a:r>
                    </a:p>
                  </a:txBody>
                  <a:tcPr anchor="ctr" marL="64000" marR="64000" marT="24000" marB="24000">
                    <a:solidFill>
                      <a:srgbClr val="F5F7FA"/>
                    </a:solidFill>
                  </a:tcPr>
                </a:tc>
                <a:tc>
                  <a:txBody>
                    <a:bodyPr/>
                    <a:lstStyle/>
                    <a:p>
                      <a:pPr>
                        <a:lnSpc>
                          <a:spcPct val="100000"/>
                        </a:lnSpc>
                      </a:pPr>
                      <a:r>
                        <a:rPr sz="1300" b="0">
                          <a:solidFill>
                            <a:srgbClr val="1F1F1F"/>
                          </a:solidFill>
                          <a:latin typeface="游ゴシック Medium"/>
                        </a:rPr>
                        <a:t>33 / 39 件で取得</a:t>
                      </a:r>
                    </a:p>
                  </a:txBody>
                  <a:tcPr anchor="ctr" marL="64000" marR="64000" marT="24000" marB="24000">
                    <a:solidFill>
                      <a:srgbClr val="F5F7FA"/>
                    </a:solidFill>
                  </a:tcPr>
                </a:tc>
                <a:tc>
                  <a:txBody>
                    <a:bodyPr/>
                    <a:lstStyle/>
                    <a:p>
                      <a:pPr>
                        <a:lnSpc>
                          <a:spcPct val="100000"/>
                        </a:lnSpc>
                      </a:pPr>
                      <a:r>
                        <a:rPr sz="1300" b="0">
                          <a:solidFill>
                            <a:srgbClr val="1F1F1F"/>
                          </a:solidFill>
                          <a:latin typeface="游ゴシック Medium"/>
                        </a:rPr>
                        <a:t>○ 8割超</a:t>
                      </a:r>
                    </a:p>
                  </a:txBody>
                  <a:tcPr anchor="ctr" marL="64000" marR="64000" marT="24000" marB="24000">
                    <a:solidFill>
                      <a:srgbClr val="F5F7FA"/>
                    </a:solidFill>
                  </a:tcPr>
                </a:tc>
              </a:tr>
              <a:tr h="433335">
                <a:tc>
                  <a:txBody>
                    <a:bodyPr/>
                    <a:lstStyle/>
                    <a:p>
                      <a:pPr>
                        <a:lnSpc>
                          <a:spcPct val="100000"/>
                        </a:lnSpc>
                      </a:pPr>
                      <a:r>
                        <a:rPr sz="1300" b="1">
                          <a:solidFill>
                            <a:srgbClr val="1F1F1F"/>
                          </a:solidFill>
                          <a:latin typeface="游ゴシック Medium"/>
                        </a:rPr>
                        <a:t>客先・装置のタグ</a:t>
                      </a:r>
                    </a:p>
                  </a:txBody>
                  <a:tcPr anchor="ctr" marL="64000" marR="64000" marT="24000" marB="24000">
                    <a:solidFill>
                      <a:srgbClr val="EAF2FA"/>
                    </a:solidFill>
                  </a:tcPr>
                </a:tc>
                <a:tc>
                  <a:txBody>
                    <a:bodyPr/>
                    <a:lstStyle/>
                    <a:p>
                      <a:pPr>
                        <a:lnSpc>
                          <a:spcPct val="100000"/>
                        </a:lnSpc>
                      </a:pPr>
                      <a:r>
                        <a:rPr sz="1300" b="0">
                          <a:solidFill>
                            <a:srgbClr val="1F1F1F"/>
                          </a:solidFill>
                          <a:latin typeface="游ゴシック Medium"/>
                        </a:rPr>
                        <a:t>少数（辞書が検証用に3件のみだったため）</a:t>
                      </a:r>
                    </a:p>
                  </a:txBody>
                  <a:tcPr anchor="ctr" marL="64000" marR="64000" marT="24000" marB="24000">
                    <a:solidFill>
                      <a:srgbClr val="EAF2FA"/>
                    </a:solidFill>
                  </a:tcPr>
                </a:tc>
                <a:tc>
                  <a:txBody>
                    <a:bodyPr/>
                    <a:lstStyle/>
                    <a:p>
                      <a:pPr>
                        <a:lnSpc>
                          <a:spcPct val="100000"/>
                        </a:lnSpc>
                      </a:pPr>
                      <a:r>
                        <a:rPr sz="1300" b="0">
                          <a:solidFill>
                            <a:srgbClr val="1F1F1F"/>
                          </a:solidFill>
                          <a:latin typeface="游ゴシック Medium"/>
                        </a:rPr>
                        <a:t>△ 辞書拡充で改善する見込み</a:t>
                      </a:r>
                    </a:p>
                  </a:txBody>
                  <a:tcPr anchor="ctr" marL="64000" marR="64000" marT="24000" marB="24000">
                    <a:solidFill>
                      <a:srgbClr val="EAF2FA"/>
                    </a:solidFill>
                  </a:tcPr>
                </a:tc>
              </a:tr>
            </a:tbl>
          </a:graphicData>
        </a:graphic>
      </p:graphicFrame>
      <p:sp>
        <p:nvSpPr>
          <p:cNvPr id="5" name="TextBox 4"/>
          <p:cNvSpPr txBox="1"/>
          <p:nvPr/>
        </p:nvSpPr>
        <p:spPr>
          <a:xfrm>
            <a:off x="457200" y="4024228"/>
            <a:ext cx="11352213" cy="400000"/>
          </a:xfrm>
          <a:prstGeom prst="rect">
            <a:avLst/>
          </a:prstGeom>
          <a:noFill/>
        </p:spPr>
        <p:txBody>
          <a:bodyPr wrap="square">
            <a:spAutoFit/>
          </a:bodyPr>
          <a:lstStyle/>
          <a:p>
            <a:r>
              <a:rPr sz="1000">
                <a:solidFill>
                  <a:srgbClr val="5A5A5A"/>
                </a:solidFill>
                <a:latin typeface="游ゴシック Medium"/>
              </a:rPr>
              <a:t>客先・装置タグが少ないのは、測定時点で客先辞書に3件しか登録していなかったためで、抽出ロジックの限界ではありません。辞書はDB化済みで画面から追加できます。運用時に実際の客先・装置語彙を登録する作業が必要で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1F1F1F"/>
                </a:solidFill>
                <a:latin typeface="游ゴシック Medium"/>
              </a:rPr>
              <a:t>図面1枚から実際に何が出るか</a:t>
            </a:r>
          </a:p>
        </p:txBody>
      </p:sp>
      <p:sp>
        <p:nvSpPr>
          <p:cNvPr id="3" name="Text Placeholder 2"/>
          <p:cNvSpPr>
            <a:spLocks noGrp="1"/>
          </p:cNvSpPr>
          <p:nvPr>
            <p:ph type="body" idx="17" sz="quarter"/>
          </p:nvPr>
        </p:nvSpPr>
        <p:spPr/>
        <p:txBody>
          <a:bodyPr/>
          <a:lstStyle/>
          <a:p>
            <a:r>
              <a:rPr sz="1100" b="1">
                <a:solidFill>
                  <a:srgbClr val="005BAC"/>
                </a:solidFill>
                <a:latin typeface="游ゴシック Medium"/>
              </a:rPr>
              <a:t>実ICADファイルの実際の出力（値は未加工）</a:t>
            </a:r>
          </a:p>
        </p:txBody>
      </p:sp>
      <p:sp>
        <p:nvSpPr>
          <p:cNvPr id="4" name="TextBox 3"/>
          <p:cNvSpPr txBox="1"/>
          <p:nvPr/>
        </p:nvSpPr>
        <p:spPr>
          <a:xfrm>
            <a:off x="457200" y="1364228"/>
            <a:ext cx="11352213" cy="1434772"/>
          </a:xfrm>
          <a:prstGeom prst="rect">
            <a:avLst/>
          </a:prstGeom>
          <a:solidFill>
            <a:srgbClr val="EAF2FA"/>
          </a:solidFill>
          <a:ln w="9525">
            <a:solidFill>
              <a:srgbClr val="C9D3DD"/>
            </a:solidFill>
          </a:ln>
        </p:spPr>
        <p:txBody>
          <a:bodyPr wrap="square" lIns="150000" rIns="120000" tIns="90000" bIns="90000">
            <a:spAutoFit/>
          </a:bodyPr>
          <a:lstStyle/>
          <a:p>
            <a:pPr>
              <a:spcAft>
                <a:spcPts val="300"/>
              </a:spcAft>
            </a:pPr>
            <a:r>
              <a:rPr sz="1200" b="1">
                <a:solidFill>
                  <a:srgbClr val="005BAC"/>
                </a:solidFill>
                <a:latin typeface="游ゴシック Medium"/>
              </a:rPr>
              <a:t>例1　澁谷工業向けの部品図（U8105111315.icd）</a:t>
            </a:r>
          </a:p>
          <a:p>
            <a:pPr>
              <a:lnSpc>
                <a:spcPct val="100000"/>
              </a:lnSpc>
              <a:spcAft>
                <a:spcPts val="100"/>
              </a:spcAft>
            </a:pPr>
            <a:r>
              <a:rPr sz="1000">
                <a:solidFill>
                  <a:srgbClr val="1F1F1F"/>
                </a:solidFill>
                <a:latin typeface="Consolas"/>
              </a:rPr>
              <a:t>タグ  : 客先:澁谷工業 / 材質:SUS304 / 材質:SUS / 規格:SES</a:t>
            </a:r>
          </a:p>
          <a:p>
            <a:pPr>
              <a:lnSpc>
                <a:spcPct val="100000"/>
              </a:lnSpc>
              <a:spcAft>
                <a:spcPts val="100"/>
              </a:spcAft>
            </a:pPr>
            <a:r>
              <a:rPr sz="1000">
                <a:solidFill>
                  <a:srgbClr val="1F1F1F"/>
                </a:solidFill>
                <a:latin typeface="Consolas"/>
              </a:rPr>
              <a:t>属性  : 質量 0.18kg（mass_unit_name=mm-kg）、部品名 U81051113150</a:t>
            </a:r>
          </a:p>
          <a:p>
            <a:pPr>
              <a:lnSpc>
                <a:spcPct val="100000"/>
              </a:lnSpc>
              <a:spcAft>
                <a:spcPts val="100"/>
              </a:spcAft>
            </a:pPr>
            <a:r>
              <a:rPr sz="1000">
                <a:solidFill>
                  <a:srgbClr val="1F1F1F"/>
                </a:solidFill>
                <a:latin typeface="Consolas"/>
              </a:rPr>
              <a:t>→ 客先×材質での絞り込みに使えるデータが、人手を介さず揃う</a:t>
            </a:r>
          </a:p>
        </p:txBody>
      </p:sp>
      <p:sp>
        <p:nvSpPr>
          <p:cNvPr id="5" name="TextBox 4"/>
          <p:cNvSpPr txBox="1"/>
          <p:nvPr/>
        </p:nvSpPr>
        <p:spPr>
          <a:xfrm>
            <a:off x="457200" y="2979000"/>
            <a:ext cx="11352213" cy="1434772"/>
          </a:xfrm>
          <a:prstGeom prst="rect">
            <a:avLst/>
          </a:prstGeom>
          <a:solidFill>
            <a:srgbClr val="EAF2FA"/>
          </a:solidFill>
          <a:ln w="9525">
            <a:solidFill>
              <a:srgbClr val="C9D3DD"/>
            </a:solidFill>
          </a:ln>
        </p:spPr>
        <p:txBody>
          <a:bodyPr wrap="square" lIns="150000" rIns="120000" tIns="90000" bIns="90000">
            <a:spAutoFit/>
          </a:bodyPr>
          <a:lstStyle/>
          <a:p>
            <a:pPr>
              <a:spcAft>
                <a:spcPts val="300"/>
              </a:spcAft>
            </a:pPr>
            <a:r>
              <a:rPr sz="1200" b="1">
                <a:solidFill>
                  <a:srgbClr val="005BAC"/>
                </a:solidFill>
                <a:latin typeface="游ゴシック Medium"/>
              </a:rPr>
              <a:t>例2　治具の3Dモデル（XH30-A08001-R03-JP_ロードカップ部改造.icd）</a:t>
            </a:r>
          </a:p>
          <a:p>
            <a:pPr>
              <a:lnSpc>
                <a:spcPct val="100000"/>
              </a:lnSpc>
              <a:spcAft>
                <a:spcPts val="100"/>
              </a:spcAft>
            </a:pPr>
            <a:r>
              <a:rPr sz="1000">
                <a:solidFill>
                  <a:srgbClr val="1F1F1F"/>
                </a:solidFill>
                <a:latin typeface="Consolas"/>
              </a:rPr>
              <a:t>タグ  : 装置:治具 / メーカー:SMC / 材質:SUS316, PVC, PPS, PTFE, A5052P, SUS304, NBR, POM</a:t>
            </a:r>
          </a:p>
          <a:p>
            <a:pPr>
              <a:lnSpc>
                <a:spcPct val="100000"/>
              </a:lnSpc>
              <a:spcAft>
                <a:spcPts val="100"/>
              </a:spcAft>
            </a:pPr>
            <a:r>
              <a:rPr sz="1000">
                <a:solidFill>
                  <a:srgbClr val="1F1F1F"/>
                </a:solidFill>
                <a:latin typeface="Consolas"/>
              </a:rPr>
              <a:t>属性  : 質量 4.76kg、構成部品 108点</a:t>
            </a:r>
          </a:p>
          <a:p>
            <a:pPr>
              <a:lnSpc>
                <a:spcPct val="100000"/>
              </a:lnSpc>
              <a:spcAft>
                <a:spcPts val="100"/>
              </a:spcAft>
            </a:pPr>
            <a:r>
              <a:rPr sz="1000">
                <a:solidFill>
                  <a:srgbClr val="1F1F1F"/>
                </a:solidFill>
                <a:latin typeface="Consolas"/>
              </a:rPr>
              <a:t>→ 「SMCを使った治具」「PTFEを使った案件」を横断で絞り込める土台になる</a:t>
            </a:r>
          </a:p>
        </p:txBody>
      </p:sp>
      <p:sp>
        <p:nvSpPr>
          <p:cNvPr id="6" name="TextBox 5"/>
          <p:cNvSpPr txBox="1"/>
          <p:nvPr/>
        </p:nvSpPr>
        <p:spPr>
          <a:xfrm>
            <a:off x="457200" y="4593772"/>
            <a:ext cx="11352213" cy="1434772"/>
          </a:xfrm>
          <a:prstGeom prst="rect">
            <a:avLst/>
          </a:prstGeom>
          <a:solidFill>
            <a:srgbClr val="EAF2FA"/>
          </a:solidFill>
          <a:ln w="9525">
            <a:solidFill>
              <a:srgbClr val="C9D3DD"/>
            </a:solidFill>
          </a:ln>
        </p:spPr>
        <p:txBody>
          <a:bodyPr wrap="square" lIns="150000" rIns="120000" tIns="90000" bIns="90000">
            <a:spAutoFit/>
          </a:bodyPr>
          <a:lstStyle/>
          <a:p>
            <a:pPr>
              <a:spcAft>
                <a:spcPts val="300"/>
              </a:spcAft>
            </a:pPr>
            <a:r>
              <a:rPr sz="1200" b="1">
                <a:solidFill>
                  <a:srgbClr val="005BAC"/>
                </a:solidFill>
                <a:latin typeface="游ゴシック Medium"/>
              </a:rPr>
              <a:t>例3　大規模アセンブリ（474300AC219.icd）</a:t>
            </a:r>
          </a:p>
          <a:p>
            <a:pPr>
              <a:lnSpc>
                <a:spcPct val="100000"/>
              </a:lnSpc>
              <a:spcAft>
                <a:spcPts val="100"/>
              </a:spcAft>
            </a:pPr>
            <a:r>
              <a:rPr sz="1000">
                <a:solidFill>
                  <a:srgbClr val="1F1F1F"/>
                </a:solidFill>
                <a:latin typeface="Consolas"/>
              </a:rPr>
              <a:t>タグ  : メーカー:SMC / 材質18種 ほか計19タグ</a:t>
            </a:r>
          </a:p>
          <a:p>
            <a:pPr>
              <a:lnSpc>
                <a:spcPct val="100000"/>
              </a:lnSpc>
              <a:spcAft>
                <a:spcPts val="100"/>
              </a:spcAft>
            </a:pPr>
            <a:r>
              <a:rPr sz="1000">
                <a:solidFill>
                  <a:srgbClr val="1F1F1F"/>
                </a:solidFill>
                <a:latin typeface="Consolas"/>
              </a:rPr>
              <a:t>属性  : 質量 17.7kg、構成部品 189点</a:t>
            </a:r>
          </a:p>
          <a:p>
            <a:pPr>
              <a:lnSpc>
                <a:spcPct val="100000"/>
              </a:lnSpc>
              <a:spcAft>
                <a:spcPts val="100"/>
              </a:spcAft>
            </a:pPr>
            <a:r>
              <a:rPr sz="1000">
                <a:solidFill>
                  <a:srgbClr val="1F1F1F"/>
                </a:solidFill>
                <a:latin typeface="Consolas"/>
              </a:rPr>
              <a:t>→ 189点の部品を人手で棚卸しせずに、材質構成をデータとして持てる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1F1F1F"/>
                </a:solidFill>
                <a:latin typeface="游ゴシック Medium"/>
              </a:rPr>
              <a:t>業務インパクト</a:t>
            </a:r>
          </a:p>
        </p:txBody>
      </p:sp>
      <p:sp>
        <p:nvSpPr>
          <p:cNvPr id="3" name="Text Placeholder 2"/>
          <p:cNvSpPr>
            <a:spLocks noGrp="1"/>
          </p:cNvSpPr>
          <p:nvPr>
            <p:ph type="body" idx="2" sz="half"/>
          </p:nvPr>
        </p:nvSpPr>
        <p:spPr/>
        <p:txBody>
          <a:bodyPr/>
          <a:lstStyle/>
          <a:p>
            <a:r>
              <a:rPr sz="1400" b="1">
                <a:solidFill>
                  <a:srgbClr val="005BAC"/>
                </a:solidFill>
                <a:latin typeface="游ゴシック Medium"/>
              </a:rPr>
              <a:t>CHAPTER　02</a:t>
            </a:r>
          </a:p>
        </p:txBody>
      </p:sp>
      <p:sp>
        <p:nvSpPr>
          <p:cNvPr id="4" name="Text Placeholder 3"/>
          <p:cNvSpPr>
            <a:spLocks noGrp="1"/>
          </p:cNvSpPr>
          <p:nvPr>
            <p:ph type="body" idx="17" sz="half"/>
          </p:nvPr>
        </p:nvSpPr>
        <p:spPr/>
        <p:txBody>
          <a:bodyPr/>
          <a:lstStyle/>
          <a:p>
            <a:r>
              <a:rPr sz="1200" b="1">
                <a:solidFill>
                  <a:srgbClr val="005BAC"/>
                </a:solidFill>
                <a:latin typeface="游ゴシック Medium"/>
              </a:rPr>
              <a:t>Business Impact</a:t>
            </a:r>
          </a:p>
        </p:txBody>
      </p:sp>
      <p:sp>
        <p:nvSpPr>
          <p:cNvPr id="5" name="Content Placeholder 4"/>
          <p:cNvSpPr>
            <a:spLocks noGrp="1"/>
          </p:cNvSpPr>
          <p:nvPr>
            <p:ph idx="18" sz="quarter"/>
          </p:nvPr>
        </p:nvSpPr>
        <p:spPr/>
        <p:txBody>
          <a:bodyPr wrap="square"/>
          <a:lstStyle/>
          <a:p>
            <a:pPr>
              <a:spcAft>
                <a:spcPts val="600"/>
              </a:spcAft>
            </a:pPr>
            <a:r>
              <a:rPr sz="1400" b="0">
                <a:solidFill>
                  <a:srgbClr val="1F1F1F"/>
                </a:solidFill>
                <a:latin typeface="游ゴシック Medium"/>
              </a:rPr>
              <a:t>設計者の業務が何に変わるか</a:t>
            </a:r>
          </a:p>
          <a:p>
            <a:pPr>
              <a:spcAft>
                <a:spcPts val="600"/>
              </a:spcAft>
            </a:pPr>
            <a:r>
              <a:rPr sz="1400" b="0">
                <a:solidFill>
                  <a:srgbClr val="1F1F1F"/>
                </a:solidFill>
                <a:latin typeface="游ゴシック Medium"/>
              </a:rPr>
              <a:t>効果が出るための前提条件</a:t>
            </a:r>
          </a:p>
          <a:p>
            <a:pPr>
              <a:spcAft>
                <a:spcPts val="600"/>
              </a:spcAft>
            </a:pPr>
            <a:r>
              <a:rPr sz="1400" b="0">
                <a:solidFill>
                  <a:srgbClr val="1F1F1F"/>
                </a:solidFill>
                <a:latin typeface="游ゴシック Medium"/>
              </a:rPr>
              <a:t>現時点で定量化できていないこと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1F1F1F"/>
                </a:solidFill>
                <a:latin typeface="游ゴシック Medium"/>
              </a:rPr>
              <a:t>何が変わるか</a:t>
            </a:r>
          </a:p>
        </p:txBody>
      </p:sp>
      <p:sp>
        <p:nvSpPr>
          <p:cNvPr id="3" name="Text Placeholder 2"/>
          <p:cNvSpPr>
            <a:spLocks noGrp="1"/>
          </p:cNvSpPr>
          <p:nvPr>
            <p:ph type="body" idx="17" sz="quarter"/>
          </p:nvPr>
        </p:nvSpPr>
        <p:spPr/>
        <p:txBody>
          <a:bodyPr/>
          <a:lstStyle/>
          <a:p>
            <a:r>
              <a:rPr sz="1100" b="1">
                <a:solidFill>
                  <a:srgbClr val="005BAC"/>
                </a:solidFill>
                <a:latin typeface="游ゴシック Medium"/>
              </a:rPr>
              <a:t>「探す時間」を「設計する時間」に振り替える</a:t>
            </a:r>
          </a:p>
        </p:txBody>
      </p:sp>
      <p:sp>
        <p:nvSpPr>
          <p:cNvPr id="4" name="TextBox 3"/>
          <p:cNvSpPr txBox="1"/>
          <p:nvPr/>
        </p:nvSpPr>
        <p:spPr>
          <a:xfrm>
            <a:off x="457200" y="1364228"/>
            <a:ext cx="3650737" cy="2130760"/>
          </a:xfrm>
          <a:prstGeom prst="rect">
            <a:avLst/>
          </a:prstGeom>
          <a:solidFill>
            <a:srgbClr val="FFFFFF"/>
          </a:solidFill>
          <a:ln w="12700">
            <a:solidFill>
              <a:srgbClr val="C9D3DD"/>
            </a:solidFill>
          </a:ln>
        </p:spPr>
        <p:txBody>
          <a:bodyPr wrap="square" lIns="140000" rIns="120000" tIns="110000">
            <a:spAutoFit/>
          </a:bodyPr>
          <a:lstStyle/>
          <a:p>
            <a:pPr>
              <a:spcAft>
                <a:spcPts val="600"/>
              </a:spcAft>
            </a:pPr>
            <a:r>
              <a:rPr sz="1400" b="1">
                <a:solidFill>
                  <a:srgbClr val="005BAC"/>
                </a:solidFill>
                <a:latin typeface="游ゴシック Medium"/>
              </a:rPr>
              <a:t>設計者の探索時間</a:t>
            </a:r>
          </a:p>
          <a:p>
            <a:pPr>
              <a:spcAft>
                <a:spcPts val="400"/>
              </a:spcAft>
            </a:pPr>
            <a:r>
              <a:rPr sz="1100">
                <a:solidFill>
                  <a:srgbClr val="1F1F1F"/>
                </a:solidFill>
                <a:latin typeface="游ゴシック Medium"/>
              </a:rPr>
              <a:t>現状：過去案件の図面を探すのに、</a:t>
            </a:r>
          </a:p>
          <a:p>
            <a:pPr>
              <a:spcAft>
                <a:spcPts val="400"/>
              </a:spcAft>
            </a:pPr>
            <a:r>
              <a:rPr sz="1100">
                <a:solidFill>
                  <a:srgbClr val="1F1F1F"/>
                </a:solidFill>
                <a:latin typeface="游ゴシック Medium"/>
              </a:rPr>
              <a:t>フォルダを辿る／記憶に頼る／人に聞く。</a:t>
            </a:r>
          </a:p>
          <a:p>
            <a:pPr>
              <a:spcAft>
                <a:spcPts val="400"/>
              </a:spcAft>
            </a:pPr>
            <a:r>
              <a:rPr sz="1100">
                <a:solidFill>
                  <a:srgbClr val="1F1F1F"/>
                </a:solidFill>
                <a:latin typeface="游ゴシック Medium"/>
              </a:rPr>
              <a:t/>
            </a:r>
          </a:p>
          <a:p>
            <a:pPr>
              <a:spcAft>
                <a:spcPts val="400"/>
              </a:spcAft>
            </a:pPr>
            <a:r>
              <a:rPr sz="1100">
                <a:solidFill>
                  <a:srgbClr val="1F1F1F"/>
                </a:solidFill>
                <a:latin typeface="游ゴシック Medium"/>
              </a:rPr>
              <a:t>導入後：客先・装置・材質・メーカーで</a:t>
            </a:r>
          </a:p>
          <a:p>
            <a:pPr>
              <a:spcAft>
                <a:spcPts val="400"/>
              </a:spcAft>
            </a:pPr>
            <a:r>
              <a:rPr sz="1100">
                <a:solidFill>
                  <a:srgbClr val="1F1F1F"/>
                </a:solidFill>
                <a:latin typeface="游ゴシック Medium"/>
              </a:rPr>
              <a:t>横断検索し、根拠付きで候補が出る。</a:t>
            </a:r>
          </a:p>
        </p:txBody>
      </p:sp>
      <p:sp>
        <p:nvSpPr>
          <p:cNvPr id="5" name="TextBox 4"/>
          <p:cNvSpPr txBox="1"/>
          <p:nvPr/>
        </p:nvSpPr>
        <p:spPr>
          <a:xfrm>
            <a:off x="4307937" y="1364228"/>
            <a:ext cx="3650737" cy="2130760"/>
          </a:xfrm>
          <a:prstGeom prst="rect">
            <a:avLst/>
          </a:prstGeom>
          <a:solidFill>
            <a:srgbClr val="FFFFFF"/>
          </a:solidFill>
          <a:ln w="12700">
            <a:solidFill>
              <a:srgbClr val="C9D3DD"/>
            </a:solidFill>
          </a:ln>
        </p:spPr>
        <p:txBody>
          <a:bodyPr wrap="square" lIns="140000" rIns="120000" tIns="110000">
            <a:spAutoFit/>
          </a:bodyPr>
          <a:lstStyle/>
          <a:p>
            <a:pPr>
              <a:spcAft>
                <a:spcPts val="600"/>
              </a:spcAft>
            </a:pPr>
            <a:r>
              <a:rPr sz="1400" b="1">
                <a:solidFill>
                  <a:srgbClr val="005BAC"/>
                </a:solidFill>
                <a:latin typeface="游ゴシック Medium"/>
              </a:rPr>
              <a:t>図面資産の再利用</a:t>
            </a:r>
          </a:p>
          <a:p>
            <a:pPr>
              <a:spcAft>
                <a:spcPts val="400"/>
              </a:spcAft>
            </a:pPr>
            <a:r>
              <a:rPr sz="1100">
                <a:solidFill>
                  <a:srgbClr val="1F1F1F"/>
                </a:solidFill>
                <a:latin typeface="游ゴシック Medium"/>
              </a:rPr>
              <a:t>現状：類似案件があっても、</a:t>
            </a:r>
          </a:p>
          <a:p>
            <a:pPr>
              <a:spcAft>
                <a:spcPts val="400"/>
              </a:spcAft>
            </a:pPr>
            <a:r>
              <a:rPr sz="1100">
                <a:solidFill>
                  <a:srgbClr val="1F1F1F"/>
                </a:solidFill>
                <a:latin typeface="游ゴシック Medium"/>
              </a:rPr>
              <a:t>存在を知らなければ使えない。</a:t>
            </a:r>
          </a:p>
          <a:p>
            <a:pPr>
              <a:spcAft>
                <a:spcPts val="400"/>
              </a:spcAft>
            </a:pPr>
            <a:r>
              <a:rPr sz="1100">
                <a:solidFill>
                  <a:srgbClr val="1F1F1F"/>
                </a:solidFill>
                <a:latin typeface="游ゴシック Medium"/>
              </a:rPr>
              <a:t/>
            </a:r>
          </a:p>
          <a:p>
            <a:pPr>
              <a:spcAft>
                <a:spcPts val="400"/>
              </a:spcAft>
            </a:pPr>
            <a:r>
              <a:rPr sz="1100">
                <a:solidFill>
                  <a:srgbClr val="1F1F1F"/>
                </a:solidFill>
                <a:latin typeface="游ゴシック Medium"/>
              </a:rPr>
              <a:t>導入後：材質・部品構成・メーカーの</a:t>
            </a:r>
          </a:p>
          <a:p>
            <a:pPr>
              <a:spcAft>
                <a:spcPts val="400"/>
              </a:spcAft>
            </a:pPr>
            <a:r>
              <a:rPr sz="1100">
                <a:solidFill>
                  <a:srgbClr val="1F1F1F"/>
                </a:solidFill>
                <a:latin typeface="游ゴシック Medium"/>
              </a:rPr>
              <a:t>組み合わせから類似図面に到達できる。</a:t>
            </a:r>
          </a:p>
        </p:txBody>
      </p:sp>
      <p:sp>
        <p:nvSpPr>
          <p:cNvPr id="6" name="TextBox 5"/>
          <p:cNvSpPr txBox="1"/>
          <p:nvPr/>
        </p:nvSpPr>
        <p:spPr>
          <a:xfrm>
            <a:off x="8158674" y="1364228"/>
            <a:ext cx="3650737" cy="2130760"/>
          </a:xfrm>
          <a:prstGeom prst="rect">
            <a:avLst/>
          </a:prstGeom>
          <a:solidFill>
            <a:srgbClr val="FFFFFF"/>
          </a:solidFill>
          <a:ln w="12700">
            <a:solidFill>
              <a:srgbClr val="C9D3DD"/>
            </a:solidFill>
          </a:ln>
        </p:spPr>
        <p:txBody>
          <a:bodyPr wrap="square" lIns="140000" rIns="120000" tIns="110000">
            <a:spAutoFit/>
          </a:bodyPr>
          <a:lstStyle/>
          <a:p>
            <a:pPr>
              <a:spcAft>
                <a:spcPts val="600"/>
              </a:spcAft>
            </a:pPr>
            <a:r>
              <a:rPr sz="1400" b="1">
                <a:solidFill>
                  <a:srgbClr val="005BAC"/>
                </a:solidFill>
                <a:latin typeface="游ゴシック Medium"/>
              </a:rPr>
              <a:t>属人性の低減</a:t>
            </a:r>
          </a:p>
          <a:p>
            <a:pPr>
              <a:spcAft>
                <a:spcPts val="400"/>
              </a:spcAft>
            </a:pPr>
            <a:r>
              <a:rPr sz="1100">
                <a:solidFill>
                  <a:srgbClr val="1F1F1F"/>
                </a:solidFill>
                <a:latin typeface="游ゴシック Medium"/>
              </a:rPr>
              <a:t>現状：どこに何があるかがベテランの</a:t>
            </a:r>
          </a:p>
          <a:p>
            <a:pPr>
              <a:spcAft>
                <a:spcPts val="400"/>
              </a:spcAft>
            </a:pPr>
            <a:r>
              <a:rPr sz="1100">
                <a:solidFill>
                  <a:srgbClr val="1F1F1F"/>
                </a:solidFill>
                <a:latin typeface="游ゴシック Medium"/>
              </a:rPr>
              <a:t>記憶に依存している。</a:t>
            </a:r>
          </a:p>
          <a:p>
            <a:pPr>
              <a:spcAft>
                <a:spcPts val="400"/>
              </a:spcAft>
            </a:pPr>
            <a:r>
              <a:rPr sz="1100">
                <a:solidFill>
                  <a:srgbClr val="1F1F1F"/>
                </a:solidFill>
                <a:latin typeface="游ゴシック Medium"/>
              </a:rPr>
              <a:t/>
            </a:r>
          </a:p>
          <a:p>
            <a:pPr>
              <a:spcAft>
                <a:spcPts val="400"/>
              </a:spcAft>
            </a:pPr>
            <a:r>
              <a:rPr sz="1100">
                <a:solidFill>
                  <a:srgbClr val="1F1F1F"/>
                </a:solidFill>
                <a:latin typeface="游ゴシック Medium"/>
              </a:rPr>
              <a:t>導入後：タグと属性がデータとして残り、</a:t>
            </a:r>
          </a:p>
          <a:p>
            <a:pPr>
              <a:spcAft>
                <a:spcPts val="400"/>
              </a:spcAft>
            </a:pPr>
            <a:r>
              <a:rPr sz="1100">
                <a:solidFill>
                  <a:srgbClr val="1F1F1F"/>
                </a:solidFill>
                <a:latin typeface="游ゴシック Medium"/>
              </a:rPr>
              <a:t>経験年数に依らず同じ探索ができる。</a:t>
            </a:r>
          </a:p>
        </p:txBody>
      </p:sp>
      <p:sp>
        <p:nvSpPr>
          <p:cNvPr id="7" name="TextBox 6"/>
          <p:cNvSpPr txBox="1"/>
          <p:nvPr/>
        </p:nvSpPr>
        <p:spPr>
          <a:xfrm>
            <a:off x="457200" y="3694988"/>
            <a:ext cx="3650737" cy="2130760"/>
          </a:xfrm>
          <a:prstGeom prst="rect">
            <a:avLst/>
          </a:prstGeom>
          <a:solidFill>
            <a:srgbClr val="FFFFFF"/>
          </a:solidFill>
          <a:ln w="12700">
            <a:solidFill>
              <a:srgbClr val="C9D3DD"/>
            </a:solidFill>
          </a:ln>
        </p:spPr>
        <p:txBody>
          <a:bodyPr wrap="square" lIns="140000" rIns="120000" tIns="110000">
            <a:spAutoFit/>
          </a:bodyPr>
          <a:lstStyle/>
          <a:p>
            <a:pPr>
              <a:spcAft>
                <a:spcPts val="600"/>
              </a:spcAft>
            </a:pPr>
            <a:r>
              <a:rPr sz="1400" b="1">
                <a:solidFill>
                  <a:srgbClr val="005BAC"/>
                </a:solidFill>
                <a:latin typeface="游ゴシック Medium"/>
              </a:rPr>
              <a:t>調達・見積の根拠</a:t>
            </a:r>
          </a:p>
          <a:p>
            <a:pPr>
              <a:spcAft>
                <a:spcPts val="400"/>
              </a:spcAft>
            </a:pPr>
            <a:r>
              <a:rPr sz="1100">
                <a:solidFill>
                  <a:srgbClr val="1F1F1F"/>
                </a:solidFill>
                <a:latin typeface="游ゴシック Medium"/>
              </a:rPr>
              <a:t>現状：材質構成・質量は図面を開いて確認。</a:t>
            </a:r>
          </a:p>
          <a:p>
            <a:pPr>
              <a:spcAft>
                <a:spcPts val="400"/>
              </a:spcAft>
            </a:pPr>
            <a:r>
              <a:rPr sz="1100">
                <a:solidFill>
                  <a:srgbClr val="1F1F1F"/>
                </a:solidFill>
                <a:latin typeface="游ゴシック Medium"/>
              </a:rPr>
              <a:t/>
            </a:r>
          </a:p>
          <a:p>
            <a:pPr>
              <a:spcAft>
                <a:spcPts val="400"/>
              </a:spcAft>
            </a:pPr>
            <a:r>
              <a:rPr sz="1100">
                <a:solidFill>
                  <a:srgbClr val="1F1F1F"/>
                </a:solidFill>
                <a:latin typeface="游ゴシック Medium"/>
              </a:rPr>
              <a:t>導入後：質量・材質・部品点数が</a:t>
            </a:r>
          </a:p>
          <a:p>
            <a:pPr>
              <a:spcAft>
                <a:spcPts val="400"/>
              </a:spcAft>
            </a:pPr>
            <a:r>
              <a:rPr sz="1100">
                <a:solidFill>
                  <a:srgbClr val="1F1F1F"/>
                </a:solidFill>
                <a:latin typeface="游ゴシック Medium"/>
              </a:rPr>
              <a:t>属性として蓄積され、集計できる。</a:t>
            </a:r>
          </a:p>
        </p:txBody>
      </p:sp>
      <p:sp>
        <p:nvSpPr>
          <p:cNvPr id="8" name="TextBox 7"/>
          <p:cNvSpPr txBox="1"/>
          <p:nvPr/>
        </p:nvSpPr>
        <p:spPr>
          <a:xfrm>
            <a:off x="4307937" y="3694988"/>
            <a:ext cx="3650737" cy="2130760"/>
          </a:xfrm>
          <a:prstGeom prst="rect">
            <a:avLst/>
          </a:prstGeom>
          <a:solidFill>
            <a:srgbClr val="FFFFFF"/>
          </a:solidFill>
          <a:ln w="12700">
            <a:solidFill>
              <a:srgbClr val="C9D3DD"/>
            </a:solidFill>
          </a:ln>
        </p:spPr>
        <p:txBody>
          <a:bodyPr wrap="square" lIns="140000" rIns="120000" tIns="110000">
            <a:spAutoFit/>
          </a:bodyPr>
          <a:lstStyle/>
          <a:p>
            <a:pPr>
              <a:spcAft>
                <a:spcPts val="600"/>
              </a:spcAft>
            </a:pPr>
            <a:r>
              <a:rPr sz="1400" b="1">
                <a:solidFill>
                  <a:srgbClr val="005BAC"/>
                </a:solidFill>
                <a:latin typeface="游ゴシック Medium"/>
              </a:rPr>
              <a:t>設計品質</a:t>
            </a:r>
          </a:p>
          <a:p>
            <a:pPr>
              <a:spcAft>
                <a:spcPts val="400"/>
              </a:spcAft>
            </a:pPr>
            <a:r>
              <a:rPr sz="1100">
                <a:solidFill>
                  <a:srgbClr val="1F1F1F"/>
                </a:solidFill>
                <a:latin typeface="游ゴシック Medium"/>
              </a:rPr>
              <a:t>現状：過去のトラブル事例が</a:t>
            </a:r>
          </a:p>
          <a:p>
            <a:pPr>
              <a:spcAft>
                <a:spcPts val="400"/>
              </a:spcAft>
            </a:pPr>
            <a:r>
              <a:rPr sz="1100">
                <a:solidFill>
                  <a:srgbClr val="1F1F1F"/>
                </a:solidFill>
                <a:latin typeface="游ゴシック Medium"/>
              </a:rPr>
              <a:t>個人のメモに閉じている。</a:t>
            </a:r>
          </a:p>
          <a:p>
            <a:pPr>
              <a:spcAft>
                <a:spcPts val="400"/>
              </a:spcAft>
            </a:pPr>
            <a:r>
              <a:rPr sz="1100">
                <a:solidFill>
                  <a:srgbClr val="1F1F1F"/>
                </a:solidFill>
                <a:latin typeface="游ゴシック Medium"/>
              </a:rPr>
              <a:t/>
            </a:r>
          </a:p>
          <a:p>
            <a:pPr>
              <a:spcAft>
                <a:spcPts val="400"/>
              </a:spcAft>
            </a:pPr>
            <a:r>
              <a:rPr sz="1100">
                <a:solidFill>
                  <a:srgbClr val="1F1F1F"/>
                </a:solidFill>
                <a:latin typeface="游ゴシック Medium"/>
              </a:rPr>
              <a:t>導入後：図面とタグを起点に、</a:t>
            </a:r>
          </a:p>
          <a:p>
            <a:pPr>
              <a:spcAft>
                <a:spcPts val="400"/>
              </a:spcAft>
            </a:pPr>
            <a:r>
              <a:rPr sz="1100">
                <a:solidFill>
                  <a:srgbClr val="1F1F1F"/>
                </a:solidFill>
                <a:latin typeface="游ゴシック Medium"/>
              </a:rPr>
              <a:t>関連資料へ辿れる土台ができる。</a:t>
            </a:r>
          </a:p>
        </p:txBody>
      </p:sp>
      <p:sp>
        <p:nvSpPr>
          <p:cNvPr id="9" name="TextBox 8"/>
          <p:cNvSpPr txBox="1"/>
          <p:nvPr/>
        </p:nvSpPr>
        <p:spPr>
          <a:xfrm>
            <a:off x="8158674" y="3694988"/>
            <a:ext cx="3650737" cy="2130760"/>
          </a:xfrm>
          <a:prstGeom prst="rect">
            <a:avLst/>
          </a:prstGeom>
          <a:solidFill>
            <a:srgbClr val="FFFFFF"/>
          </a:solidFill>
          <a:ln w="12700">
            <a:solidFill>
              <a:srgbClr val="C9D3DD"/>
            </a:solidFill>
          </a:ln>
        </p:spPr>
        <p:txBody>
          <a:bodyPr wrap="square" lIns="140000" rIns="120000" tIns="110000">
            <a:spAutoFit/>
          </a:bodyPr>
          <a:lstStyle/>
          <a:p>
            <a:pPr>
              <a:spcAft>
                <a:spcPts val="600"/>
              </a:spcAft>
            </a:pPr>
            <a:r>
              <a:rPr sz="1400" b="1">
                <a:solidFill>
                  <a:srgbClr val="005BAC"/>
                </a:solidFill>
                <a:latin typeface="游ゴシック Medium"/>
              </a:rPr>
              <a:t>外販の可能性</a:t>
            </a:r>
          </a:p>
          <a:p>
            <a:pPr>
              <a:spcAft>
                <a:spcPts val="400"/>
              </a:spcAft>
            </a:pPr>
            <a:r>
              <a:rPr sz="1100">
                <a:solidFill>
                  <a:srgbClr val="1F1F1F"/>
                </a:solidFill>
                <a:latin typeface="游ゴシック Medium"/>
              </a:rPr>
              <a:t>同じ課題はICADを使う設計会社に共通。</a:t>
            </a:r>
          </a:p>
          <a:p>
            <a:pPr>
              <a:spcAft>
                <a:spcPts val="400"/>
              </a:spcAft>
            </a:pPr>
            <a:r>
              <a:rPr sz="1100">
                <a:solidFill>
                  <a:srgbClr val="1F1F1F"/>
                </a:solidFill>
                <a:latin typeface="游ゴシック Medium"/>
              </a:rPr>
              <a:t/>
            </a:r>
          </a:p>
          <a:p>
            <a:pPr>
              <a:spcAft>
                <a:spcPts val="400"/>
              </a:spcAft>
            </a:pPr>
            <a:r>
              <a:rPr sz="1100">
                <a:solidFill>
                  <a:srgbClr val="1F1F1F"/>
                </a:solidFill>
                <a:latin typeface="游ゴシック Medium"/>
              </a:rPr>
              <a:t>自社で運用実績を作ったうえで、</a:t>
            </a:r>
          </a:p>
          <a:p>
            <a:pPr>
              <a:spcAft>
                <a:spcPts val="400"/>
              </a:spcAft>
            </a:pPr>
            <a:r>
              <a:rPr sz="1100">
                <a:solidFill>
                  <a:srgbClr val="1F1F1F"/>
                </a:solidFill>
                <a:latin typeface="游ゴシック Medium"/>
              </a:rPr>
              <a:t>製品として外部提供する道がある。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1F1F1F"/>
                </a:solidFill>
                <a:latin typeface="游ゴシック Medium"/>
              </a:rPr>
              <a:t>効果の前提条件と、まだ言えないこと</a:t>
            </a:r>
          </a:p>
        </p:txBody>
      </p:sp>
      <p:sp>
        <p:nvSpPr>
          <p:cNvPr id="3" name="Text Placeholder 2"/>
          <p:cNvSpPr>
            <a:spLocks noGrp="1"/>
          </p:cNvSpPr>
          <p:nvPr>
            <p:ph type="body" idx="17" sz="quarter"/>
          </p:nvPr>
        </p:nvSpPr>
        <p:spPr/>
        <p:txBody>
          <a:bodyPr/>
          <a:lstStyle/>
          <a:p>
            <a:r>
              <a:rPr sz="1100" b="1">
                <a:solidFill>
                  <a:srgbClr val="005BAC"/>
                </a:solidFill>
                <a:latin typeface="游ゴシック Medium"/>
              </a:rPr>
              <a:t>過大評価を避けるため、前提と未計測を明示します</a:t>
            </a:r>
          </a:p>
        </p:txBody>
      </p:sp>
      <p:sp>
        <p:nvSpPr>
          <p:cNvPr id="4" name="Content Placeholder 3"/>
          <p:cNvSpPr>
            <a:spLocks noGrp="1"/>
          </p:cNvSpPr>
          <p:nvPr>
            <p:ph idx="18" sz="quarter"/>
          </p:nvPr>
        </p:nvSpPr>
        <p:spPr/>
        <p:txBody>
          <a:bodyPr wrap="square"/>
          <a:lstStyle/>
          <a:p>
            <a:pPr>
              <a:spcAft>
                <a:spcPts val="600"/>
              </a:spcAft>
            </a:pPr>
            <a:r>
              <a:rPr sz="1500" b="1">
                <a:solidFill>
                  <a:srgbClr val="1F1F1F"/>
                </a:solidFill>
                <a:latin typeface="游ゴシック Medium"/>
              </a:rPr>
              <a:t>効果を出すために必要な作業（技術ではなく運用の話）</a:t>
            </a:r>
          </a:p>
          <a:p>
            <a:pPr lvl="1">
              <a:spcAft>
                <a:spcPts val="300"/>
              </a:spcAft>
            </a:pPr>
            <a:r>
              <a:rPr sz="1300" b="0">
                <a:solidFill>
                  <a:srgbClr val="5A5A5A"/>
                </a:solidFill>
                <a:latin typeface="游ゴシック Medium"/>
              </a:rPr>
              <a:t>辞書の拡充：客先・装置・案件の語彙を実運用ベースで登録する</a:t>
            </a:r>
          </a:p>
          <a:p>
            <a:pPr lvl="1">
              <a:spcAft>
                <a:spcPts val="300"/>
              </a:spcAft>
            </a:pPr>
            <a:r>
              <a:rPr sz="1300" b="0">
                <a:solidFill>
                  <a:srgbClr val="5A5A5A"/>
                </a:solidFill>
                <a:latin typeface="游ゴシック Medium"/>
              </a:rPr>
              <a:t>フォルダ命名規則の整備：パスから客先・案件を確定できることが精度に直結する</a:t>
            </a:r>
          </a:p>
          <a:p>
            <a:pPr lvl="1">
              <a:spcAft>
                <a:spcPts val="300"/>
              </a:spcAft>
            </a:pPr>
            <a:r>
              <a:rPr sz="1300" b="0">
                <a:solidFill>
                  <a:srgbClr val="5A5A5A"/>
                </a:solidFill>
                <a:latin typeface="游ゴシック Medium"/>
              </a:rPr>
              <a:t>登録運用の定義：どのタイミングで、誰が、どの図面を登録するか</a:t>
            </a:r>
          </a:p>
          <a:p>
            <a:pPr lvl="1">
              <a:spcAft>
                <a:spcPts val="300"/>
              </a:spcAft>
            </a:pPr>
            <a:r>
              <a:rPr sz="1300" b="0">
                <a:solidFill>
                  <a:srgbClr val="5A5A5A"/>
                </a:solidFill>
                <a:latin typeface="游ゴシック Medium"/>
              </a:rPr>
              <a:t>レビュー運用：自動付与タグを人が確認・補正する導線</a:t>
            </a:r>
          </a:p>
          <a:p>
            <a:pPr>
              <a:spcAft>
                <a:spcPts val="600"/>
              </a:spcAft>
            </a:pPr>
            <a:r>
              <a:rPr sz="1500" b="1">
                <a:solidFill>
                  <a:srgbClr val="1F1F1F"/>
                </a:solidFill>
                <a:latin typeface="游ゴシック Medium"/>
              </a:rPr>
              <a:t>現時点で定量化できていないこと</a:t>
            </a:r>
          </a:p>
          <a:p>
            <a:pPr lvl="1">
              <a:spcAft>
                <a:spcPts val="300"/>
              </a:spcAft>
            </a:pPr>
            <a:r>
              <a:rPr sz="1300" b="0">
                <a:solidFill>
                  <a:srgbClr val="5A5A5A"/>
                </a:solidFill>
                <a:latin typeface="游ゴシック Medium"/>
              </a:rPr>
              <a:t>「検索時間が何割減るか」は未計測です。実運用データがないため、数値は出せません</a:t>
            </a:r>
          </a:p>
          <a:p>
            <a:pPr lvl="1">
              <a:spcAft>
                <a:spcPts val="300"/>
              </a:spcAft>
            </a:pPr>
            <a:r>
              <a:rPr sz="1300" b="0">
                <a:solidFill>
                  <a:srgbClr val="5A5A5A"/>
                </a:solidFill>
                <a:latin typeface="游ゴシック Medium"/>
              </a:rPr>
              <a:t>本資料に時間削減率・金額効果の数値を載せていないのは、根拠がないためです</a:t>
            </a:r>
          </a:p>
          <a:p>
            <a:pPr lvl="1">
              <a:spcAft>
                <a:spcPts val="300"/>
              </a:spcAft>
            </a:pPr>
            <a:r>
              <a:rPr sz="1300" b="0">
                <a:solidFill>
                  <a:srgbClr val="5A5A5A"/>
                </a:solidFill>
                <a:latin typeface="游ゴシック Medium"/>
              </a:rPr>
              <a:t>定量化するには、社内で試験運用を行い、導入前後の実測を取る必要があります</a:t>
            </a:r>
          </a:p>
          <a:p>
            <a:pPr>
              <a:spcAft>
                <a:spcPts val="600"/>
              </a:spcAft>
            </a:pPr>
            <a:r>
              <a:rPr sz="1500" b="1">
                <a:solidFill>
                  <a:srgbClr val="1F1F1F"/>
                </a:solidFill>
                <a:latin typeface="游ゴシック Medium"/>
              </a:rPr>
              <a:t>→ ご提案：まず自社で試験運用し、定量効果を測ってから外販判断へ進む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1F1F1F"/>
                </a:solidFill>
                <a:latin typeface="游ゴシック Medium"/>
              </a:rPr>
              <a:t>ICADライセンス</a:t>
            </a:r>
          </a:p>
          <a:p>
            <a:r>
              <a:rPr sz="2800" b="1">
                <a:solidFill>
                  <a:srgbClr val="1F1F1F"/>
                </a:solidFill>
                <a:latin typeface="游ゴシック Medium"/>
              </a:rPr>
              <a:t>のご判断</a:t>
            </a:r>
          </a:p>
        </p:txBody>
      </p:sp>
      <p:sp>
        <p:nvSpPr>
          <p:cNvPr id="3" name="Text Placeholder 2"/>
          <p:cNvSpPr>
            <a:spLocks noGrp="1"/>
          </p:cNvSpPr>
          <p:nvPr>
            <p:ph type="body" idx="2" sz="half"/>
          </p:nvPr>
        </p:nvSpPr>
        <p:spPr/>
        <p:txBody>
          <a:bodyPr/>
          <a:lstStyle/>
          <a:p>
            <a:r>
              <a:rPr sz="1400" b="1">
                <a:solidFill>
                  <a:srgbClr val="005BAC"/>
                </a:solidFill>
                <a:latin typeface="游ゴシック Medium"/>
              </a:rPr>
              <a:t>CHAPTER　03</a:t>
            </a:r>
          </a:p>
        </p:txBody>
      </p:sp>
      <p:sp>
        <p:nvSpPr>
          <p:cNvPr id="4" name="Text Placeholder 3"/>
          <p:cNvSpPr>
            <a:spLocks noGrp="1"/>
          </p:cNvSpPr>
          <p:nvPr>
            <p:ph type="body" idx="17" sz="half"/>
          </p:nvPr>
        </p:nvSpPr>
        <p:spPr/>
        <p:txBody>
          <a:bodyPr/>
          <a:lstStyle/>
          <a:p>
            <a:r>
              <a:rPr sz="1200" b="1">
                <a:solidFill>
                  <a:srgbClr val="005BAC"/>
                </a:solidFill>
                <a:latin typeface="游ゴシック Medium"/>
              </a:rPr>
              <a:t>License Decision</a:t>
            </a:r>
          </a:p>
        </p:txBody>
      </p:sp>
      <p:sp>
        <p:nvSpPr>
          <p:cNvPr id="5" name="Content Placeholder 4"/>
          <p:cNvSpPr>
            <a:spLocks noGrp="1"/>
          </p:cNvSpPr>
          <p:nvPr>
            <p:ph idx="18" sz="quarter"/>
          </p:nvPr>
        </p:nvSpPr>
        <p:spPr/>
        <p:txBody>
          <a:bodyPr wrap="square"/>
          <a:lstStyle/>
          <a:p>
            <a:pPr>
              <a:spcAft>
                <a:spcPts val="600"/>
              </a:spcAft>
            </a:pPr>
            <a:r>
              <a:rPr sz="1400" b="0">
                <a:solidFill>
                  <a:srgbClr val="1F1F1F"/>
                </a:solidFill>
                <a:latin typeface="游ゴシック Medium"/>
              </a:rPr>
              <a:t>創屋から「専用ICAD 約150万円を販売先が用意してくれるか」という懸念が出ている</a:t>
            </a:r>
          </a:p>
          <a:p>
            <a:pPr>
              <a:spcAft>
                <a:spcPts val="600"/>
              </a:spcAft>
            </a:pPr>
            <a:r>
              <a:rPr sz="1400" b="0">
                <a:solidFill>
                  <a:srgbClr val="1F1F1F"/>
                </a:solidFill>
                <a:latin typeface="游ゴシック Medium"/>
              </a:rPr>
              <a:t>技術的な事実を踏まえると、専用ライセンスは必須ではない</a:t>
            </a:r>
          </a:p>
          <a:p>
            <a:pPr>
              <a:spcAft>
                <a:spcPts val="600"/>
              </a:spcAft>
            </a:pPr>
            <a:r>
              <a:rPr sz="1400" b="0">
                <a:solidFill>
                  <a:srgbClr val="1F1F1F"/>
                </a:solidFill>
                <a:latin typeface="游ゴシック Medium"/>
              </a:rPr>
              <a:t>販売を前提とした場合の選択肢を整理した</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1F1F1F"/>
                </a:solidFill>
                <a:latin typeface="游ゴシック Medium"/>
              </a:rPr>
              <a:t>論点の整理</a:t>
            </a:r>
          </a:p>
        </p:txBody>
      </p:sp>
      <p:sp>
        <p:nvSpPr>
          <p:cNvPr id="3" name="Text Placeholder 2"/>
          <p:cNvSpPr>
            <a:spLocks noGrp="1"/>
          </p:cNvSpPr>
          <p:nvPr>
            <p:ph type="body" idx="17" sz="quarter"/>
          </p:nvPr>
        </p:nvSpPr>
        <p:spPr/>
        <p:txBody>
          <a:bodyPr/>
          <a:lstStyle/>
          <a:p>
            <a:r>
              <a:rPr sz="1100" b="1">
                <a:solidFill>
                  <a:srgbClr val="005BAC"/>
                </a:solidFill>
                <a:latin typeface="游ゴシック Medium"/>
              </a:rPr>
              <a:t>創屋からの問いかけと、当社が確認した事実</a:t>
            </a:r>
          </a:p>
        </p:txBody>
      </p:sp>
      <p:sp>
        <p:nvSpPr>
          <p:cNvPr id="4" name="Content Placeholder 3"/>
          <p:cNvSpPr>
            <a:spLocks noGrp="1"/>
          </p:cNvSpPr>
          <p:nvPr>
            <p:ph idx="18" sz="quarter"/>
          </p:nvPr>
        </p:nvSpPr>
        <p:spPr/>
        <p:txBody>
          <a:bodyPr wrap="square"/>
          <a:lstStyle/>
          <a:p>
            <a:pPr>
              <a:spcAft>
                <a:spcPts val="600"/>
              </a:spcAft>
            </a:pPr>
            <a:r>
              <a:rPr sz="1500" b="1">
                <a:solidFill>
                  <a:srgbClr val="1F1F1F"/>
                </a:solidFill>
                <a:latin typeface="游ゴシック Medium"/>
              </a:rPr>
              <a:t>創屋からの問いかけ</a:t>
            </a:r>
          </a:p>
          <a:p>
            <a:pPr lvl="1">
              <a:spcAft>
                <a:spcPts val="300"/>
              </a:spcAft>
            </a:pPr>
            <a:r>
              <a:rPr sz="1300" b="0">
                <a:solidFill>
                  <a:srgbClr val="5A5A5A"/>
                </a:solidFill>
                <a:latin typeface="游ゴシック Medium"/>
              </a:rPr>
              <a:t>「ナレッジシステム専用として、150万円程のICADを販売先が用意してくれるかが当初からの懸念」</a:t>
            </a:r>
          </a:p>
          <a:p>
            <a:pPr lvl="1">
              <a:spcAft>
                <a:spcPts val="300"/>
              </a:spcAft>
            </a:pPr>
            <a:r>
              <a:rPr sz="1300" b="0">
                <a:solidFill>
                  <a:srgbClr val="5A5A5A"/>
                </a:solidFill>
                <a:latin typeface="游ゴシック Medium"/>
              </a:rPr>
              <a:t>「ナレッジシステム専用である必要はあるのか。兼用は難しいか」</a:t>
            </a:r>
          </a:p>
          <a:p>
            <a:pPr>
              <a:spcAft>
                <a:spcPts val="600"/>
              </a:spcAft>
            </a:pPr>
            <a:r>
              <a:rPr sz="1500" b="1">
                <a:solidFill>
                  <a:srgbClr val="1F1F1F"/>
                </a:solidFill>
                <a:latin typeface="游ゴシック Medium"/>
              </a:rPr>
              <a:t>当社がコード上で確認した事実</a:t>
            </a:r>
          </a:p>
          <a:p>
            <a:pPr lvl="1">
              <a:spcAft>
                <a:spcPts val="300"/>
              </a:spcAft>
            </a:pPr>
            <a:r>
              <a:rPr sz="1300" b="0">
                <a:solidFill>
                  <a:srgbClr val="5A5A5A"/>
                </a:solidFill>
                <a:latin typeface="游ゴシック Medium"/>
              </a:rPr>
              <a:t>ICADが必要なのは、図面を登録して情報を抜き出すタイミングだけ</a:t>
            </a:r>
          </a:p>
          <a:p>
            <a:pPr lvl="1">
              <a:spcAft>
                <a:spcPts val="300"/>
              </a:spcAft>
            </a:pPr>
            <a:r>
              <a:rPr sz="1300" b="0">
                <a:solidFill>
                  <a:srgbClr val="5A5A5A"/>
                </a:solidFill>
                <a:latin typeface="游ゴシック Medium"/>
              </a:rPr>
              <a:t>検索・閲覧・タグ表示・RAG回答にICADは不要（抽出結果はDBに保存済みのため）</a:t>
            </a:r>
          </a:p>
          <a:p>
            <a:pPr lvl="1">
              <a:spcAft>
                <a:spcPts val="300"/>
              </a:spcAft>
            </a:pPr>
            <a:r>
              <a:rPr sz="1300" b="0">
                <a:solidFill>
                  <a:srgbClr val="5A5A5A"/>
                </a:solidFill>
                <a:latin typeface="游ゴシック Medium"/>
              </a:rPr>
              <a:t>抽出処理はICADを1セッションずつ占有する。複数を並列に走らせる作りではない</a:t>
            </a:r>
          </a:p>
          <a:p>
            <a:pPr lvl="1">
              <a:spcAft>
                <a:spcPts val="300"/>
              </a:spcAft>
            </a:pPr>
            <a:r>
              <a:rPr sz="1300" b="0">
                <a:solidFill>
                  <a:srgbClr val="5A5A5A"/>
                </a:solidFill>
                <a:latin typeface="游ゴシック Medium"/>
              </a:rPr>
              <a:t>STEP/DXFからの抽出はICADなしで動く（ただし材質・質量は落ちる）</a:t>
            </a:r>
          </a:p>
          <a:p>
            <a:pPr>
              <a:spcAft>
                <a:spcPts val="600"/>
              </a:spcAft>
            </a:pPr>
            <a:r>
              <a:rPr sz="1500" b="1">
                <a:solidFill>
                  <a:srgbClr val="1F1F1F"/>
                </a:solidFill>
                <a:latin typeface="游ゴシック Medium"/>
              </a:rPr>
              <a:t>結論</a:t>
            </a:r>
          </a:p>
          <a:p>
            <a:pPr lvl="1">
              <a:spcAft>
                <a:spcPts val="300"/>
              </a:spcAft>
            </a:pPr>
            <a:r>
              <a:rPr sz="1300" b="0">
                <a:solidFill>
                  <a:srgbClr val="5A5A5A"/>
                </a:solidFill>
                <a:latin typeface="游ゴシック Medium"/>
              </a:rPr>
              <a:t>「ナレッジシステム専用のICADライセンス」が技術的に必須という結論にはならない</a:t>
            </a:r>
          </a:p>
          <a:p>
            <a:pPr lvl="1">
              <a:spcAft>
                <a:spcPts val="300"/>
              </a:spcAft>
            </a:pPr>
            <a:r>
              <a:rPr sz="1300" b="0">
                <a:solidFill>
                  <a:srgbClr val="5A5A5A"/>
                </a:solidFill>
                <a:latin typeface="游ゴシック Medium"/>
              </a:rPr>
              <a:t>必要なのは「抽出処理を実行している間、そのICADセッションを占有できること」だけ</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1F1F1F"/>
                </a:solidFill>
                <a:latin typeface="游ゴシック Medium"/>
              </a:rPr>
              <a:t>販売を前提にした場合の選択肢</a:t>
            </a:r>
          </a:p>
        </p:txBody>
      </p:sp>
      <p:sp>
        <p:nvSpPr>
          <p:cNvPr id="3" name="Text Placeholder 2"/>
          <p:cNvSpPr>
            <a:spLocks noGrp="1"/>
          </p:cNvSpPr>
          <p:nvPr>
            <p:ph type="body" idx="17" sz="quarter"/>
          </p:nvPr>
        </p:nvSpPr>
        <p:spPr/>
        <p:txBody>
          <a:bodyPr/>
          <a:lstStyle/>
          <a:p>
            <a:r>
              <a:rPr sz="1100" b="1">
                <a:solidFill>
                  <a:srgbClr val="005BAC"/>
                </a:solidFill>
                <a:latin typeface="游ゴシック Medium"/>
              </a:rPr>
              <a:t>「顧客が150万円のICADを追加購入する」を前提にした製品は売りにくい</a:t>
            </a:r>
          </a:p>
        </p:txBody>
      </p:sp>
      <p:graphicFrame>
        <p:nvGraphicFramePr>
          <p:cNvPr id="4" name="Table 3"/>
          <p:cNvGraphicFramePr>
            <a:graphicFrameLocks noGrp="1"/>
          </p:cNvGraphicFramePr>
          <p:nvPr/>
        </p:nvGraphicFramePr>
        <p:xfrm>
          <a:off x="457200" y="1364228"/>
          <a:ext cx="11352211" cy="4562919"/>
        </p:xfrm>
        <a:graphic>
          <a:graphicData uri="http://schemas.openxmlformats.org/drawingml/2006/table">
            <a:tbl>
              <a:tblPr firstRow="1" bandRow="1">
                <a:tableStyleId>{5C22544A-7EE6-4342-B048-85BDC9FD1C3A}</a:tableStyleId>
              </a:tblPr>
              <a:tblGrid>
                <a:gridCol w="1776868"/>
                <a:gridCol w="3751166"/>
                <a:gridCol w="1480723"/>
                <a:gridCol w="1382008"/>
                <a:gridCol w="2961446"/>
              </a:tblGrid>
              <a:tr h="760486">
                <a:tc>
                  <a:txBody>
                    <a:bodyPr/>
                    <a:lstStyle/>
                    <a:p>
                      <a:r>
                        <a:rPr sz="1050" b="1">
                          <a:solidFill>
                            <a:srgbClr val="FFFFFF"/>
                          </a:solidFill>
                          <a:latin typeface="游ゴシック Medium"/>
                        </a:rPr>
                        <a:t>案</a:t>
                      </a:r>
                    </a:p>
                  </a:txBody>
                  <a:tcPr anchor="ctr" marL="64000" marR="64000">
                    <a:solidFill>
                      <a:srgbClr val="005BAC"/>
                    </a:solidFill>
                  </a:tcPr>
                </a:tc>
                <a:tc>
                  <a:txBody>
                    <a:bodyPr/>
                    <a:lstStyle/>
                    <a:p>
                      <a:r>
                        <a:rPr sz="1050" b="1">
                          <a:solidFill>
                            <a:srgbClr val="FFFFFF"/>
                          </a:solidFill>
                          <a:latin typeface="游ゴシック Medium"/>
                        </a:rPr>
                        <a:t>内容</a:t>
                      </a:r>
                    </a:p>
                  </a:txBody>
                  <a:tcPr anchor="ctr" marL="64000" marR="64000">
                    <a:solidFill>
                      <a:srgbClr val="005BAC"/>
                    </a:solidFill>
                  </a:tcPr>
                </a:tc>
                <a:tc>
                  <a:txBody>
                    <a:bodyPr/>
                    <a:lstStyle/>
                    <a:p>
                      <a:r>
                        <a:rPr sz="1050" b="1">
                          <a:solidFill>
                            <a:srgbClr val="FFFFFF"/>
                          </a:solidFill>
                          <a:latin typeface="游ゴシック Medium"/>
                        </a:rPr>
                        <a:t>顧客の追加ICAD費用</a:t>
                      </a:r>
                    </a:p>
                  </a:txBody>
                  <a:tcPr anchor="ctr" marL="64000" marR="64000">
                    <a:solidFill>
                      <a:srgbClr val="005BAC"/>
                    </a:solidFill>
                  </a:tcPr>
                </a:tc>
                <a:tc>
                  <a:txBody>
                    <a:bodyPr/>
                    <a:lstStyle/>
                    <a:p>
                      <a:r>
                        <a:rPr sz="1050" b="1">
                          <a:solidFill>
                            <a:srgbClr val="FFFFFF"/>
                          </a:solidFill>
                          <a:latin typeface="游ゴシック Medium"/>
                        </a:rPr>
                        <a:t>取得できる情報</a:t>
                      </a:r>
                    </a:p>
                  </a:txBody>
                  <a:tcPr anchor="ctr" marL="64000" marR="64000">
                    <a:solidFill>
                      <a:srgbClr val="005BAC"/>
                    </a:solidFill>
                  </a:tcPr>
                </a:tc>
                <a:tc>
                  <a:txBody>
                    <a:bodyPr/>
                    <a:lstStyle/>
                    <a:p>
                      <a:r>
                        <a:rPr sz="1050" b="1">
                          <a:solidFill>
                            <a:srgbClr val="FFFFFF"/>
                          </a:solidFill>
                          <a:latin typeface="游ゴシック Medium"/>
                        </a:rPr>
                        <a:t>主な制約</a:t>
                      </a:r>
                    </a:p>
                  </a:txBody>
                  <a:tcPr anchor="ctr" marL="64000" marR="64000">
                    <a:solidFill>
                      <a:srgbClr val="005BAC"/>
                    </a:solidFill>
                  </a:tcPr>
                </a:tc>
              </a:tr>
              <a:tr h="760486">
                <a:tc>
                  <a:txBody>
                    <a:bodyPr/>
                    <a:lstStyle/>
                    <a:p>
                      <a:pPr>
                        <a:lnSpc>
                          <a:spcPct val="100000"/>
                        </a:lnSpc>
                      </a:pPr>
                      <a:r>
                        <a:rPr sz="1000" b="1">
                          <a:solidFill>
                            <a:srgbClr val="1F1F1F"/>
                          </a:solidFill>
                          <a:latin typeface="游ゴシック Medium"/>
                        </a:rPr>
                        <a:t>① 既存ライセンス兼用</a:t>
                      </a:r>
                    </a:p>
                    <a:p>
                      <a:pPr>
                        <a:lnSpc>
                          <a:spcPct val="100000"/>
                        </a:lnSpc>
                      </a:pPr>
                      <a:r>
                        <a:rPr sz="1000" b="1">
                          <a:solidFill>
                            <a:srgbClr val="1F1F1F"/>
                          </a:solidFill>
                          <a:latin typeface="游ゴシック Medium"/>
                        </a:rPr>
                        <a:t>（夜間バッチ）</a:t>
                      </a:r>
                    </a:p>
                  </a:txBody>
                  <a:tcPr anchor="ctr" marL="64000" marR="64000" marT="24000" marB="24000">
                    <a:solidFill>
                      <a:srgbClr val="EAF2FA"/>
                    </a:solidFill>
                  </a:tcPr>
                </a:tc>
                <a:tc>
                  <a:txBody>
                    <a:bodyPr/>
                    <a:lstStyle/>
                    <a:p>
                      <a:pPr>
                        <a:lnSpc>
                          <a:spcPct val="100000"/>
                        </a:lnSpc>
                      </a:pPr>
                      <a:r>
                        <a:rPr sz="1000" b="0">
                          <a:solidFill>
                            <a:srgbClr val="1F1F1F"/>
                          </a:solidFill>
                          <a:latin typeface="游ゴシック Medium"/>
                        </a:rPr>
                        <a:t>顧客が既に持つICADを、設計者が使わない夜間・休日に抽出用として使う</a:t>
                      </a:r>
                    </a:p>
                  </a:txBody>
                  <a:tcPr anchor="ctr" marL="64000" marR="64000" marT="24000" marB="24000">
                    <a:solidFill>
                      <a:srgbClr val="EAF2FA"/>
                    </a:solidFill>
                  </a:tcPr>
                </a:tc>
                <a:tc>
                  <a:txBody>
                    <a:bodyPr/>
                    <a:lstStyle/>
                    <a:p>
                      <a:pPr>
                        <a:lnSpc>
                          <a:spcPct val="100000"/>
                        </a:lnSpc>
                      </a:pPr>
                      <a:r>
                        <a:rPr sz="1000" b="0">
                          <a:solidFill>
                            <a:srgbClr val="1F1F1F"/>
                          </a:solidFill>
                          <a:latin typeface="游ゴシック Medium"/>
                        </a:rPr>
                        <a:t>0円</a:t>
                      </a:r>
                    </a:p>
                  </a:txBody>
                  <a:tcPr anchor="ctr" marL="64000" marR="64000" marT="24000" marB="24000">
                    <a:solidFill>
                      <a:srgbClr val="EAF2FA"/>
                    </a:solidFill>
                  </a:tcPr>
                </a:tc>
                <a:tc>
                  <a:txBody>
                    <a:bodyPr/>
                    <a:lstStyle/>
                    <a:p>
                      <a:pPr>
                        <a:lnSpc>
                          <a:spcPct val="100000"/>
                        </a:lnSpc>
                      </a:pPr>
                      <a:r>
                        <a:rPr sz="1000" b="0">
                          <a:solidFill>
                            <a:srgbClr val="1F1F1F"/>
                          </a:solidFill>
                          <a:latin typeface="游ゴシック Medium"/>
                        </a:rPr>
                        <a:t>最大</a:t>
                      </a:r>
                    </a:p>
                  </a:txBody>
                  <a:tcPr anchor="ctr" marL="64000" marR="64000" marT="24000" marB="24000">
                    <a:solidFill>
                      <a:srgbClr val="EAF2FA"/>
                    </a:solidFill>
                  </a:tcPr>
                </a:tc>
                <a:tc>
                  <a:txBody>
                    <a:bodyPr/>
                    <a:lstStyle/>
                    <a:p>
                      <a:pPr>
                        <a:lnSpc>
                          <a:spcPct val="100000"/>
                        </a:lnSpc>
                      </a:pPr>
                      <a:r>
                        <a:rPr sz="1000" b="0">
                          <a:solidFill>
                            <a:srgbClr val="1F1F1F"/>
                          </a:solidFill>
                          <a:latin typeface="游ゴシック Medium"/>
                        </a:rPr>
                        <a:t>ライセンス条項の可否確認が必須。抽出中はその座席を占有</a:t>
                      </a:r>
                    </a:p>
                  </a:txBody>
                  <a:tcPr anchor="ctr" marL="64000" marR="64000" marT="24000" marB="24000">
                    <a:solidFill>
                      <a:srgbClr val="EAF2FA"/>
                    </a:solidFill>
                  </a:tcPr>
                </a:tc>
              </a:tr>
              <a:tr h="760486">
                <a:tc>
                  <a:txBody>
                    <a:bodyPr/>
                    <a:lstStyle/>
                    <a:p>
                      <a:pPr>
                        <a:lnSpc>
                          <a:spcPct val="100000"/>
                        </a:lnSpc>
                      </a:pPr>
                      <a:r>
                        <a:rPr sz="1000" b="0">
                          <a:solidFill>
                            <a:srgbClr val="1F1F1F"/>
                          </a:solidFill>
                          <a:latin typeface="游ゴシック Medium"/>
                        </a:rPr>
                        <a:t>② 既存ライセンス兼用</a:t>
                      </a:r>
                    </a:p>
                    <a:p>
                      <a:pPr>
                        <a:lnSpc>
                          <a:spcPct val="100000"/>
                        </a:lnSpc>
                      </a:pPr>
                      <a:r>
                        <a:rPr sz="1000" b="0">
                          <a:solidFill>
                            <a:srgbClr val="1F1F1F"/>
                          </a:solidFill>
                          <a:latin typeface="游ゴシック Medium"/>
                        </a:rPr>
                        <a:t>（専用PC1台）</a:t>
                      </a:r>
                    </a:p>
                  </a:txBody>
                  <a:tcPr anchor="ctr" marL="64000" marR="64000" marT="24000" marB="24000">
                    <a:solidFill>
                      <a:srgbClr val="F5F7FA"/>
                    </a:solidFill>
                  </a:tcPr>
                </a:tc>
                <a:tc>
                  <a:txBody>
                    <a:bodyPr/>
                    <a:lstStyle/>
                    <a:p>
                      <a:pPr>
                        <a:lnSpc>
                          <a:spcPct val="100000"/>
                        </a:lnSpc>
                      </a:pPr>
                      <a:r>
                        <a:rPr sz="1000" b="0">
                          <a:solidFill>
                            <a:srgbClr val="1F1F1F"/>
                          </a:solidFill>
                          <a:latin typeface="游ゴシック Medium"/>
                        </a:rPr>
                        <a:t>顧客の空き座席1本を抽出専用PCへ割り当て</a:t>
                      </a:r>
                    </a:p>
                  </a:txBody>
                  <a:tcPr anchor="ctr" marL="64000" marR="64000" marT="24000" marB="24000">
                    <a:solidFill>
                      <a:srgbClr val="F5F7FA"/>
                    </a:solidFill>
                  </a:tcPr>
                </a:tc>
                <a:tc>
                  <a:txBody>
                    <a:bodyPr/>
                    <a:lstStyle/>
                    <a:p>
                      <a:pPr>
                        <a:lnSpc>
                          <a:spcPct val="100000"/>
                        </a:lnSpc>
                      </a:pPr>
                      <a:r>
                        <a:rPr sz="1000" b="0">
                          <a:solidFill>
                            <a:srgbClr val="1F1F1F"/>
                          </a:solidFill>
                          <a:latin typeface="游ゴシック Medium"/>
                        </a:rPr>
                        <a:t>0円</a:t>
                      </a:r>
                    </a:p>
                    <a:p>
                      <a:pPr>
                        <a:lnSpc>
                          <a:spcPct val="100000"/>
                        </a:lnSpc>
                      </a:pPr>
                      <a:r>
                        <a:rPr sz="1000" b="0">
                          <a:solidFill>
                            <a:srgbClr val="1F1F1F"/>
                          </a:solidFill>
                          <a:latin typeface="游ゴシック Medium"/>
                        </a:rPr>
                        <a:t>（座席の振替）</a:t>
                      </a:r>
                    </a:p>
                  </a:txBody>
                  <a:tcPr anchor="ctr" marL="64000" marR="64000" marT="24000" marB="24000">
                    <a:solidFill>
                      <a:srgbClr val="F5F7FA"/>
                    </a:solidFill>
                  </a:tcPr>
                </a:tc>
                <a:tc>
                  <a:txBody>
                    <a:bodyPr/>
                    <a:lstStyle/>
                    <a:p>
                      <a:pPr>
                        <a:lnSpc>
                          <a:spcPct val="100000"/>
                        </a:lnSpc>
                      </a:pPr>
                      <a:r>
                        <a:rPr sz="1000" b="0">
                          <a:solidFill>
                            <a:srgbClr val="1F1F1F"/>
                          </a:solidFill>
                          <a:latin typeface="游ゴシック Medium"/>
                        </a:rPr>
                        <a:t>最大</a:t>
                      </a:r>
                    </a:p>
                  </a:txBody>
                  <a:tcPr anchor="ctr" marL="64000" marR="64000" marT="24000" marB="24000">
                    <a:solidFill>
                      <a:srgbClr val="F5F7FA"/>
                    </a:solidFill>
                  </a:tcPr>
                </a:tc>
                <a:tc>
                  <a:txBody>
                    <a:bodyPr/>
                    <a:lstStyle/>
                    <a:p>
                      <a:pPr>
                        <a:lnSpc>
                          <a:spcPct val="100000"/>
                        </a:lnSpc>
                      </a:pPr>
                      <a:r>
                        <a:rPr sz="1000" b="0">
                          <a:solidFill>
                            <a:srgbClr val="1F1F1F"/>
                          </a:solidFill>
                          <a:latin typeface="游ゴシック Medium"/>
                        </a:rPr>
                        <a:t>空き座席がある顧客に限る</a:t>
                      </a:r>
                    </a:p>
                  </a:txBody>
                  <a:tcPr anchor="ctr" marL="64000" marR="64000" marT="24000" marB="24000">
                    <a:solidFill>
                      <a:srgbClr val="F5F7FA"/>
                    </a:solidFill>
                  </a:tcPr>
                </a:tc>
              </a:tr>
              <a:tr h="760486">
                <a:tc>
                  <a:txBody>
                    <a:bodyPr/>
                    <a:lstStyle/>
                    <a:p>
                      <a:pPr>
                        <a:lnSpc>
                          <a:spcPct val="100000"/>
                        </a:lnSpc>
                      </a:pPr>
                      <a:r>
                        <a:rPr sz="1000" b="0">
                          <a:solidFill>
                            <a:srgbClr val="1F1F1F"/>
                          </a:solidFill>
                          <a:latin typeface="游ゴシック Medium"/>
                        </a:rPr>
                        <a:t>③ ICAD不要構成</a:t>
                      </a:r>
                    </a:p>
                  </a:txBody>
                  <a:tcPr anchor="ctr" marL="64000" marR="64000" marT="24000" marB="24000">
                    <a:solidFill>
                      <a:srgbClr val="FFFFFF"/>
                    </a:solidFill>
                  </a:tcPr>
                </a:tc>
                <a:tc>
                  <a:txBody>
                    <a:bodyPr/>
                    <a:lstStyle/>
                    <a:p>
                      <a:pPr>
                        <a:lnSpc>
                          <a:spcPct val="100000"/>
                        </a:lnSpc>
                      </a:pPr>
                      <a:r>
                        <a:rPr sz="1000" b="0">
                          <a:solidFill>
                            <a:srgbClr val="1F1F1F"/>
                          </a:solidFill>
                          <a:latin typeface="游ゴシック Medium"/>
                        </a:rPr>
                        <a:t>顧客側でSTEP/DXF/PDFへ出力済みのデータを取り込む</a:t>
                      </a:r>
                    </a:p>
                  </a:txBody>
                  <a:tcPr anchor="ctr" marL="64000" marR="64000" marT="24000" marB="24000">
                    <a:solidFill>
                      <a:srgbClr val="FFFFFF"/>
                    </a:solidFill>
                  </a:tcPr>
                </a:tc>
                <a:tc>
                  <a:txBody>
                    <a:bodyPr/>
                    <a:lstStyle/>
                    <a:p>
                      <a:pPr>
                        <a:lnSpc>
                          <a:spcPct val="100000"/>
                        </a:lnSpc>
                      </a:pPr>
                      <a:r>
                        <a:rPr sz="1000" b="0">
                          <a:solidFill>
                            <a:srgbClr val="1F1F1F"/>
                          </a:solidFill>
                          <a:latin typeface="游ゴシック Medium"/>
                        </a:rPr>
                        <a:t>0円</a:t>
                      </a:r>
                    </a:p>
                  </a:txBody>
                  <a:tcPr anchor="ctr" marL="64000" marR="64000" marT="24000" marB="24000">
                    <a:solidFill>
                      <a:srgbClr val="FFFFFF"/>
                    </a:solidFill>
                  </a:tcPr>
                </a:tc>
                <a:tc>
                  <a:txBody>
                    <a:bodyPr/>
                    <a:lstStyle/>
                    <a:p>
                      <a:pPr>
                        <a:lnSpc>
                          <a:spcPct val="100000"/>
                        </a:lnSpc>
                      </a:pPr>
                      <a:r>
                        <a:rPr sz="1000" b="0">
                          <a:solidFill>
                            <a:srgbClr val="1F1F1F"/>
                          </a:solidFill>
                          <a:latin typeface="游ゴシック Medium"/>
                        </a:rPr>
                        <a:t>中</a:t>
                      </a:r>
                    </a:p>
                    <a:p>
                      <a:pPr>
                        <a:lnSpc>
                          <a:spcPct val="100000"/>
                        </a:lnSpc>
                      </a:pPr>
                      <a:r>
                        <a:rPr sz="1000" b="0">
                          <a:solidFill>
                            <a:srgbClr val="1F1F1F"/>
                          </a:solidFill>
                          <a:latin typeface="游ゴシック Medium"/>
                        </a:rPr>
                        <a:t>（材質・質量は落ちる）</a:t>
                      </a:r>
                    </a:p>
                  </a:txBody>
                  <a:tcPr anchor="ctr" marL="64000" marR="64000" marT="24000" marB="24000">
                    <a:solidFill>
                      <a:srgbClr val="FFFFFF"/>
                    </a:solidFill>
                  </a:tcPr>
                </a:tc>
                <a:tc>
                  <a:txBody>
                    <a:bodyPr/>
                    <a:lstStyle/>
                    <a:p>
                      <a:pPr>
                        <a:lnSpc>
                          <a:spcPct val="100000"/>
                        </a:lnSpc>
                      </a:pPr>
                      <a:r>
                        <a:rPr sz="1000" b="0">
                          <a:solidFill>
                            <a:srgbClr val="1F1F1F"/>
                          </a:solidFill>
                          <a:latin typeface="游ゴシック Medium"/>
                        </a:rPr>
                        <a:t>顧客に出力運用を依頼する必要あり</a:t>
                      </a:r>
                    </a:p>
                  </a:txBody>
                  <a:tcPr anchor="ctr" marL="64000" marR="64000" marT="24000" marB="24000">
                    <a:solidFill>
                      <a:srgbClr val="FFFFFF"/>
                    </a:solidFill>
                  </a:tcPr>
                </a:tc>
              </a:tr>
              <a:tr h="760486">
                <a:tc>
                  <a:txBody>
                    <a:bodyPr/>
                    <a:lstStyle/>
                    <a:p>
                      <a:pPr>
                        <a:lnSpc>
                          <a:spcPct val="100000"/>
                        </a:lnSpc>
                      </a:pPr>
                      <a:r>
                        <a:rPr sz="1000" b="1">
                          <a:solidFill>
                            <a:srgbClr val="1F1F1F"/>
                          </a:solidFill>
                          <a:latin typeface="游ゴシック Medium"/>
                        </a:rPr>
                        <a:t>④ 変換代行</a:t>
                      </a:r>
                    </a:p>
                    <a:p>
                      <a:pPr>
                        <a:lnSpc>
                          <a:spcPct val="100000"/>
                        </a:lnSpc>
                      </a:pPr>
                      <a:r>
                        <a:rPr sz="1000" b="1">
                          <a:solidFill>
                            <a:srgbClr val="1F1F1F"/>
                          </a:solidFill>
                          <a:latin typeface="游ゴシック Medium"/>
                        </a:rPr>
                        <a:t>（当社の余剰ライセンス活用）</a:t>
                      </a:r>
                    </a:p>
                  </a:txBody>
                  <a:tcPr anchor="ctr" marL="64000" marR="64000" marT="24000" marB="24000">
                    <a:solidFill>
                      <a:srgbClr val="EAF2FA"/>
                    </a:solidFill>
                  </a:tcPr>
                </a:tc>
                <a:tc>
                  <a:txBody>
                    <a:bodyPr/>
                    <a:lstStyle/>
                    <a:p>
                      <a:pPr>
                        <a:lnSpc>
                          <a:spcPct val="100000"/>
                        </a:lnSpc>
                      </a:pPr>
                      <a:r>
                        <a:rPr sz="1000" b="0">
                          <a:solidFill>
                            <a:srgbClr val="1F1F1F"/>
                          </a:solidFill>
                          <a:latin typeface="游ゴシック Medium"/>
                        </a:rPr>
                        <a:t>当社の余剰ライセンス＋当社サーバーでICAD→STEP/中間データ変換を代行</a:t>
                      </a:r>
                    </a:p>
                  </a:txBody>
                  <a:tcPr anchor="ctr" marL="64000" marR="64000" marT="24000" marB="24000">
                    <a:solidFill>
                      <a:srgbClr val="EAF2FA"/>
                    </a:solidFill>
                  </a:tcPr>
                </a:tc>
                <a:tc>
                  <a:txBody>
                    <a:bodyPr/>
                    <a:lstStyle/>
                    <a:p>
                      <a:pPr>
                        <a:lnSpc>
                          <a:spcPct val="100000"/>
                        </a:lnSpc>
                      </a:pPr>
                      <a:r>
                        <a:rPr sz="1000" b="0">
                          <a:solidFill>
                            <a:srgbClr val="1F1F1F"/>
                          </a:solidFill>
                          <a:latin typeface="游ゴシック Medium"/>
                        </a:rPr>
                        <a:t>0円</a:t>
                      </a:r>
                    </a:p>
                  </a:txBody>
                  <a:tcPr anchor="ctr" marL="64000" marR="64000" marT="24000" marB="24000">
                    <a:solidFill>
                      <a:srgbClr val="EAF2FA"/>
                    </a:solidFill>
                  </a:tcPr>
                </a:tc>
                <a:tc>
                  <a:txBody>
                    <a:bodyPr/>
                    <a:lstStyle/>
                    <a:p>
                      <a:pPr>
                        <a:lnSpc>
                          <a:spcPct val="100000"/>
                        </a:lnSpc>
                      </a:pPr>
                      <a:r>
                        <a:rPr sz="1000" b="0">
                          <a:solidFill>
                            <a:srgbClr val="1F1F1F"/>
                          </a:solidFill>
                          <a:latin typeface="游ゴシック Medium"/>
                        </a:rPr>
                        <a:t>最大〜中</a:t>
                      </a:r>
                    </a:p>
                  </a:txBody>
                  <a:tcPr anchor="ctr" marL="64000" marR="64000" marT="24000" marB="24000">
                    <a:solidFill>
                      <a:srgbClr val="EAF2FA"/>
                    </a:solidFill>
                  </a:tcPr>
                </a:tc>
                <a:tc>
                  <a:txBody>
                    <a:bodyPr/>
                    <a:lstStyle/>
                    <a:p>
                      <a:pPr>
                        <a:lnSpc>
                          <a:spcPct val="100000"/>
                        </a:lnSpc>
                      </a:pPr>
                      <a:r>
                        <a:rPr sz="1000" b="0">
                          <a:solidFill>
                            <a:srgbClr val="1F1F1F"/>
                          </a:solidFill>
                          <a:latin typeface="游ゴシック Medium"/>
                        </a:rPr>
                        <a:t>図面データを社外（当社）へ出すことへの顧客同意が必要</a:t>
                      </a:r>
                    </a:p>
                  </a:txBody>
                  <a:tcPr anchor="ctr" marL="64000" marR="64000" marT="24000" marB="24000">
                    <a:solidFill>
                      <a:srgbClr val="EAF2FA"/>
                    </a:solidFill>
                  </a:tcPr>
                </a:tc>
              </a:tr>
              <a:tr h="760489">
                <a:tc>
                  <a:txBody>
                    <a:bodyPr/>
                    <a:lstStyle/>
                    <a:p>
                      <a:pPr>
                        <a:lnSpc>
                          <a:spcPct val="100000"/>
                        </a:lnSpc>
                      </a:pPr>
                      <a:r>
                        <a:rPr sz="1000" b="0">
                          <a:solidFill>
                            <a:srgbClr val="1F1F1F"/>
                          </a:solidFill>
                          <a:latin typeface="游ゴシック Medium"/>
                        </a:rPr>
                        <a:t>⑤ 専用ライセンス新規購入</a:t>
                      </a:r>
                    </a:p>
                  </a:txBody>
                  <a:tcPr anchor="ctr" marL="64000" marR="64000" marT="24000" marB="24000">
                    <a:solidFill>
                      <a:srgbClr val="FFFFFF"/>
                    </a:solidFill>
                  </a:tcPr>
                </a:tc>
                <a:tc>
                  <a:txBody>
                    <a:bodyPr/>
                    <a:lstStyle/>
                    <a:p>
                      <a:pPr>
                        <a:lnSpc>
                          <a:spcPct val="100000"/>
                        </a:lnSpc>
                      </a:pPr>
                      <a:r>
                        <a:rPr sz="1000" b="0">
                          <a:solidFill>
                            <a:srgbClr val="1F1F1F"/>
                          </a:solidFill>
                          <a:latin typeface="游ゴシック Medium"/>
                        </a:rPr>
                        <a:t>顧客がナレッジシステム用にICADを1本追加</a:t>
                      </a:r>
                    </a:p>
                  </a:txBody>
                  <a:tcPr anchor="ctr" marL="64000" marR="64000" marT="24000" marB="24000">
                    <a:solidFill>
                      <a:srgbClr val="FFFFFF"/>
                    </a:solidFill>
                  </a:tcPr>
                </a:tc>
                <a:tc>
                  <a:txBody>
                    <a:bodyPr/>
                    <a:lstStyle/>
                    <a:p>
                      <a:pPr>
                        <a:lnSpc>
                          <a:spcPct val="100000"/>
                        </a:lnSpc>
                      </a:pPr>
                      <a:r>
                        <a:rPr sz="1000" b="0">
                          <a:solidFill>
                            <a:srgbClr val="1F1F1F"/>
                          </a:solidFill>
                          <a:latin typeface="游ゴシック Medium"/>
                        </a:rPr>
                        <a:t>約150万円</a:t>
                      </a:r>
                    </a:p>
                  </a:txBody>
                  <a:tcPr anchor="ctr" marL="64000" marR="64000" marT="24000" marB="24000">
                    <a:solidFill>
                      <a:srgbClr val="FFFFFF"/>
                    </a:solidFill>
                  </a:tcPr>
                </a:tc>
                <a:tc>
                  <a:txBody>
                    <a:bodyPr/>
                    <a:lstStyle/>
                    <a:p>
                      <a:pPr>
                        <a:lnSpc>
                          <a:spcPct val="100000"/>
                        </a:lnSpc>
                      </a:pPr>
                      <a:r>
                        <a:rPr sz="1000" b="0">
                          <a:solidFill>
                            <a:srgbClr val="1F1F1F"/>
                          </a:solidFill>
                          <a:latin typeface="游ゴシック Medium"/>
                        </a:rPr>
                        <a:t>最大</a:t>
                      </a:r>
                    </a:p>
                  </a:txBody>
                  <a:tcPr anchor="ctr" marL="64000" marR="64000" marT="24000" marB="24000">
                    <a:solidFill>
                      <a:srgbClr val="FFFFFF"/>
                    </a:solidFill>
                  </a:tcPr>
                </a:tc>
                <a:tc>
                  <a:txBody>
                    <a:bodyPr/>
                    <a:lstStyle/>
                    <a:p>
                      <a:pPr>
                        <a:lnSpc>
                          <a:spcPct val="100000"/>
                        </a:lnSpc>
                      </a:pPr>
                      <a:r>
                        <a:rPr sz="1000" b="0">
                          <a:solidFill>
                            <a:srgbClr val="1F1F1F"/>
                          </a:solidFill>
                          <a:latin typeface="游ゴシック Medium"/>
                        </a:rPr>
                        <a:t>費用が導入判断のボトルネックになりやすい</a:t>
                      </a:r>
                    </a:p>
                  </a:txBody>
                  <a:tcPr anchor="ctr" marL="64000" marR="64000" marT="24000" marB="24000">
                    <a:solidFill>
                      <a:srgbClr val="FFFFFF"/>
                    </a:solidFill>
                  </a:tcPr>
                </a:tc>
              </a:tr>
            </a:tbl>
          </a:graphicData>
        </a:graphic>
      </p:graphicFrame>
      <p:sp>
        <p:nvSpPr>
          <p:cNvPr id="5" name="TextBox 4"/>
          <p:cNvSpPr txBox="1"/>
          <p:nvPr/>
        </p:nvSpPr>
        <p:spPr>
          <a:xfrm>
            <a:off x="457200" y="5987147"/>
            <a:ext cx="11352213" cy="400000"/>
          </a:xfrm>
          <a:prstGeom prst="rect">
            <a:avLst/>
          </a:prstGeom>
          <a:noFill/>
        </p:spPr>
        <p:txBody>
          <a:bodyPr wrap="square">
            <a:spAutoFit/>
          </a:bodyPr>
          <a:lstStyle/>
          <a:p>
            <a:r>
              <a:rPr sz="1000">
                <a:solidFill>
                  <a:srgbClr val="5A5A5A"/>
                </a:solidFill>
                <a:latin typeface="游ゴシック Medium"/>
              </a:rPr>
              <a:t>当社には余剰ライセンスがあるため、案④は当社が担げる現実的な選択肢です。また対象顧客はICADユーザーであることが多く、案①②が成立する可能性も相応にあると見ています。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1F1F1F"/>
                </a:solidFill>
                <a:latin typeface="游ゴシック Medium"/>
              </a:rPr>
              <a:t>確認が必要な事項（未確認・断定していません）</a:t>
            </a:r>
          </a:p>
        </p:txBody>
      </p:sp>
      <p:sp>
        <p:nvSpPr>
          <p:cNvPr id="3" name="Text Placeholder 2"/>
          <p:cNvSpPr>
            <a:spLocks noGrp="1"/>
          </p:cNvSpPr>
          <p:nvPr>
            <p:ph type="body" idx="17" sz="quarter"/>
          </p:nvPr>
        </p:nvSpPr>
        <p:spPr/>
        <p:txBody>
          <a:bodyPr/>
          <a:lstStyle/>
          <a:p>
            <a:r>
              <a:rPr sz="1100" b="1">
                <a:solidFill>
                  <a:srgbClr val="005BAC"/>
                </a:solidFill>
                <a:latin typeface="游ゴシック Medium"/>
              </a:rPr>
              <a:t>ライセンス条項の問題であり、当社もまだ確認できていません</a:t>
            </a:r>
          </a:p>
        </p:txBody>
      </p:sp>
      <p:sp>
        <p:nvSpPr>
          <p:cNvPr id="4" name="Content Placeholder 3"/>
          <p:cNvSpPr>
            <a:spLocks noGrp="1"/>
          </p:cNvSpPr>
          <p:nvPr>
            <p:ph idx="18" sz="quarter"/>
          </p:nvPr>
        </p:nvSpPr>
        <p:spPr/>
        <p:txBody>
          <a:bodyPr wrap="square"/>
          <a:lstStyle/>
          <a:p>
            <a:pPr>
              <a:spcAft>
                <a:spcPts val="600"/>
              </a:spcAft>
            </a:pPr>
            <a:r>
              <a:rPr sz="1500" b="1">
                <a:solidFill>
                  <a:srgbClr val="1F1F1F"/>
                </a:solidFill>
                <a:latin typeface="游ゴシック Medium"/>
              </a:rPr>
              <a:t>富士通／ICAD販売元へ確認する事項</a:t>
            </a:r>
          </a:p>
          <a:p>
            <a:pPr lvl="1">
              <a:spcAft>
                <a:spcPts val="300"/>
              </a:spcAft>
            </a:pPr>
            <a:r>
              <a:rPr sz="1300" b="0">
                <a:solidFill>
                  <a:srgbClr val="5A5A5A"/>
                </a:solidFill>
                <a:latin typeface="游ゴシック Medium"/>
              </a:rPr>
              <a:t>設計者向けライセンスを、無人のバッチ処理（サーバー常駐・自動起動）で使うことが許諾範囲か</a:t>
            </a:r>
          </a:p>
          <a:p>
            <a:pPr lvl="1">
              <a:spcAft>
                <a:spcPts val="300"/>
              </a:spcAft>
            </a:pPr>
            <a:r>
              <a:rPr sz="1300" b="0">
                <a:solidFill>
                  <a:srgbClr val="5A5A5A"/>
                </a:solidFill>
                <a:latin typeface="游ゴシック Medium"/>
              </a:rPr>
              <a:t>ライセンス形態（ノードロック／フローティング等）と、フローティングの場合の借用可否</a:t>
            </a:r>
          </a:p>
          <a:p>
            <a:pPr lvl="1">
              <a:spcAft>
                <a:spcPts val="300"/>
              </a:spcAft>
            </a:pPr>
            <a:r>
              <a:rPr sz="1300" b="0">
                <a:solidFill>
                  <a:srgbClr val="5A5A5A"/>
                </a:solidFill>
                <a:latin typeface="游ゴシック Medium"/>
              </a:rPr>
              <a:t>「同時使用」の定義。1座席を夜間だけ別PCで使う運用が可能か</a:t>
            </a:r>
          </a:p>
          <a:p>
            <a:pPr lvl="1">
              <a:spcAft>
                <a:spcPts val="300"/>
              </a:spcAft>
            </a:pPr>
            <a:r>
              <a:rPr sz="1300" b="0">
                <a:solidFill>
                  <a:srgbClr val="5A5A5A"/>
                </a:solidFill>
                <a:latin typeface="游ゴシック Medium"/>
              </a:rPr>
              <a:t>当社の余剰ライセンスを使って他社図面の変換を受託することが許諾範囲か（案④の前提）</a:t>
            </a:r>
          </a:p>
          <a:p>
            <a:pPr>
              <a:spcAft>
                <a:spcPts val="600"/>
              </a:spcAft>
            </a:pPr>
            <a:r>
              <a:rPr sz="1500" b="1">
                <a:solidFill>
                  <a:srgbClr val="1F1F1F"/>
                </a:solidFill>
                <a:latin typeface="游ゴシック Medium"/>
              </a:rPr>
              <a:t>確認結果によって変わること</a:t>
            </a:r>
          </a:p>
          <a:p>
            <a:pPr lvl="1">
              <a:spcAft>
                <a:spcPts val="300"/>
              </a:spcAft>
            </a:pPr>
            <a:r>
              <a:rPr sz="1300" b="0">
                <a:solidFill>
                  <a:srgbClr val="5A5A5A"/>
                </a:solidFill>
                <a:latin typeface="游ゴシック Medium"/>
              </a:rPr>
              <a:t>許諾される → 案①②④が使え、顧客の追加ICAD費用ゼロで提案できる</a:t>
            </a:r>
          </a:p>
          <a:p>
            <a:pPr lvl="1">
              <a:spcAft>
                <a:spcPts val="300"/>
              </a:spcAft>
            </a:pPr>
            <a:r>
              <a:rPr sz="1300" b="0">
                <a:solidFill>
                  <a:srgbClr val="5A5A5A"/>
                </a:solidFill>
                <a:latin typeface="游ゴシック Medium"/>
              </a:rPr>
              <a:t>許諾されない → 案③（ICAD不要構成）を主軸にし、取得情報が減ることを製品仕様として明示する</a:t>
            </a:r>
          </a:p>
          <a:p>
            <a:pPr>
              <a:spcAft>
                <a:spcPts val="600"/>
              </a:spcAft>
            </a:pPr>
            <a:r>
              <a:rPr sz="1500" b="1">
                <a:solidFill>
                  <a:srgbClr val="1F1F1F"/>
                </a:solidFill>
                <a:latin typeface="游ゴシック Medium"/>
              </a:rPr>
              <a:t>ご判断いただきたいこと</a:t>
            </a:r>
          </a:p>
          <a:p>
            <a:pPr lvl="1">
              <a:spcAft>
                <a:spcPts val="300"/>
              </a:spcAft>
            </a:pPr>
            <a:r>
              <a:rPr sz="1300" b="0">
                <a:solidFill>
                  <a:srgbClr val="5A5A5A"/>
                </a:solidFill>
                <a:latin typeface="游ゴシック Medium"/>
              </a:rPr>
              <a:t>富士通／販売元への正式な問い合わせを、当社名で行ってよいか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1F1F1F"/>
                </a:solidFill>
                <a:latin typeface="游ゴシック Medium"/>
              </a:rPr>
              <a:t>責任分界と</a:t>
            </a:r>
          </a:p>
          <a:p>
            <a:r>
              <a:rPr sz="2800" b="1">
                <a:solidFill>
                  <a:srgbClr val="1F1F1F"/>
                </a:solidFill>
                <a:latin typeface="游ゴシック Medium"/>
              </a:rPr>
              <a:t>今後の進め方</a:t>
            </a:r>
          </a:p>
        </p:txBody>
      </p:sp>
      <p:sp>
        <p:nvSpPr>
          <p:cNvPr id="3" name="Text Placeholder 2"/>
          <p:cNvSpPr>
            <a:spLocks noGrp="1"/>
          </p:cNvSpPr>
          <p:nvPr>
            <p:ph type="body" idx="2" sz="half"/>
          </p:nvPr>
        </p:nvSpPr>
        <p:spPr/>
        <p:txBody>
          <a:bodyPr/>
          <a:lstStyle/>
          <a:p>
            <a:r>
              <a:rPr sz="1400" b="1">
                <a:solidFill>
                  <a:srgbClr val="005BAC"/>
                </a:solidFill>
                <a:latin typeface="游ゴシック Medium"/>
              </a:rPr>
              <a:t>CHAPTER　04</a:t>
            </a:r>
          </a:p>
        </p:txBody>
      </p:sp>
      <p:sp>
        <p:nvSpPr>
          <p:cNvPr id="4" name="Text Placeholder 3"/>
          <p:cNvSpPr>
            <a:spLocks noGrp="1"/>
          </p:cNvSpPr>
          <p:nvPr>
            <p:ph type="body" idx="17" sz="half"/>
          </p:nvPr>
        </p:nvSpPr>
        <p:spPr/>
        <p:txBody>
          <a:bodyPr/>
          <a:lstStyle/>
          <a:p>
            <a:r>
              <a:rPr sz="1200" b="1">
                <a:solidFill>
                  <a:srgbClr val="005BAC"/>
                </a:solidFill>
                <a:latin typeface="游ゴシック Medium"/>
              </a:rPr>
              <a:t>Scope &amp; Next Steps</a:t>
            </a:r>
          </a:p>
        </p:txBody>
      </p:sp>
      <p:sp>
        <p:nvSpPr>
          <p:cNvPr id="5" name="Content Placeholder 4"/>
          <p:cNvSpPr>
            <a:spLocks noGrp="1"/>
          </p:cNvSpPr>
          <p:nvPr>
            <p:ph idx="18" sz="quarter"/>
          </p:nvPr>
        </p:nvSpPr>
        <p:spPr/>
        <p:txBody>
          <a:bodyPr wrap="square"/>
          <a:lstStyle/>
          <a:p>
            <a:pPr>
              <a:spcAft>
                <a:spcPts val="600"/>
              </a:spcAft>
            </a:pPr>
            <a:r>
              <a:rPr sz="1400" b="0">
                <a:solidFill>
                  <a:srgbClr val="1F1F1F"/>
                </a:solidFill>
                <a:latin typeface="游ゴシック Medium"/>
              </a:rPr>
              <a:t>どこまで自社が作り、どこから創屋が実装するか</a:t>
            </a:r>
          </a:p>
          <a:p>
            <a:pPr>
              <a:spcAft>
                <a:spcPts val="600"/>
              </a:spcAft>
            </a:pPr>
            <a:r>
              <a:rPr sz="1400" b="0">
                <a:solidFill>
                  <a:srgbClr val="1F1F1F"/>
                </a:solidFill>
                <a:latin typeface="游ゴシック Medium"/>
              </a:rPr>
              <a:t>ソース切り出し提供の話</a:t>
            </a:r>
          </a:p>
          <a:p>
            <a:pPr>
              <a:spcAft>
                <a:spcPts val="600"/>
              </a:spcAft>
            </a:pPr>
            <a:r>
              <a:rPr sz="1400" b="0">
                <a:solidFill>
                  <a:srgbClr val="1F1F1F"/>
                </a:solidFill>
                <a:latin typeface="游ゴシック Medium"/>
              </a:rPr>
              <a:t>今後の進め方とご判断事項</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1F1F1F"/>
                </a:solidFill>
                <a:latin typeface="游ゴシック Medium"/>
              </a:rPr>
              <a:t>創屋との責任分界</a:t>
            </a:r>
          </a:p>
        </p:txBody>
      </p:sp>
      <p:sp>
        <p:nvSpPr>
          <p:cNvPr id="3" name="Text Placeholder 2"/>
          <p:cNvSpPr>
            <a:spLocks noGrp="1"/>
          </p:cNvSpPr>
          <p:nvPr>
            <p:ph type="body" idx="17" sz="quarter"/>
          </p:nvPr>
        </p:nvSpPr>
        <p:spPr/>
        <p:txBody>
          <a:bodyPr/>
          <a:lstStyle/>
          <a:p>
            <a:r>
              <a:rPr sz="1100" b="1">
                <a:solidFill>
                  <a:srgbClr val="005BAC"/>
                </a:solidFill>
                <a:latin typeface="游ゴシック Medium"/>
              </a:rPr>
              <a:t>当社は「CADから情報を抜き、タグ・属性にする」まで。本体への組み込みは創屋</a:t>
            </a:r>
          </a:p>
        </p:txBody>
      </p:sp>
      <p:graphicFrame>
        <p:nvGraphicFramePr>
          <p:cNvPr id="4" name="Table 3"/>
          <p:cNvGraphicFramePr>
            <a:graphicFrameLocks noGrp="1"/>
          </p:cNvGraphicFramePr>
          <p:nvPr/>
        </p:nvGraphicFramePr>
        <p:xfrm>
          <a:off x="457200" y="1364228"/>
          <a:ext cx="11352211" cy="4562919"/>
        </p:xfrm>
        <a:graphic>
          <a:graphicData uri="http://schemas.openxmlformats.org/drawingml/2006/table">
            <a:tbl>
              <a:tblPr firstRow="1" bandRow="1">
                <a:tableStyleId>{5C22544A-7EE6-4342-B048-85BDC9FD1C3A}</a:tableStyleId>
              </a:tblPr>
              <a:tblGrid>
                <a:gridCol w="4442170"/>
                <a:gridCol w="1974297"/>
                <a:gridCol w="4935744"/>
              </a:tblGrid>
              <a:tr h="506991">
                <a:tc>
                  <a:txBody>
                    <a:bodyPr/>
                    <a:lstStyle/>
                    <a:p>
                      <a:r>
                        <a:rPr sz="1100" b="1">
                          <a:solidFill>
                            <a:srgbClr val="FFFFFF"/>
                          </a:solidFill>
                          <a:latin typeface="游ゴシック Medium"/>
                        </a:rPr>
                        <a:t>工程</a:t>
                      </a:r>
                    </a:p>
                  </a:txBody>
                  <a:tcPr anchor="ctr" marL="64000" marR="64000">
                    <a:solidFill>
                      <a:srgbClr val="005BAC"/>
                    </a:solidFill>
                  </a:tcPr>
                </a:tc>
                <a:tc>
                  <a:txBody>
                    <a:bodyPr/>
                    <a:lstStyle/>
                    <a:p>
                      <a:r>
                        <a:rPr sz="1100" b="1">
                          <a:solidFill>
                            <a:srgbClr val="FFFFFF"/>
                          </a:solidFill>
                          <a:latin typeface="游ゴシック Medium"/>
                        </a:rPr>
                        <a:t>担当</a:t>
                      </a:r>
                    </a:p>
                  </a:txBody>
                  <a:tcPr anchor="ctr" marL="64000" marR="64000">
                    <a:solidFill>
                      <a:srgbClr val="005BAC"/>
                    </a:solidFill>
                  </a:tcPr>
                </a:tc>
                <a:tc>
                  <a:txBody>
                    <a:bodyPr/>
                    <a:lstStyle/>
                    <a:p>
                      <a:r>
                        <a:rPr sz="1100" b="1">
                          <a:solidFill>
                            <a:srgbClr val="FFFFFF"/>
                          </a:solidFill>
                          <a:latin typeface="游ゴシック Medium"/>
                        </a:rPr>
                        <a:t>現状</a:t>
                      </a:r>
                    </a:p>
                  </a:txBody>
                  <a:tcPr anchor="ctr" marL="64000" marR="64000">
                    <a:solidFill>
                      <a:srgbClr val="005BAC"/>
                    </a:solidFill>
                  </a:tcPr>
                </a:tc>
              </a:tr>
              <a:tr h="506991">
                <a:tc>
                  <a:txBody>
                    <a:bodyPr/>
                    <a:lstStyle/>
                    <a:p>
                      <a:pPr>
                        <a:lnSpc>
                          <a:spcPct val="100000"/>
                        </a:lnSpc>
                      </a:pPr>
                      <a:r>
                        <a:rPr sz="1150" b="0">
                          <a:solidFill>
                            <a:srgbClr val="1F1F1F"/>
                          </a:solidFill>
                          <a:latin typeface="游ゴシック Medium"/>
                        </a:rPr>
                        <a:t>ICADからの情報抽出（C# + SXNET）</a:t>
                      </a:r>
                    </a:p>
                  </a:txBody>
                  <a:tcPr anchor="ctr" marL="64000" marR="64000" marT="24000" marB="24000">
                    <a:solidFill>
                      <a:srgbClr val="FFFFFF"/>
                    </a:solidFill>
                  </a:tcPr>
                </a:tc>
                <a:tc>
                  <a:txBody>
                    <a:bodyPr/>
                    <a:lstStyle/>
                    <a:p>
                      <a:pPr>
                        <a:lnSpc>
                          <a:spcPct val="100000"/>
                        </a:lnSpc>
                      </a:pPr>
                      <a:r>
                        <a:rPr sz="1150" b="0">
                          <a:solidFill>
                            <a:srgbClr val="1F1F1F"/>
                          </a:solidFill>
                          <a:latin typeface="游ゴシック Medium"/>
                        </a:rPr>
                        <a:t>アルパイン</a:t>
                      </a:r>
                    </a:p>
                  </a:txBody>
                  <a:tcPr anchor="ctr" marL="64000" marR="64000" marT="24000" marB="24000">
                    <a:solidFill>
                      <a:srgbClr val="FFFFFF"/>
                    </a:solidFill>
                  </a:tcPr>
                </a:tc>
                <a:tc>
                  <a:txBody>
                    <a:bodyPr/>
                    <a:lstStyle/>
                    <a:p>
                      <a:pPr>
                        <a:lnSpc>
                          <a:spcPct val="100000"/>
                        </a:lnSpc>
                      </a:pPr>
                      <a:r>
                        <a:rPr sz="1150" b="0">
                          <a:solidFill>
                            <a:srgbClr val="1F1F1F"/>
                          </a:solidFill>
                          <a:latin typeface="游ゴシック Medium"/>
                        </a:rPr>
                        <a:t>実装済み。実ICAD 39件で動作確認済み</a:t>
                      </a:r>
                    </a:p>
                  </a:txBody>
                  <a:tcPr anchor="ctr" marL="64000" marR="64000" marT="24000" marB="24000">
                    <a:solidFill>
                      <a:srgbClr val="FFFFFF"/>
                    </a:solidFill>
                  </a:tcPr>
                </a:tc>
              </a:tr>
              <a:tr h="506991">
                <a:tc>
                  <a:txBody>
                    <a:bodyPr/>
                    <a:lstStyle/>
                    <a:p>
                      <a:pPr>
                        <a:lnSpc>
                          <a:spcPct val="100000"/>
                        </a:lnSpc>
                      </a:pPr>
                      <a:r>
                        <a:rPr sz="1150" b="0">
                          <a:solidFill>
                            <a:srgbClr val="1F1F1F"/>
                          </a:solidFill>
                          <a:latin typeface="游ゴシック Medium"/>
                        </a:rPr>
                        <a:t>STEP/DXFからの情報抽出</a:t>
                      </a:r>
                    </a:p>
                  </a:txBody>
                  <a:tcPr anchor="ctr" marL="64000" marR="64000" marT="24000" marB="24000">
                    <a:solidFill>
                      <a:srgbClr val="F5F7FA"/>
                    </a:solidFill>
                  </a:tcPr>
                </a:tc>
                <a:tc>
                  <a:txBody>
                    <a:bodyPr/>
                    <a:lstStyle/>
                    <a:p>
                      <a:pPr>
                        <a:lnSpc>
                          <a:spcPct val="100000"/>
                        </a:lnSpc>
                      </a:pPr>
                      <a:r>
                        <a:rPr sz="1150" b="0">
                          <a:solidFill>
                            <a:srgbClr val="1F1F1F"/>
                          </a:solidFill>
                          <a:latin typeface="游ゴシック Medium"/>
                        </a:rPr>
                        <a:t>アルパイン</a:t>
                      </a:r>
                    </a:p>
                  </a:txBody>
                  <a:tcPr anchor="ctr" marL="64000" marR="64000" marT="24000" marB="24000">
                    <a:solidFill>
                      <a:srgbClr val="F5F7FA"/>
                    </a:solidFill>
                  </a:tcPr>
                </a:tc>
                <a:tc>
                  <a:txBody>
                    <a:bodyPr/>
                    <a:lstStyle/>
                    <a:p>
                      <a:pPr>
                        <a:lnSpc>
                          <a:spcPct val="100000"/>
                        </a:lnSpc>
                      </a:pPr>
                      <a:r>
                        <a:rPr sz="1150" b="0">
                          <a:solidFill>
                            <a:srgbClr val="1F1F1F"/>
                          </a:solidFill>
                          <a:latin typeface="游ゴシック Medium"/>
                        </a:rPr>
                        <a:t>実装済み。外部ライブラリ不要</a:t>
                      </a:r>
                    </a:p>
                  </a:txBody>
                  <a:tcPr anchor="ctr" marL="64000" marR="64000" marT="24000" marB="24000">
                    <a:solidFill>
                      <a:srgbClr val="F5F7FA"/>
                    </a:solidFill>
                  </a:tcPr>
                </a:tc>
              </a:tr>
              <a:tr h="506991">
                <a:tc>
                  <a:txBody>
                    <a:bodyPr/>
                    <a:lstStyle/>
                    <a:p>
                      <a:pPr>
                        <a:lnSpc>
                          <a:spcPct val="100000"/>
                        </a:lnSpc>
                      </a:pPr>
                      <a:r>
                        <a:rPr sz="1150" b="0">
                          <a:solidFill>
                            <a:srgbClr val="1F1F1F"/>
                          </a:solidFill>
                          <a:latin typeface="游ゴシック Medium"/>
                        </a:rPr>
                        <a:t>ICAD→STEP/DXF変換</a:t>
                      </a:r>
                    </a:p>
                  </a:txBody>
                  <a:tcPr anchor="ctr" marL="64000" marR="64000" marT="24000" marB="24000">
                    <a:solidFill>
                      <a:srgbClr val="FFFFFF"/>
                    </a:solidFill>
                  </a:tcPr>
                </a:tc>
                <a:tc>
                  <a:txBody>
                    <a:bodyPr/>
                    <a:lstStyle/>
                    <a:p>
                      <a:pPr>
                        <a:lnSpc>
                          <a:spcPct val="100000"/>
                        </a:lnSpc>
                      </a:pPr>
                      <a:r>
                        <a:rPr sz="1150" b="0">
                          <a:solidFill>
                            <a:srgbClr val="1F1F1F"/>
                          </a:solidFill>
                          <a:latin typeface="游ゴシック Medium"/>
                        </a:rPr>
                        <a:t>アルパイン</a:t>
                      </a:r>
                    </a:p>
                  </a:txBody>
                  <a:tcPr anchor="ctr" marL="64000" marR="64000" marT="24000" marB="24000">
                    <a:solidFill>
                      <a:srgbClr val="FFFFFF"/>
                    </a:solidFill>
                  </a:tcPr>
                </a:tc>
                <a:tc>
                  <a:txBody>
                    <a:bodyPr/>
                    <a:lstStyle/>
                    <a:p>
                      <a:pPr>
                        <a:lnSpc>
                          <a:spcPct val="100000"/>
                        </a:lnSpc>
                      </a:pPr>
                      <a:r>
                        <a:rPr sz="1150" b="0">
                          <a:solidFill>
                            <a:srgbClr val="1F1F1F"/>
                          </a:solidFill>
                          <a:latin typeface="游ゴシック Medium"/>
                        </a:rPr>
                        <a:t>実装済み。実機で変換・抽出まで確認済み</a:t>
                      </a:r>
                    </a:p>
                  </a:txBody>
                  <a:tcPr anchor="ctr" marL="64000" marR="64000" marT="24000" marB="24000">
                    <a:solidFill>
                      <a:srgbClr val="FFFFFF"/>
                    </a:solidFill>
                  </a:tcPr>
                </a:tc>
              </a:tr>
              <a:tr h="506991">
                <a:tc>
                  <a:txBody>
                    <a:bodyPr/>
                    <a:lstStyle/>
                    <a:p>
                      <a:pPr>
                        <a:lnSpc>
                          <a:spcPct val="100000"/>
                        </a:lnSpc>
                      </a:pPr>
                      <a:r>
                        <a:rPr sz="1150" b="0">
                          <a:solidFill>
                            <a:srgbClr val="1F1F1F"/>
                          </a:solidFill>
                          <a:latin typeface="游ゴシック Medium"/>
                        </a:rPr>
                        <a:t>正規化（属性への整形）</a:t>
                      </a:r>
                    </a:p>
                  </a:txBody>
                  <a:tcPr anchor="ctr" marL="64000" marR="64000" marT="24000" marB="24000">
                    <a:solidFill>
                      <a:srgbClr val="F5F7FA"/>
                    </a:solidFill>
                  </a:tcPr>
                </a:tc>
                <a:tc>
                  <a:txBody>
                    <a:bodyPr/>
                    <a:lstStyle/>
                    <a:p>
                      <a:pPr>
                        <a:lnSpc>
                          <a:spcPct val="100000"/>
                        </a:lnSpc>
                      </a:pPr>
                      <a:r>
                        <a:rPr sz="1150" b="0">
                          <a:solidFill>
                            <a:srgbClr val="1F1F1F"/>
                          </a:solidFill>
                          <a:latin typeface="游ゴシック Medium"/>
                        </a:rPr>
                        <a:t>アルパイン</a:t>
                      </a:r>
                    </a:p>
                  </a:txBody>
                  <a:tcPr anchor="ctr" marL="64000" marR="64000" marT="24000" marB="24000">
                    <a:solidFill>
                      <a:srgbClr val="F5F7FA"/>
                    </a:solidFill>
                  </a:tcPr>
                </a:tc>
                <a:tc>
                  <a:txBody>
                    <a:bodyPr/>
                    <a:lstStyle/>
                    <a:p>
                      <a:pPr>
                        <a:lnSpc>
                          <a:spcPct val="100000"/>
                        </a:lnSpc>
                      </a:pPr>
                      <a:r>
                        <a:rPr sz="1150" b="0">
                          <a:solidFill>
                            <a:srgbClr val="1F1F1F"/>
                          </a:solidFill>
                          <a:latin typeface="游ゴシック Medium"/>
                        </a:rPr>
                        <a:t>実装済み。2D:133項目 / 3D:97項目</a:t>
                      </a:r>
                    </a:p>
                  </a:txBody>
                  <a:tcPr anchor="ctr" marL="64000" marR="64000" marT="24000" marB="24000">
                    <a:solidFill>
                      <a:srgbClr val="F5F7FA"/>
                    </a:solidFill>
                  </a:tcPr>
                </a:tc>
              </a:tr>
              <a:tr h="506991">
                <a:tc>
                  <a:txBody>
                    <a:bodyPr/>
                    <a:lstStyle/>
                    <a:p>
                      <a:pPr>
                        <a:lnSpc>
                          <a:spcPct val="100000"/>
                        </a:lnSpc>
                      </a:pPr>
                      <a:r>
                        <a:rPr sz="1150" b="0">
                          <a:solidFill>
                            <a:srgbClr val="1F1F1F"/>
                          </a:solidFill>
                          <a:latin typeface="游ゴシック Medium"/>
                        </a:rPr>
                        <a:t>タグ生成・辞書管理</a:t>
                      </a:r>
                    </a:p>
                  </a:txBody>
                  <a:tcPr anchor="ctr" marL="64000" marR="64000" marT="24000" marB="24000">
                    <a:solidFill>
                      <a:srgbClr val="FFFFFF"/>
                    </a:solidFill>
                  </a:tcPr>
                </a:tc>
                <a:tc>
                  <a:txBody>
                    <a:bodyPr/>
                    <a:lstStyle/>
                    <a:p>
                      <a:pPr>
                        <a:lnSpc>
                          <a:spcPct val="100000"/>
                        </a:lnSpc>
                      </a:pPr>
                      <a:r>
                        <a:rPr sz="1150" b="0">
                          <a:solidFill>
                            <a:srgbClr val="1F1F1F"/>
                          </a:solidFill>
                          <a:latin typeface="游ゴシック Medium"/>
                        </a:rPr>
                        <a:t>アルパイン</a:t>
                      </a:r>
                    </a:p>
                  </a:txBody>
                  <a:tcPr anchor="ctr" marL="64000" marR="64000" marT="24000" marB="24000">
                    <a:solidFill>
                      <a:srgbClr val="FFFFFF"/>
                    </a:solidFill>
                  </a:tcPr>
                </a:tc>
                <a:tc>
                  <a:txBody>
                    <a:bodyPr/>
                    <a:lstStyle/>
                    <a:p>
                      <a:pPr>
                        <a:lnSpc>
                          <a:spcPct val="100000"/>
                        </a:lnSpc>
                      </a:pPr>
                      <a:r>
                        <a:rPr sz="1150" b="0">
                          <a:solidFill>
                            <a:srgbClr val="1F1F1F"/>
                          </a:solidFill>
                          <a:latin typeface="游ゴシック Medium"/>
                        </a:rPr>
                        <a:t>実装済み。辞書はDB化＋画面から編集可能</a:t>
                      </a:r>
                    </a:p>
                  </a:txBody>
                  <a:tcPr anchor="ctr" marL="64000" marR="64000" marT="24000" marB="24000">
                    <a:solidFill>
                      <a:srgbClr val="FFFFFF"/>
                    </a:solidFill>
                  </a:tcPr>
                </a:tc>
              </a:tr>
              <a:tr h="506991">
                <a:tc>
                  <a:txBody>
                    <a:bodyPr/>
                    <a:lstStyle/>
                    <a:p>
                      <a:pPr>
                        <a:lnSpc>
                          <a:spcPct val="100000"/>
                        </a:lnSpc>
                      </a:pPr>
                      <a:r>
                        <a:rPr sz="1150" b="0">
                          <a:solidFill>
                            <a:srgbClr val="1F1F1F"/>
                          </a:solidFill>
                          <a:latin typeface="游ゴシック Medium"/>
                        </a:rPr>
                        <a:t>ナレッジシステム本体への登録・更新・削除</a:t>
                      </a:r>
                    </a:p>
                  </a:txBody>
                  <a:tcPr anchor="ctr" marL="64000" marR="64000" marT="24000" marB="24000">
                    <a:solidFill>
                      <a:srgbClr val="F5F7FA"/>
                    </a:solidFill>
                  </a:tcPr>
                </a:tc>
                <a:tc>
                  <a:txBody>
                    <a:bodyPr/>
                    <a:lstStyle/>
                    <a:p>
                      <a:pPr>
                        <a:lnSpc>
                          <a:spcPct val="100000"/>
                        </a:lnSpc>
                      </a:pPr>
                      <a:r>
                        <a:rPr sz="1150" b="0">
                          <a:solidFill>
                            <a:srgbClr val="1F1F1F"/>
                          </a:solidFill>
                          <a:latin typeface="游ゴシック Medium"/>
                        </a:rPr>
                        <a:t>創屋</a:t>
                      </a:r>
                    </a:p>
                  </a:txBody>
                  <a:tcPr anchor="ctr" marL="64000" marR="64000" marT="24000" marB="24000">
                    <a:solidFill>
                      <a:srgbClr val="F5F7FA"/>
                    </a:solidFill>
                  </a:tcPr>
                </a:tc>
                <a:tc>
                  <a:txBody>
                    <a:bodyPr/>
                    <a:lstStyle/>
                    <a:p>
                      <a:pPr>
                        <a:lnSpc>
                          <a:spcPct val="100000"/>
                        </a:lnSpc>
                      </a:pPr>
                      <a:r>
                        <a:rPr sz="1150" b="0">
                          <a:solidFill>
                            <a:srgbClr val="1F1F1F"/>
                          </a:solidFill>
                          <a:latin typeface="游ゴシック Medium"/>
                        </a:rPr>
                        <a:t>創屋側で実装。当社は抽出・正規化・候補生成とAPI契約案を提供</a:t>
                      </a:r>
                    </a:p>
                  </a:txBody>
                  <a:tcPr anchor="ctr" marL="64000" marR="64000" marT="24000" marB="24000">
                    <a:solidFill>
                      <a:srgbClr val="F5F7FA"/>
                    </a:solidFill>
                  </a:tcPr>
                </a:tc>
              </a:tr>
              <a:tr h="506991">
                <a:tc>
                  <a:txBody>
                    <a:bodyPr/>
                    <a:lstStyle/>
                    <a:p>
                      <a:pPr>
                        <a:lnSpc>
                          <a:spcPct val="100000"/>
                        </a:lnSpc>
                      </a:pPr>
                      <a:r>
                        <a:rPr sz="1150" b="0">
                          <a:solidFill>
                            <a:srgbClr val="1F1F1F"/>
                          </a:solidFill>
                          <a:latin typeface="游ゴシック Medium"/>
                        </a:rPr>
                        <a:t>2D/3Dビューワーとの連携</a:t>
                      </a:r>
                    </a:p>
                  </a:txBody>
                  <a:tcPr anchor="ctr" marL="64000" marR="64000" marT="24000" marB="24000">
                    <a:solidFill>
                      <a:srgbClr val="FFFFFF"/>
                    </a:solidFill>
                  </a:tcPr>
                </a:tc>
                <a:tc>
                  <a:txBody>
                    <a:bodyPr/>
                    <a:lstStyle/>
                    <a:p>
                      <a:pPr>
                        <a:lnSpc>
                          <a:spcPct val="100000"/>
                        </a:lnSpc>
                      </a:pPr>
                      <a:r>
                        <a:rPr sz="1150" b="0">
                          <a:solidFill>
                            <a:srgbClr val="1F1F1F"/>
                          </a:solidFill>
                          <a:latin typeface="游ゴシック Medium"/>
                        </a:rPr>
                        <a:t>アルパイン→創屋</a:t>
                      </a:r>
                    </a:p>
                  </a:txBody>
                  <a:tcPr anchor="ctr" marL="64000" marR="64000" marT="24000" marB="24000">
                    <a:solidFill>
                      <a:srgbClr val="FFFFFF"/>
                    </a:solidFill>
                  </a:tcPr>
                </a:tc>
                <a:tc>
                  <a:txBody>
                    <a:bodyPr/>
                    <a:lstStyle/>
                    <a:p>
                      <a:pPr>
                        <a:lnSpc>
                          <a:spcPct val="100000"/>
                        </a:lnSpc>
                      </a:pPr>
                      <a:r>
                        <a:rPr sz="1150" b="0">
                          <a:solidFill>
                            <a:srgbClr val="1F1F1F"/>
                          </a:solidFill>
                          <a:latin typeface="游ゴシック Medium"/>
                        </a:rPr>
                        <a:t>当社側でプレビュー生成まで実装。組み込み範囲は要確認</a:t>
                      </a:r>
                    </a:p>
                  </a:txBody>
                  <a:tcPr anchor="ctr" marL="64000" marR="64000" marT="24000" marB="24000">
                    <a:solidFill>
                      <a:srgbClr val="FFFFFF"/>
                    </a:solidFill>
                  </a:tcPr>
                </a:tc>
              </a:tr>
              <a:tr h="506991">
                <a:tc>
                  <a:txBody>
                    <a:bodyPr/>
                    <a:lstStyle/>
                    <a:p>
                      <a:pPr>
                        <a:lnSpc>
                          <a:spcPct val="100000"/>
                        </a:lnSpc>
                      </a:pPr>
                      <a:r>
                        <a:rPr sz="1150" b="0">
                          <a:solidFill>
                            <a:srgbClr val="1F1F1F"/>
                          </a:solidFill>
                          <a:latin typeface="游ゴシック Medium"/>
                        </a:rPr>
                        <a:t>検索・RAG・画面</a:t>
                      </a:r>
                    </a:p>
                  </a:txBody>
                  <a:tcPr anchor="ctr" marL="64000" marR="64000" marT="24000" marB="24000">
                    <a:solidFill>
                      <a:srgbClr val="F5F7FA"/>
                    </a:solidFill>
                  </a:tcPr>
                </a:tc>
                <a:tc>
                  <a:txBody>
                    <a:bodyPr/>
                    <a:lstStyle/>
                    <a:p>
                      <a:pPr>
                        <a:lnSpc>
                          <a:spcPct val="100000"/>
                        </a:lnSpc>
                      </a:pPr>
                      <a:r>
                        <a:rPr sz="1150" b="0">
                          <a:solidFill>
                            <a:srgbClr val="1F1F1F"/>
                          </a:solidFill>
                          <a:latin typeface="游ゴシック Medium"/>
                        </a:rPr>
                        <a:t>創屋</a:t>
                      </a:r>
                    </a:p>
                  </a:txBody>
                  <a:tcPr anchor="ctr" marL="64000" marR="64000" marT="24000" marB="24000">
                    <a:solidFill>
                      <a:srgbClr val="F5F7FA"/>
                    </a:solidFill>
                  </a:tcPr>
                </a:tc>
                <a:tc>
                  <a:txBody>
                    <a:bodyPr/>
                    <a:lstStyle/>
                    <a:p>
                      <a:pPr>
                        <a:lnSpc>
                          <a:spcPct val="100000"/>
                        </a:lnSpc>
                      </a:pPr>
                      <a:r>
                        <a:rPr sz="1150" b="0">
                          <a:solidFill>
                            <a:srgbClr val="1F1F1F"/>
                          </a:solidFill>
                          <a:latin typeface="游ゴシック Medium"/>
                        </a:rPr>
                        <a:t>本体側</a:t>
                      </a:r>
                    </a:p>
                  </a:txBody>
                  <a:tcPr anchor="ctr" marL="64000" marR="64000" marT="24000" marB="24000">
                    <a:solidFill>
                      <a:srgbClr val="F5F7FA"/>
                    </a:solidFill>
                  </a:tcPr>
                </a:tc>
              </a:tr>
            </a:tbl>
          </a:graphicData>
        </a:graphic>
      </p:graphicFrame>
      <p:sp>
        <p:nvSpPr>
          <p:cNvPr id="5" name="TextBox 4"/>
          <p:cNvSpPr txBox="1"/>
          <p:nvPr/>
        </p:nvSpPr>
        <p:spPr>
          <a:xfrm>
            <a:off x="457200" y="5987147"/>
            <a:ext cx="11352213" cy="400000"/>
          </a:xfrm>
          <a:prstGeom prst="rect">
            <a:avLst/>
          </a:prstGeom>
          <a:noFill/>
        </p:spPr>
        <p:txBody>
          <a:bodyPr wrap="square">
            <a:spAutoFit/>
          </a:bodyPr>
          <a:lstStyle/>
          <a:p>
            <a:r>
              <a:rPr sz="1000">
                <a:solidFill>
                  <a:srgbClr val="5A5A5A"/>
                </a:solidFill>
                <a:latin typeface="游ゴシック Medium"/>
              </a:rPr>
              <a:t>創屋から「完成後はタグ・属性抽出の部分のソースだけ頂ければ、その部分だけ切り出しできると考えている」との要望を受けています。現状の実装はその形で切り出せる構成になっています。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1F1F1F"/>
                </a:solidFill>
                <a:latin typeface="游ゴシック Medium"/>
              </a:rPr>
              <a:t>ソース切り出し提供について</a:t>
            </a:r>
          </a:p>
        </p:txBody>
      </p:sp>
      <p:sp>
        <p:nvSpPr>
          <p:cNvPr id="3" name="Text Placeholder 2"/>
          <p:cNvSpPr>
            <a:spLocks noGrp="1"/>
          </p:cNvSpPr>
          <p:nvPr>
            <p:ph type="body" idx="17" sz="quarter"/>
          </p:nvPr>
        </p:nvSpPr>
        <p:spPr/>
        <p:txBody>
          <a:bodyPr/>
          <a:lstStyle/>
          <a:p>
            <a:r>
              <a:rPr sz="1100" b="1">
                <a:solidFill>
                  <a:srgbClr val="005BAC"/>
                </a:solidFill>
                <a:latin typeface="游ゴシック Medium"/>
              </a:rPr>
              <a:t>創屋の要望「抽出部分のソースだけ欲しい」への回答</a:t>
            </a:r>
          </a:p>
        </p:txBody>
      </p:sp>
      <p:sp>
        <p:nvSpPr>
          <p:cNvPr id="4" name="TextBox 3"/>
          <p:cNvSpPr txBox="1"/>
          <p:nvPr/>
        </p:nvSpPr>
        <p:spPr>
          <a:xfrm>
            <a:off x="457200" y="1364228"/>
            <a:ext cx="5576106" cy="4461520"/>
          </a:xfrm>
          <a:prstGeom prst="rect">
            <a:avLst/>
          </a:prstGeom>
          <a:solidFill>
            <a:srgbClr val="FFFFFF"/>
          </a:solidFill>
          <a:ln w="12700">
            <a:solidFill>
              <a:srgbClr val="C9D3DD"/>
            </a:solidFill>
          </a:ln>
        </p:spPr>
        <p:txBody>
          <a:bodyPr wrap="square" lIns="140000" rIns="120000" tIns="110000">
            <a:spAutoFit/>
          </a:bodyPr>
          <a:lstStyle/>
          <a:p>
            <a:pPr>
              <a:spcAft>
                <a:spcPts val="600"/>
              </a:spcAft>
            </a:pPr>
            <a:r>
              <a:rPr sz="1400" b="1">
                <a:solidFill>
                  <a:srgbClr val="005BAC"/>
                </a:solidFill>
                <a:latin typeface="游ゴシック Medium"/>
              </a:rPr>
              <a:t>切り出せる構成になっています</a:t>
            </a:r>
          </a:p>
          <a:p>
            <a:pPr>
              <a:spcAft>
                <a:spcPts val="400"/>
              </a:spcAft>
            </a:pPr>
            <a:r>
              <a:rPr sz="1200">
                <a:solidFill>
                  <a:srgbClr val="1F1F1F"/>
                </a:solidFill>
                <a:latin typeface="游ゴシック Medium"/>
              </a:rPr>
              <a:t>C#側：独立ソリューション（約4,700行）</a:t>
            </a:r>
          </a:p>
          <a:p>
            <a:pPr>
              <a:spcAft>
                <a:spcPts val="400"/>
              </a:spcAft>
            </a:pPr>
            <a:r>
              <a:rPr sz="1200">
                <a:solidFill>
                  <a:srgbClr val="1F1F1F"/>
                </a:solidFill>
                <a:latin typeface="游ゴシック Medium"/>
              </a:rPr>
              <a:t>　ナレッジシステム本体への依存なし</a:t>
            </a:r>
          </a:p>
          <a:p>
            <a:pPr>
              <a:spcAft>
                <a:spcPts val="400"/>
              </a:spcAft>
            </a:pPr>
            <a:r>
              <a:rPr sz="1200">
                <a:solidFill>
                  <a:srgbClr val="1F1F1F"/>
                </a:solidFill>
                <a:latin typeface="游ゴシック Medium"/>
              </a:rPr>
              <a:t>　1図面 = 1回のプロセス呼び出し、入出力はJSON</a:t>
            </a:r>
          </a:p>
          <a:p>
            <a:pPr>
              <a:spcAft>
                <a:spcPts val="400"/>
              </a:spcAft>
            </a:pPr>
            <a:r>
              <a:rPr sz="1200">
                <a:solidFill>
                  <a:srgbClr val="1F1F1F"/>
                </a:solidFill>
                <a:latin typeface="游ゴシック Medium"/>
              </a:rPr>
              <a:t/>
            </a:r>
          </a:p>
          <a:p>
            <a:pPr>
              <a:spcAft>
                <a:spcPts val="400"/>
              </a:spcAft>
            </a:pPr>
            <a:r>
              <a:rPr sz="1200">
                <a:solidFill>
                  <a:srgbClr val="1F1F1F"/>
                </a:solidFill>
                <a:latin typeface="游ゴシック Medium"/>
              </a:rPr>
              <a:t>Python側：6ファイル（約2,800行）</a:t>
            </a:r>
          </a:p>
          <a:p>
            <a:pPr>
              <a:spcAft>
                <a:spcPts val="400"/>
              </a:spcAft>
            </a:pPr>
            <a:r>
              <a:rPr sz="1200">
                <a:solidFill>
                  <a:srgbClr val="1F1F1F"/>
                </a:solidFill>
                <a:latin typeface="游ゴシック Medium"/>
              </a:rPr>
              <a:t>　Djangoへの結合は実質2点だけ</a:t>
            </a:r>
          </a:p>
          <a:p>
            <a:pPr>
              <a:spcAft>
                <a:spcPts val="400"/>
              </a:spcAft>
            </a:pPr>
            <a:r>
              <a:rPr sz="1200">
                <a:solidFill>
                  <a:srgbClr val="1F1F1F"/>
                </a:solidFill>
                <a:latin typeface="游ゴシック Medium"/>
              </a:rPr>
              <a:t>　（バージョン定数3個 + 辞書テーブル1個）</a:t>
            </a:r>
          </a:p>
          <a:p>
            <a:pPr>
              <a:spcAft>
                <a:spcPts val="400"/>
              </a:spcAft>
            </a:pPr>
            <a:r>
              <a:rPr sz="1200">
                <a:solidFill>
                  <a:srgbClr val="1F1F1F"/>
                </a:solidFill>
                <a:latin typeface="游ゴシック Medium"/>
              </a:rPr>
              <a:t>　→ 純Pythonパッケージとして切り出せる</a:t>
            </a:r>
          </a:p>
        </p:txBody>
      </p:sp>
      <p:sp>
        <p:nvSpPr>
          <p:cNvPr id="5" name="TextBox 4"/>
          <p:cNvSpPr txBox="1"/>
          <p:nvPr/>
        </p:nvSpPr>
        <p:spPr>
          <a:xfrm>
            <a:off x="6233306" y="1364228"/>
            <a:ext cx="5576106" cy="4461520"/>
          </a:xfrm>
          <a:prstGeom prst="rect">
            <a:avLst/>
          </a:prstGeom>
          <a:solidFill>
            <a:srgbClr val="FFFFFF"/>
          </a:solidFill>
          <a:ln w="12700">
            <a:solidFill>
              <a:srgbClr val="C9D3DD"/>
            </a:solidFill>
          </a:ln>
        </p:spPr>
        <p:txBody>
          <a:bodyPr wrap="square" lIns="140000" rIns="120000" tIns="110000">
            <a:spAutoFit/>
          </a:bodyPr>
          <a:lstStyle/>
          <a:p>
            <a:pPr>
              <a:spcAft>
                <a:spcPts val="600"/>
              </a:spcAft>
            </a:pPr>
            <a:r>
              <a:rPr sz="1400" b="1">
                <a:solidFill>
                  <a:srgbClr val="005BAC"/>
                </a:solidFill>
                <a:latin typeface="游ゴシック Medium"/>
              </a:rPr>
              <a:t>経営上の論点</a:t>
            </a:r>
          </a:p>
          <a:p>
            <a:pPr>
              <a:spcAft>
                <a:spcPts val="400"/>
              </a:spcAft>
            </a:pPr>
            <a:r>
              <a:rPr sz="1200">
                <a:solidFill>
                  <a:srgbClr val="1F1F1F"/>
                </a:solidFill>
                <a:latin typeface="游ゴシック Medium"/>
              </a:rPr>
              <a:t>抽出ロジックは当社の技術資産です。</a:t>
            </a:r>
          </a:p>
          <a:p>
            <a:pPr>
              <a:spcAft>
                <a:spcPts val="400"/>
              </a:spcAft>
            </a:pPr>
            <a:r>
              <a:rPr sz="1200">
                <a:solidFill>
                  <a:srgbClr val="1F1F1F"/>
                </a:solidFill>
                <a:latin typeface="游ゴシック Medium"/>
              </a:rPr>
              <a:t/>
            </a:r>
          </a:p>
          <a:p>
            <a:pPr>
              <a:spcAft>
                <a:spcPts val="400"/>
              </a:spcAft>
            </a:pPr>
            <a:r>
              <a:rPr sz="1200">
                <a:solidFill>
                  <a:srgbClr val="1F1F1F"/>
                </a:solidFill>
                <a:latin typeface="游ゴシック Medium"/>
              </a:rPr>
              <a:t>「どの範囲を、どういう条件で渡すか」は</a:t>
            </a:r>
          </a:p>
          <a:p>
            <a:pPr>
              <a:spcAft>
                <a:spcPts val="400"/>
              </a:spcAft>
            </a:pPr>
            <a:r>
              <a:rPr sz="1200">
                <a:solidFill>
                  <a:srgbClr val="1F1F1F"/>
                </a:solidFill>
                <a:latin typeface="游ゴシック Medium"/>
              </a:rPr>
              <a:t>契約・知財の観点でも決めておく必要があります。</a:t>
            </a:r>
          </a:p>
          <a:p>
            <a:pPr>
              <a:spcAft>
                <a:spcPts val="400"/>
              </a:spcAft>
            </a:pPr>
            <a:r>
              <a:rPr sz="1200">
                <a:solidFill>
                  <a:srgbClr val="1F1F1F"/>
                </a:solidFill>
                <a:latin typeface="游ゴシック Medium"/>
              </a:rPr>
              <a:t/>
            </a:r>
          </a:p>
          <a:p>
            <a:pPr>
              <a:spcAft>
                <a:spcPts val="400"/>
              </a:spcAft>
            </a:pPr>
            <a:r>
              <a:rPr sz="1200">
                <a:solidFill>
                  <a:srgbClr val="1F1F1F"/>
                </a:solidFill>
                <a:latin typeface="游ゴシック Medium"/>
              </a:rPr>
              <a:t>・ソース提供の対価をどう見るか</a:t>
            </a:r>
          </a:p>
          <a:p>
            <a:pPr>
              <a:spcAft>
                <a:spcPts val="400"/>
              </a:spcAft>
            </a:pPr>
            <a:r>
              <a:rPr sz="1200">
                <a:solidFill>
                  <a:srgbClr val="1F1F1F"/>
                </a:solidFill>
                <a:latin typeface="游ゴシック Medium"/>
              </a:rPr>
              <a:t>・第三者への再利用制限を付けるか</a:t>
            </a:r>
          </a:p>
          <a:p>
            <a:pPr>
              <a:spcAft>
                <a:spcPts val="400"/>
              </a:spcAft>
            </a:pPr>
            <a:r>
              <a:rPr sz="1200">
                <a:solidFill>
                  <a:srgbClr val="1F1F1F"/>
                </a:solidFill>
                <a:latin typeface="游ゴシック Medium"/>
              </a:rPr>
              <a:t>・外販時の当社の取り分をどう設計するか</a:t>
            </a:r>
          </a:p>
          <a:p>
            <a:pPr>
              <a:spcAft>
                <a:spcPts val="400"/>
              </a:spcAft>
            </a:pPr>
            <a:r>
              <a:rPr sz="1200">
                <a:solidFill>
                  <a:srgbClr val="1F1F1F"/>
                </a:solidFill>
                <a:latin typeface="游ゴシック Medium"/>
              </a:rPr>
              <a:t/>
            </a:r>
          </a:p>
          <a:p>
            <a:pPr>
              <a:spcAft>
                <a:spcPts val="400"/>
              </a:spcAft>
            </a:pPr>
            <a:r>
              <a:rPr sz="1200">
                <a:solidFill>
                  <a:srgbClr val="1F1F1F"/>
                </a:solidFill>
                <a:latin typeface="游ゴシック Medium"/>
              </a:rPr>
              <a:t>→ 技術的には渡せます。条件のご判断をお願いします。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1F1F1F"/>
                </a:solidFill>
                <a:latin typeface="游ゴシック Medium"/>
              </a:rPr>
              <a:t>今後の進め方とご判断事項</a:t>
            </a:r>
          </a:p>
        </p:txBody>
      </p:sp>
      <p:sp>
        <p:nvSpPr>
          <p:cNvPr id="3" name="Text Placeholder 2"/>
          <p:cNvSpPr>
            <a:spLocks noGrp="1"/>
          </p:cNvSpPr>
          <p:nvPr>
            <p:ph type="body" idx="17" sz="quarter"/>
          </p:nvPr>
        </p:nvSpPr>
        <p:spPr/>
        <p:txBody>
          <a:bodyPr/>
          <a:lstStyle/>
          <a:p>
            <a:r>
              <a:rPr sz="1100" b="1">
                <a:solidFill>
                  <a:srgbClr val="005BAC"/>
                </a:solidFill>
                <a:latin typeface="游ゴシック Medium"/>
              </a:rPr>
              <a:t>直近で決めていただきたいことを整理しました</a:t>
            </a:r>
          </a:p>
        </p:txBody>
      </p:sp>
      <p:graphicFrame>
        <p:nvGraphicFramePr>
          <p:cNvPr id="4" name="Table 3"/>
          <p:cNvGraphicFramePr>
            <a:graphicFrameLocks noGrp="1"/>
          </p:cNvGraphicFramePr>
          <p:nvPr/>
        </p:nvGraphicFramePr>
        <p:xfrm>
          <a:off x="457200" y="1364228"/>
          <a:ext cx="11352211" cy="3200000"/>
        </p:xfrm>
        <a:graphic>
          <a:graphicData uri="http://schemas.openxmlformats.org/drawingml/2006/table">
            <a:tbl>
              <a:tblPr firstRow="1" bandRow="1">
                <a:tableStyleId>{5C22544A-7EE6-4342-B048-85BDC9FD1C3A}</a:tableStyleId>
              </a:tblPr>
              <a:tblGrid>
                <a:gridCol w="502310"/>
                <a:gridCol w="3013861"/>
                <a:gridCol w="5023103"/>
                <a:gridCol w="2812937"/>
              </a:tblGrid>
              <a:tr h="457142">
                <a:tc>
                  <a:txBody>
                    <a:bodyPr/>
                    <a:lstStyle/>
                    <a:p>
                      <a:r>
                        <a:rPr sz="1100" b="1">
                          <a:solidFill>
                            <a:srgbClr val="FFFFFF"/>
                          </a:solidFill>
                          <a:latin typeface="游ゴシック Medium"/>
                        </a:rPr>
                        <a:t>#</a:t>
                      </a:r>
                    </a:p>
                  </a:txBody>
                  <a:tcPr anchor="ctr" marL="64000" marR="64000">
                    <a:solidFill>
                      <a:srgbClr val="005BAC"/>
                    </a:solidFill>
                  </a:tcPr>
                </a:tc>
                <a:tc>
                  <a:txBody>
                    <a:bodyPr/>
                    <a:lstStyle/>
                    <a:p>
                      <a:r>
                        <a:rPr sz="1100" b="1">
                          <a:solidFill>
                            <a:srgbClr val="FFFFFF"/>
                          </a:solidFill>
                          <a:latin typeface="游ゴシック Medium"/>
                        </a:rPr>
                        <a:t>事項</a:t>
                      </a:r>
                    </a:p>
                  </a:txBody>
                  <a:tcPr anchor="ctr" marL="64000" marR="64000">
                    <a:solidFill>
                      <a:srgbClr val="005BAC"/>
                    </a:solidFill>
                  </a:tcPr>
                </a:tc>
                <a:tc>
                  <a:txBody>
                    <a:bodyPr/>
                    <a:lstStyle/>
                    <a:p>
                      <a:r>
                        <a:rPr sz="1100" b="1">
                          <a:solidFill>
                            <a:srgbClr val="FFFFFF"/>
                          </a:solidFill>
                          <a:latin typeface="游ゴシック Medium"/>
                        </a:rPr>
                        <a:t>当社の考え</a:t>
                      </a:r>
                    </a:p>
                  </a:txBody>
                  <a:tcPr anchor="ctr" marL="64000" marR="64000">
                    <a:solidFill>
                      <a:srgbClr val="005BAC"/>
                    </a:solidFill>
                  </a:tcPr>
                </a:tc>
                <a:tc>
                  <a:txBody>
                    <a:bodyPr/>
                    <a:lstStyle/>
                    <a:p>
                      <a:r>
                        <a:rPr sz="1100" b="1">
                          <a:solidFill>
                            <a:srgbClr val="FFFFFF"/>
                          </a:solidFill>
                          <a:latin typeface="游ゴシック Medium"/>
                        </a:rPr>
                        <a:t>ご判断</a:t>
                      </a:r>
                    </a:p>
                  </a:txBody>
                  <a:tcPr anchor="ctr" marL="64000" marR="64000">
                    <a:solidFill>
                      <a:srgbClr val="005BAC"/>
                    </a:solidFill>
                  </a:tcPr>
                </a:tc>
              </a:tr>
              <a:tr h="457142">
                <a:tc>
                  <a:txBody>
                    <a:bodyPr/>
                    <a:lstStyle/>
                    <a:p>
                      <a:pPr>
                        <a:lnSpc>
                          <a:spcPct val="100000"/>
                        </a:lnSpc>
                      </a:pPr>
                      <a:r>
                        <a:rPr sz="1100" b="0">
                          <a:solidFill>
                            <a:srgbClr val="1F1F1F"/>
                          </a:solidFill>
                          <a:latin typeface="游ゴシック Medium"/>
                        </a:rPr>
                        <a:t>1</a:t>
                      </a:r>
                    </a:p>
                  </a:txBody>
                  <a:tcPr anchor="ctr" marL="64000" marR="64000" marT="24000" marB="24000">
                    <a:solidFill>
                      <a:srgbClr val="FFFFFF"/>
                    </a:solidFill>
                  </a:tcPr>
                </a:tc>
                <a:tc>
                  <a:txBody>
                    <a:bodyPr/>
                    <a:lstStyle/>
                    <a:p>
                      <a:pPr>
                        <a:lnSpc>
                          <a:spcPct val="100000"/>
                        </a:lnSpc>
                      </a:pPr>
                      <a:r>
                        <a:rPr sz="1100" b="0">
                          <a:solidFill>
                            <a:srgbClr val="1F1F1F"/>
                          </a:solidFill>
                          <a:latin typeface="游ゴシック Medium"/>
                        </a:rPr>
                        <a:t>ICADライセンスの構成方針</a:t>
                      </a:r>
                    </a:p>
                  </a:txBody>
                  <a:tcPr anchor="ctr" marL="64000" marR="64000" marT="24000" marB="24000">
                    <a:solidFill>
                      <a:srgbClr val="FFFFFF"/>
                    </a:solidFill>
                  </a:tcPr>
                </a:tc>
                <a:tc>
                  <a:txBody>
                    <a:bodyPr/>
                    <a:lstStyle/>
                    <a:p>
                      <a:pPr>
                        <a:lnSpc>
                          <a:spcPct val="100000"/>
                        </a:lnSpc>
                      </a:pPr>
                      <a:r>
                        <a:rPr sz="1100" b="0">
                          <a:solidFill>
                            <a:srgbClr val="1F1F1F"/>
                          </a:solidFill>
                          <a:latin typeface="游ゴシック Medium"/>
                        </a:rPr>
                        <a:t>「ICADあり構成」と「ICADなし構成」の両方を成立させる</a:t>
                      </a:r>
                    </a:p>
                  </a:txBody>
                  <a:tcPr anchor="ctr" marL="64000" marR="64000" marT="24000" marB="24000">
                    <a:solidFill>
                      <a:srgbClr val="FFFFFF"/>
                    </a:solidFill>
                  </a:tcPr>
                </a:tc>
                <a:tc>
                  <a:txBody>
                    <a:bodyPr/>
                    <a:lstStyle/>
                    <a:p>
                      <a:pPr>
                        <a:lnSpc>
                          <a:spcPct val="100000"/>
                        </a:lnSpc>
                      </a:pPr>
                      <a:r>
                        <a:rPr sz="1100" b="0">
                          <a:solidFill>
                            <a:srgbClr val="1F1F1F"/>
                          </a:solidFill>
                          <a:latin typeface="游ゴシック Medium"/>
                        </a:rPr>
                        <a:t>この方針で進めてよいか</a:t>
                      </a:r>
                    </a:p>
                  </a:txBody>
                  <a:tcPr anchor="ctr" marL="64000" marR="64000" marT="24000" marB="24000">
                    <a:solidFill>
                      <a:srgbClr val="FFFFFF"/>
                    </a:solidFill>
                  </a:tcPr>
                </a:tc>
              </a:tr>
              <a:tr h="457142">
                <a:tc>
                  <a:txBody>
                    <a:bodyPr/>
                    <a:lstStyle/>
                    <a:p>
                      <a:pPr>
                        <a:lnSpc>
                          <a:spcPct val="100000"/>
                        </a:lnSpc>
                      </a:pPr>
                      <a:r>
                        <a:rPr sz="1100" b="0">
                          <a:solidFill>
                            <a:srgbClr val="1F1F1F"/>
                          </a:solidFill>
                          <a:latin typeface="游ゴシック Medium"/>
                        </a:rPr>
                        <a:t>2</a:t>
                      </a:r>
                    </a:p>
                  </a:txBody>
                  <a:tcPr anchor="ctr" marL="64000" marR="64000" marT="24000" marB="24000">
                    <a:solidFill>
                      <a:srgbClr val="F5F7FA"/>
                    </a:solidFill>
                  </a:tcPr>
                </a:tc>
                <a:tc>
                  <a:txBody>
                    <a:bodyPr/>
                    <a:lstStyle/>
                    <a:p>
                      <a:pPr>
                        <a:lnSpc>
                          <a:spcPct val="100000"/>
                        </a:lnSpc>
                      </a:pPr>
                      <a:r>
                        <a:rPr sz="1100" b="0">
                          <a:solidFill>
                            <a:srgbClr val="1F1F1F"/>
                          </a:solidFill>
                          <a:latin typeface="游ゴシック Medium"/>
                        </a:rPr>
                        <a:t>富士通／販売元への確認</a:t>
                      </a:r>
                    </a:p>
                  </a:txBody>
                  <a:tcPr anchor="ctr" marL="64000" marR="64000" marT="24000" marB="24000">
                    <a:solidFill>
                      <a:srgbClr val="F5F7FA"/>
                    </a:solidFill>
                  </a:tcPr>
                </a:tc>
                <a:tc>
                  <a:txBody>
                    <a:bodyPr/>
                    <a:lstStyle/>
                    <a:p>
                      <a:pPr>
                        <a:lnSpc>
                          <a:spcPct val="100000"/>
                        </a:lnSpc>
                      </a:pPr>
                      <a:r>
                        <a:rPr sz="1100" b="0">
                          <a:solidFill>
                            <a:srgbClr val="1F1F1F"/>
                          </a:solidFill>
                          <a:latin typeface="游ゴシック Medium"/>
                        </a:rPr>
                        <a:t>ライセンス条項（無人バッチ・兼用・変換受託の可否）を正式に確認したい</a:t>
                      </a:r>
                    </a:p>
                  </a:txBody>
                  <a:tcPr anchor="ctr" marL="64000" marR="64000" marT="24000" marB="24000">
                    <a:solidFill>
                      <a:srgbClr val="F5F7FA"/>
                    </a:solidFill>
                  </a:tcPr>
                </a:tc>
                <a:tc>
                  <a:txBody>
                    <a:bodyPr/>
                    <a:lstStyle/>
                    <a:p>
                      <a:pPr>
                        <a:lnSpc>
                          <a:spcPct val="100000"/>
                        </a:lnSpc>
                      </a:pPr>
                      <a:r>
                        <a:rPr sz="1100" b="0">
                          <a:solidFill>
                            <a:srgbClr val="1F1F1F"/>
                          </a:solidFill>
                          <a:latin typeface="游ゴシック Medium"/>
                        </a:rPr>
                        <a:t>当社名で問い合わせてよいか</a:t>
                      </a:r>
                    </a:p>
                  </a:txBody>
                  <a:tcPr anchor="ctr" marL="64000" marR="64000" marT="24000" marB="24000">
                    <a:solidFill>
                      <a:srgbClr val="F5F7FA"/>
                    </a:solidFill>
                  </a:tcPr>
                </a:tc>
              </a:tr>
              <a:tr h="457142">
                <a:tc>
                  <a:txBody>
                    <a:bodyPr/>
                    <a:lstStyle/>
                    <a:p>
                      <a:pPr>
                        <a:lnSpc>
                          <a:spcPct val="100000"/>
                        </a:lnSpc>
                      </a:pPr>
                      <a:r>
                        <a:rPr sz="1100" b="0">
                          <a:solidFill>
                            <a:srgbClr val="1F1F1F"/>
                          </a:solidFill>
                          <a:latin typeface="游ゴシック Medium"/>
                        </a:rPr>
                        <a:t>3</a:t>
                      </a:r>
                    </a:p>
                  </a:txBody>
                  <a:tcPr anchor="ctr" marL="64000" marR="64000" marT="24000" marB="24000">
                    <a:solidFill>
                      <a:srgbClr val="FFFFFF"/>
                    </a:solidFill>
                  </a:tcPr>
                </a:tc>
                <a:tc>
                  <a:txBody>
                    <a:bodyPr/>
                    <a:lstStyle/>
                    <a:p>
                      <a:pPr>
                        <a:lnSpc>
                          <a:spcPct val="100000"/>
                        </a:lnSpc>
                      </a:pPr>
                      <a:r>
                        <a:rPr sz="1100" b="0">
                          <a:solidFill>
                            <a:srgbClr val="1F1F1F"/>
                          </a:solidFill>
                          <a:latin typeface="游ゴシック Medium"/>
                        </a:rPr>
                        <a:t>抽出ソースの創屋への提供条件</a:t>
                      </a:r>
                    </a:p>
                  </a:txBody>
                  <a:tcPr anchor="ctr" marL="64000" marR="64000" marT="24000" marB="24000">
                    <a:solidFill>
                      <a:srgbClr val="FFFFFF"/>
                    </a:solidFill>
                  </a:tcPr>
                </a:tc>
                <a:tc>
                  <a:txBody>
                    <a:bodyPr/>
                    <a:lstStyle/>
                    <a:p>
                      <a:pPr>
                        <a:lnSpc>
                          <a:spcPct val="100000"/>
                        </a:lnSpc>
                      </a:pPr>
                      <a:r>
                        <a:rPr sz="1100" b="0">
                          <a:solidFill>
                            <a:srgbClr val="1F1F1F"/>
                          </a:solidFill>
                          <a:latin typeface="游ゴシック Medium"/>
                        </a:rPr>
                        <a:t>技術的には切り出して渡せる。契約・知財条件は未定</a:t>
                      </a:r>
                    </a:p>
                  </a:txBody>
                  <a:tcPr anchor="ctr" marL="64000" marR="64000" marT="24000" marB="24000">
                    <a:solidFill>
                      <a:srgbClr val="FFFFFF"/>
                    </a:solidFill>
                  </a:tcPr>
                </a:tc>
                <a:tc>
                  <a:txBody>
                    <a:bodyPr/>
                    <a:lstStyle/>
                    <a:p>
                      <a:pPr>
                        <a:lnSpc>
                          <a:spcPct val="100000"/>
                        </a:lnSpc>
                      </a:pPr>
                      <a:r>
                        <a:rPr sz="1100" b="0">
                          <a:solidFill>
                            <a:srgbClr val="1F1F1F"/>
                          </a:solidFill>
                          <a:latin typeface="游ゴシック Medium"/>
                        </a:rPr>
                        <a:t>提供範囲と条件のご判断</a:t>
                      </a:r>
                    </a:p>
                  </a:txBody>
                  <a:tcPr anchor="ctr" marL="64000" marR="64000" marT="24000" marB="24000">
                    <a:solidFill>
                      <a:srgbClr val="FFFFFF"/>
                    </a:solidFill>
                  </a:tcPr>
                </a:tc>
              </a:tr>
              <a:tr h="457142">
                <a:tc>
                  <a:txBody>
                    <a:bodyPr/>
                    <a:lstStyle/>
                    <a:p>
                      <a:pPr>
                        <a:lnSpc>
                          <a:spcPct val="100000"/>
                        </a:lnSpc>
                      </a:pPr>
                      <a:r>
                        <a:rPr sz="1100" b="0">
                          <a:solidFill>
                            <a:srgbClr val="1F1F1F"/>
                          </a:solidFill>
                          <a:latin typeface="游ゴシック Medium"/>
                        </a:rPr>
                        <a:t>4</a:t>
                      </a:r>
                    </a:p>
                  </a:txBody>
                  <a:tcPr anchor="ctr" marL="64000" marR="64000" marT="24000" marB="24000">
                    <a:solidFill>
                      <a:srgbClr val="F5F7FA"/>
                    </a:solidFill>
                  </a:tcPr>
                </a:tc>
                <a:tc>
                  <a:txBody>
                    <a:bodyPr/>
                    <a:lstStyle/>
                    <a:p>
                      <a:pPr>
                        <a:lnSpc>
                          <a:spcPct val="100000"/>
                        </a:lnSpc>
                      </a:pPr>
                      <a:r>
                        <a:rPr sz="1100" b="0">
                          <a:solidFill>
                            <a:srgbClr val="1F1F1F"/>
                          </a:solidFill>
                          <a:latin typeface="游ゴシック Medium"/>
                        </a:rPr>
                        <a:t>社内での試験運用</a:t>
                      </a:r>
                    </a:p>
                  </a:txBody>
                  <a:tcPr anchor="ctr" marL="64000" marR="64000" marT="24000" marB="24000">
                    <a:solidFill>
                      <a:srgbClr val="F5F7FA"/>
                    </a:solidFill>
                  </a:tcPr>
                </a:tc>
                <a:tc>
                  <a:txBody>
                    <a:bodyPr/>
                    <a:lstStyle/>
                    <a:p>
                      <a:pPr>
                        <a:lnSpc>
                          <a:spcPct val="100000"/>
                        </a:lnSpc>
                      </a:pPr>
                      <a:r>
                        <a:rPr sz="1100" b="0">
                          <a:solidFill>
                            <a:srgbClr val="1F1F1F"/>
                          </a:solidFill>
                          <a:latin typeface="游ゴシック Medium"/>
                        </a:rPr>
                        <a:t>定量効果を測るため、自社の実案件で試験運用したい</a:t>
                      </a:r>
                    </a:p>
                  </a:txBody>
                  <a:tcPr anchor="ctr" marL="64000" marR="64000" marT="24000" marB="24000">
                    <a:solidFill>
                      <a:srgbClr val="F5F7FA"/>
                    </a:solidFill>
                  </a:tcPr>
                </a:tc>
                <a:tc>
                  <a:txBody>
                    <a:bodyPr/>
                    <a:lstStyle/>
                    <a:p>
                      <a:pPr>
                        <a:lnSpc>
                          <a:spcPct val="100000"/>
                        </a:lnSpc>
                      </a:pPr>
                      <a:r>
                        <a:rPr sz="1100" b="0">
                          <a:solidFill>
                            <a:srgbClr val="1F1F1F"/>
                          </a:solidFill>
                          <a:latin typeface="游ゴシック Medium"/>
                        </a:rPr>
                        <a:t>対象部署・期間のご判断</a:t>
                      </a:r>
                    </a:p>
                  </a:txBody>
                  <a:tcPr anchor="ctr" marL="64000" marR="64000" marT="24000" marB="24000">
                    <a:solidFill>
                      <a:srgbClr val="F5F7FA"/>
                    </a:solidFill>
                  </a:tcPr>
                </a:tc>
              </a:tr>
              <a:tr h="457142">
                <a:tc>
                  <a:txBody>
                    <a:bodyPr/>
                    <a:lstStyle/>
                    <a:p>
                      <a:pPr>
                        <a:lnSpc>
                          <a:spcPct val="100000"/>
                        </a:lnSpc>
                      </a:pPr>
                      <a:r>
                        <a:rPr sz="1100" b="0">
                          <a:solidFill>
                            <a:srgbClr val="1F1F1F"/>
                          </a:solidFill>
                          <a:latin typeface="游ゴシック Medium"/>
                        </a:rPr>
                        <a:t>5</a:t>
                      </a:r>
                    </a:p>
                  </a:txBody>
                  <a:tcPr anchor="ctr" marL="64000" marR="64000" marT="24000" marB="24000">
                    <a:solidFill>
                      <a:srgbClr val="FFFFFF"/>
                    </a:solidFill>
                  </a:tcPr>
                </a:tc>
                <a:tc>
                  <a:txBody>
                    <a:bodyPr/>
                    <a:lstStyle/>
                    <a:p>
                      <a:pPr>
                        <a:lnSpc>
                          <a:spcPct val="100000"/>
                        </a:lnSpc>
                      </a:pPr>
                      <a:r>
                        <a:rPr sz="1100" b="0">
                          <a:solidFill>
                            <a:srgbClr val="1F1F1F"/>
                          </a:solidFill>
                          <a:latin typeface="游ゴシック Medium"/>
                        </a:rPr>
                        <a:t>辞書整備の体制</a:t>
                      </a:r>
                    </a:p>
                  </a:txBody>
                  <a:tcPr anchor="ctr" marL="64000" marR="64000" marT="24000" marB="24000">
                    <a:solidFill>
                      <a:srgbClr val="FFFFFF"/>
                    </a:solidFill>
                  </a:tcPr>
                </a:tc>
                <a:tc>
                  <a:txBody>
                    <a:bodyPr/>
                    <a:lstStyle/>
                    <a:p>
                      <a:pPr>
                        <a:lnSpc>
                          <a:spcPct val="100000"/>
                        </a:lnSpc>
                      </a:pPr>
                      <a:r>
                        <a:rPr sz="1100" b="0">
                          <a:solidFill>
                            <a:srgbClr val="1F1F1F"/>
                          </a:solidFill>
                          <a:latin typeface="游ゴシック Medium"/>
                        </a:rPr>
                        <a:t>客先・装置・案件の語彙登録が精度に直結する。誰が整備するか決めたい</a:t>
                      </a:r>
                    </a:p>
                  </a:txBody>
                  <a:tcPr anchor="ctr" marL="64000" marR="64000" marT="24000" marB="24000">
                    <a:solidFill>
                      <a:srgbClr val="FFFFFF"/>
                    </a:solidFill>
                  </a:tcPr>
                </a:tc>
                <a:tc>
                  <a:txBody>
                    <a:bodyPr/>
                    <a:lstStyle/>
                    <a:p>
                      <a:pPr>
                        <a:lnSpc>
                          <a:spcPct val="100000"/>
                        </a:lnSpc>
                      </a:pPr>
                      <a:r>
                        <a:rPr sz="1100" b="0">
                          <a:solidFill>
                            <a:srgbClr val="1F1F1F"/>
                          </a:solidFill>
                          <a:latin typeface="游ゴシック Medium"/>
                        </a:rPr>
                        <a:t>担当のご判断</a:t>
                      </a:r>
                    </a:p>
                  </a:txBody>
                  <a:tcPr anchor="ctr" marL="64000" marR="64000" marT="24000" marB="24000">
                    <a:solidFill>
                      <a:srgbClr val="FFFFFF"/>
                    </a:solidFill>
                  </a:tcPr>
                </a:tc>
              </a:tr>
              <a:tr h="457148">
                <a:tc>
                  <a:txBody>
                    <a:bodyPr/>
                    <a:lstStyle/>
                    <a:p>
                      <a:pPr>
                        <a:lnSpc>
                          <a:spcPct val="100000"/>
                        </a:lnSpc>
                      </a:pPr>
                      <a:r>
                        <a:rPr sz="1100" b="0">
                          <a:solidFill>
                            <a:srgbClr val="1F1F1F"/>
                          </a:solidFill>
                          <a:latin typeface="游ゴシック Medium"/>
                        </a:rPr>
                        <a:t>6</a:t>
                      </a:r>
                    </a:p>
                  </a:txBody>
                  <a:tcPr anchor="ctr" marL="64000" marR="64000" marT="24000" marB="24000">
                    <a:solidFill>
                      <a:srgbClr val="F5F7FA"/>
                    </a:solidFill>
                  </a:tcPr>
                </a:tc>
                <a:tc>
                  <a:txBody>
                    <a:bodyPr/>
                    <a:lstStyle/>
                    <a:p>
                      <a:pPr>
                        <a:lnSpc>
                          <a:spcPct val="100000"/>
                        </a:lnSpc>
                      </a:pPr>
                      <a:r>
                        <a:rPr sz="1100" b="0">
                          <a:solidFill>
                            <a:srgbClr val="1F1F1F"/>
                          </a:solidFill>
                          <a:latin typeface="游ゴシック Medium"/>
                        </a:rPr>
                        <a:t>外販の是非と時期</a:t>
                      </a:r>
                    </a:p>
                  </a:txBody>
                  <a:tcPr anchor="ctr" marL="64000" marR="64000" marT="24000" marB="24000">
                    <a:solidFill>
                      <a:srgbClr val="F5F7FA"/>
                    </a:solidFill>
                  </a:tcPr>
                </a:tc>
                <a:tc>
                  <a:txBody>
                    <a:bodyPr/>
                    <a:lstStyle/>
                    <a:p>
                      <a:pPr>
                        <a:lnSpc>
                          <a:spcPct val="100000"/>
                        </a:lnSpc>
                      </a:pPr>
                      <a:r>
                        <a:rPr sz="1100" b="0">
                          <a:solidFill>
                            <a:srgbClr val="1F1F1F"/>
                          </a:solidFill>
                          <a:latin typeface="游ゴシック Medium"/>
                        </a:rPr>
                        <a:t>自社で運用実績を作ってから判断するのが現実的</a:t>
                      </a:r>
                    </a:p>
                  </a:txBody>
                  <a:tcPr anchor="ctr" marL="64000" marR="64000" marT="24000" marB="24000">
                    <a:solidFill>
                      <a:srgbClr val="F5F7FA"/>
                    </a:solidFill>
                  </a:tcPr>
                </a:tc>
                <a:tc>
                  <a:txBody>
                    <a:bodyPr/>
                    <a:lstStyle/>
                    <a:p>
                      <a:pPr>
                        <a:lnSpc>
                          <a:spcPct val="100000"/>
                        </a:lnSpc>
                      </a:pPr>
                      <a:r>
                        <a:rPr sz="1100" b="0">
                          <a:solidFill>
                            <a:srgbClr val="1F1F1F"/>
                          </a:solidFill>
                          <a:latin typeface="游ゴシック Medium"/>
                        </a:rPr>
                        <a:t>方針のご確認</a:t>
                      </a:r>
                    </a:p>
                  </a:txBody>
                  <a:tcPr anchor="ctr" marL="64000" marR="64000" marT="24000" marB="24000">
                    <a:solidFill>
                      <a:srgbClr val="F5F7FA"/>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しずく">
  <a:themeElements>
    <a:clrScheme name="しずく">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テンプレート1">
      <a:majorFont>
        <a:latin typeface="Segoe UI"/>
        <a:ea typeface="游ゴシック Medium"/>
        <a:cs typeface=""/>
      </a:majorFont>
      <a:minorFont>
        <a:latin typeface="Segoe UI"/>
        <a:ea typeface="游ゴシック Medium"/>
        <a:cs typeface=""/>
      </a:minorFont>
    </a:fontScheme>
    <a:fmtScheme name="しずく">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TM04033925[[fn=しずく]]</Template>
  <TotalTime>310</TotalTime>
  <Words>238</Words>
  <Application>Microsoft Office PowerPoint</Application>
  <PresentationFormat>ワイド画面</PresentationFormat>
  <Paragraphs>40</Paragraphs>
  <Slides>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Meiryo UI</vt:lpstr>
      <vt:lpstr>游ゴシック</vt:lpstr>
      <vt:lpstr>Arial</vt:lpstr>
      <vt:lpstr>Segoe UI</vt:lpstr>
      <vt:lpstr>Wingdings</vt:lpstr>
      <vt:lpstr>しずく</vt:lpstr>
      <vt:lpstr>PowerPointフォーマット</vt:lpstr>
      <vt:lpstr>フォントについて１</vt:lpstr>
      <vt:lpstr>フォントについて２</vt:lpstr>
      <vt:lpstr>章タイトル Chapter Title</vt:lpstr>
      <vt:lpstr>要約と結言を含むフォーマット</vt:lpstr>
      <vt:lpstr>２つの比較ページサンプル</vt:lpstr>
      <vt:lpstr>画像説明ページのサンプル</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薮内裕之</dc:creator>
  <cp:lastModifiedBy>薮内裕之</cp:lastModifiedBy>
  <cp:revision>5</cp:revision>
  <dcterms:created xsi:type="dcterms:W3CDTF">2026-05-12T02:31:46Z</dcterms:created>
  <dcterms:modified xsi:type="dcterms:W3CDTF">2026-05-25T07:53:42Z</dcterms:modified>
</cp:coreProperties>
</file>