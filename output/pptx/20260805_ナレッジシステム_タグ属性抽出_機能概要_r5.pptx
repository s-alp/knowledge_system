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nSpc>
                <a:spcPct val="125000"/>
              </a:lnSpc>
              <a:spcAft>
                <a:spcPts val="200"/>
              </a:spcAft>
            </a:pPr>
            <a:r>
              <a:rPr sz="4000" b="1">
                <a:solidFill>
                  <a:srgbClr val="1F1F1F"/>
                </a:solidFill>
                <a:latin typeface="Segoe UI"/>
                <a:ea typeface="游ゴシック Medium"/>
                <a:cs typeface="游ゴシック Medium"/>
              </a:rPr>
              <a:t>CADタグ・属性抽出　機能概要</a:t>
            </a:r>
          </a:p>
        </p:txBody>
      </p:sp>
      <p:sp>
        <p:nvSpPr>
          <p:cNvPr id="3" name="Subtitle 2"/>
          <p:cNvSpPr>
            <a:spLocks noGrp="1"/>
          </p:cNvSpPr>
          <p:nvPr>
            <p:ph type="subTitle" idx="1"/>
          </p:nvPr>
        </p:nvSpPr>
        <p:spPr/>
        <p:txBody>
          <a:bodyPr wrap="square"/>
          <a:lstStyle/>
          <a:p>
            <a:pPr>
              <a:lnSpc>
                <a:spcPct val="125000"/>
              </a:lnSpc>
              <a:spcAft>
                <a:spcPts val="200"/>
              </a:spcAft>
            </a:pPr>
            <a:r>
              <a:rPr sz="1500" b="0">
                <a:solidFill>
                  <a:srgbClr val="5A5A5A"/>
                </a:solidFill>
                <a:latin typeface="Segoe UI"/>
                <a:ea typeface="游ゴシック Medium"/>
                <a:cs typeface="游ゴシック Medium"/>
              </a:rPr>
              <a:t>何から、どのような情報を、どのような形で取り出すか</a:t>
            </a:r>
          </a:p>
        </p:txBody>
      </p:sp>
      <p:sp>
        <p:nvSpPr>
          <p:cNvPr id="4" name="Text Placeholder 3"/>
          <p:cNvSpPr>
            <a:spLocks noGrp="1"/>
          </p:cNvSpPr>
          <p:nvPr>
            <p:ph type="body" idx="10" sz="quarter"/>
          </p:nvPr>
        </p:nvSpPr>
        <p:spPr/>
        <p:txBody>
          <a:bodyPr wrap="square"/>
          <a:lstStyle/>
          <a:p>
            <a:pPr>
              <a:lnSpc>
                <a:spcPct val="125000"/>
              </a:lnSpc>
              <a:spcAft>
                <a:spcPts val="200"/>
              </a:spcAft>
            </a:pPr>
            <a:r>
              <a:rPr sz="1100" b="0">
                <a:solidFill>
                  <a:srgbClr val="5A5A5A"/>
                </a:solidFill>
                <a:latin typeface="Segoe UI"/>
                <a:ea typeface="游ゴシック Medium"/>
                <a:cs typeface="游ゴシック Medium"/>
              </a:rPr>
              <a:t>2026.08.05　/　株式会社アルパイン設計事務所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この資料で分かること</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図面から情報を取り出してタグを付ける機能について、扱う情報と仕組みを整理しています</a:t>
            </a:r>
          </a:p>
        </p:txBody>
      </p:sp>
      <p:sp>
        <p:nvSpPr>
          <p:cNvPr id="4" name="Rectangle 3"/>
          <p:cNvSpPr/>
          <p:nvPr/>
        </p:nvSpPr>
        <p:spPr>
          <a:xfrm>
            <a:off x="457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① 何から取り出すか</a:t>
            </a:r>
          </a:p>
        </p:txBody>
      </p:sp>
      <p:sp>
        <p:nvSpPr>
          <p:cNvPr id="6" name="TextBox 5"/>
          <p:cNvSpPr txBox="1"/>
          <p:nvPr/>
        </p:nvSpPr>
        <p:spPr>
          <a:xfrm>
            <a:off x="777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ICADの2D図面・3Dモデル、STEP、DXFのそれぞれについて、図面やモデルのどこを読んでいるか</a:t>
            </a:r>
          </a:p>
        </p:txBody>
      </p:sp>
      <p:sp>
        <p:nvSpPr>
          <p:cNvPr id="7" name="Rectangle 6"/>
          <p:cNvSpPr/>
          <p:nvPr/>
        </p:nvSpPr>
        <p:spPr>
          <a:xfrm>
            <a:off x="6172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② 何を取り出せるか</a:t>
            </a:r>
          </a:p>
        </p:txBody>
      </p:sp>
      <p:sp>
        <p:nvSpPr>
          <p:cNvPr id="9" name="TextBox 8"/>
          <p:cNvSpPr txBox="1"/>
          <p:nvPr/>
        </p:nvSpPr>
        <p:spPr>
          <a:xfrm>
            <a:off x="6492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取り出せる項目の一覧と、その項目がどこから決まるか</a:t>
            </a:r>
          </a:p>
        </p:txBody>
      </p:sp>
      <p:sp>
        <p:nvSpPr>
          <p:cNvPr id="10" name="Rectangle 9"/>
          <p:cNvSpPr/>
          <p:nvPr/>
        </p:nvSpPr>
        <p:spPr>
          <a:xfrm>
            <a:off x="457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③ どのような形になるか</a:t>
            </a:r>
          </a:p>
        </p:txBody>
      </p:sp>
      <p:sp>
        <p:nvSpPr>
          <p:cNvPr id="12" name="TextBox 11"/>
          <p:cNvSpPr txBox="1"/>
          <p:nvPr/>
        </p:nvSpPr>
        <p:spPr>
          <a:xfrm>
            <a:off x="777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1図面あたりに何が残るか。属性とタグは何が違うか</a:t>
            </a:r>
          </a:p>
        </p:txBody>
      </p:sp>
      <p:sp>
        <p:nvSpPr>
          <p:cNvPr id="13" name="Rectangle 12"/>
          <p:cNvSpPr/>
          <p:nvPr/>
        </p:nvSpPr>
        <p:spPr>
          <a:xfrm>
            <a:off x="6172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92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④ 何が必要か</a:t>
            </a:r>
          </a:p>
        </p:txBody>
      </p:sp>
      <p:sp>
        <p:nvSpPr>
          <p:cNvPr id="15" name="TextBox 14"/>
          <p:cNvSpPr txBox="1"/>
          <p:nvPr/>
        </p:nvSpPr>
        <p:spPr>
          <a:xfrm>
            <a:off x="6492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必要な環境・データ・運用と、本機能とナレッジシステム本体の役割の違い</a:t>
            </a:r>
          </a:p>
        </p:txBody>
      </p:sp>
      <p:sp>
        <p:nvSpPr>
          <p:cNvPr id="16" name="TextBox 15"/>
          <p:cNvSpPr txBox="1"/>
          <p:nvPr/>
        </p:nvSpPr>
        <p:spPr>
          <a:xfrm>
            <a:off x="457200" y="608076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画面の操作手順は含みません。仕組みとして何ができ、何が前提になるかを整理した資料です。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全体の構成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01</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System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入力から出力までの機能構成</a:t>
            </a:r>
          </a:p>
          <a:p>
            <a:pPr>
              <a:lnSpc>
                <a:spcPct val="125000"/>
              </a:lnSpc>
              <a:spcAft>
                <a:spcPts val="800"/>
              </a:spcAft>
            </a:pPr>
            <a:r>
              <a:rPr sz="1200" b="0">
                <a:solidFill>
                  <a:srgbClr val="1F1F1F"/>
                </a:solidFill>
                <a:latin typeface="Segoe UI"/>
                <a:ea typeface="游ゴシック Medium"/>
                <a:cs typeface="游ゴシック Medium"/>
              </a:rPr>
              <a:t>3つの処理が、それぞれ何を受け取り何を返すか</a:t>
            </a:r>
          </a:p>
          <a:p>
            <a:pPr>
              <a:lnSpc>
                <a:spcPct val="125000"/>
              </a:lnSpc>
              <a:spcAft>
                <a:spcPts val="800"/>
              </a:spcAft>
            </a:pPr>
            <a:r>
              <a:rPr sz="1200" b="0">
                <a:solidFill>
                  <a:srgbClr val="1F1F1F"/>
                </a:solidFill>
                <a:latin typeface="Segoe UI"/>
                <a:ea typeface="游ゴシック Medium"/>
                <a:cs typeface="游ゴシック Medium"/>
              </a:rPr>
              <a:t>どこで何が動くか（実行構成）</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機能構成</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読み取った内容を整理して属性にし、その中からタグを作ります</a:t>
            </a:r>
          </a:p>
        </p:txBody>
      </p:sp>
      <p:sp>
        <p:nvSpPr>
          <p:cNvPr id="4" name="TextBox 3"/>
          <p:cNvSpPr txBox="1"/>
          <p:nvPr/>
        </p:nvSpPr>
        <p:spPr>
          <a:xfrm>
            <a:off x="457200" y="1627632"/>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入力</a:t>
            </a:r>
          </a:p>
        </p:txBody>
      </p:sp>
      <p:sp>
        <p:nvSpPr>
          <p:cNvPr id="5" name="Rectangle 4"/>
          <p:cNvSpPr/>
          <p:nvPr/>
        </p:nvSpPr>
        <p:spPr>
          <a:xfrm>
            <a:off x="1737360"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ICAD（2D図面）</a:t>
            </a:r>
          </a:p>
        </p:txBody>
      </p:sp>
      <p:sp>
        <p:nvSpPr>
          <p:cNvPr id="6" name="Rectangle 5"/>
          <p:cNvSpPr/>
          <p:nvPr/>
        </p:nvSpPr>
        <p:spPr>
          <a:xfrm>
            <a:off x="4281678"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ICAD（3Dモデル）</a:t>
            </a:r>
          </a:p>
        </p:txBody>
      </p:sp>
      <p:sp>
        <p:nvSpPr>
          <p:cNvPr id="7" name="Rectangle 6"/>
          <p:cNvSpPr/>
          <p:nvPr/>
        </p:nvSpPr>
        <p:spPr>
          <a:xfrm>
            <a:off x="6825996"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STEP</a:t>
            </a:r>
          </a:p>
        </p:txBody>
      </p:sp>
      <p:sp>
        <p:nvSpPr>
          <p:cNvPr id="8" name="Rectangle 7"/>
          <p:cNvSpPr/>
          <p:nvPr/>
        </p:nvSpPr>
        <p:spPr>
          <a:xfrm>
            <a:off x="9370314"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DXF</a:t>
            </a:r>
          </a:p>
        </p:txBody>
      </p:sp>
      <p:sp>
        <p:nvSpPr>
          <p:cNvPr id="9" name="TextBox 8"/>
          <p:cNvSpPr txBox="1"/>
          <p:nvPr/>
        </p:nvSpPr>
        <p:spPr>
          <a:xfrm>
            <a:off x="457200" y="2231136"/>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10" name="Rectangle 9"/>
          <p:cNvSpPr/>
          <p:nvPr/>
        </p:nvSpPr>
        <p:spPr>
          <a:xfrm>
            <a:off x="1737360"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65960"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読み取り</a:t>
            </a:r>
          </a:p>
        </p:txBody>
      </p:sp>
      <p:sp>
        <p:nvSpPr>
          <p:cNvPr id="12" name="TextBox 11"/>
          <p:cNvSpPr txBox="1"/>
          <p:nvPr/>
        </p:nvSpPr>
        <p:spPr>
          <a:xfrm>
            <a:off x="1965960"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図面に書かれている事実を、</a:t>
            </a:r>
          </a:p>
          <a:p>
            <a:pPr>
              <a:lnSpc>
                <a:spcPct val="125000"/>
              </a:lnSpc>
              <a:spcAft>
                <a:spcPts val="200"/>
              </a:spcAft>
            </a:pPr>
            <a:r>
              <a:rPr sz="1050" b="0">
                <a:solidFill>
                  <a:srgbClr val="1F1F1F"/>
                </a:solidFill>
                <a:latin typeface="Segoe UI"/>
                <a:ea typeface="游ゴシック Medium"/>
                <a:cs typeface="游ゴシック Medium"/>
              </a:rPr>
              <a:t>意味付けせずそのまま取り出す</a:t>
            </a:r>
          </a:p>
        </p:txBody>
      </p:sp>
      <p:sp>
        <p:nvSpPr>
          <p:cNvPr id="13" name="TextBox 12"/>
          <p:cNvSpPr txBox="1"/>
          <p:nvPr/>
        </p:nvSpPr>
        <p:spPr>
          <a:xfrm>
            <a:off x="4937760"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4" name="Rectangle 13"/>
          <p:cNvSpPr/>
          <p:nvPr/>
        </p:nvSpPr>
        <p:spPr>
          <a:xfrm>
            <a:off x="5138928"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67528"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項目へ整理</a:t>
            </a:r>
          </a:p>
        </p:txBody>
      </p:sp>
      <p:sp>
        <p:nvSpPr>
          <p:cNvPr id="16" name="TextBox 15"/>
          <p:cNvSpPr txBox="1"/>
          <p:nvPr/>
        </p:nvSpPr>
        <p:spPr>
          <a:xfrm>
            <a:off x="5367528"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どれがどの項目かを判断し、</a:t>
            </a:r>
          </a:p>
          <a:p>
            <a:pPr>
              <a:lnSpc>
                <a:spcPct val="125000"/>
              </a:lnSpc>
              <a:spcAft>
                <a:spcPts val="200"/>
              </a:spcAft>
            </a:pPr>
            <a:r>
              <a:rPr sz="1050" b="0">
                <a:solidFill>
                  <a:srgbClr val="1F1F1F"/>
                </a:solidFill>
                <a:latin typeface="Segoe UI"/>
                <a:ea typeface="游ゴシック Medium"/>
                <a:cs typeface="游ゴシック Medium"/>
              </a:rPr>
              <a:t>決まった項目へ整える</a:t>
            </a:r>
          </a:p>
        </p:txBody>
      </p:sp>
      <p:sp>
        <p:nvSpPr>
          <p:cNvPr id="17" name="TextBox 16"/>
          <p:cNvSpPr txBox="1"/>
          <p:nvPr/>
        </p:nvSpPr>
        <p:spPr>
          <a:xfrm>
            <a:off x="8339328"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8" name="Rectangle 17"/>
          <p:cNvSpPr/>
          <p:nvPr/>
        </p:nvSpPr>
        <p:spPr>
          <a:xfrm>
            <a:off x="8540496"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69096"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タグ付与</a:t>
            </a:r>
          </a:p>
        </p:txBody>
      </p:sp>
      <p:sp>
        <p:nvSpPr>
          <p:cNvPr id="20" name="TextBox 19"/>
          <p:cNvSpPr txBox="1"/>
          <p:nvPr/>
        </p:nvSpPr>
        <p:spPr>
          <a:xfrm>
            <a:off x="8769096"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辞書と照合して見出しを付け、</a:t>
            </a:r>
          </a:p>
          <a:p>
            <a:pPr>
              <a:lnSpc>
                <a:spcPct val="125000"/>
              </a:lnSpc>
              <a:spcAft>
                <a:spcPts val="200"/>
              </a:spcAft>
            </a:pPr>
            <a:r>
              <a:rPr sz="1050" b="0">
                <a:solidFill>
                  <a:srgbClr val="1F1F1F"/>
                </a:solidFill>
                <a:latin typeface="Segoe UI"/>
                <a:ea typeface="游ゴシック Medium"/>
                <a:cs typeface="游ゴシック Medium"/>
              </a:rPr>
              <a:t>判断の根拠を残す</a:t>
            </a:r>
          </a:p>
        </p:txBody>
      </p:sp>
      <p:sp>
        <p:nvSpPr>
          <p:cNvPr id="21" name="TextBox 20"/>
          <p:cNvSpPr txBox="1"/>
          <p:nvPr/>
        </p:nvSpPr>
        <p:spPr>
          <a:xfrm>
            <a:off x="457200" y="292608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処理</a:t>
            </a:r>
          </a:p>
        </p:txBody>
      </p:sp>
      <p:sp>
        <p:nvSpPr>
          <p:cNvPr id="22" name="TextBox 21"/>
          <p:cNvSpPr txBox="1"/>
          <p:nvPr/>
        </p:nvSpPr>
        <p:spPr>
          <a:xfrm>
            <a:off x="457200" y="3785615"/>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3" name="TextBox 22"/>
          <p:cNvSpPr txBox="1"/>
          <p:nvPr/>
        </p:nvSpPr>
        <p:spPr>
          <a:xfrm>
            <a:off x="457200" y="411480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出力</a:t>
            </a:r>
          </a:p>
        </p:txBody>
      </p:sp>
      <p:sp>
        <p:nvSpPr>
          <p:cNvPr id="24" name="Rectangle 23"/>
          <p:cNvSpPr/>
          <p:nvPr/>
        </p:nvSpPr>
        <p:spPr>
          <a:xfrm>
            <a:off x="1737360"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属性（項目と値）</a:t>
            </a:r>
          </a:p>
        </p:txBody>
      </p:sp>
      <p:sp>
        <p:nvSpPr>
          <p:cNvPr id="25" name="Rectangle 24"/>
          <p:cNvSpPr/>
          <p:nvPr/>
        </p:nvSpPr>
        <p:spPr>
          <a:xfrm>
            <a:off x="5129783"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タグ（根拠つきの見出し）</a:t>
            </a:r>
          </a:p>
        </p:txBody>
      </p:sp>
      <p:sp>
        <p:nvSpPr>
          <p:cNvPr id="26" name="Rectangle 25"/>
          <p:cNvSpPr/>
          <p:nvPr/>
        </p:nvSpPr>
        <p:spPr>
          <a:xfrm>
            <a:off x="8522208"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読み取り結果（確認用）</a:t>
            </a:r>
          </a:p>
        </p:txBody>
      </p:sp>
      <p:sp>
        <p:nvSpPr>
          <p:cNvPr id="27" name="TextBox 26"/>
          <p:cNvSpPr txBox="1"/>
          <p:nvPr/>
        </p:nvSpPr>
        <p:spPr>
          <a:xfrm>
            <a:off x="457200" y="4718304"/>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8" name="Rectangle 27"/>
          <p:cNvSpPr/>
          <p:nvPr/>
        </p:nvSpPr>
        <p:spPr>
          <a:xfrm>
            <a:off x="1737360" y="4992624"/>
            <a:ext cx="9994392" cy="566928"/>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1">
                <a:solidFill>
                  <a:srgbClr val="005BAC"/>
                </a:solidFill>
                <a:latin typeface="Segoe UI"/>
                <a:ea typeface="游ゴシック Medium"/>
                <a:cs typeface="游ゴシック Medium"/>
              </a:rPr>
              <a:t>保存・検索・画面表示・文書検索AIへの連携は、ナレッジシステム本体の機能</a:t>
            </a:r>
          </a:p>
        </p:txBody>
      </p:sp>
      <p:sp>
        <p:nvSpPr>
          <p:cNvPr id="29" name="TextBox 28"/>
          <p:cNvSpPr txBox="1"/>
          <p:nvPr/>
        </p:nvSpPr>
        <p:spPr>
          <a:xfrm>
            <a:off x="457200" y="5138928"/>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連携先</a:t>
            </a:r>
          </a:p>
        </p:txBody>
      </p:sp>
      <p:sp>
        <p:nvSpPr>
          <p:cNvPr id="30" name="TextBox 29"/>
          <p:cNvSpPr txBox="1"/>
          <p:nvPr/>
        </p:nvSpPr>
        <p:spPr>
          <a:xfrm>
            <a:off x="457200" y="58064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ICADは2D図面と3Dモデルを別々に読み取り、最後に照合して1図面ぶんの結果へまとめます。</a:t>
            </a:r>
          </a:p>
        </p:txBody>
      </p:sp>
      <p:sp>
        <p:nvSpPr>
          <p:cNvPr id="31" name="TextBox 30"/>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3つの処理は、それぞれ何をするか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処理ごとに入力と出力が決まっており、切り分けて確認できます</a:t>
            </a:r>
          </a:p>
        </p:txBody>
      </p:sp>
      <p:graphicFrame>
        <p:nvGraphicFramePr>
          <p:cNvPr id="4" name="Table 3"/>
          <p:cNvGraphicFramePr>
            <a:graphicFrameLocks noGrp="1"/>
          </p:cNvGraphicFramePr>
          <p:nvPr/>
        </p:nvGraphicFramePr>
        <p:xfrm>
          <a:off x="457200" y="1645920"/>
          <a:ext cx="11274552" cy="2267712"/>
        </p:xfrm>
        <a:graphic>
          <a:graphicData uri="http://schemas.openxmlformats.org/drawingml/2006/table">
            <a:tbl>
              <a:tblPr firstRow="1" bandRow="1">
                <a:tableStyleId>{5C22544A-7EE6-4342-B048-85BDC9FD1C3A}</a:tableStyleId>
              </a:tblPr>
              <a:tblGrid>
                <a:gridCol w="1371600"/>
                <a:gridCol w="1737360"/>
                <a:gridCol w="4572000"/>
                <a:gridCol w="1280160"/>
                <a:gridCol w="2313432"/>
              </a:tblGrid>
              <a:tr h="566928">
                <a:tc>
                  <a:txBody>
                    <a:bodyPr wrap="square"/>
                    <a:lstStyle/>
                    <a:p>
                      <a:pPr>
                        <a:lnSpc>
                          <a:spcPct val="125000"/>
                        </a:lnSpc>
                        <a:spcAft>
                          <a:spcPts val="0"/>
                        </a:spcAft>
                      </a:pPr>
                      <a:r>
                        <a:rPr sz="1050" b="1">
                          <a:solidFill>
                            <a:srgbClr val="FFFFFF"/>
                          </a:solidFill>
                          <a:latin typeface="Segoe UI"/>
                          <a:ea typeface="游ゴシック Medium"/>
                          <a:cs typeface="游ゴシック Medium"/>
                        </a:rPr>
                        <a:t>処理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受け取るもの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すること</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返すもの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動かす場所</a:t>
                      </a:r>
                    </a:p>
                  </a:txBody>
                  <a:tcPr anchor="ctr" marL="82296">
                    <a:solidFill>
                      <a:srgbClr val="005BAC"/>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① 読み取り</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CADファイル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図面に書かれている事実を、意味付けせずそのまま取り出す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br/>
                      <a:r>
                        <a:rPr sz="1050" b="0">
                          <a:solidFill>
                            <a:srgbClr val="1F1F1F"/>
                          </a:solidFill>
                          <a:latin typeface="Segoe UI"/>
                          <a:ea typeface="游ゴシック Medium"/>
                          <a:cs typeface="游ゴシック Medium"/>
                        </a:rPr>
                        <a:t>（STEP・DXFは一般PC）</a:t>
                      </a:r>
                    </a:p>
                  </a:txBody>
                  <a:tcPr anchor="ctr" marL="82296">
                    <a:solidFill>
                      <a:srgbClr val="FFFFFF"/>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② 項目へ整理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読み取った内容</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形式ごとの違いを吸収し、どれがどの項目かを判断して確定する。決められない項目は空欄で残す</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③ タグ付与</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 ＋ 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検索に使える見出しを付け、根拠・確からしさ・理由を添える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タグ</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bl>
          </a:graphicData>
        </a:graphic>
      </p:graphicFrame>
      <p:sp>
        <p:nvSpPr>
          <p:cNvPr id="5" name="Rectangle 4"/>
          <p:cNvSpPr/>
          <p:nvPr/>
        </p:nvSpPr>
        <p:spPr>
          <a:xfrm>
            <a:off x="457200"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処理を分けている理由</a:t>
            </a:r>
          </a:p>
        </p:txBody>
      </p:sp>
      <p:sp>
        <p:nvSpPr>
          <p:cNvPr id="7" name="TextBox 6"/>
          <p:cNvSpPr txBox="1"/>
          <p:nvPr/>
        </p:nvSpPr>
        <p:spPr>
          <a:xfrm>
            <a:off x="731520"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読み取りは事実の取得だけを担当し、意味付けを行いません。判断の規則を変えても、読み取り結果はそのまま使えます。</a:t>
            </a:r>
          </a:p>
        </p:txBody>
      </p:sp>
      <p:sp>
        <p:nvSpPr>
          <p:cNvPr id="8" name="Rectangle 7"/>
          <p:cNvSpPr/>
          <p:nvPr/>
        </p:nvSpPr>
        <p:spPr>
          <a:xfrm>
            <a:off x="4270248"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辞書を分けて持つ理由</a:t>
            </a:r>
          </a:p>
        </p:txBody>
      </p:sp>
      <p:sp>
        <p:nvSpPr>
          <p:cNvPr id="10" name="TextBox 9"/>
          <p:cNvSpPr txBox="1"/>
          <p:nvPr/>
        </p:nvSpPr>
        <p:spPr>
          <a:xfrm>
            <a:off x="4544568"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客先名や装置名は会社ごとに違うため、処理そのものではなく辞書として持ちます。語彙が増えても処理は変わりません。</a:t>
            </a:r>
          </a:p>
        </p:txBody>
      </p:sp>
      <p:sp>
        <p:nvSpPr>
          <p:cNvPr id="11" name="Rectangle 10"/>
          <p:cNvSpPr/>
          <p:nvPr/>
        </p:nvSpPr>
        <p:spPr>
          <a:xfrm>
            <a:off x="8083296"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根拠を残す理由</a:t>
            </a:r>
          </a:p>
        </p:txBody>
      </p:sp>
      <p:sp>
        <p:nvSpPr>
          <p:cNvPr id="13" name="TextBox 12"/>
          <p:cNvSpPr txBox="1"/>
          <p:nvPr/>
        </p:nvSpPr>
        <p:spPr>
          <a:xfrm>
            <a:off x="8357616"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自動で付いた見出しを人が確認できるようにするためです。元の図面を開かずに妥当性を判断できます。</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どこで何が動くか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ICADが必要なのは読み取りの瞬間だけで、構成は3通りから選べます</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1554480"/>
                <a:gridCol w="3383280"/>
                <a:gridCol w="1828800"/>
                <a:gridCol w="1463040"/>
                <a:gridCol w="3044952"/>
              </a:tblGrid>
              <a:tr h="603504">
                <a:tc>
                  <a:txBody>
                    <a:bodyPr wrap="square"/>
                    <a:lstStyle/>
                    <a:p>
                      <a:pPr>
                        <a:lnSpc>
                          <a:spcPct val="125000"/>
                        </a:lnSpc>
                        <a:spcAft>
                          <a:spcPts val="0"/>
                        </a:spcAft>
                      </a:pPr>
                      <a:r>
                        <a:rPr sz="1050" b="1">
                          <a:solidFill>
                            <a:srgbClr val="FFFFFF"/>
                          </a:solidFill>
                          <a:latin typeface="Segoe UI"/>
                          <a:ea typeface="游ゴシック Medium"/>
                          <a:cs typeface="游ゴシック Medium"/>
                        </a:rPr>
                        <a:t>構成</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ICADの置き方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読み取りを動かす場所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位置づけ</a:t>
                      </a:r>
                    </a:p>
                  </a:txBody>
                  <a:tcPr anchor="ctr" marL="82296">
                    <a:solidFill>
                      <a:srgbClr val="005BAC"/>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同一PC構成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ICADとシステムを同じWindows PCに置く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そのPC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標準の構成</a:t>
                      </a:r>
                    </a:p>
                  </a:txBody>
                  <a:tcPr anchor="ctr" marL="82296">
                    <a:solidFill>
                      <a:srgbClr val="FFFFFF"/>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別PC構成</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ICADの入ったPCを分け、ネットワーク経由で連携する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ICADのPC</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設計者が使うPCと分けたい場合</a:t>
                      </a:r>
                    </a:p>
                  </a:txBody>
                  <a:tcPr anchor="ctr" marL="82296">
                    <a:solidFill>
                      <a:srgbClr val="F5F7FA"/>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ICADなし構成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ICADを使わず、STEP／DXFに出力したデータを取り込む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中程度</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ICADを使わずに運用する場合</a:t>
                      </a:r>
                    </a:p>
                  </a:txBody>
                  <a:tcPr anchor="ctr" marL="82296">
                    <a:solidFill>
                      <a:srgbClr val="FFFFFF"/>
                    </a:solidFill>
                  </a:tcPr>
                </a:tc>
              </a:tr>
            </a:tbl>
          </a:graphicData>
        </a:graphic>
      </p:graphicFrame>
      <p:sp>
        <p:nvSpPr>
          <p:cNvPr id="5" name="TextBox 4"/>
          <p:cNvSpPr txBox="1"/>
          <p:nvPr/>
        </p:nvSpPr>
        <p:spPr>
          <a:xfrm>
            <a:off x="457200" y="4206240"/>
            <a:ext cx="11274552" cy="146304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処理の重さと、実行のしかた</a:t>
            </a:r>
          </a:p>
          <a:p>
            <a:pPr>
              <a:lnSpc>
                <a:spcPct val="125000"/>
              </a:lnSpc>
              <a:spcAft>
                <a:spcPts val="900"/>
              </a:spcAft>
            </a:pPr>
            <a:r>
              <a:rPr sz="1200" b="0">
                <a:solidFill>
                  <a:srgbClr val="1F1F1F"/>
                </a:solidFill>
                <a:latin typeface="Segoe UI"/>
                <a:ea typeface="游ゴシック Medium"/>
                <a:cs typeface="游ゴシック Medium"/>
              </a:rPr>
              <a:t>・読み取りは1図面につき1回動かす方式です。図面ごとに独立しているため、失敗した図面だけをやり直せます。</a:t>
            </a:r>
          </a:p>
          <a:p>
            <a:pPr>
              <a:lnSpc>
                <a:spcPct val="125000"/>
              </a:lnSpc>
              <a:spcAft>
                <a:spcPts val="900"/>
              </a:spcAft>
            </a:pPr>
            <a:r>
              <a:rPr sz="1200" b="0">
                <a:solidFill>
                  <a:srgbClr val="1F1F1F"/>
                </a:solidFill>
                <a:latin typeface="Segoe UI"/>
                <a:ea typeface="游ゴシック Medium"/>
                <a:cs typeface="游ゴシック Medium"/>
              </a:rPr>
              <a:t>・ICADの読み取りは同時に1件ずつ実行します。まとめて登録した場合は順番に処理されます。</a:t>
            </a:r>
          </a:p>
          <a:p>
            <a:pPr>
              <a:lnSpc>
                <a:spcPct val="125000"/>
              </a:lnSpc>
              <a:spcAft>
                <a:spcPts val="900"/>
              </a:spcAft>
            </a:pPr>
            <a:r>
              <a:rPr sz="1200" b="0">
                <a:solidFill>
                  <a:srgbClr val="1F1F1F"/>
                </a:solidFill>
                <a:latin typeface="Segoe UI"/>
                <a:ea typeface="游ゴシック Medium"/>
                <a:cs typeface="游ゴシック Medium"/>
              </a:rPr>
              <a:t>・図面を訂正して登録し直すと、その図面だけを読み取り直します。人が手で直した内容は保持されます。</a:t>
            </a:r>
          </a:p>
        </p:txBody>
      </p:sp>
      <p:sp>
        <p:nvSpPr>
          <p:cNvPr id="6" name="TextBox 5"/>
          <p:cNvSpPr txBox="1"/>
          <p:nvPr/>
        </p:nvSpPr>
        <p:spPr>
          <a:xfrm>
            <a:off x="457200" y="56692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検索・閲覧・タグの表示にICADは不要です。読み取った結果は保存され、以降はその保存内容を参照します。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読み取る場所と項目</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02</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Sources &amp; Items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入力の種類ごとに、読んでいる場所と取り出せる情報</a:t>
            </a:r>
          </a:p>
          <a:p>
            <a:pPr>
              <a:lnSpc>
                <a:spcPct val="125000"/>
              </a:lnSpc>
              <a:spcAft>
                <a:spcPts val="800"/>
              </a:spcAft>
            </a:pPr>
            <a:r>
              <a:rPr sz="1200" b="0">
                <a:solidFill>
                  <a:srgbClr val="1F1F1F"/>
                </a:solidFill>
                <a:latin typeface="Segoe UI"/>
                <a:ea typeface="游ゴシック Medium"/>
                <a:cs typeface="游ゴシック Medium"/>
              </a:rPr>
              <a:t>2D図面・3Dモデルそれぞれの読み取り元</a:t>
            </a:r>
          </a:p>
          <a:p>
            <a:pPr>
              <a:lnSpc>
                <a:spcPct val="125000"/>
              </a:lnSpc>
              <a:spcAft>
                <a:spcPts val="800"/>
              </a:spcAft>
            </a:pPr>
            <a:r>
              <a:rPr sz="1200" b="0">
                <a:solidFill>
                  <a:srgbClr val="1F1F1F"/>
                </a:solidFill>
                <a:latin typeface="Segoe UI"/>
                <a:ea typeface="游ゴシック Medium"/>
                <a:cs typeface="游ゴシック Medium"/>
              </a:rPr>
              <a:t>取り出せる項目の一覧と、その分類</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入力の種類と、取り出せる範囲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同じ図面でも、渡す形式によって取り出せる情報が変わります</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011680"/>
                <a:gridCol w="4023360"/>
                <a:gridCol w="3291840"/>
                <a:gridCol w="1947672"/>
              </a:tblGrid>
              <a:tr h="512064">
                <a:tc>
                  <a:txBody>
                    <a:bodyPr wrap="square"/>
                    <a:lstStyle/>
                    <a:p>
                      <a:pPr>
                        <a:lnSpc>
                          <a:spcPct val="125000"/>
                        </a:lnSpc>
                        <a:spcAft>
                          <a:spcPts val="0"/>
                        </a:spcAft>
                      </a:pPr>
                      <a:r>
                        <a:rPr sz="1050" b="1">
                          <a:solidFill>
                            <a:srgbClr val="FFFFFF"/>
                          </a:solidFill>
                          <a:latin typeface="Segoe UI"/>
                          <a:ea typeface="游ゴシック Medium"/>
                          <a:cs typeface="游ゴシック Medium"/>
                        </a:rPr>
                        <a:t>入力</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主に読んでいる場所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必要な環境</a:t>
                      </a:r>
                    </a:p>
                  </a:txBody>
                  <a:tcPr anchor="ctr" marL="82296">
                    <a:solidFill>
                      <a:srgbClr val="005BAC"/>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ICAD（3Dモデル）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モデル情報、部品ツリー、部品ごとの材質設定、質量特性、付加情報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ICAD（2D図面）</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図枠、注記・文字、寸法、公差、溶接記号、レイヤー、印刷枠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図番・図面名などの図枠項目、寸法や公差の有無、製作指示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5F7FA"/>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STEP</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ファイル情報、製品・部品の名称、組み立ての親子関係</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製品名、部品名、構成の階層</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DXF</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文字、ブロックの属性、寸法、レイヤー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図面内の文字、寸法、図枠の候補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bl>
          </a:graphicData>
        </a:graphic>
      </p:graphicFrame>
      <p:sp>
        <p:nvSpPr>
          <p:cNvPr id="5" name="TextBox 4"/>
          <p:cNvSpPr txBox="1"/>
          <p:nvPr/>
        </p:nvSpPr>
        <p:spPr>
          <a:xfrm>
            <a:off x="457200" y="4343400"/>
            <a:ext cx="11274552" cy="13716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STEP・DXFで情報が減る理由</a:t>
            </a:r>
          </a:p>
          <a:p>
            <a:pPr>
              <a:lnSpc>
                <a:spcPct val="125000"/>
              </a:lnSpc>
              <a:spcAft>
                <a:spcPts val="800"/>
              </a:spcAft>
            </a:pPr>
            <a:r>
              <a:rPr sz="1200" b="0">
                <a:solidFill>
                  <a:srgbClr val="1F1F1F"/>
                </a:solidFill>
                <a:latin typeface="Segoe UI"/>
                <a:ea typeface="游ゴシック Medium"/>
                <a:cs typeface="游ゴシック Medium"/>
              </a:rPr>
              <a:t>STEPとDXFは、CADの間でデータを受け渡すために変換された形式です。変換の時点で、材質の設定、質量、内部部品と外部参照部品の区別といった情報が落ちることがあります。落ちた情報は、後から復元できません。</a:t>
            </a:r>
          </a:p>
          <a:p>
            <a:pPr>
              <a:lnSpc>
                <a:spcPct val="125000"/>
              </a:lnSpc>
              <a:spcAft>
                <a:spcPts val="0"/>
              </a:spcAft>
            </a:pPr>
            <a:r>
              <a:rPr sz="1200" b="1">
                <a:solidFill>
                  <a:srgbClr val="1F1F1F"/>
                </a:solidFill>
                <a:latin typeface="Segoe UI"/>
                <a:ea typeface="游ゴシック Medium"/>
                <a:cs typeface="游ゴシック Medium"/>
              </a:rPr>
              <a:t>正式な材質や部品構成が必要な場合は、ICADの図面から直接読み取ります。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2D図面の、どこから取り出すか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図面の中の場所ごとに、決まる情報が違います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図枠（表題欄）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図面番号、図面名、改訂、尺度、用紙サイズ、設計者・検図者・承認者と各日付、材質、PRFX、ユニット番号</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注記・図面内の文字</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熱処理、硬度、表面処理、塗装の指示、規格の識別子</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寸法・公差</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寸法の有無、寸法公差の有無、幾何公差の有無</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溶接記号・溶接注記</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溶接指示の有無、すみ肉・全周の区別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バルーン・面粗さ・切断線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図面の特徴として件数を保持（用途の断定はしない）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レイヤー・ビュー・印刷枠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どの文字が図枠内か、どのビューの値かを判断するための手がかり</a:t>
                      </a:r>
                    </a:p>
                  </a:txBody>
                  <a:tcPr anchor="ctr" marL="82296">
                    <a:solidFill>
                      <a:srgbClr val="F5F7FA"/>
                    </a:solidFill>
                  </a:tcPr>
                </a:tc>
              </a:tr>
            </a:tbl>
          </a:graphicData>
        </a:graphic>
      </p:graphicFrame>
      <p:sp>
        <p:nvSpPr>
          <p:cNvPr id="5" name="TextBox 4"/>
          <p:cNvSpPr txBox="1"/>
          <p:nvPr/>
        </p:nvSpPr>
        <p:spPr>
          <a:xfrm>
            <a:off x="457200" y="4617720"/>
            <a:ext cx="11274552" cy="11887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図枠のラベルと値を対応づける条件</a:t>
            </a:r>
          </a:p>
          <a:p>
            <a:pPr>
              <a:lnSpc>
                <a:spcPct val="125000"/>
              </a:lnSpc>
              <a:spcAft>
                <a:spcPts val="0"/>
              </a:spcAft>
            </a:pPr>
            <a:r>
              <a:rPr sz="1200" b="0">
                <a:solidFill>
                  <a:srgbClr val="1F1F1F"/>
                </a:solidFill>
                <a:latin typeface="Segoe UI"/>
                <a:ea typeface="游ゴシック Medium"/>
                <a:cs typeface="游ゴシック Medium"/>
              </a:rPr>
              <a:t>「材質」などのラベルと、その値を対応づけるのは、同じ文字要素の中にある場合、またはその次の行にある場合、および名称欄で同じビュー・同じレイヤーに近接して並んでいる場合です。離れた文字どうしを座標だけで組み合わせる処理は行いません。会社ごとに図枠の作りが違い、誤った対応づけが起きるため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3Dモデルの、どこから取り出すか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モデルに設定されている値を読み、推定はしません</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モデル情報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モデル名、格納先、コメント</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部品ツリー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部品の親子構成、部品数、内部部品と外部参照部品の区別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部品ごとの材質設定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材質名、比重。本体側と外部参照部品側を分けて保持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質量特性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質量、重量、体積、表面積、密度、重心</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客先・装置カテゴリの判断に使う業務項目</a:t>
                      </a:r>
                    </a:p>
                  </a:txBody>
                  <a:tcPr anchor="ctr" marL="82296">
                    <a:solidFill>
                      <a:srgbClr val="FFFFFF"/>
                    </a:solidFill>
                  </a:tcPr>
                </a:tc>
              </a:tr>
            </a:tbl>
          </a:graphicData>
        </a:graphic>
      </p:graphicFrame>
      <p:sp>
        <p:nvSpPr>
          <p:cNvPr id="5" name="Rectangle 4"/>
          <p:cNvSpPr/>
          <p:nvPr/>
        </p:nvSpPr>
        <p:spPr>
          <a:xfrm>
            <a:off x="457200"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部品数の数え方</a:t>
            </a:r>
          </a:p>
        </p:txBody>
      </p:sp>
      <p:sp>
        <p:nvSpPr>
          <p:cNvPr id="7" name="TextBox 6"/>
          <p:cNvSpPr txBox="1"/>
          <p:nvPr/>
        </p:nvSpPr>
        <p:spPr>
          <a:xfrm>
            <a:off x="731520"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業務上の部品数は、外部参照部品を基準に数えます。モデル内部だけの部品は、参考情報として別に持ちます。</a:t>
            </a:r>
          </a:p>
        </p:txBody>
      </p:sp>
      <p:sp>
        <p:nvSpPr>
          <p:cNvPr id="8" name="Rectangle 7"/>
          <p:cNvSpPr/>
          <p:nvPr/>
        </p:nvSpPr>
        <p:spPr>
          <a:xfrm>
            <a:off x="4270248"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最上位パーツ名の扱い</a:t>
            </a:r>
          </a:p>
        </p:txBody>
      </p:sp>
      <p:sp>
        <p:nvSpPr>
          <p:cNvPr id="10" name="TextBox 9"/>
          <p:cNvSpPr txBox="1"/>
          <p:nvPr/>
        </p:nvSpPr>
        <p:spPr>
          <a:xfrm>
            <a:off x="4544568"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最上位パーツ名は図番相当のことがあるため、そのまま製品名・装置名・部品名には使いません。</a:t>
            </a:r>
          </a:p>
        </p:txBody>
      </p:sp>
      <p:sp>
        <p:nvSpPr>
          <p:cNvPr id="11" name="Rectangle 10"/>
          <p:cNvSpPr/>
          <p:nvPr/>
        </p:nvSpPr>
        <p:spPr>
          <a:xfrm>
            <a:off x="8083296"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材質の扱い</a:t>
            </a:r>
          </a:p>
        </p:txBody>
      </p:sp>
      <p:sp>
        <p:nvSpPr>
          <p:cNvPr id="13" name="TextBox 12"/>
          <p:cNvSpPr txBox="1"/>
          <p:nvPr/>
        </p:nvSpPr>
        <p:spPr>
          <a:xfrm>
            <a:off x="8357616"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本体の材質と、外部参照部品の材質を分けて保持します。材質と断定できない値は、正式な材質としては扱いません。</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取り出せる情報の一覧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全形式で同じ項目の枠を作り、取得できた項目だけを埋めます</a:t>
            </a:r>
          </a:p>
        </p:txBody>
      </p:sp>
      <p:graphicFrame>
        <p:nvGraphicFramePr>
          <p:cNvPr id="4" name="Table 3"/>
          <p:cNvGraphicFramePr>
            <a:graphicFrameLocks noGrp="1"/>
          </p:cNvGraphicFramePr>
          <p:nvPr/>
        </p:nvGraphicFramePr>
        <p:xfrm>
          <a:off x="457200" y="1645920"/>
          <a:ext cx="11274552" cy="3072384"/>
        </p:xfrm>
        <a:graphic>
          <a:graphicData uri="http://schemas.openxmlformats.org/drawingml/2006/table">
            <a:tbl>
              <a:tblPr firstRow="1" bandRow="1">
                <a:tableStyleId>{5C22544A-7EE6-4342-B048-85BDC9FD1C3A}</a:tableStyleId>
              </a:tblPr>
              <a:tblGrid>
                <a:gridCol w="2011680"/>
                <a:gridCol w="5943600"/>
                <a:gridCol w="3319272"/>
              </a:tblGrid>
              <a:tr h="384048">
                <a:tc>
                  <a:txBody>
                    <a:bodyPr wrap="square"/>
                    <a:lstStyle/>
                    <a:p>
                      <a:pPr>
                        <a:lnSpc>
                          <a:spcPct val="125000"/>
                        </a:lnSpc>
                        <a:spcAft>
                          <a:spcPts val="0"/>
                        </a:spcAft>
                      </a:pPr>
                      <a:r>
                        <a:rPr sz="1050" b="1">
                          <a:solidFill>
                            <a:srgbClr val="FFFFFF"/>
                          </a:solidFill>
                          <a:latin typeface="Segoe UI"/>
                          <a:ea typeface="游ゴシック Medium"/>
                          <a:cs typeface="游ゴシック Medium"/>
                        </a:rPr>
                        <a:t>分類</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代表的な項目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主な取得元</a:t>
                      </a:r>
                    </a:p>
                  </a:txBody>
                  <a:tcPr anchor="ctr" marL="82296">
                    <a:solidFill>
                      <a:srgbClr val="005BAC"/>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図面識別</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2D図枠、ファイル名</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名称</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部品名、製品名、装置名、ユニット名</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2D図枠、3D部品ツリー</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担当・日付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設計者、検図者、承認者と各日付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業務分類</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客先、案件、装置カテゴリ</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フォルダ構成、図枠、3D付加情報 ＋ 辞書</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構成・材質・質量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3Dモデル</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寸法、寸法公差、幾何公差、溶接、塗装、表面処理、熱処理・硬度</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2D注記</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出所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ファイル名、保存場所、形式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登録時の情報</a:t>
                      </a:r>
                    </a:p>
                  </a:txBody>
                  <a:tcPr anchor="ctr" marL="82296">
                    <a:solidFill>
                      <a:srgbClr val="FFFFFF"/>
                    </a:solidFill>
                  </a:tcPr>
                </a:tc>
              </a:tr>
            </a:tbl>
          </a:graphicData>
        </a:graphic>
      </p:graphicFrame>
      <p:sp>
        <p:nvSpPr>
          <p:cNvPr id="5" name="TextBox 4"/>
          <p:cNvSpPr txBox="1"/>
          <p:nvPr/>
        </p:nvSpPr>
        <p:spPr>
          <a:xfrm>
            <a:off x="457200" y="4892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項目の枠は入力形式によらず共通です。取得できなかった項目は空欄のまま残り、「値が0」と「取得できていない」を区別します。項目数は2D図面で133項目、3Dモデルで97項目です。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取り出した情報の形</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03</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Output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1図面あたりに何が残るか</a:t>
            </a:r>
          </a:p>
          <a:p>
            <a:pPr>
              <a:lnSpc>
                <a:spcPct val="125000"/>
              </a:lnSpc>
              <a:spcAft>
                <a:spcPts val="800"/>
              </a:spcAft>
            </a:pPr>
            <a:r>
              <a:rPr sz="1200" b="0">
                <a:solidFill>
                  <a:srgbClr val="1F1F1F"/>
                </a:solidFill>
                <a:latin typeface="Segoe UI"/>
                <a:ea typeface="游ゴシック Medium"/>
                <a:cs typeface="游ゴシック Medium"/>
              </a:rPr>
              <a:t>属性とタグは何が違うか</a:t>
            </a:r>
          </a:p>
          <a:p>
            <a:pPr>
              <a:lnSpc>
                <a:spcPct val="125000"/>
              </a:lnSpc>
              <a:spcAft>
                <a:spcPts val="800"/>
              </a:spcAft>
            </a:pPr>
            <a:r>
              <a:rPr sz="1200" b="0">
                <a:solidFill>
                  <a:srgbClr val="1F1F1F"/>
                </a:solidFill>
                <a:latin typeface="Segoe UI"/>
                <a:ea typeface="游ゴシック Medium"/>
                <a:cs typeface="游ゴシック Medium"/>
              </a:rPr>
              <a:t>確定できないときにどう扱うか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1図面あたり、何が残るか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1つのCADファイルにつき、次の4つがまとまって残ります</a:t>
            </a:r>
          </a:p>
        </p:txBody>
      </p:sp>
      <p:sp>
        <p:nvSpPr>
          <p:cNvPr id="4" name="Rectangle 3"/>
          <p:cNvSpPr/>
          <p:nvPr/>
        </p:nvSpPr>
        <p:spPr>
          <a:xfrm>
            <a:off x="457200" y="1645920"/>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92224"/>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① 読み取り結果</a:t>
            </a:r>
          </a:p>
        </p:txBody>
      </p:sp>
      <p:sp>
        <p:nvSpPr>
          <p:cNvPr id="6" name="TextBox 5"/>
          <p:cNvSpPr txBox="1"/>
          <p:nvPr/>
        </p:nvSpPr>
        <p:spPr>
          <a:xfrm>
            <a:off x="3200400" y="1792224"/>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図面から取り出した事実を、加工せずそのまま保持します。後から「なぜこの値になったか」を確認するための記録です。</a:t>
            </a:r>
          </a:p>
        </p:txBody>
      </p:sp>
      <p:sp>
        <p:nvSpPr>
          <p:cNvPr id="7" name="Rectangle 6"/>
          <p:cNvSpPr/>
          <p:nvPr/>
        </p:nvSpPr>
        <p:spPr>
          <a:xfrm>
            <a:off x="457200" y="2670048"/>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816352"/>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② 属性</a:t>
            </a:r>
          </a:p>
        </p:txBody>
      </p:sp>
      <p:sp>
        <p:nvSpPr>
          <p:cNvPr id="9" name="TextBox 8"/>
          <p:cNvSpPr txBox="1"/>
          <p:nvPr/>
        </p:nvSpPr>
        <p:spPr>
          <a:xfrm>
            <a:off x="3200400" y="2816352"/>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決まった項目名と値の組です。図面番号、材質、質量など、表示・比較・集計に使います。</a:t>
            </a:r>
          </a:p>
        </p:txBody>
      </p:sp>
      <p:sp>
        <p:nvSpPr>
          <p:cNvPr id="10" name="Rectangle 9"/>
          <p:cNvSpPr/>
          <p:nvPr/>
        </p:nvSpPr>
        <p:spPr>
          <a:xfrm>
            <a:off x="457200" y="3694176"/>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840480"/>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③ タグ</a:t>
            </a:r>
          </a:p>
        </p:txBody>
      </p:sp>
      <p:sp>
        <p:nvSpPr>
          <p:cNvPr id="12" name="TextBox 11"/>
          <p:cNvSpPr txBox="1"/>
          <p:nvPr/>
        </p:nvSpPr>
        <p:spPr>
          <a:xfrm>
            <a:off x="3200400" y="3840480"/>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属性から作った検索用の見出しです。根拠・確からしさ・理由が必ず付きます。</a:t>
            </a:r>
          </a:p>
        </p:txBody>
      </p:sp>
      <p:sp>
        <p:nvSpPr>
          <p:cNvPr id="13" name="Rectangle 12"/>
          <p:cNvSpPr/>
          <p:nvPr/>
        </p:nvSpPr>
        <p:spPr>
          <a:xfrm>
            <a:off x="457200" y="4718304"/>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864608"/>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④ 手動補正</a:t>
            </a:r>
          </a:p>
        </p:txBody>
      </p:sp>
      <p:sp>
        <p:nvSpPr>
          <p:cNvPr id="15" name="TextBox 14"/>
          <p:cNvSpPr txBox="1"/>
          <p:nvPr/>
        </p:nvSpPr>
        <p:spPr>
          <a:xfrm>
            <a:off x="3200400" y="4864608"/>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人が確認して直した内容です。読み取り直しても消えず、次回以降も保持されます。</a:t>
            </a:r>
          </a:p>
        </p:txBody>
      </p:sp>
      <p:sp>
        <p:nvSpPr>
          <p:cNvPr id="16" name="TextBox 15"/>
          <p:cNvSpPr txBox="1"/>
          <p:nvPr/>
        </p:nvSpPr>
        <p:spPr>
          <a:xfrm>
            <a:off x="457200" y="5806440"/>
            <a:ext cx="11274552" cy="640080"/>
          </a:xfrm>
          <a:prstGeom prst="rect">
            <a:avLst/>
          </a:prstGeom>
          <a:noFill/>
        </p:spPr>
        <p:txBody>
          <a:bodyPr wrap="square" lIns="0" rIns="0" tIns="0" bIns="0" anchor="t">
            <a:spAutoFit/>
          </a:bodyPr>
          <a:lstStyle/>
          <a:p>
            <a:pPr>
              <a:lnSpc>
                <a:spcPct val="125000"/>
              </a:lnSpc>
              <a:spcAft>
                <a:spcPts val="0"/>
              </a:spcAft>
            </a:pPr>
            <a:r>
              <a:rPr sz="1150" b="0">
                <a:solidFill>
                  <a:srgbClr val="5A5A5A"/>
                </a:solidFill>
                <a:latin typeface="Segoe UI"/>
                <a:ea typeface="游ゴシック Medium"/>
                <a:cs typeface="游ゴシック Medium"/>
              </a:rPr>
              <a:t>ICADの場合、2D図面と3Dモデルはそれぞれ読み取り、最後に照合して1図面ぶんへまとめます。同じ項目で値が食い違った場合は「競合」として記録し、人が確認するまで自動ではタグにしません。</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 → 属性 → タグ の順に作られます。どれも記録され、違いは使い道です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属性とタグは、何が違うか</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属性 ― 取り出した値そのもの</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タグ ― 探すための見出し</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・読み取った内容から、どれがどの項目かを判断して選んだ値</a:t>
            </a:r>
          </a:p>
          <a:p>
            <a:pPr>
              <a:lnSpc>
                <a:spcPct val="125000"/>
              </a:lnSpc>
              <a:spcAft>
                <a:spcPts val="700"/>
              </a:spcAft>
            </a:pPr>
            <a:r>
              <a:rPr sz="1200" b="0">
                <a:solidFill>
                  <a:srgbClr val="1F1F1F"/>
                </a:solidFill>
                <a:latin typeface="Segoe UI"/>
                <a:ea typeface="游ゴシック Medium"/>
                <a:cs typeface="游ゴシック Medium"/>
              </a:rPr>
              <a:t>・決まった項目名と、その値の組</a:t>
            </a:r>
          </a:p>
          <a:p>
            <a:pPr>
              <a:lnSpc>
                <a:spcPct val="125000"/>
              </a:lnSpc>
              <a:spcAft>
                <a:spcPts val="700"/>
              </a:spcAft>
            </a:pPr>
            <a:r>
              <a:rPr sz="1200" b="0">
                <a:solidFill>
                  <a:srgbClr val="1F1F1F"/>
                </a:solidFill>
                <a:latin typeface="Segoe UI"/>
                <a:ea typeface="游ゴシック Medium"/>
                <a:cs typeface="游ゴシック Medium"/>
              </a:rPr>
              <a:t>・1項目に1つの値。複数見つかった場合は候補として残す</a:t>
            </a:r>
          </a:p>
          <a:p>
            <a:pPr>
              <a:lnSpc>
                <a:spcPct val="125000"/>
              </a:lnSpc>
              <a:spcAft>
                <a:spcPts val="700"/>
              </a:spcAft>
            </a:pPr>
            <a:r>
              <a:rPr sz="1200" b="0">
                <a:solidFill>
                  <a:srgbClr val="1F1F1F"/>
                </a:solidFill>
                <a:latin typeface="Segoe UI"/>
                <a:ea typeface="游ゴシック Medium"/>
                <a:cs typeface="游ゴシック Medium"/>
              </a:rPr>
              <a:t>・用途は、表示・比較・集計</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a:t>
            </a:r>
          </a:p>
          <a:p>
            <a:pPr>
              <a:lnSpc>
                <a:spcPct val="125000"/>
              </a:lnSpc>
              <a:spcAft>
                <a:spcPts val="500"/>
              </a:spcAft>
            </a:pPr>
            <a:r>
              <a:rPr sz="1150" b="0">
                <a:solidFill>
                  <a:srgbClr val="1F1F1F"/>
                </a:solidFill>
                <a:latin typeface="Segoe UI"/>
                <a:ea typeface="游ゴシック Medium"/>
                <a:cs typeface="游ゴシック Medium"/>
              </a:rPr>
              <a:t>図面番号 ＝ SAMPLE-0001</a:t>
            </a:r>
          </a:p>
          <a:p>
            <a:pPr>
              <a:lnSpc>
                <a:spcPct val="125000"/>
              </a:lnSpc>
              <a:spcAft>
                <a:spcPts val="500"/>
              </a:spcAft>
            </a:pPr>
            <a:r>
              <a:rPr sz="1150" b="0">
                <a:solidFill>
                  <a:srgbClr val="1F1F1F"/>
                </a:solidFill>
                <a:latin typeface="Segoe UI"/>
                <a:ea typeface="游ゴシック Medium"/>
                <a:cs typeface="游ゴシック Medium"/>
              </a:rPr>
              <a:t>材質 ＝ SUS304</a:t>
            </a:r>
          </a:p>
          <a:p>
            <a:pPr>
              <a:lnSpc>
                <a:spcPct val="125000"/>
              </a:lnSpc>
              <a:spcAft>
                <a:spcPts val="500"/>
              </a:spcAft>
            </a:pPr>
            <a:r>
              <a:rPr sz="1150" b="0">
                <a:solidFill>
                  <a:srgbClr val="1F1F1F"/>
                </a:solidFill>
                <a:latin typeface="Segoe UI"/>
                <a:ea typeface="游ゴシック Medium"/>
                <a:cs typeface="游ゴシック Medium"/>
              </a:rPr>
              <a:t>質量 ＝ 4.8 kg</a:t>
            </a:r>
          </a:p>
          <a:p>
            <a:pPr>
              <a:lnSpc>
                <a:spcPct val="125000"/>
              </a:lnSpc>
              <a:spcAft>
                <a:spcPts val="0"/>
              </a:spcAft>
            </a:pPr>
            <a:r>
              <a:rPr sz="1150" b="0">
                <a:solidFill>
                  <a:srgbClr val="1F1F1F"/>
                </a:solidFill>
                <a:latin typeface="Segoe UI"/>
                <a:ea typeface="游ゴシック Medium"/>
                <a:cs typeface="游ゴシック Medium"/>
              </a:rPr>
              <a:t>寸法公差の件数 ＝ 12</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・属性から規則で作った、短い見出し</a:t>
            </a:r>
          </a:p>
          <a:p>
            <a:pPr>
              <a:lnSpc>
                <a:spcPct val="125000"/>
              </a:lnSpc>
              <a:spcAft>
                <a:spcPts val="700"/>
              </a:spcAft>
            </a:pPr>
            <a:r>
              <a:rPr sz="1200" b="0">
                <a:solidFill>
                  <a:srgbClr val="1F1F1F"/>
                </a:solidFill>
                <a:latin typeface="Segoe UI"/>
                <a:ea typeface="游ゴシック Medium"/>
                <a:cs typeface="游ゴシック Medium"/>
              </a:rPr>
              <a:t>・表記をそろえるため、書き方の違いを吸収できる</a:t>
            </a:r>
          </a:p>
          <a:p>
            <a:pPr>
              <a:lnSpc>
                <a:spcPct val="125000"/>
              </a:lnSpc>
              <a:spcAft>
                <a:spcPts val="700"/>
              </a:spcAft>
            </a:pPr>
            <a:r>
              <a:rPr sz="1200" b="0">
                <a:solidFill>
                  <a:srgbClr val="1F1F1F"/>
                </a:solidFill>
                <a:latin typeface="Segoe UI"/>
                <a:ea typeface="游ゴシック Medium"/>
                <a:cs typeface="游ゴシック Medium"/>
              </a:rPr>
              <a:t>・根拠・確からしさ・理由が必ず付く</a:t>
            </a:r>
          </a:p>
          <a:p>
            <a:pPr>
              <a:lnSpc>
                <a:spcPct val="125000"/>
              </a:lnSpc>
              <a:spcAft>
                <a:spcPts val="700"/>
              </a:spcAft>
            </a:pPr>
            <a:r>
              <a:rPr sz="1200" b="0">
                <a:solidFill>
                  <a:srgbClr val="1F1F1F"/>
                </a:solidFill>
                <a:latin typeface="Segoe UI"/>
                <a:ea typeface="游ゴシック Medium"/>
                <a:cs typeface="游ゴシック Medium"/>
              </a:rPr>
              <a:t>・用途は、絞り込み・分類</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例（上の属性から作られるもの）</a:t>
            </a:r>
          </a:p>
          <a:p>
            <a:pPr>
              <a:lnSpc>
                <a:spcPct val="125000"/>
              </a:lnSpc>
              <a:spcAft>
                <a:spcPts val="500"/>
              </a:spcAft>
            </a:pPr>
            <a:r>
              <a:rPr sz="1150" b="1">
                <a:solidFill>
                  <a:srgbClr val="005BAC"/>
                </a:solidFill>
                <a:latin typeface="Segoe UI"/>
                <a:ea typeface="游ゴシック Medium"/>
                <a:cs typeface="游ゴシック Medium"/>
              </a:rPr>
              <a:t>材質:SUS304</a:t>
            </a:r>
          </a:p>
          <a:p>
            <a:pPr>
              <a:lnSpc>
                <a:spcPct val="125000"/>
              </a:lnSpc>
              <a:spcAft>
                <a:spcPts val="500"/>
              </a:spcAft>
            </a:pPr>
            <a:r>
              <a:rPr sz="1150" b="1">
                <a:solidFill>
                  <a:srgbClr val="005BAC"/>
                </a:solidFill>
                <a:latin typeface="Segoe UI"/>
                <a:ea typeface="游ゴシック Medium"/>
                <a:cs typeface="游ゴシック Medium"/>
              </a:rPr>
              <a:t>客先:A社</a:t>
            </a:r>
          </a:p>
          <a:p>
            <a:pPr>
              <a:lnSpc>
                <a:spcPct val="125000"/>
              </a:lnSpc>
              <a:spcAft>
                <a:spcPts val="500"/>
              </a:spcAft>
            </a:pPr>
            <a:r>
              <a:rPr sz="1150" b="1">
                <a:solidFill>
                  <a:srgbClr val="005BAC"/>
                </a:solidFill>
                <a:latin typeface="Segoe UI"/>
                <a:ea typeface="游ゴシック Medium"/>
                <a:cs typeface="游ゴシック Medium"/>
              </a:rPr>
              <a:t>寸法公差あり</a:t>
            </a:r>
          </a:p>
          <a:p>
            <a:pPr>
              <a:lnSpc>
                <a:spcPct val="125000"/>
              </a:lnSpc>
              <a:spcAft>
                <a:spcPts val="0"/>
              </a:spcAft>
            </a:pPr>
            <a:r>
              <a:rPr sz="1100" b="0">
                <a:solidFill>
                  <a:srgbClr val="5A5A5A"/>
                </a:solidFill>
                <a:latin typeface="Segoe UI"/>
                <a:ea typeface="游ゴシック Medium"/>
                <a:cs typeface="游ゴシック Medium"/>
              </a:rPr>
              <a:t>（図面番号や質量は、タグにはしません）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タグの種類と、決まり方</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決まり方は3通りあります。いずれも根拠なしにタグは作りません</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286000"/>
                <a:gridCol w="5852160"/>
                <a:gridCol w="3136392"/>
              </a:tblGrid>
              <a:tr h="640080">
                <a:tc>
                  <a:txBody>
                    <a:bodyPr wrap="square"/>
                    <a:lstStyle/>
                    <a:p>
                      <a:pPr>
                        <a:lnSpc>
                          <a:spcPct val="125000"/>
                        </a:lnSpc>
                        <a:spcAft>
                          <a:spcPts val="0"/>
                        </a:spcAft>
                      </a:pPr>
                      <a:r>
                        <a:rPr sz="1050" b="1">
                          <a:solidFill>
                            <a:srgbClr val="FFFFFF"/>
                          </a:solidFill>
                          <a:latin typeface="Segoe UI"/>
                          <a:ea typeface="游ゴシック Medium"/>
                          <a:cs typeface="游ゴシック Medium"/>
                        </a:rPr>
                        <a:t>決まり方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タグの例</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元になる情報</a:t>
                      </a:r>
                    </a:p>
                  </a:txBody>
                  <a:tcPr anchor="ctr" marL="82296">
                    <a:solidFill>
                      <a:srgbClr val="005BAC"/>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辞書と照合して決まる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　案件:　装置:　メーカー:　材質:　熱処理:　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図枠の値、フォルダ構成、3Dの材質設定、図面内の注記</a:t>
                      </a:r>
                    </a:p>
                  </a:txBody>
                  <a:tcPr anchor="ctr" marL="82296">
                    <a:solidFill>
                      <a:srgbClr val="FFFFFF"/>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図面の中身で決まる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寸法あり　寸法公差あり　幾何公差あり　溶接指示あり　溶接:すみ肉／全周　硬度:HRC／HV</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2Dの寸法・公差・溶接記号・注記</a:t>
                      </a:r>
                    </a:p>
                  </a:txBody>
                  <a:tcPr anchor="ctr" marL="82296">
                    <a:solidFill>
                      <a:srgbClr val="F5F7FA"/>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図枠の値から決まる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表面処理:　塗装:　PRFX:　ユニット: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図枠、図面内の注記</a:t>
                      </a:r>
                    </a:p>
                  </a:txBody>
                  <a:tcPr anchor="ctr" marL="82296">
                    <a:solidFill>
                      <a:srgbClr val="FFFFFF"/>
                    </a:solidFill>
                  </a:tcPr>
                </a:tc>
              </a:tr>
            </a:tbl>
          </a:graphicData>
        </a:graphic>
      </p:graphicFrame>
      <p:sp>
        <p:nvSpPr>
          <p:cNvPr id="5" name="TextBox 4"/>
          <p:cNvSpPr txBox="1"/>
          <p:nvPr/>
        </p:nvSpPr>
        <p:spPr>
          <a:xfrm>
            <a:off x="457200" y="4389120"/>
            <a:ext cx="11274552" cy="16459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タグにしない情報（属性としては保持します）</a:t>
            </a:r>
          </a:p>
          <a:p>
            <a:pPr>
              <a:lnSpc>
                <a:spcPct val="125000"/>
              </a:lnSpc>
              <a:spcAft>
                <a:spcPts val="800"/>
              </a:spcAft>
            </a:pPr>
            <a:r>
              <a:rPr sz="1200" b="0">
                <a:solidFill>
                  <a:srgbClr val="1F1F1F"/>
                </a:solidFill>
                <a:latin typeface="Segoe UI"/>
                <a:ea typeface="游ゴシック Medium"/>
                <a:cs typeface="游ゴシック Medium"/>
              </a:rPr>
              <a:t>・図面名、部品名、製品名、装置名、ユニット名</a:t>
            </a:r>
          </a:p>
          <a:p>
            <a:pPr>
              <a:lnSpc>
                <a:spcPct val="125000"/>
              </a:lnSpc>
              <a:spcAft>
                <a:spcPts val="800"/>
              </a:spcAft>
            </a:pPr>
            <a:r>
              <a:rPr sz="1200" b="0">
                <a:solidFill>
                  <a:srgbClr val="1F1F1F"/>
                </a:solidFill>
                <a:latin typeface="Segoe UI"/>
                <a:ea typeface="游ゴシック Medium"/>
                <a:cs typeface="游ゴシック Medium"/>
              </a:rPr>
              <a:t>・図面番号、改訂、尺度、用紙サイズ</a:t>
            </a:r>
          </a:p>
          <a:p>
            <a:pPr>
              <a:lnSpc>
                <a:spcPct val="125000"/>
              </a:lnSpc>
              <a:spcAft>
                <a:spcPts val="800"/>
              </a:spcAft>
            </a:pPr>
            <a:r>
              <a:rPr sz="1200" b="0">
                <a:solidFill>
                  <a:srgbClr val="1F1F1F"/>
                </a:solidFill>
                <a:latin typeface="Segoe UI"/>
                <a:ea typeface="游ゴシック Medium"/>
                <a:cs typeface="游ゴシック Medium"/>
              </a:rPr>
              <a:t>・寸法や穴などの件数そのもの、形状の特徴だけで用途を断定できないもの</a:t>
            </a:r>
          </a:p>
          <a:p>
            <a:pPr>
              <a:lnSpc>
                <a:spcPct val="125000"/>
              </a:lnSpc>
              <a:spcAft>
                <a:spcPts val="800"/>
              </a:spcAft>
            </a:pPr>
            <a:r>
              <a:rPr sz="1200" b="0">
                <a:solidFill>
                  <a:srgbClr val="1F1F1F"/>
                </a:solidFill>
                <a:latin typeface="Segoe UI"/>
                <a:ea typeface="游ゴシック Medium"/>
                <a:cs typeface="游ゴシック Medium"/>
              </a:rPr>
              <a:t>・材質と断定できない値、2Dと3Dで食い違っている項目</a:t>
            </a:r>
          </a:p>
        </p:txBody>
      </p:sp>
      <p:sp>
        <p:nvSpPr>
          <p:cNvPr id="6" name="TextBox 5"/>
          <p:cNvSpPr txBox="1"/>
          <p:nvPr/>
        </p:nvSpPr>
        <p:spPr>
          <a:xfrm>
            <a:off x="457200" y="61722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一意でない値や件数をタグにすると、絞り込みの結果が広がりすぎて検索の役に立たなくなるためです。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辞書の役割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会社ごとに違う言葉は、処理ではなく辞書として持ちます</a:t>
            </a:r>
          </a:p>
        </p:txBody>
      </p:sp>
      <p:graphicFrame>
        <p:nvGraphicFramePr>
          <p:cNvPr id="4" name="Table 3"/>
          <p:cNvGraphicFramePr>
            <a:graphicFrameLocks noGrp="1"/>
          </p:cNvGraphicFramePr>
          <p:nvPr/>
        </p:nvGraphicFramePr>
        <p:xfrm>
          <a:off x="457200" y="1645920"/>
          <a:ext cx="5486400" cy="2926080"/>
        </p:xfrm>
        <a:graphic>
          <a:graphicData uri="http://schemas.openxmlformats.org/drawingml/2006/table">
            <a:tbl>
              <a:tblPr firstRow="1" bandRow="1">
                <a:tableStyleId>{5C22544A-7EE6-4342-B048-85BDC9FD1C3A}</a:tableStyleId>
              </a:tblPr>
              <a:tblGrid>
                <a:gridCol w="2194560"/>
                <a:gridCol w="3291840"/>
              </a:tblGrid>
              <a:tr h="365760">
                <a:tc>
                  <a:txBody>
                    <a:bodyPr wrap="square"/>
                    <a:lstStyle/>
                    <a:p>
                      <a:pPr>
                        <a:lnSpc>
                          <a:spcPct val="125000"/>
                        </a:lnSpc>
                        <a:spcAft>
                          <a:spcPts val="0"/>
                        </a:spcAft>
                      </a:pPr>
                      <a:r>
                        <a:rPr sz="1050" b="1">
                          <a:solidFill>
                            <a:srgbClr val="FFFFFF"/>
                          </a:solidFill>
                          <a:latin typeface="Segoe UI"/>
                          <a:ea typeface="游ゴシック Medium"/>
                          <a:cs typeface="游ゴシック Medium"/>
                        </a:rPr>
                        <a:t>辞書の種別</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用途</a:t>
                      </a:r>
                    </a:p>
                  </a:txBody>
                  <a:tcPr anchor="ctr" marL="82296">
                    <a:solidFill>
                      <a:srgbClr val="005BAC"/>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客先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案件</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案件名の判定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装置カテゴリ</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装置の種類の判定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メーカー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部品メーカー名の判定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規格識別子の判定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熱処理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熱処理指定の判定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部品名</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部品名候補の判定</a:t>
                      </a:r>
                    </a:p>
                  </a:txBody>
                  <a:tcPr anchor="ctr" marL="82296">
                    <a:solidFill>
                      <a:srgbClr val="FFFFFF"/>
                    </a:solidFill>
                  </a:tcPr>
                </a:tc>
              </a:tr>
            </a:tbl>
          </a:graphicData>
        </a:graphic>
      </p:graphicFrame>
      <p:sp>
        <p:nvSpPr>
          <p:cNvPr id="5" name="TextBox 4"/>
          <p:cNvSpPr txBox="1"/>
          <p:nvPr/>
        </p:nvSpPr>
        <p:spPr>
          <a:xfrm>
            <a:off x="6309360" y="1645920"/>
            <a:ext cx="5422392" cy="41148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辞書の中身</a:t>
            </a:r>
          </a:p>
          <a:p>
            <a:pPr>
              <a:lnSpc>
                <a:spcPct val="125000"/>
              </a:lnSpc>
              <a:spcAft>
                <a:spcPts val="800"/>
              </a:spcAft>
            </a:pPr>
            <a:r>
              <a:rPr sz="1200" b="0">
                <a:solidFill>
                  <a:srgbClr val="1F1F1F"/>
                </a:solidFill>
                <a:latin typeface="Segoe UI"/>
                <a:ea typeface="游ゴシック Medium"/>
                <a:cs typeface="游ゴシック Medium"/>
              </a:rPr>
              <a:t>・正式名と、その別名（表記ゆれ）の対応表</a:t>
            </a:r>
          </a:p>
          <a:p>
            <a:pPr>
              <a:lnSpc>
                <a:spcPct val="125000"/>
              </a:lnSpc>
              <a:spcAft>
                <a:spcPts val="800"/>
              </a:spcAft>
            </a:pPr>
            <a:r>
              <a:rPr sz="1200" b="0">
                <a:solidFill>
                  <a:srgbClr val="1F1F1F"/>
                </a:solidFill>
                <a:latin typeface="Segoe UI"/>
                <a:ea typeface="游ゴシック Medium"/>
                <a:cs typeface="游ゴシック Medium"/>
              </a:rPr>
              <a:t>・同じ語が複数種別に当たる場合の優先順位</a:t>
            </a:r>
          </a:p>
          <a:p>
            <a:pPr>
              <a:lnSpc>
                <a:spcPct val="125000"/>
              </a:lnSpc>
              <a:spcAft>
                <a:spcPts val="800"/>
              </a:spcAft>
            </a:pPr>
            <a:r>
              <a:rPr sz="1200" b="0">
                <a:solidFill>
                  <a:srgbClr val="1F1F1F"/>
                </a:solidFill>
                <a:latin typeface="Segoe UI"/>
                <a:ea typeface="游ゴシック Medium"/>
                <a:cs typeface="游ゴシック Medium"/>
              </a:rPr>
              <a:t>・使う・使わないの切り替え</a:t>
            </a:r>
          </a:p>
          <a:p>
            <a:pPr>
              <a:lnSpc>
                <a:spcPct val="125000"/>
              </a:lnSpc>
              <a:spcAft>
                <a:spcPts val="800"/>
              </a:spcAft>
            </a:pPr>
            <a:r>
              <a:rPr sz="800" b="0">
                <a:solidFill>
                  <a:srgbClr val="1F1F1F"/>
                </a:solidFill>
                <a:latin typeface="Segoe UI"/>
                <a:ea typeface="游ゴシック Medium"/>
                <a:cs typeface="游ゴシック Medium"/>
              </a:rPr>
              <a:t/>
            </a:r>
          </a:p>
          <a:p>
            <a:pPr>
              <a:lnSpc>
                <a:spcPct val="125000"/>
              </a:lnSpc>
              <a:spcAft>
                <a:spcPts val="800"/>
              </a:spcAft>
            </a:pPr>
            <a:r>
              <a:rPr sz="1300" b="1">
                <a:solidFill>
                  <a:srgbClr val="005BAC"/>
                </a:solidFill>
                <a:latin typeface="Segoe UI"/>
                <a:ea typeface="游ゴシック Medium"/>
                <a:cs typeface="游ゴシック Medium"/>
              </a:rPr>
              <a:t>増やし方と反映</a:t>
            </a:r>
          </a:p>
          <a:p>
            <a:pPr>
              <a:lnSpc>
                <a:spcPct val="125000"/>
              </a:lnSpc>
              <a:spcAft>
                <a:spcPts val="800"/>
              </a:spcAft>
            </a:pPr>
            <a:r>
              <a:rPr sz="1200" b="0">
                <a:solidFill>
                  <a:srgbClr val="1F1F1F"/>
                </a:solidFill>
                <a:latin typeface="Segoe UI"/>
                <a:ea typeface="游ゴシック Medium"/>
                <a:cs typeface="游ゴシック Medium"/>
              </a:rPr>
              <a:t>・画面から追加・修正できます。処理の変更は不要です</a:t>
            </a:r>
          </a:p>
          <a:p>
            <a:pPr>
              <a:lnSpc>
                <a:spcPct val="125000"/>
              </a:lnSpc>
              <a:spcAft>
                <a:spcPts val="800"/>
              </a:spcAft>
            </a:pPr>
            <a:r>
              <a:rPr sz="1200" b="0">
                <a:solidFill>
                  <a:srgbClr val="1F1F1F"/>
                </a:solidFill>
                <a:latin typeface="Segoe UI"/>
                <a:ea typeface="游ゴシック Medium"/>
                <a:cs typeface="游ゴシック Medium"/>
              </a:rPr>
              <a:t>・追加後に読み取り直すと、登録済みの図面にも反映されます</a:t>
            </a:r>
          </a:p>
          <a:p>
            <a:pPr>
              <a:lnSpc>
                <a:spcPct val="125000"/>
              </a:lnSpc>
              <a:spcAft>
                <a:spcPts val="800"/>
              </a:spcAft>
            </a:pPr>
            <a:r>
              <a:rPr sz="1200" b="0">
                <a:solidFill>
                  <a:srgbClr val="1F1F1F"/>
                </a:solidFill>
                <a:latin typeface="Segoe UI"/>
                <a:ea typeface="游ゴシック Medium"/>
                <a:cs typeface="游ゴシック Medium"/>
              </a:rPr>
              <a:t>・標準の辞書を用意していますが、実運用の語彙は登録が必要です</a:t>
            </a:r>
          </a:p>
        </p:txBody>
      </p:sp>
      <p:sp>
        <p:nvSpPr>
          <p:cNvPr id="6" name="TextBox 5"/>
          <p:cNvSpPr txBox="1"/>
          <p:nvPr/>
        </p:nvSpPr>
        <p:spPr>
          <a:xfrm>
            <a:off x="457200" y="58978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客先・装置・案件の見出しが付く量は、辞書へ登録した語彙の量で決まります。読み取りの精度とは別の要素です。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確定できないときの扱い</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推測で埋めず、判断できなかったことが分かる形で残します</a:t>
            </a:r>
          </a:p>
        </p:txBody>
      </p:sp>
      <p:sp>
        <p:nvSpPr>
          <p:cNvPr id="4" name="Rectangle 3"/>
          <p:cNvSpPr/>
          <p:nvPr/>
        </p:nvSpPr>
        <p:spPr>
          <a:xfrm>
            <a:off x="457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空欄のまま残す</a:t>
            </a:r>
          </a:p>
        </p:txBody>
      </p:sp>
      <p:sp>
        <p:nvSpPr>
          <p:cNvPr id="6" name="TextBox 5"/>
          <p:cNvSpPr txBox="1"/>
          <p:nvPr/>
        </p:nvSpPr>
        <p:spPr>
          <a:xfrm>
            <a:off x="749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読み取れなかった項目は空欄にします。「値が0」と「取得できていない」を区別します。</a:t>
            </a:r>
          </a:p>
        </p:txBody>
      </p:sp>
      <p:sp>
        <p:nvSpPr>
          <p:cNvPr id="7" name="Rectangle 6"/>
          <p:cNvSpPr/>
          <p:nvPr/>
        </p:nvSpPr>
        <p:spPr>
          <a:xfrm>
            <a:off x="6172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候補として残す</a:t>
            </a:r>
          </a:p>
        </p:txBody>
      </p:sp>
      <p:sp>
        <p:nvSpPr>
          <p:cNvPr id="9" name="TextBox 8"/>
          <p:cNvSpPr txBox="1"/>
          <p:nvPr/>
        </p:nvSpPr>
        <p:spPr>
          <a:xfrm>
            <a:off x="6464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候補が複数見つかった場合、1つに決めずに候補の一覧として保持します。</a:t>
            </a:r>
          </a:p>
        </p:txBody>
      </p:sp>
      <p:sp>
        <p:nvSpPr>
          <p:cNvPr id="10" name="Rectangle 9"/>
          <p:cNvSpPr/>
          <p:nvPr/>
        </p:nvSpPr>
        <p:spPr>
          <a:xfrm>
            <a:off x="457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警告として残す</a:t>
            </a:r>
          </a:p>
        </p:txBody>
      </p:sp>
      <p:sp>
        <p:nvSpPr>
          <p:cNvPr id="12" name="TextBox 11"/>
          <p:cNvSpPr txBox="1"/>
          <p:nvPr/>
        </p:nvSpPr>
        <p:spPr>
          <a:xfrm>
            <a:off x="749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読み取りに失敗した箇所や、判断材料が足りなかった箇所を記録します。</a:t>
            </a:r>
          </a:p>
        </p:txBody>
      </p:sp>
      <p:sp>
        <p:nvSpPr>
          <p:cNvPr id="13" name="Rectangle 12"/>
          <p:cNvSpPr/>
          <p:nvPr/>
        </p:nvSpPr>
        <p:spPr>
          <a:xfrm>
            <a:off x="6172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競合として記録する</a:t>
            </a:r>
          </a:p>
        </p:txBody>
      </p:sp>
      <p:sp>
        <p:nvSpPr>
          <p:cNvPr id="15" name="TextBox 14"/>
          <p:cNvSpPr txBox="1"/>
          <p:nvPr/>
        </p:nvSpPr>
        <p:spPr>
          <a:xfrm>
            <a:off x="6464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2Dと3Dで同じ項目の値が食い違う場合は競合として記録し、自動ではタグにしません。</a:t>
            </a:r>
          </a:p>
        </p:txBody>
      </p:sp>
      <p:sp>
        <p:nvSpPr>
          <p:cNvPr id="16" name="TextBox 15"/>
          <p:cNvSpPr txBox="1"/>
          <p:nvPr/>
        </p:nvSpPr>
        <p:spPr>
          <a:xfrm>
            <a:off x="457200" y="54406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誤った値が入ると、探した結果も誤り、確認の手間が増えます。空欄であれば、辞書へ語彙を足す、図枠の書き方をそろえる、人が補うといった対応を選べます。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導入の前提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04</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Prerequisites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動かすために必要な環境・データ・運用</a:t>
            </a:r>
          </a:p>
          <a:p>
            <a:pPr>
              <a:lnSpc>
                <a:spcPct val="125000"/>
              </a:lnSpc>
              <a:spcAft>
                <a:spcPts val="800"/>
              </a:spcAft>
            </a:pPr>
            <a:r>
              <a:rPr sz="1200" b="0">
                <a:solidFill>
                  <a:srgbClr val="1F1F1F"/>
                </a:solidFill>
                <a:latin typeface="Segoe UI"/>
                <a:ea typeface="游ゴシック Medium"/>
                <a:cs typeface="游ゴシック Medium"/>
              </a:rPr>
              <a:t>本機能が担当する範囲</a:t>
            </a:r>
          </a:p>
          <a:p>
            <a:pPr>
              <a:lnSpc>
                <a:spcPct val="125000"/>
              </a:lnSpc>
              <a:spcAft>
                <a:spcPts val="800"/>
              </a:spcAft>
            </a:pPr>
            <a:r>
              <a:rPr sz="1200" b="0">
                <a:solidFill>
                  <a:srgbClr val="1F1F1F"/>
                </a:solidFill>
                <a:latin typeface="Segoe UI"/>
                <a:ea typeface="游ゴシック Medium"/>
                <a:cs typeface="游ゴシック Medium"/>
              </a:rPr>
              <a:t>ナレッジシステム本体が担当する範囲</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必要なもの</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環境だけでなく、データと運用の準備が精度に直結します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1280160"/>
                <a:gridCol w="4937760"/>
                <a:gridCol w="505663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区分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補足</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ICADの図面から直接読み取る場合のみ必要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ナレッジシステムのサーバー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読み取った内容を保存し、検索できる状態にする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客先名・装置名・案件名などの語彙（辞書）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標準の辞書を用意。実運用の語彙は登録が必要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フォルダ階層と名称の規則</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客先・案件の判定精度に直結する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登録するタイミングと担当</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出図時に登録する運用にすると抜けが起きにくい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自動で付いた内容を確認・補正する導線</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補正した内容は読み取り直しても保持される</a:t>
                      </a:r>
                    </a:p>
                  </a:txBody>
                  <a:tcPr anchor="ctr" marL="82296">
                    <a:solidFill>
                      <a:srgbClr val="F5F7FA"/>
                    </a:solidFill>
                  </a:tcPr>
                </a:tc>
              </a:tr>
            </a:tbl>
          </a:graphicData>
        </a:graphic>
      </p:graphicFrame>
      <p:sp>
        <p:nvSpPr>
          <p:cNvPr id="5" name="TextBox 4"/>
          <p:cNvSpPr txBox="1"/>
          <p:nvPr/>
        </p:nvSpPr>
        <p:spPr>
          <a:xfrm>
            <a:off x="457200" y="461772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いずれも一度に完璧にする必要はありません。対象を絞って始め、運用しながら語彙と規則を足していく進め方を想定しています。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図面から属性とタグを作るところまでが本機能の範囲です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本機能の範囲と、ナレッジシステム本体との関係</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本機能が担当すること</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ナレッジシステム本体が担当すること</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・ICADの2D図面・3Dモデルからの読み取り</a:t>
            </a:r>
          </a:p>
          <a:p>
            <a:pPr>
              <a:lnSpc>
                <a:spcPct val="125000"/>
              </a:lnSpc>
              <a:spcAft>
                <a:spcPts val="700"/>
              </a:spcAft>
            </a:pPr>
            <a:r>
              <a:rPr sz="1200" b="0">
                <a:solidFill>
                  <a:srgbClr val="1F1F1F"/>
                </a:solidFill>
                <a:latin typeface="Segoe UI"/>
                <a:ea typeface="游ゴシック Medium"/>
                <a:cs typeface="游ゴシック Medium"/>
              </a:rPr>
              <a:t>・STEP・DXFからの読み取り</a:t>
            </a:r>
          </a:p>
          <a:p>
            <a:pPr>
              <a:lnSpc>
                <a:spcPct val="125000"/>
              </a:lnSpc>
              <a:spcAft>
                <a:spcPts val="700"/>
              </a:spcAft>
            </a:pPr>
            <a:r>
              <a:rPr sz="1200" b="0">
                <a:solidFill>
                  <a:srgbClr val="1F1F1F"/>
                </a:solidFill>
                <a:latin typeface="Segoe UI"/>
                <a:ea typeface="游ゴシック Medium"/>
                <a:cs typeface="游ゴシック Medium"/>
              </a:rPr>
              <a:t>・ICADからSTEP・DXFへの変換</a:t>
            </a:r>
          </a:p>
          <a:p>
            <a:pPr>
              <a:lnSpc>
                <a:spcPct val="125000"/>
              </a:lnSpc>
              <a:spcAft>
                <a:spcPts val="700"/>
              </a:spcAft>
            </a:pPr>
            <a:r>
              <a:rPr sz="1200" b="0">
                <a:solidFill>
                  <a:srgbClr val="1F1F1F"/>
                </a:solidFill>
                <a:latin typeface="Segoe UI"/>
                <a:ea typeface="游ゴシック Medium"/>
                <a:cs typeface="游ゴシック Medium"/>
              </a:rPr>
              <a:t>・共通項目への正規化</a:t>
            </a:r>
          </a:p>
          <a:p>
            <a:pPr>
              <a:lnSpc>
                <a:spcPct val="125000"/>
              </a:lnSpc>
              <a:spcAft>
                <a:spcPts val="700"/>
              </a:spcAft>
            </a:pPr>
            <a:r>
              <a:rPr sz="1200" b="0">
                <a:solidFill>
                  <a:srgbClr val="1F1F1F"/>
                </a:solidFill>
                <a:latin typeface="Segoe UI"/>
                <a:ea typeface="游ゴシック Medium"/>
                <a:cs typeface="游ゴシック Medium"/>
              </a:rPr>
              <a:t>・辞書照合によるタグ付与と、根拠の生成</a:t>
            </a:r>
          </a:p>
          <a:p>
            <a:pPr>
              <a:lnSpc>
                <a:spcPct val="125000"/>
              </a:lnSpc>
              <a:spcAft>
                <a:spcPts val="700"/>
              </a:spcAft>
            </a:pPr>
            <a:r>
              <a:rPr sz="1200" b="0">
                <a:solidFill>
                  <a:srgbClr val="1F1F1F"/>
                </a:solidFill>
                <a:latin typeface="Segoe UI"/>
                <a:ea typeface="游ゴシック Medium"/>
                <a:cs typeface="游ゴシック Medium"/>
              </a:rPr>
              <a:t>・2Dと3Dの照合、食い違いの記録</a:t>
            </a:r>
          </a:p>
          <a:p>
            <a:pPr>
              <a:lnSpc>
                <a:spcPct val="125000"/>
              </a:lnSpc>
              <a:spcAft>
                <a:spcPts val="700"/>
              </a:spcAft>
            </a:pPr>
            <a:r>
              <a:rPr sz="1200" b="0">
                <a:solidFill>
                  <a:srgbClr val="1F1F1F"/>
                </a:solidFill>
                <a:latin typeface="Segoe UI"/>
                <a:ea typeface="游ゴシック Medium"/>
                <a:cs typeface="游ゴシック Medium"/>
              </a:rPr>
              <a:t>・標準の辞書の用意</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・属性とタグの保存</a:t>
            </a:r>
          </a:p>
          <a:p>
            <a:pPr>
              <a:lnSpc>
                <a:spcPct val="125000"/>
              </a:lnSpc>
              <a:spcAft>
                <a:spcPts val="700"/>
              </a:spcAft>
            </a:pPr>
            <a:r>
              <a:rPr sz="1200" b="0">
                <a:solidFill>
                  <a:srgbClr val="1F1F1F"/>
                </a:solidFill>
                <a:latin typeface="Segoe UI"/>
                <a:ea typeface="游ゴシック Medium"/>
                <a:cs typeface="游ゴシック Medium"/>
              </a:rPr>
              <a:t>・検索の索引と、検索・一覧の画面</a:t>
            </a:r>
          </a:p>
          <a:p>
            <a:pPr>
              <a:lnSpc>
                <a:spcPct val="125000"/>
              </a:lnSpc>
              <a:spcAft>
                <a:spcPts val="700"/>
              </a:spcAft>
            </a:pPr>
            <a:r>
              <a:rPr sz="1200" b="0">
                <a:solidFill>
                  <a:srgbClr val="1F1F1F"/>
                </a:solidFill>
                <a:latin typeface="Segoe UI"/>
                <a:ea typeface="游ゴシック Medium"/>
                <a:cs typeface="游ゴシック Medium"/>
              </a:rPr>
              <a:t>・図面・製品・部品・案件との紐付け</a:t>
            </a:r>
          </a:p>
          <a:p>
            <a:pPr>
              <a:lnSpc>
                <a:spcPct val="125000"/>
              </a:lnSpc>
              <a:spcAft>
                <a:spcPts val="700"/>
              </a:spcAft>
            </a:pPr>
            <a:r>
              <a:rPr sz="1200" b="0">
                <a:solidFill>
                  <a:srgbClr val="1F1F1F"/>
                </a:solidFill>
                <a:latin typeface="Segoe UI"/>
                <a:ea typeface="游ゴシック Medium"/>
                <a:cs typeface="游ゴシック Medium"/>
              </a:rPr>
              <a:t>・利用者の権限と、承認の流れ</a:t>
            </a:r>
          </a:p>
          <a:p>
            <a:pPr>
              <a:lnSpc>
                <a:spcPct val="125000"/>
              </a:lnSpc>
              <a:spcAft>
                <a:spcPts val="700"/>
              </a:spcAft>
            </a:pPr>
            <a:r>
              <a:rPr sz="1200" b="0">
                <a:solidFill>
                  <a:srgbClr val="1F1F1F"/>
                </a:solidFill>
                <a:latin typeface="Segoe UI"/>
                <a:ea typeface="游ゴシック Medium"/>
                <a:cs typeface="游ゴシック Medium"/>
              </a:rPr>
              <a:t>・文書検索AIへの連携</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0"/>
              </a:spcAft>
            </a:pPr>
            <a:r>
              <a:rPr sz="1150" b="0">
                <a:solidFill>
                  <a:srgbClr val="5A5A5A"/>
                </a:solidFill>
                <a:latin typeface="Segoe UI"/>
                <a:ea typeface="游ゴシック Medium"/>
                <a:cs typeface="游ゴシック Medium"/>
              </a:rPr>
              <a:t>利用される方から見ると、図面を登録すればタグが付いた状態で検索できる、という一続きの動きになります。本機能とナレッジシステム本体の境目を意識する必要はありません。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フロー図</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05</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Flowcharts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業務フロー　誰が何をするか</a:t>
            </a:r>
          </a:p>
          <a:p>
            <a:pPr>
              <a:lnSpc>
                <a:spcPct val="125000"/>
              </a:lnSpc>
              <a:spcAft>
                <a:spcPts val="800"/>
              </a:spcAft>
            </a:pPr>
            <a:r>
              <a:rPr sz="1200" b="0">
                <a:solidFill>
                  <a:srgbClr val="1F1F1F"/>
                </a:solidFill>
                <a:latin typeface="Segoe UI"/>
                <a:ea typeface="游ゴシック Medium"/>
                <a:cs typeface="游ゴシック Medium"/>
              </a:rPr>
              <a:t>処理フロー　1図面が属性とタグになるまで</a:t>
            </a:r>
          </a:p>
          <a:p>
            <a:pPr>
              <a:lnSpc>
                <a:spcPct val="125000"/>
              </a:lnSpc>
              <a:spcAft>
                <a:spcPts val="800"/>
              </a:spcAft>
            </a:pPr>
            <a:r>
              <a:rPr sz="1200" b="0">
                <a:solidFill>
                  <a:srgbClr val="1F1F1F"/>
                </a:solidFill>
                <a:latin typeface="Segoe UI"/>
                <a:ea typeface="游ゴシック Medium"/>
                <a:cs typeface="游ゴシック Medium"/>
              </a:rPr>
              <a:t>導入の進め方　小さく試して広げるまで</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業務フロー　図面を登録してから、探して使うまで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誰が何をするか。色を付けた中段は、人の操作なしに自動で動く部分です</a:t>
            </a:r>
          </a:p>
        </p:txBody>
      </p:sp>
      <p:sp>
        <p:nvSpPr>
          <p:cNvPr id="4" name="Rectangle 3"/>
          <p:cNvSpPr/>
          <p:nvPr/>
        </p:nvSpPr>
        <p:spPr>
          <a:xfrm>
            <a:off x="457200" y="141732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57200" y="141732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設計者</a:t>
            </a:r>
          </a:p>
        </p:txBody>
      </p:sp>
      <p:sp>
        <p:nvSpPr>
          <p:cNvPr id="6" name="Rectangle 5"/>
          <p:cNvSpPr/>
          <p:nvPr/>
        </p:nvSpPr>
        <p:spPr>
          <a:xfrm>
            <a:off x="457200" y="2926080"/>
            <a:ext cx="11274552" cy="1508760"/>
          </a:xfrm>
          <a:prstGeom prst="rect">
            <a:avLst/>
          </a:prstGeom>
          <a:solidFill>
            <a:srgbClr val="E8F2F9"/>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292608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システム</a:t>
            </a:r>
            <a:br/>
            <a:r>
              <a:rPr sz="900" b="1">
                <a:solidFill>
                  <a:srgbClr val="FFFFFF"/>
                </a:solidFill>
                <a:latin typeface="Segoe UI"/>
                <a:ea typeface="游ゴシック Medium"/>
                <a:cs typeface="游ゴシック Medium"/>
              </a:rPr>
              <a:t>（自動）</a:t>
            </a:r>
          </a:p>
        </p:txBody>
      </p:sp>
      <p:sp>
        <p:nvSpPr>
          <p:cNvPr id="8" name="Rectangle 7"/>
          <p:cNvSpPr/>
          <p:nvPr/>
        </p:nvSpPr>
        <p:spPr>
          <a:xfrm>
            <a:off x="457200" y="443484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443484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確認担当</a:t>
            </a:r>
          </a:p>
        </p:txBody>
      </p:sp>
      <p:sp>
        <p:nvSpPr>
          <p:cNvPr id="10" name="Rounded Rectangle 9"/>
          <p:cNvSpPr/>
          <p:nvPr/>
        </p:nvSpPr>
        <p:spPr>
          <a:xfrm>
            <a:off x="1585432" y="1779422"/>
            <a:ext cx="1124529"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図面を作成し</a:t>
            </a:r>
            <a:br/>
            <a:r>
              <a:rPr sz="900" b="1">
                <a:solidFill>
                  <a:srgbClr val="1F1F1F"/>
                </a:solidFill>
                <a:latin typeface="Segoe UI"/>
                <a:ea typeface="游ゴシック Medium"/>
                <a:cs typeface="游ゴシック Medium"/>
              </a:rPr>
              <a:t>出図する</a:t>
            </a:r>
          </a:p>
          <a:p>
            <a:pPr algn="ctr">
              <a:lnSpc>
                <a:spcPct val="105000"/>
              </a:lnSpc>
              <a:spcAft>
                <a:spcPts val="0"/>
              </a:spcAft>
            </a:pPr>
            <a:r>
              <a:rPr sz="700" b="0">
                <a:solidFill>
                  <a:srgbClr val="5A5A5A"/>
                </a:solidFill>
                <a:latin typeface="Segoe UI"/>
                <a:ea typeface="游ゴシック Medium"/>
                <a:cs typeface="游ゴシック Medium"/>
              </a:rPr>
              <a:t>ICAD／STEP／DXF</a:t>
            </a:r>
          </a:p>
        </p:txBody>
      </p:sp>
      <p:sp>
        <p:nvSpPr>
          <p:cNvPr id="11" name="Rounded Rectangle 10"/>
          <p:cNvSpPr/>
          <p:nvPr/>
        </p:nvSpPr>
        <p:spPr>
          <a:xfrm>
            <a:off x="2863306" y="177942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システムへ</a:t>
            </a:r>
            <a:br/>
            <a:r>
              <a:rPr sz="900" b="1">
                <a:solidFill>
                  <a:srgbClr val="1F1F1F"/>
                </a:solidFill>
                <a:latin typeface="Segoe UI"/>
                <a:ea typeface="游ゴシック Medium"/>
                <a:cs typeface="游ゴシック Medium"/>
              </a:rPr>
              <a:t>登録する</a:t>
            </a:r>
          </a:p>
          <a:p>
            <a:pPr algn="ctr">
              <a:lnSpc>
                <a:spcPct val="105000"/>
              </a:lnSpc>
              <a:spcAft>
                <a:spcPts val="0"/>
              </a:spcAft>
            </a:pPr>
            <a:r>
              <a:rPr sz="700" b="0">
                <a:solidFill>
                  <a:srgbClr val="5A5A5A"/>
                </a:solidFill>
                <a:latin typeface="Segoe UI"/>
                <a:ea typeface="游ゴシック Medium"/>
                <a:cs typeface="游ゴシック Medium"/>
              </a:rPr>
              <a:t>出図時の登録が</a:t>
            </a:r>
            <a:br/>
            <a:r>
              <a:rPr sz="700" b="0">
                <a:solidFill>
                  <a:srgbClr val="5A5A5A"/>
                </a:solidFill>
                <a:latin typeface="Segoe UI"/>
                <a:ea typeface="游ゴシック Medium"/>
                <a:cs typeface="游ゴシック Medium"/>
              </a:rPr>
              <a:t>抜けにくい</a:t>
            </a:r>
          </a:p>
        </p:txBody>
      </p:sp>
      <p:sp>
        <p:nvSpPr>
          <p:cNvPr id="12" name="Rounded Rectangle 11"/>
          <p:cNvSpPr/>
          <p:nvPr/>
        </p:nvSpPr>
        <p:spPr>
          <a:xfrm>
            <a:off x="4141180" y="328818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図面の中身を</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元のファイルは</a:t>
            </a:r>
            <a:br/>
            <a:r>
              <a:rPr sz="700" b="0">
                <a:solidFill>
                  <a:srgbClr val="5A5A5A"/>
                </a:solidFill>
                <a:latin typeface="Segoe UI"/>
                <a:ea typeface="游ゴシック Medium"/>
                <a:cs typeface="游ゴシック Medium"/>
              </a:rPr>
              <a:t>変更しない</a:t>
            </a:r>
          </a:p>
        </p:txBody>
      </p:sp>
      <p:sp>
        <p:nvSpPr>
          <p:cNvPr id="13" name="Rounded Rectangle 12"/>
          <p:cNvSpPr/>
          <p:nvPr/>
        </p:nvSpPr>
        <p:spPr>
          <a:xfrm>
            <a:off x="5419054" y="328818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項目へ整理して</a:t>
            </a:r>
            <a:br/>
            <a:r>
              <a:rPr sz="900" b="1">
                <a:solidFill>
                  <a:srgbClr val="1F1F1F"/>
                </a:solidFill>
                <a:latin typeface="Segoe UI"/>
                <a:ea typeface="游ゴシック Medium"/>
                <a:cs typeface="游ゴシック Medium"/>
              </a:rPr>
              <a:t>属性にする</a:t>
            </a:r>
          </a:p>
          <a:p>
            <a:pPr algn="ctr">
              <a:lnSpc>
                <a:spcPct val="105000"/>
              </a:lnSpc>
              <a:spcAft>
                <a:spcPts val="0"/>
              </a:spcAft>
            </a:pPr>
            <a:r>
              <a:rPr sz="700" b="0">
                <a:solidFill>
                  <a:srgbClr val="5A5A5A"/>
                </a:solidFill>
                <a:latin typeface="Segoe UI"/>
                <a:ea typeface="游ゴシック Medium"/>
                <a:cs typeface="游ゴシック Medium"/>
              </a:rPr>
              <a:t>決められない項目は</a:t>
            </a:r>
            <a:br/>
            <a:r>
              <a:rPr sz="700" b="0">
                <a:solidFill>
                  <a:srgbClr val="5A5A5A"/>
                </a:solidFill>
                <a:latin typeface="Segoe UI"/>
                <a:ea typeface="游ゴシック Medium"/>
                <a:cs typeface="游ゴシック Medium"/>
              </a:rPr>
              <a:t>空欄で残す</a:t>
            </a:r>
          </a:p>
        </p:txBody>
      </p:sp>
      <p:sp>
        <p:nvSpPr>
          <p:cNvPr id="14" name="Rounded Rectangle 13"/>
          <p:cNvSpPr/>
          <p:nvPr/>
        </p:nvSpPr>
        <p:spPr>
          <a:xfrm>
            <a:off x="6696928" y="328818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辞書と照合して</a:t>
            </a:r>
            <a:br/>
            <a:r>
              <a:rPr sz="900" b="1">
                <a:solidFill>
                  <a:srgbClr val="1F1F1F"/>
                </a:solidFill>
                <a:latin typeface="Segoe UI"/>
                <a:ea typeface="游ゴシック Medium"/>
                <a:cs typeface="游ゴシック Medium"/>
              </a:rPr>
              <a:t>タグを付ける</a:t>
            </a:r>
          </a:p>
          <a:p>
            <a:pPr algn="ctr">
              <a:lnSpc>
                <a:spcPct val="105000"/>
              </a:lnSpc>
              <a:spcAft>
                <a:spcPts val="0"/>
              </a:spcAft>
            </a:pPr>
            <a:r>
              <a:rPr sz="700" b="0">
                <a:solidFill>
                  <a:srgbClr val="5A5A5A"/>
                </a:solidFill>
                <a:latin typeface="Segoe UI"/>
                <a:ea typeface="游ゴシック Medium"/>
                <a:cs typeface="游ゴシック Medium"/>
              </a:rPr>
              <a:t>根拠と確からしさを</a:t>
            </a:r>
            <a:br/>
            <a:r>
              <a:rPr sz="700" b="0">
                <a:solidFill>
                  <a:srgbClr val="5A5A5A"/>
                </a:solidFill>
                <a:latin typeface="Segoe UI"/>
                <a:ea typeface="游ゴシック Medium"/>
                <a:cs typeface="游ゴシック Medium"/>
              </a:rPr>
              <a:t>添える</a:t>
            </a:r>
          </a:p>
        </p:txBody>
      </p:sp>
      <p:sp>
        <p:nvSpPr>
          <p:cNvPr id="15" name="Rounded Rectangle 14"/>
          <p:cNvSpPr/>
          <p:nvPr/>
        </p:nvSpPr>
        <p:spPr>
          <a:xfrm>
            <a:off x="7974802" y="479694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自動で付いた</a:t>
            </a:r>
            <a:br/>
            <a:r>
              <a:rPr sz="900" b="1">
                <a:solidFill>
                  <a:srgbClr val="1F1F1F"/>
                </a:solidFill>
                <a:latin typeface="Segoe UI"/>
                <a:ea typeface="游ゴシック Medium"/>
                <a:cs typeface="游ゴシック Medium"/>
              </a:rPr>
              <a:t>内容を確認する</a:t>
            </a:r>
          </a:p>
          <a:p>
            <a:pPr algn="ctr">
              <a:lnSpc>
                <a:spcPct val="105000"/>
              </a:lnSpc>
              <a:spcAft>
                <a:spcPts val="0"/>
              </a:spcAft>
            </a:pPr>
            <a:r>
              <a:rPr sz="700" b="0">
                <a:solidFill>
                  <a:srgbClr val="5A5A5A"/>
                </a:solidFill>
                <a:latin typeface="Segoe UI"/>
                <a:ea typeface="游ゴシック Medium"/>
                <a:cs typeface="游ゴシック Medium"/>
              </a:rPr>
              <a:t>根拠を見て</a:t>
            </a:r>
            <a:br/>
            <a:r>
              <a:rPr sz="700" b="0">
                <a:solidFill>
                  <a:srgbClr val="5A5A5A"/>
                </a:solidFill>
                <a:latin typeface="Segoe UI"/>
                <a:ea typeface="游ゴシック Medium"/>
                <a:cs typeface="游ゴシック Medium"/>
              </a:rPr>
              <a:t>妥当性を判断する</a:t>
            </a:r>
          </a:p>
        </p:txBody>
      </p:sp>
      <p:sp>
        <p:nvSpPr>
          <p:cNvPr id="16" name="Rounded Rectangle 15"/>
          <p:cNvSpPr/>
          <p:nvPr/>
        </p:nvSpPr>
        <p:spPr>
          <a:xfrm>
            <a:off x="9252676" y="4796942"/>
            <a:ext cx="1124529"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補正する／</a:t>
            </a:r>
            <a:br/>
            <a:r>
              <a:rPr sz="900" b="1">
                <a:solidFill>
                  <a:srgbClr val="1F1F1F"/>
                </a:solidFill>
                <a:latin typeface="Segoe UI"/>
                <a:ea typeface="游ゴシック Medium"/>
                <a:cs typeface="游ゴシック Medium"/>
              </a:rPr>
              <a:t>語彙を足す</a:t>
            </a:r>
          </a:p>
          <a:p>
            <a:pPr algn="ctr">
              <a:lnSpc>
                <a:spcPct val="105000"/>
              </a:lnSpc>
              <a:spcAft>
                <a:spcPts val="0"/>
              </a:spcAft>
            </a:pPr>
            <a:r>
              <a:rPr sz="700" b="0">
                <a:solidFill>
                  <a:srgbClr val="5A5A5A"/>
                </a:solidFill>
                <a:latin typeface="Segoe UI"/>
                <a:ea typeface="游ゴシック Medium"/>
                <a:cs typeface="游ゴシック Medium"/>
              </a:rPr>
              <a:t>補正は読み取り</a:t>
            </a:r>
            <a:br/>
            <a:r>
              <a:rPr sz="700" b="0">
                <a:solidFill>
                  <a:srgbClr val="5A5A5A"/>
                </a:solidFill>
                <a:latin typeface="Segoe UI"/>
                <a:ea typeface="游ゴシック Medium"/>
                <a:cs typeface="游ゴシック Medium"/>
              </a:rPr>
              <a:t>直しても残る</a:t>
            </a:r>
          </a:p>
        </p:txBody>
      </p:sp>
      <p:sp>
        <p:nvSpPr>
          <p:cNvPr id="17" name="Rounded Rectangle 16"/>
          <p:cNvSpPr/>
          <p:nvPr/>
        </p:nvSpPr>
        <p:spPr>
          <a:xfrm>
            <a:off x="10530550" y="1779422"/>
            <a:ext cx="1124529"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タグで絞り込み</a:t>
            </a:r>
            <a:br/>
            <a:r>
              <a:rPr sz="900" b="1">
                <a:solidFill>
                  <a:srgbClr val="1F1F1F"/>
                </a:solidFill>
                <a:latin typeface="Segoe UI"/>
                <a:ea typeface="游ゴシック Medium"/>
                <a:cs typeface="游ゴシック Medium"/>
              </a:rPr>
              <a:t>図面を探す</a:t>
            </a:r>
          </a:p>
          <a:p>
            <a:pPr algn="ctr">
              <a:lnSpc>
                <a:spcPct val="105000"/>
              </a:lnSpc>
              <a:spcAft>
                <a:spcPts val="0"/>
              </a:spcAft>
            </a:pPr>
            <a:r>
              <a:rPr sz="700" b="0">
                <a:solidFill>
                  <a:srgbClr val="5A5A5A"/>
                </a:solidFill>
                <a:latin typeface="Segoe UI"/>
                <a:ea typeface="游ゴシック Medium"/>
                <a:cs typeface="游ゴシック Medium"/>
              </a:rPr>
              <a:t>客先・装置・材質</a:t>
            </a:r>
            <a:br/>
            <a:r>
              <a:rPr sz="700" b="0">
                <a:solidFill>
                  <a:srgbClr val="5A5A5A"/>
                </a:solidFill>
                <a:latin typeface="Segoe UI"/>
                <a:ea typeface="游ゴシック Medium"/>
                <a:cs typeface="游ゴシック Medium"/>
              </a:rPr>
              <a:t>などで絞る</a:t>
            </a:r>
          </a:p>
        </p:txBody>
      </p:sp>
      <p:cxnSp>
        <p:nvCxnSpPr>
          <p:cNvPr id="18" name="Connector 17"/>
          <p:cNvCxnSpPr/>
          <p:nvPr/>
        </p:nvCxnSpPr>
        <p:spPr>
          <a:xfrm>
            <a:off x="2709961" y="217170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987835" y="2171700"/>
            <a:ext cx="7667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64508"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064508" y="3680460"/>
            <a:ext cx="76672"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65709" y="368046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543583" y="368046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21457" y="3680460"/>
            <a:ext cx="76672"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98129"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98129" y="5189220"/>
            <a:ext cx="7667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099331" y="5189220"/>
            <a:ext cx="15334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377205" y="5189220"/>
            <a:ext cx="7667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453878"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53878" y="2171700"/>
            <a:ext cx="76672"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035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辞書へ語彙を足した後に読み取り直すと、登録済みの図面にも反映されます。確認と補正は、最初のうちだけでも行うと、どの項目が取りにくいかの傾向がつかめます。</a:t>
            </a:r>
          </a:p>
        </p:txBody>
      </p:sp>
      <p:sp>
        <p:nvSpPr>
          <p:cNvPr id="32" name="TextBox 31"/>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処理フロー　1図面が、属性とタグになるまで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形式による分かれ方と、2D図面・3Dモデルの照合まで。ICADが要るのは読み取りの部分だけです</a:t>
            </a:r>
          </a:p>
        </p:txBody>
      </p:sp>
      <p:sp>
        <p:nvSpPr>
          <p:cNvPr id="4" name="Rectangle 3"/>
          <p:cNvSpPr/>
          <p:nvPr/>
        </p:nvSpPr>
        <p:spPr>
          <a:xfrm>
            <a:off x="457200" y="141732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57200" y="141732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ナレッジ</a:t>
            </a:r>
            <a:br/>
            <a:r>
              <a:rPr sz="900" b="1">
                <a:solidFill>
                  <a:srgbClr val="FFFFFF"/>
                </a:solidFill>
                <a:latin typeface="Segoe UI"/>
                <a:ea typeface="游ゴシック Medium"/>
                <a:cs typeface="游ゴシック Medium"/>
              </a:rPr>
              <a:t>システム本体</a:t>
            </a:r>
          </a:p>
        </p:txBody>
      </p:sp>
      <p:sp>
        <p:nvSpPr>
          <p:cNvPr id="6" name="Rectangle 5"/>
          <p:cNvSpPr/>
          <p:nvPr/>
        </p:nvSpPr>
        <p:spPr>
          <a:xfrm>
            <a:off x="457200" y="292608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292608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ICADが動くPC</a:t>
            </a:r>
          </a:p>
        </p:txBody>
      </p:sp>
      <p:sp>
        <p:nvSpPr>
          <p:cNvPr id="8" name="Rectangle 7"/>
          <p:cNvSpPr/>
          <p:nvPr/>
        </p:nvSpPr>
        <p:spPr>
          <a:xfrm>
            <a:off x="457200" y="443484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443484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一般PC</a:t>
            </a:r>
            <a:br/>
            <a:r>
              <a:rPr sz="900" b="1">
                <a:solidFill>
                  <a:srgbClr val="FFFFFF"/>
                </a:solidFill>
                <a:latin typeface="Segoe UI"/>
                <a:ea typeface="游ゴシック Medium"/>
                <a:cs typeface="游ゴシック Medium"/>
              </a:rPr>
              <a:t>（サーバー）</a:t>
            </a:r>
          </a:p>
        </p:txBody>
      </p:sp>
      <p:sp>
        <p:nvSpPr>
          <p:cNvPr id="10" name="Rounded Rectangle 9"/>
          <p:cNvSpPr/>
          <p:nvPr/>
        </p:nvSpPr>
        <p:spPr>
          <a:xfrm>
            <a:off x="1576913"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図面を</a:t>
            </a:r>
            <a:br/>
            <a:r>
              <a:rPr sz="900" b="1">
                <a:solidFill>
                  <a:srgbClr val="1F1F1F"/>
                </a:solidFill>
                <a:latin typeface="Segoe UI"/>
                <a:ea typeface="游ゴシック Medium"/>
                <a:cs typeface="游ゴシック Medium"/>
              </a:rPr>
              <a:t>登録する</a:t>
            </a:r>
          </a:p>
          <a:p>
            <a:pPr algn="ctr">
              <a:lnSpc>
                <a:spcPct val="105000"/>
              </a:lnSpc>
              <a:spcAft>
                <a:spcPts val="0"/>
              </a:spcAft>
            </a:pPr>
            <a:r>
              <a:rPr sz="700" b="0">
                <a:solidFill>
                  <a:srgbClr val="5A5A5A"/>
                </a:solidFill>
                <a:latin typeface="Segoe UI"/>
                <a:ea typeface="游ゴシック Medium"/>
                <a:cs typeface="游ゴシック Medium"/>
              </a:rPr>
              <a:t>ICAD／STEP</a:t>
            </a:r>
            <a:br/>
            <a:r>
              <a:rPr sz="700" b="0">
                <a:solidFill>
                  <a:srgbClr val="5A5A5A"/>
                </a:solidFill>
                <a:latin typeface="Segoe UI"/>
                <a:ea typeface="游ゴシック Medium"/>
                <a:cs typeface="游ゴシック Medium"/>
              </a:rPr>
              <a:t>DXF</a:t>
            </a:r>
          </a:p>
        </p:txBody>
      </p:sp>
      <p:sp>
        <p:nvSpPr>
          <p:cNvPr id="11" name="Hexagon 10"/>
          <p:cNvSpPr/>
          <p:nvPr/>
        </p:nvSpPr>
        <p:spPr>
          <a:xfrm>
            <a:off x="2712801" y="3288182"/>
            <a:ext cx="999581" cy="784555"/>
          </a:xfrm>
          <a:prstGeom prst="hexagon">
            <a:avLst/>
          </a:prstGeom>
          <a:solidFill>
            <a:srgbClr val="F5F7FA"/>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0"/>
              </a:spcAft>
            </a:pPr>
            <a:r>
              <a:rPr sz="900" b="1">
                <a:solidFill>
                  <a:srgbClr val="1F1F1F"/>
                </a:solidFill>
                <a:latin typeface="Segoe UI"/>
                <a:ea typeface="游ゴシック Medium"/>
                <a:cs typeface="游ゴシック Medium"/>
              </a:rPr>
              <a:t>形式で</a:t>
            </a:r>
            <a:br/>
            <a:r>
              <a:rPr sz="900" b="1">
                <a:solidFill>
                  <a:srgbClr val="1F1F1F"/>
                </a:solidFill>
                <a:latin typeface="Segoe UI"/>
                <a:ea typeface="游ゴシック Medium"/>
                <a:cs typeface="游ゴシック Medium"/>
              </a:rPr>
              <a:t>分かれる</a:t>
            </a:r>
          </a:p>
        </p:txBody>
      </p:sp>
      <p:sp>
        <p:nvSpPr>
          <p:cNvPr id="12" name="Rounded Rectangle 11"/>
          <p:cNvSpPr/>
          <p:nvPr/>
        </p:nvSpPr>
        <p:spPr>
          <a:xfrm>
            <a:off x="3848689"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2D図面を</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ICADのとき</a:t>
            </a:r>
            <a:br/>
            <a:r>
              <a:rPr sz="700" b="0">
                <a:solidFill>
                  <a:srgbClr val="5A5A5A"/>
                </a:solidFill>
                <a:latin typeface="Segoe UI"/>
                <a:ea typeface="游ゴシック Medium"/>
                <a:cs typeface="游ゴシック Medium"/>
              </a:rPr>
              <a:t>図枠・注記・寸法</a:t>
            </a:r>
          </a:p>
        </p:txBody>
      </p:sp>
      <p:sp>
        <p:nvSpPr>
          <p:cNvPr id="13" name="Rounded Rectangle 12"/>
          <p:cNvSpPr/>
          <p:nvPr/>
        </p:nvSpPr>
        <p:spPr>
          <a:xfrm>
            <a:off x="4984577"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3Dモデルを</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部品構成・材質</a:t>
            </a:r>
            <a:br/>
            <a:r>
              <a:rPr sz="700" b="0">
                <a:solidFill>
                  <a:srgbClr val="5A5A5A"/>
                </a:solidFill>
                <a:latin typeface="Segoe UI"/>
                <a:ea typeface="游ゴシック Medium"/>
                <a:cs typeface="游ゴシック Medium"/>
              </a:rPr>
              <a:t>質量</a:t>
            </a:r>
          </a:p>
        </p:txBody>
      </p:sp>
      <p:sp>
        <p:nvSpPr>
          <p:cNvPr id="14" name="Rounded Rectangle 13"/>
          <p:cNvSpPr/>
          <p:nvPr/>
        </p:nvSpPr>
        <p:spPr>
          <a:xfrm>
            <a:off x="3848689"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STEP／DXF</a:t>
            </a:r>
            <a:br/>
            <a:r>
              <a:rPr sz="900" b="1">
                <a:solidFill>
                  <a:srgbClr val="1F1F1F"/>
                </a:solidFill>
                <a:latin typeface="Segoe UI"/>
                <a:ea typeface="游ゴシック Medium"/>
                <a:cs typeface="游ゴシック Medium"/>
              </a:rPr>
              <a:t>を読み取る</a:t>
            </a:r>
          </a:p>
          <a:p>
            <a:pPr algn="ctr">
              <a:lnSpc>
                <a:spcPct val="105000"/>
              </a:lnSpc>
              <a:spcAft>
                <a:spcPts val="0"/>
              </a:spcAft>
            </a:pPr>
            <a:r>
              <a:rPr sz="700" b="0">
                <a:solidFill>
                  <a:srgbClr val="5A5A5A"/>
                </a:solidFill>
                <a:latin typeface="Segoe UI"/>
                <a:ea typeface="游ゴシック Medium"/>
                <a:cs typeface="游ゴシック Medium"/>
              </a:rPr>
              <a:t>文字・階層</a:t>
            </a:r>
            <a:br/>
            <a:r>
              <a:rPr sz="700" b="0">
                <a:solidFill>
                  <a:srgbClr val="5A5A5A"/>
                </a:solidFill>
                <a:latin typeface="Segoe UI"/>
                <a:ea typeface="游ゴシック Medium"/>
                <a:cs typeface="游ゴシック Medium"/>
              </a:rPr>
              <a:t>レイヤー</a:t>
            </a:r>
          </a:p>
        </p:txBody>
      </p:sp>
      <p:sp>
        <p:nvSpPr>
          <p:cNvPr id="15" name="Rounded Rectangle 14"/>
          <p:cNvSpPr/>
          <p:nvPr/>
        </p:nvSpPr>
        <p:spPr>
          <a:xfrm>
            <a:off x="6120465"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項目へ整理して</a:t>
            </a:r>
            <a:br/>
            <a:r>
              <a:rPr sz="900" b="1">
                <a:solidFill>
                  <a:srgbClr val="1F1F1F"/>
                </a:solidFill>
                <a:latin typeface="Segoe UI"/>
                <a:ea typeface="游ゴシック Medium"/>
                <a:cs typeface="游ゴシック Medium"/>
              </a:rPr>
              <a:t>属性にする</a:t>
            </a:r>
          </a:p>
          <a:p>
            <a:pPr algn="ctr">
              <a:lnSpc>
                <a:spcPct val="105000"/>
              </a:lnSpc>
              <a:spcAft>
                <a:spcPts val="0"/>
              </a:spcAft>
            </a:pPr>
            <a:r>
              <a:rPr sz="700" b="0">
                <a:solidFill>
                  <a:srgbClr val="5A5A5A"/>
                </a:solidFill>
                <a:latin typeface="Segoe UI"/>
                <a:ea typeface="游ゴシック Medium"/>
                <a:cs typeface="游ゴシック Medium"/>
              </a:rPr>
              <a:t>どれがどの項目か</a:t>
            </a:r>
            <a:br/>
            <a:r>
              <a:rPr sz="700" b="0">
                <a:solidFill>
                  <a:srgbClr val="5A5A5A"/>
                </a:solidFill>
                <a:latin typeface="Segoe UI"/>
                <a:ea typeface="游ゴシック Medium"/>
                <a:cs typeface="游ゴシック Medium"/>
              </a:rPr>
              <a:t>判断する</a:t>
            </a:r>
          </a:p>
        </p:txBody>
      </p:sp>
      <p:sp>
        <p:nvSpPr>
          <p:cNvPr id="16" name="Rounded Rectangle 15"/>
          <p:cNvSpPr/>
          <p:nvPr/>
        </p:nvSpPr>
        <p:spPr>
          <a:xfrm>
            <a:off x="7256353"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辞書と照合して</a:t>
            </a:r>
            <a:br/>
            <a:r>
              <a:rPr sz="900" b="1">
                <a:solidFill>
                  <a:srgbClr val="1F1F1F"/>
                </a:solidFill>
                <a:latin typeface="Segoe UI"/>
                <a:ea typeface="游ゴシック Medium"/>
                <a:cs typeface="游ゴシック Medium"/>
              </a:rPr>
              <a:t>タグを付ける</a:t>
            </a:r>
          </a:p>
          <a:p>
            <a:pPr algn="ctr">
              <a:lnSpc>
                <a:spcPct val="105000"/>
              </a:lnSpc>
              <a:spcAft>
                <a:spcPts val="0"/>
              </a:spcAft>
            </a:pPr>
            <a:r>
              <a:rPr sz="700" b="0">
                <a:solidFill>
                  <a:srgbClr val="5A5A5A"/>
                </a:solidFill>
                <a:latin typeface="Segoe UI"/>
                <a:ea typeface="游ゴシック Medium"/>
                <a:cs typeface="游ゴシック Medium"/>
              </a:rPr>
              <a:t>根拠・確からしさ</a:t>
            </a:r>
            <a:br/>
            <a:r>
              <a:rPr sz="700" b="0">
                <a:solidFill>
                  <a:srgbClr val="5A5A5A"/>
                </a:solidFill>
                <a:latin typeface="Segoe UI"/>
                <a:ea typeface="游ゴシック Medium"/>
                <a:cs typeface="游ゴシック Medium"/>
              </a:rPr>
              <a:t>理由を添える</a:t>
            </a:r>
          </a:p>
        </p:txBody>
      </p:sp>
      <p:sp>
        <p:nvSpPr>
          <p:cNvPr id="17" name="Rounded Rectangle 16"/>
          <p:cNvSpPr/>
          <p:nvPr/>
        </p:nvSpPr>
        <p:spPr>
          <a:xfrm>
            <a:off x="8392241"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2Dと3Dを</a:t>
            </a:r>
            <a:br/>
            <a:r>
              <a:rPr sz="900" b="1">
                <a:solidFill>
                  <a:srgbClr val="1F1F1F"/>
                </a:solidFill>
                <a:latin typeface="Segoe UI"/>
                <a:ea typeface="游ゴシック Medium"/>
                <a:cs typeface="游ゴシック Medium"/>
              </a:rPr>
              <a:t>照合する</a:t>
            </a:r>
          </a:p>
          <a:p>
            <a:pPr algn="ctr">
              <a:lnSpc>
                <a:spcPct val="105000"/>
              </a:lnSpc>
              <a:spcAft>
                <a:spcPts val="0"/>
              </a:spcAft>
            </a:pPr>
            <a:r>
              <a:rPr sz="700" b="0">
                <a:solidFill>
                  <a:srgbClr val="5A5A5A"/>
                </a:solidFill>
                <a:latin typeface="Segoe UI"/>
                <a:ea typeface="游ゴシック Medium"/>
                <a:cs typeface="游ゴシック Medium"/>
              </a:rPr>
              <a:t>食い違いは競合</a:t>
            </a:r>
            <a:br/>
            <a:r>
              <a:rPr sz="700" b="0">
                <a:solidFill>
                  <a:srgbClr val="5A5A5A"/>
                </a:solidFill>
                <a:latin typeface="Segoe UI"/>
                <a:ea typeface="游ゴシック Medium"/>
                <a:cs typeface="游ゴシック Medium"/>
              </a:rPr>
              <a:t>として記録</a:t>
            </a:r>
          </a:p>
        </p:txBody>
      </p:sp>
      <p:sp>
        <p:nvSpPr>
          <p:cNvPr id="18" name="Rounded Rectangle 17"/>
          <p:cNvSpPr/>
          <p:nvPr/>
        </p:nvSpPr>
        <p:spPr>
          <a:xfrm>
            <a:off x="9528129"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属性・タグ・</a:t>
            </a:r>
            <a:br/>
            <a:r>
              <a:rPr sz="900" b="1">
                <a:solidFill>
                  <a:srgbClr val="1F1F1F"/>
                </a:solidFill>
                <a:latin typeface="Segoe UI"/>
                <a:ea typeface="游ゴシック Medium"/>
                <a:cs typeface="游ゴシック Medium"/>
              </a:rPr>
              <a:t>根拠を保存</a:t>
            </a:r>
          </a:p>
          <a:p>
            <a:pPr algn="ctr">
              <a:lnSpc>
                <a:spcPct val="105000"/>
              </a:lnSpc>
              <a:spcAft>
                <a:spcPts val="0"/>
              </a:spcAft>
            </a:pPr>
            <a:r>
              <a:rPr sz="700" b="0">
                <a:solidFill>
                  <a:srgbClr val="5A5A5A"/>
                </a:solidFill>
                <a:latin typeface="Segoe UI"/>
                <a:ea typeface="游ゴシック Medium"/>
                <a:cs typeface="游ゴシック Medium"/>
              </a:rPr>
              <a:t>読み取った内容も</a:t>
            </a:r>
            <a:br/>
            <a:r>
              <a:rPr sz="700" b="0">
                <a:solidFill>
                  <a:srgbClr val="5A5A5A"/>
                </a:solidFill>
                <a:latin typeface="Segoe UI"/>
                <a:ea typeface="游ゴシック Medium"/>
                <a:cs typeface="游ゴシック Medium"/>
              </a:rPr>
              <a:t>残す</a:t>
            </a:r>
          </a:p>
        </p:txBody>
      </p:sp>
      <p:sp>
        <p:nvSpPr>
          <p:cNvPr id="19" name="Rounded Rectangle 18"/>
          <p:cNvSpPr/>
          <p:nvPr/>
        </p:nvSpPr>
        <p:spPr>
          <a:xfrm>
            <a:off x="10664017"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タグで検索</a:t>
            </a:r>
            <a:br/>
            <a:r>
              <a:rPr sz="900" b="1">
                <a:solidFill>
                  <a:srgbClr val="1F1F1F"/>
                </a:solidFill>
                <a:latin typeface="Segoe UI"/>
                <a:ea typeface="游ゴシック Medium"/>
                <a:cs typeface="游ゴシック Medium"/>
              </a:rPr>
              <a:t>できる状態に</a:t>
            </a:r>
          </a:p>
          <a:p>
            <a:pPr algn="ctr">
              <a:lnSpc>
                <a:spcPct val="105000"/>
              </a:lnSpc>
              <a:spcAft>
                <a:spcPts val="0"/>
              </a:spcAft>
            </a:pPr>
            <a:r>
              <a:rPr sz="700" b="0">
                <a:solidFill>
                  <a:srgbClr val="5A5A5A"/>
                </a:solidFill>
                <a:latin typeface="Segoe UI"/>
                <a:ea typeface="游ゴシック Medium"/>
                <a:cs typeface="游ゴシック Medium"/>
              </a:rPr>
              <a:t>以降の検索に</a:t>
            </a:r>
            <a:br/>
            <a:r>
              <a:rPr sz="700" b="0">
                <a:solidFill>
                  <a:srgbClr val="5A5A5A"/>
                </a:solidFill>
                <a:latin typeface="Segoe UI"/>
                <a:ea typeface="游ゴシック Medium"/>
                <a:cs typeface="游ゴシック Medium"/>
              </a:rPr>
              <a:t>ICADは不要</a:t>
            </a:r>
          </a:p>
        </p:txBody>
      </p:sp>
      <p:cxnSp>
        <p:nvCxnSpPr>
          <p:cNvPr id="20" name="Connector 19"/>
          <p:cNvCxnSpPr/>
          <p:nvPr/>
        </p:nvCxnSpPr>
        <p:spPr>
          <a:xfrm>
            <a:off x="2576494" y="2171700"/>
            <a:ext cx="68154"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644648"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644648" y="3680460"/>
            <a:ext cx="6815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12382" y="368046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12382" y="368046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80535"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80535" y="518922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48270" y="368046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984158" y="368046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52311"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52311" y="518922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848270" y="5189220"/>
            <a:ext cx="1272195"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120046" y="518922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255934" y="518922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391822" y="518922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9459975"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459975" y="217170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527710" y="217170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57200" y="6035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読み取りは1図面につき1回動かします。図面ごとに独立しているため、失敗した図面だけをやり直せます。図面を訂正して登録し直すと、その図面だけを読み取り直し、人が手で直した内容は保持されます。</a:t>
            </a:r>
          </a:p>
        </p:txBody>
      </p:sp>
      <p:sp>
        <p:nvSpPr>
          <p:cNvPr id="39" name="TextBox 38"/>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導入の進め方　小さく試して、効果を確かめて、広げる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最初から全体に広げず、対象を絞って始めます。語彙と規則は運用しながら足していきます</a:t>
            </a:r>
          </a:p>
        </p:txBody>
      </p:sp>
      <p:sp>
        <p:nvSpPr>
          <p:cNvPr id="4" name="Rectangle 3"/>
          <p:cNvSpPr/>
          <p:nvPr/>
        </p:nvSpPr>
        <p:spPr>
          <a:xfrm>
            <a:off x="457200" y="141732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57200" y="141732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決める・</a:t>
            </a:r>
            <a:br/>
            <a:r>
              <a:rPr sz="900" b="1">
                <a:solidFill>
                  <a:srgbClr val="FFFFFF"/>
                </a:solidFill>
                <a:latin typeface="Segoe UI"/>
                <a:ea typeface="游ゴシック Medium"/>
                <a:cs typeface="游ゴシック Medium"/>
              </a:rPr>
              <a:t>準備する</a:t>
            </a:r>
          </a:p>
        </p:txBody>
      </p:sp>
      <p:sp>
        <p:nvSpPr>
          <p:cNvPr id="6" name="Rectangle 5"/>
          <p:cNvSpPr/>
          <p:nvPr/>
        </p:nvSpPr>
        <p:spPr>
          <a:xfrm>
            <a:off x="457200" y="292608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292608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動かす</a:t>
            </a:r>
          </a:p>
        </p:txBody>
      </p:sp>
      <p:sp>
        <p:nvSpPr>
          <p:cNvPr id="8" name="Rectangle 7"/>
          <p:cNvSpPr/>
          <p:nvPr/>
        </p:nvSpPr>
        <p:spPr>
          <a:xfrm>
            <a:off x="457200" y="4434840"/>
            <a:ext cx="11274552" cy="1508760"/>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4434840"/>
            <a:ext cx="1051560" cy="1508760"/>
          </a:xfrm>
          <a:prstGeom prst="rect">
            <a:avLst/>
          </a:prstGeom>
          <a:solidFill>
            <a:srgbClr val="005BAC"/>
          </a:solidFill>
          <a:ln>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0"/>
              </a:spcAft>
            </a:pPr>
            <a:r>
              <a:rPr sz="900" b="1">
                <a:solidFill>
                  <a:srgbClr val="FFFFFF"/>
                </a:solidFill>
                <a:latin typeface="Segoe UI"/>
                <a:ea typeface="游ゴシック Medium"/>
                <a:cs typeface="游ゴシック Medium"/>
              </a:rPr>
              <a:t>確かめる</a:t>
            </a:r>
          </a:p>
        </p:txBody>
      </p:sp>
      <p:sp>
        <p:nvSpPr>
          <p:cNvPr id="10" name="Rounded Rectangle 9"/>
          <p:cNvSpPr/>
          <p:nvPr/>
        </p:nvSpPr>
        <p:spPr>
          <a:xfrm>
            <a:off x="1576913"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対象を1つの</a:t>
            </a:r>
            <a:br/>
            <a:r>
              <a:rPr sz="900" b="1">
                <a:solidFill>
                  <a:srgbClr val="1F1F1F"/>
                </a:solidFill>
                <a:latin typeface="Segoe UI"/>
                <a:ea typeface="游ゴシック Medium"/>
                <a:cs typeface="游ゴシック Medium"/>
              </a:rPr>
              <a:t>案件に絞る</a:t>
            </a:r>
          </a:p>
          <a:p>
            <a:pPr algn="ctr">
              <a:lnSpc>
                <a:spcPct val="105000"/>
              </a:lnSpc>
              <a:spcAft>
                <a:spcPts val="0"/>
              </a:spcAft>
            </a:pPr>
            <a:r>
              <a:rPr sz="700" b="0">
                <a:solidFill>
                  <a:srgbClr val="5A5A5A"/>
                </a:solidFill>
                <a:latin typeface="Segoe UI"/>
                <a:ea typeface="游ゴシック Medium"/>
                <a:cs typeface="游ゴシック Medium"/>
              </a:rPr>
              <a:t>1装置ぶんから</a:t>
            </a:r>
            <a:br/>
            <a:r>
              <a:rPr sz="700" b="0">
                <a:solidFill>
                  <a:srgbClr val="5A5A5A"/>
                </a:solidFill>
                <a:latin typeface="Segoe UI"/>
                <a:ea typeface="游ゴシック Medium"/>
                <a:cs typeface="游ゴシック Medium"/>
              </a:rPr>
              <a:t>始める</a:t>
            </a:r>
          </a:p>
        </p:txBody>
      </p:sp>
      <p:sp>
        <p:nvSpPr>
          <p:cNvPr id="11" name="Rounded Rectangle 10"/>
          <p:cNvSpPr/>
          <p:nvPr/>
        </p:nvSpPr>
        <p:spPr>
          <a:xfrm>
            <a:off x="2712801"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対象範囲の</a:t>
            </a:r>
            <a:br/>
            <a:r>
              <a:rPr sz="900" b="1">
                <a:solidFill>
                  <a:srgbClr val="1F1F1F"/>
                </a:solidFill>
                <a:latin typeface="Segoe UI"/>
                <a:ea typeface="游ゴシック Medium"/>
                <a:cs typeface="游ゴシック Medium"/>
              </a:rPr>
              <a:t>図面を集める</a:t>
            </a:r>
          </a:p>
          <a:p>
            <a:pPr algn="ctr">
              <a:lnSpc>
                <a:spcPct val="105000"/>
              </a:lnSpc>
              <a:spcAft>
                <a:spcPts val="0"/>
              </a:spcAft>
            </a:pPr>
            <a:r>
              <a:rPr sz="700" b="0">
                <a:solidFill>
                  <a:srgbClr val="5A5A5A"/>
                </a:solidFill>
                <a:latin typeface="Segoe UI"/>
                <a:ea typeface="游ゴシック Medium"/>
                <a:cs typeface="游ゴシック Medium"/>
              </a:rPr>
              <a:t>過去の図面も</a:t>
            </a:r>
            <a:br/>
            <a:r>
              <a:rPr sz="700" b="0">
                <a:solidFill>
                  <a:srgbClr val="5A5A5A"/>
                </a:solidFill>
                <a:latin typeface="Segoe UI"/>
                <a:ea typeface="游ゴシック Medium"/>
                <a:cs typeface="游ゴシック Medium"/>
              </a:rPr>
              <a:t>対象にできる</a:t>
            </a:r>
          </a:p>
        </p:txBody>
      </p:sp>
      <p:sp>
        <p:nvSpPr>
          <p:cNvPr id="12" name="Rounded Rectangle 11"/>
          <p:cNvSpPr/>
          <p:nvPr/>
        </p:nvSpPr>
        <p:spPr>
          <a:xfrm>
            <a:off x="3848689"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図面を登録して</a:t>
            </a:r>
            <a:br/>
            <a:r>
              <a:rPr sz="900" b="1">
                <a:solidFill>
                  <a:srgbClr val="1F1F1F"/>
                </a:solidFill>
                <a:latin typeface="Segoe UI"/>
                <a:ea typeface="游ゴシック Medium"/>
                <a:cs typeface="游ゴシック Medium"/>
              </a:rPr>
              <a:t>読み取る</a:t>
            </a:r>
          </a:p>
          <a:p>
            <a:pPr algn="ctr">
              <a:lnSpc>
                <a:spcPct val="105000"/>
              </a:lnSpc>
              <a:spcAft>
                <a:spcPts val="0"/>
              </a:spcAft>
            </a:pPr>
            <a:r>
              <a:rPr sz="700" b="0">
                <a:solidFill>
                  <a:srgbClr val="5A5A5A"/>
                </a:solidFill>
                <a:latin typeface="Segoe UI"/>
                <a:ea typeface="游ゴシック Medium"/>
                <a:cs typeface="游ゴシック Medium"/>
              </a:rPr>
              <a:t>自動でタグまで</a:t>
            </a:r>
            <a:br/>
            <a:r>
              <a:rPr sz="700" b="0">
                <a:solidFill>
                  <a:srgbClr val="5A5A5A"/>
                </a:solidFill>
                <a:latin typeface="Segoe UI"/>
                <a:ea typeface="游ゴシック Medium"/>
                <a:cs typeface="游ゴシック Medium"/>
              </a:rPr>
              <a:t>付く</a:t>
            </a:r>
          </a:p>
        </p:txBody>
      </p:sp>
      <p:sp>
        <p:nvSpPr>
          <p:cNvPr id="13" name="Rounded Rectangle 12"/>
          <p:cNvSpPr/>
          <p:nvPr/>
        </p:nvSpPr>
        <p:spPr>
          <a:xfrm>
            <a:off x="4984577"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取り出せた</a:t>
            </a:r>
            <a:br/>
            <a:r>
              <a:rPr sz="900" b="1">
                <a:solidFill>
                  <a:srgbClr val="1F1F1F"/>
                </a:solidFill>
                <a:latin typeface="Segoe UI"/>
                <a:ea typeface="游ゴシック Medium"/>
                <a:cs typeface="游ゴシック Medium"/>
              </a:rPr>
              <a:t>範囲を見る</a:t>
            </a:r>
          </a:p>
          <a:p>
            <a:pPr algn="ctr">
              <a:lnSpc>
                <a:spcPct val="105000"/>
              </a:lnSpc>
              <a:spcAft>
                <a:spcPts val="0"/>
              </a:spcAft>
            </a:pPr>
            <a:r>
              <a:rPr sz="700" b="0">
                <a:solidFill>
                  <a:srgbClr val="5A5A5A"/>
                </a:solidFill>
                <a:latin typeface="Segoe UI"/>
                <a:ea typeface="游ゴシック Medium"/>
                <a:cs typeface="游ゴシック Medium"/>
              </a:rPr>
              <a:t>空欄・候補・警告</a:t>
            </a:r>
            <a:br/>
            <a:r>
              <a:rPr sz="700" b="0">
                <a:solidFill>
                  <a:srgbClr val="5A5A5A"/>
                </a:solidFill>
                <a:latin typeface="Segoe UI"/>
                <a:ea typeface="游ゴシック Medium"/>
                <a:cs typeface="游ゴシック Medium"/>
              </a:rPr>
              <a:t>を確認する</a:t>
            </a:r>
          </a:p>
        </p:txBody>
      </p:sp>
      <p:sp>
        <p:nvSpPr>
          <p:cNvPr id="14" name="Rounded Rectangle 13"/>
          <p:cNvSpPr/>
          <p:nvPr/>
        </p:nvSpPr>
        <p:spPr>
          <a:xfrm>
            <a:off x="6120465"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客先名・装置名</a:t>
            </a:r>
            <a:br/>
            <a:r>
              <a:rPr sz="900" b="1">
                <a:solidFill>
                  <a:srgbClr val="1F1F1F"/>
                </a:solidFill>
                <a:latin typeface="Segoe UI"/>
                <a:ea typeface="游ゴシック Medium"/>
                <a:cs typeface="游ゴシック Medium"/>
              </a:rPr>
              <a:t>を辞書へ登録</a:t>
            </a:r>
          </a:p>
          <a:p>
            <a:pPr algn="ctr">
              <a:lnSpc>
                <a:spcPct val="105000"/>
              </a:lnSpc>
              <a:spcAft>
                <a:spcPts val="0"/>
              </a:spcAft>
            </a:pPr>
            <a:r>
              <a:rPr sz="700" b="0">
                <a:solidFill>
                  <a:srgbClr val="5A5A5A"/>
                </a:solidFill>
                <a:latin typeface="Segoe UI"/>
                <a:ea typeface="游ゴシック Medium"/>
                <a:cs typeface="游ゴシック Medium"/>
              </a:rPr>
              <a:t>見出しの数は</a:t>
            </a:r>
            <a:br/>
            <a:r>
              <a:rPr sz="700" b="0">
                <a:solidFill>
                  <a:srgbClr val="5A5A5A"/>
                </a:solidFill>
                <a:latin typeface="Segoe UI"/>
                <a:ea typeface="游ゴシック Medium"/>
                <a:cs typeface="游ゴシック Medium"/>
              </a:rPr>
              <a:t>ここで決まる</a:t>
            </a:r>
          </a:p>
        </p:txBody>
      </p:sp>
      <p:sp>
        <p:nvSpPr>
          <p:cNvPr id="15" name="Rounded Rectangle 14"/>
          <p:cNvSpPr/>
          <p:nvPr/>
        </p:nvSpPr>
        <p:spPr>
          <a:xfrm>
            <a:off x="7256353" y="177942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フォルダ階層と</a:t>
            </a:r>
            <a:br/>
            <a:r>
              <a:rPr sz="900" b="1">
                <a:solidFill>
                  <a:srgbClr val="1F1F1F"/>
                </a:solidFill>
                <a:latin typeface="Segoe UI"/>
                <a:ea typeface="游ゴシック Medium"/>
                <a:cs typeface="游ゴシック Medium"/>
              </a:rPr>
              <a:t>名称を決める</a:t>
            </a:r>
          </a:p>
          <a:p>
            <a:pPr algn="ctr">
              <a:lnSpc>
                <a:spcPct val="105000"/>
              </a:lnSpc>
              <a:spcAft>
                <a:spcPts val="0"/>
              </a:spcAft>
            </a:pPr>
            <a:r>
              <a:rPr sz="700" b="0">
                <a:solidFill>
                  <a:srgbClr val="5A5A5A"/>
                </a:solidFill>
                <a:latin typeface="Segoe UI"/>
                <a:ea typeface="游ゴシック Medium"/>
                <a:cs typeface="游ゴシック Medium"/>
              </a:rPr>
              <a:t>今後の新規案件</a:t>
            </a:r>
            <a:br/>
            <a:r>
              <a:rPr sz="700" b="0">
                <a:solidFill>
                  <a:srgbClr val="5A5A5A"/>
                </a:solidFill>
                <a:latin typeface="Segoe UI"/>
                <a:ea typeface="游ゴシック Medium"/>
                <a:cs typeface="游ゴシック Medium"/>
              </a:rPr>
              <a:t>からでよい</a:t>
            </a:r>
          </a:p>
        </p:txBody>
      </p:sp>
      <p:sp>
        <p:nvSpPr>
          <p:cNvPr id="16" name="Rounded Rectangle 15"/>
          <p:cNvSpPr/>
          <p:nvPr/>
        </p:nvSpPr>
        <p:spPr>
          <a:xfrm>
            <a:off x="8392241" y="328818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読み取り直して</a:t>
            </a:r>
            <a:br/>
            <a:r>
              <a:rPr sz="900" b="1">
                <a:solidFill>
                  <a:srgbClr val="1F1F1F"/>
                </a:solidFill>
                <a:latin typeface="Segoe UI"/>
                <a:ea typeface="游ゴシック Medium"/>
                <a:cs typeface="游ゴシック Medium"/>
              </a:rPr>
              <a:t>反映する</a:t>
            </a:r>
          </a:p>
          <a:p>
            <a:pPr algn="ctr">
              <a:lnSpc>
                <a:spcPct val="105000"/>
              </a:lnSpc>
              <a:spcAft>
                <a:spcPts val="0"/>
              </a:spcAft>
            </a:pPr>
            <a:r>
              <a:rPr sz="700" b="0">
                <a:solidFill>
                  <a:srgbClr val="5A5A5A"/>
                </a:solidFill>
                <a:latin typeface="Segoe UI"/>
                <a:ea typeface="游ゴシック Medium"/>
                <a:cs typeface="游ゴシック Medium"/>
              </a:rPr>
              <a:t>登録済みの図面</a:t>
            </a:r>
            <a:br/>
            <a:r>
              <a:rPr sz="700" b="0">
                <a:solidFill>
                  <a:srgbClr val="5A5A5A"/>
                </a:solidFill>
                <a:latin typeface="Segoe UI"/>
                <a:ea typeface="游ゴシック Medium"/>
                <a:cs typeface="游ゴシック Medium"/>
              </a:rPr>
              <a:t>にも反映される</a:t>
            </a:r>
          </a:p>
        </p:txBody>
      </p:sp>
      <p:sp>
        <p:nvSpPr>
          <p:cNvPr id="17" name="Rounded Rectangle 16"/>
          <p:cNvSpPr/>
          <p:nvPr/>
        </p:nvSpPr>
        <p:spPr>
          <a:xfrm>
            <a:off x="9528129" y="4796942"/>
            <a:ext cx="999581" cy="784555"/>
          </a:xfrm>
          <a:prstGeom prst="roundRect">
            <a:avLst>
              <a:gd name="adj" fmla="val 12000"/>
            </a:avLst>
          </a:prstGeom>
          <a:solidFill>
            <a:srgbClr val="FFFFFF"/>
          </a:solidFill>
          <a:ln w="1270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精度の変化を</a:t>
            </a:r>
            <a:br/>
            <a:r>
              <a:rPr sz="900" b="1">
                <a:solidFill>
                  <a:srgbClr val="1F1F1F"/>
                </a:solidFill>
                <a:latin typeface="Segoe UI"/>
                <a:ea typeface="游ゴシック Medium"/>
                <a:cs typeface="游ゴシック Medium"/>
              </a:rPr>
              <a:t>確認する</a:t>
            </a:r>
          </a:p>
          <a:p>
            <a:pPr algn="ctr">
              <a:lnSpc>
                <a:spcPct val="105000"/>
              </a:lnSpc>
              <a:spcAft>
                <a:spcPts val="0"/>
              </a:spcAft>
            </a:pPr>
            <a:r>
              <a:rPr sz="700" b="0">
                <a:solidFill>
                  <a:srgbClr val="5A5A5A"/>
                </a:solidFill>
                <a:latin typeface="Segoe UI"/>
                <a:ea typeface="游ゴシック Medium"/>
                <a:cs typeface="游ゴシック Medium"/>
              </a:rPr>
              <a:t>付いた見出しの</a:t>
            </a:r>
            <a:br/>
            <a:r>
              <a:rPr sz="700" b="0">
                <a:solidFill>
                  <a:srgbClr val="5A5A5A"/>
                </a:solidFill>
                <a:latin typeface="Segoe UI"/>
                <a:ea typeface="游ゴシック Medium"/>
                <a:cs typeface="游ゴシック Medium"/>
              </a:rPr>
              <a:t>増え方を見る</a:t>
            </a:r>
          </a:p>
        </p:txBody>
      </p:sp>
      <p:sp>
        <p:nvSpPr>
          <p:cNvPr id="18" name="Rounded Rectangle 17"/>
          <p:cNvSpPr/>
          <p:nvPr/>
        </p:nvSpPr>
        <p:spPr>
          <a:xfrm>
            <a:off x="10664017" y="1779422"/>
            <a:ext cx="999581" cy="784555"/>
          </a:xfrm>
          <a:prstGeom prst="roundRect">
            <a:avLst/>
          </a:prstGeom>
          <a:solidFill>
            <a:srgbClr val="FFFFFF"/>
          </a:solidFill>
          <a:ln w="19050">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10000"/>
              </a:lnSpc>
              <a:spcAft>
                <a:spcPts val="100"/>
              </a:spcAft>
            </a:pPr>
            <a:r>
              <a:rPr sz="900" b="1">
                <a:solidFill>
                  <a:srgbClr val="1F1F1F"/>
                </a:solidFill>
                <a:latin typeface="Segoe UI"/>
                <a:ea typeface="游ゴシック Medium"/>
                <a:cs typeface="游ゴシック Medium"/>
              </a:rPr>
              <a:t>範囲を広げて</a:t>
            </a:r>
            <a:br/>
            <a:r>
              <a:rPr sz="900" b="1">
                <a:solidFill>
                  <a:srgbClr val="1F1F1F"/>
                </a:solidFill>
                <a:latin typeface="Segoe UI"/>
                <a:ea typeface="游ゴシック Medium"/>
                <a:cs typeface="游ゴシック Medium"/>
              </a:rPr>
              <a:t>効果を測る</a:t>
            </a:r>
          </a:p>
          <a:p>
            <a:pPr algn="ctr">
              <a:lnSpc>
                <a:spcPct val="105000"/>
              </a:lnSpc>
              <a:spcAft>
                <a:spcPts val="0"/>
              </a:spcAft>
            </a:pPr>
            <a:r>
              <a:rPr sz="700" b="0">
                <a:solidFill>
                  <a:srgbClr val="5A5A5A"/>
                </a:solidFill>
                <a:latin typeface="Segoe UI"/>
                <a:ea typeface="游ゴシック Medium"/>
                <a:cs typeface="游ゴシック Medium"/>
              </a:rPr>
              <a:t>探す時間の変化を</a:t>
            </a:r>
            <a:br/>
            <a:r>
              <a:rPr sz="700" b="0">
                <a:solidFill>
                  <a:srgbClr val="5A5A5A"/>
                </a:solidFill>
                <a:latin typeface="Segoe UI"/>
                <a:ea typeface="游ゴシック Medium"/>
                <a:cs typeface="游ゴシック Medium"/>
              </a:rPr>
              <a:t>実測する</a:t>
            </a:r>
          </a:p>
        </p:txBody>
      </p:sp>
      <p:cxnSp>
        <p:nvCxnSpPr>
          <p:cNvPr id="19" name="Connector 18"/>
          <p:cNvCxnSpPr/>
          <p:nvPr/>
        </p:nvCxnSpPr>
        <p:spPr>
          <a:xfrm>
            <a:off x="2576494" y="217170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12382" y="217170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80535"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80535" y="368046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848270" y="3680460"/>
            <a:ext cx="68154"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16424"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916424" y="5189220"/>
            <a:ext cx="6815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84158" y="518922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52311"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52311" y="217170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120046" y="2171700"/>
            <a:ext cx="136307"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255934" y="217170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324087" y="217170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324087" y="368046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391822" y="3680460"/>
            <a:ext cx="68153"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459975" y="3680460"/>
            <a:ext cx="0" cy="150876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59975" y="5189220"/>
            <a:ext cx="68154"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527710" y="5189220"/>
            <a:ext cx="68154" cy="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0595864" y="2171700"/>
            <a:ext cx="0" cy="3017520"/>
          </a:xfrm>
          <a:prstGeom prst="line">
            <a:avLst/>
          </a:prstGeom>
          <a:ln w="19050">
            <a:solidFill>
              <a:srgbClr val="005BA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595864" y="2171700"/>
            <a:ext cx="68153" cy="0"/>
          </a:xfrm>
          <a:prstGeom prst="line">
            <a:avLst/>
          </a:prstGeom>
          <a:ln w="19050">
            <a:solidFill>
              <a:srgbClr val="005B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57200" y="6035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この一巡を回すと、どの項目が取りにくいか、どの語彙が足りないかが具体的に分かります。効果を数値で示すには、試験運用の前後で探す時間を実測する必要があります。</a:t>
            </a:r>
          </a:p>
        </p:txBody>
      </p:sp>
      <p:sp>
        <p:nvSpPr>
          <p:cNvPr id="40" name="TextBox 3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29984"/>
            <a:ext cx="12198096" cy="128016"/>
          </a:xfrm>
          <a:prstGeom prst="rect">
            <a:avLst/>
          </a:prstGeom>
          <a:solidFill>
            <a:srgbClr val="00A8E6"/>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063240"/>
            <a:ext cx="11274552" cy="822960"/>
          </a:xfrm>
          <a:prstGeom prst="rect">
            <a:avLst/>
          </a:prstGeom>
          <a:noFill/>
        </p:spPr>
        <p:txBody>
          <a:bodyPr wrap="square" lIns="0" rIns="0" tIns="0" bIns="0" anchor="ctr">
            <a:spAutoFit/>
          </a:bodyPr>
          <a:lstStyle/>
          <a:p>
            <a:pPr algn="ctr">
              <a:lnSpc>
                <a:spcPct val="125000"/>
              </a:lnSpc>
              <a:spcAft>
                <a:spcPts val="200"/>
              </a:spcAft>
            </a:pPr>
            <a:r>
              <a:rPr sz="4000" b="1">
                <a:solidFill>
                  <a:srgbClr val="005BAC"/>
                </a:solidFill>
                <a:latin typeface="Segoe UI"/>
                <a:ea typeface="游ゴシック Medium"/>
                <a:cs typeface="游ゴシック Medium"/>
              </a:rPr>
              <a:t>END</a:t>
            </a:r>
          </a:p>
        </p:txBody>
      </p:sp>
      <p:sp>
        <p:nvSpPr>
          <p:cNvPr id="4" name="TextBox 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25 / 25</a:t>
            </a:r>
          </a:p>
        </p:txBody>
      </p:sp>
    </p:spTree>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