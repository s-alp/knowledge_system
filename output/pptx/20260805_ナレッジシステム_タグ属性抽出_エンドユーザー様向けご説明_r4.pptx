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6" r:id="rId7"/>
    <p:sldId id="257" r:id="rId8"/>
    <p:sldId id="258" r:id="rId9"/>
    <p:sldId id="259" r:id="rId6"/>
    <p:sldId id="260" r:id="rId5"/>
    <p:sldId id="261" r:id="rId4"/>
    <p:sldId id="262" r:id="rId3"/>
    <p:sldId id="263" r:id="rId2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A8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25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14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8.xml"/><Relationship Id="rId3" Type="http://schemas.openxmlformats.org/officeDocument/2006/relationships/slide" Target="slides/slide7.xml"/><Relationship Id="rId4" Type="http://schemas.openxmlformats.org/officeDocument/2006/relationships/slide" Target="slides/slide6.xml"/><Relationship Id="rId5" Type="http://schemas.openxmlformats.org/officeDocument/2006/relationships/slide" Target="slides/slide5.xml"/><Relationship Id="rId6" Type="http://schemas.openxmlformats.org/officeDocument/2006/relationships/slide" Target="slides/slide4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EDE7CC-BA49-441A-954A-D7313BCB9DA5}" type="datetimeFigureOut">
              <a:rPr kumimoji="1" lang="ja-JP" altLang="en-US" smtClean="0"/>
              <a:t>2026/5/25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C8C8AF-17B2-4669-92EE-079BEB0104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69819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2" descr="logo_large.jpg">
            <a:extLst>
              <a:ext uri="{FF2B5EF4-FFF2-40B4-BE49-F238E27FC236}">
                <a16:creationId xmlns:a16="http://schemas.microsoft.com/office/drawing/2014/main" id="{D11579AC-7796-D80E-3CC0-C7265D79DAE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96400" y="609600"/>
            <a:ext cx="2606040" cy="1503485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DEFC902B-A52D-C521-E9E5-3F94762B39EF}"/>
              </a:ext>
            </a:extLst>
          </p:cNvPr>
          <p:cNvSpPr/>
          <p:nvPr userDrawn="1"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cap="none" baseline="0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43DC2CAB-9CE7-E662-77B8-5B3C6DB80BCD}"/>
              </a:ext>
            </a:extLst>
          </p:cNvPr>
          <p:cNvSpPr/>
          <p:nvPr userDrawn="1"/>
        </p:nvSpPr>
        <p:spPr>
          <a:xfrm>
            <a:off x="0" y="6080760"/>
            <a:ext cx="12191695" cy="777240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cap="none" baseline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833329"/>
            <a:ext cx="8689976" cy="2509213"/>
          </a:xfrm>
        </p:spPr>
        <p:txBody>
          <a:bodyPr anchor="b">
            <a:normAutofit/>
          </a:bodyPr>
          <a:lstStyle>
            <a:lvl1pPr algn="l">
              <a:defRPr sz="4800" b="1" cap="none" baseline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470949"/>
            <a:ext cx="8689976" cy="652995"/>
          </a:xfrm>
        </p:spPr>
        <p:txBody>
          <a:bodyPr>
            <a:normAutofit/>
          </a:bodyPr>
          <a:lstStyle>
            <a:lvl1pPr marL="0" indent="0" algn="l">
              <a:buNone/>
              <a:defRPr sz="2200" cap="none" baseline="0">
                <a:solidFill>
                  <a:srgbClr val="00A8E6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 dirty="0"/>
              <a:t>マスター サブタイトルの書式設定</a:t>
            </a:r>
            <a:endParaRPr lang="en-US" dirty="0"/>
          </a:p>
        </p:txBody>
      </p:sp>
      <p:sp>
        <p:nvSpPr>
          <p:cNvPr id="19" name="Rectangle 5">
            <a:extLst>
              <a:ext uri="{FF2B5EF4-FFF2-40B4-BE49-F238E27FC236}">
                <a16:creationId xmlns:a16="http://schemas.microsoft.com/office/drawing/2014/main" id="{60FBCDE1-018F-99EB-0276-8FFC2E77ED96}"/>
              </a:ext>
            </a:extLst>
          </p:cNvPr>
          <p:cNvSpPr/>
          <p:nvPr userDrawn="1"/>
        </p:nvSpPr>
        <p:spPr>
          <a:xfrm>
            <a:off x="914400" y="4160520"/>
            <a:ext cx="2011680" cy="36576"/>
          </a:xfrm>
          <a:prstGeom prst="rect">
            <a:avLst/>
          </a:prstGeom>
          <a:solidFill>
            <a:srgbClr val="FF7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cap="none" baseline="0"/>
          </a:p>
        </p:txBody>
      </p:sp>
      <p:sp>
        <p:nvSpPr>
          <p:cNvPr id="24" name="テキスト プレースホルダー 23">
            <a:extLst>
              <a:ext uri="{FF2B5EF4-FFF2-40B4-BE49-F238E27FC236}">
                <a16:creationId xmlns:a16="http://schemas.microsoft.com/office/drawing/2014/main" id="{4F424697-34D8-E67D-84F2-7DBFA5AD7D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4343400"/>
            <a:ext cx="5166028" cy="914400"/>
          </a:xfrm>
        </p:spPr>
        <p:txBody>
          <a:bodyPr>
            <a:normAutofit/>
          </a:bodyPr>
          <a:lstStyle>
            <a:lvl1pPr>
              <a:buNone/>
              <a:defRPr sz="1600" cap="none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buNone/>
              <a:defRPr/>
            </a:lvl2pPr>
          </a:lstStyle>
          <a:p>
            <a:pPr lvl="0"/>
            <a:r>
              <a:rPr kumimoji="1" lang="en-US" altLang="ja-JP" dirty="0"/>
              <a:t>2026.MM.DD</a:t>
            </a:r>
            <a:r>
              <a:rPr kumimoji="1" lang="ja-JP" altLang="en-US" dirty="0"/>
              <a:t>　</a:t>
            </a:r>
            <a:r>
              <a:rPr kumimoji="1" lang="en-US" altLang="ja-JP" dirty="0"/>
              <a:t>/</a:t>
            </a:r>
            <a:r>
              <a:rPr kumimoji="1" lang="ja-JP" altLang="en-US" dirty="0"/>
              <a:t>　部署名　</a:t>
            </a:r>
            <a:r>
              <a:rPr kumimoji="1" lang="en-US" altLang="ja-JP" dirty="0"/>
              <a:t>/</a:t>
            </a:r>
            <a:r>
              <a:rPr kumimoji="1" lang="ja-JP" altLang="en-US" dirty="0"/>
              <a:t>　発表者氏名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EC55F0FE-9421-CCC4-21CF-3EDC009B1D6C}"/>
              </a:ext>
            </a:extLst>
          </p:cNvPr>
          <p:cNvSpPr txBox="1"/>
          <p:nvPr userDrawn="1"/>
        </p:nvSpPr>
        <p:spPr>
          <a:xfrm>
            <a:off x="456228" y="6494780"/>
            <a:ext cx="83423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1200" cap="none" baseline="0" dirty="0">
                <a:solidFill>
                  <a:schemeClr val="bg1"/>
                </a:solidFill>
              </a:rPr>
              <a:t>金石本社：〒</a:t>
            </a:r>
            <a:r>
              <a:rPr kumimoji="1" lang="en-US" altLang="ja-JP" sz="1200" cap="none" baseline="0" dirty="0">
                <a:solidFill>
                  <a:schemeClr val="bg1"/>
                </a:solidFill>
              </a:rPr>
              <a:t>920-0336</a:t>
            </a:r>
            <a:r>
              <a:rPr kumimoji="1" lang="ja-JP" altLang="en-US" sz="1200" cap="none" baseline="0" dirty="0">
                <a:solidFill>
                  <a:schemeClr val="bg1"/>
                </a:solidFill>
              </a:rPr>
              <a:t> 石川県金沢市金石本町ハ</a:t>
            </a:r>
            <a:r>
              <a:rPr kumimoji="1" lang="en-US" altLang="ja-JP" sz="1200" cap="none" baseline="0" dirty="0">
                <a:solidFill>
                  <a:schemeClr val="bg1"/>
                </a:solidFill>
              </a:rPr>
              <a:t>13</a:t>
            </a:r>
            <a:r>
              <a:rPr kumimoji="1" lang="ja-JP" altLang="en-US" sz="1200" cap="none" baseline="0" dirty="0">
                <a:solidFill>
                  <a:schemeClr val="bg1"/>
                </a:solidFill>
              </a:rPr>
              <a:t>番地</a:t>
            </a:r>
            <a:r>
              <a:rPr kumimoji="1" lang="en-US" altLang="ja-JP" sz="1200" cap="none" baseline="0" dirty="0">
                <a:solidFill>
                  <a:schemeClr val="bg1"/>
                </a:solidFill>
              </a:rPr>
              <a:t>2</a:t>
            </a:r>
            <a:r>
              <a:rPr kumimoji="1" lang="ja-JP" altLang="en-US" sz="1200" cap="none" baseline="0" dirty="0">
                <a:solidFill>
                  <a:schemeClr val="bg1"/>
                </a:solidFill>
              </a:rPr>
              <a:t>　</a:t>
            </a:r>
            <a:r>
              <a:rPr kumimoji="1" lang="en-US" altLang="ja-JP" sz="1200" cap="none" baseline="0" dirty="0">
                <a:solidFill>
                  <a:schemeClr val="bg1"/>
                </a:solidFill>
              </a:rPr>
              <a:t>/</a:t>
            </a:r>
            <a:r>
              <a:rPr kumimoji="1" lang="ja-JP" altLang="en-US" sz="1200" cap="none" baseline="0" dirty="0">
                <a:solidFill>
                  <a:schemeClr val="bg1"/>
                </a:solidFill>
              </a:rPr>
              <a:t>　小矢部事務所：〒</a:t>
            </a:r>
            <a:r>
              <a:rPr kumimoji="1" lang="en-US" altLang="ja-JP" sz="1200" cap="none" baseline="0" dirty="0">
                <a:solidFill>
                  <a:schemeClr val="bg1"/>
                </a:solidFill>
              </a:rPr>
              <a:t>932-0132</a:t>
            </a:r>
            <a:r>
              <a:rPr kumimoji="1" lang="ja-JP" altLang="en-US" sz="1200" cap="none" baseline="0" dirty="0">
                <a:solidFill>
                  <a:schemeClr val="bg1"/>
                </a:solidFill>
              </a:rPr>
              <a:t> 富山県小矢部市小森谷</a:t>
            </a:r>
            <a:r>
              <a:rPr kumimoji="1" lang="en-US" altLang="ja-JP" sz="1200" cap="none" baseline="0" dirty="0">
                <a:solidFill>
                  <a:schemeClr val="bg1"/>
                </a:solidFill>
              </a:rPr>
              <a:t>19</a:t>
            </a:r>
            <a:r>
              <a:rPr kumimoji="1" lang="ja-JP" altLang="en-US" sz="1200" cap="none" baseline="0" dirty="0">
                <a:solidFill>
                  <a:schemeClr val="bg1"/>
                </a:solidFill>
              </a:rPr>
              <a:t>番地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3DC65298-5B5E-1D40-2C58-080E3E98BC90}"/>
              </a:ext>
            </a:extLst>
          </p:cNvPr>
          <p:cNvSpPr txBox="1"/>
          <p:nvPr userDrawn="1"/>
        </p:nvSpPr>
        <p:spPr>
          <a:xfrm>
            <a:off x="456228" y="6182577"/>
            <a:ext cx="31133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1600" cap="none" baseline="0" dirty="0">
                <a:solidFill>
                  <a:schemeClr val="bg1"/>
                </a:solidFill>
              </a:rPr>
              <a:t>株式会社 アルパイン設計事務所</a:t>
            </a:r>
          </a:p>
        </p:txBody>
      </p:sp>
    </p:spTree>
    <p:extLst>
      <p:ext uri="{BB962C8B-B14F-4D97-AF65-F5344CB8AC3E}">
        <p14:creationId xmlns:p14="http://schemas.microsoft.com/office/powerpoint/2010/main" val="1533615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35">
            <a:extLst>
              <a:ext uri="{FF2B5EF4-FFF2-40B4-BE49-F238E27FC236}">
                <a16:creationId xmlns:a16="http://schemas.microsoft.com/office/drawing/2014/main" id="{7A9930C5-9CE5-CD3F-0B34-BA742C592203}"/>
              </a:ext>
            </a:extLst>
          </p:cNvPr>
          <p:cNvSpPr/>
          <p:nvPr userDrawn="1"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411481"/>
            <a:ext cx="10364451" cy="502919"/>
          </a:xfrm>
        </p:spPr>
        <p:txBody>
          <a:bodyPr anchor="t"/>
          <a:lstStyle>
            <a:lvl1pPr algn="l"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69DF8EF-F888-3401-8278-4FAF9AF9F24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98601" y="6463691"/>
            <a:ext cx="764215" cy="365125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744AD22-693D-4773-9028-20E660F2F223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273C56A4-895E-D5C5-3104-BF85ABACF34C}"/>
              </a:ext>
            </a:extLst>
          </p:cNvPr>
          <p:cNvSpPr/>
          <p:nvPr userDrawn="1"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2EECE7D1-9EB4-934E-9375-5673AE1CDFA5}"/>
              </a:ext>
            </a:extLst>
          </p:cNvPr>
          <p:cNvSpPr/>
          <p:nvPr userDrawn="1"/>
        </p:nvSpPr>
        <p:spPr>
          <a:xfrm>
            <a:off x="457200" y="1235016"/>
            <a:ext cx="11274552" cy="16459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テキスト プレースホルダー 52">
            <a:extLst>
              <a:ext uri="{FF2B5EF4-FFF2-40B4-BE49-F238E27FC236}">
                <a16:creationId xmlns:a16="http://schemas.microsoft.com/office/drawing/2014/main" id="{F8CF3099-468C-D418-D6F8-EC2CC9B3FAE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66927" y="923635"/>
            <a:ext cx="3679148" cy="248005"/>
          </a:xfrm>
        </p:spPr>
        <p:txBody>
          <a:bodyPr anchor="ctr">
            <a:noAutofit/>
          </a:bodyPr>
          <a:lstStyle>
            <a:lvl1pPr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pic>
        <p:nvPicPr>
          <p:cNvPr id="54" name="図 53">
            <a:extLst>
              <a:ext uri="{FF2B5EF4-FFF2-40B4-BE49-F238E27FC236}">
                <a16:creationId xmlns:a16="http://schemas.microsoft.com/office/drawing/2014/main" id="{CAA03307-0E99-F9A7-C662-A5190938DB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070"/>
          <a:stretch/>
        </p:blipFill>
        <p:spPr>
          <a:xfrm>
            <a:off x="11021882" y="169471"/>
            <a:ext cx="1090555" cy="484017"/>
          </a:xfrm>
          <a:prstGeom prst="rect">
            <a:avLst/>
          </a:prstGeom>
          <a:effectLst>
            <a:glow>
              <a:schemeClr val="bg1"/>
            </a:glow>
          </a:effectLst>
        </p:spPr>
      </p:pic>
      <p:sp>
        <p:nvSpPr>
          <p:cNvPr id="56" name="コンテンツ プレースホルダー 55">
            <a:extLst>
              <a:ext uri="{FF2B5EF4-FFF2-40B4-BE49-F238E27FC236}">
                <a16:creationId xmlns:a16="http://schemas.microsoft.com/office/drawing/2014/main" id="{96E4A612-04F1-1448-C938-8AAFF71EA8F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7200" y="1364228"/>
            <a:ext cx="11352213" cy="506991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buClr>
                <a:srgbClr val="00A8E6"/>
              </a:buClr>
              <a:buFont typeface="Wingdings" panose="05000000000000000000" pitchFamily="2" charset="2"/>
              <a:buChar char="n"/>
              <a:defRPr sz="2800">
                <a:solidFill>
                  <a:srgbClr val="00A8E6"/>
                </a:solidFill>
              </a:defRPr>
            </a:lvl1pPr>
            <a:lvl2pPr>
              <a:lnSpc>
                <a:spcPct val="100000"/>
              </a:lnSpc>
              <a:buClr>
                <a:schemeClr val="tx1"/>
              </a:buClr>
              <a:buFont typeface="Wingdings" panose="05000000000000000000" pitchFamily="2" charset="2"/>
              <a:buChar char="l"/>
              <a:defRPr sz="2400">
                <a:solidFill>
                  <a:schemeClr val="tx2">
                    <a:lumMod val="75000"/>
                  </a:schemeClr>
                </a:solidFill>
              </a:defRPr>
            </a:lvl2pPr>
            <a:lvl3pPr>
              <a:lnSpc>
                <a:spcPct val="100000"/>
              </a:lnSpc>
              <a:buClrTx/>
              <a:buFont typeface="Wingdings" panose="05000000000000000000" pitchFamily="2" charset="2"/>
              <a:buChar char="ü"/>
              <a:defRPr sz="2000">
                <a:solidFill>
                  <a:schemeClr val="tx2">
                    <a:lumMod val="75000"/>
                  </a:schemeClr>
                </a:solidFill>
              </a:defRPr>
            </a:lvl3pPr>
            <a:lvl4pPr>
              <a:lnSpc>
                <a:spcPct val="100000"/>
              </a:lnSpc>
              <a:buClrTx/>
              <a:defRPr sz="1800">
                <a:solidFill>
                  <a:schemeClr val="tx2">
                    <a:lumMod val="75000"/>
                  </a:schemeClr>
                </a:solidFill>
              </a:defRPr>
            </a:lvl4pPr>
            <a:lvl5pPr>
              <a:lnSpc>
                <a:spcPct val="100000"/>
              </a:lnSpc>
              <a:buClrTx/>
              <a:defRPr sz="1800">
                <a:solidFill>
                  <a:schemeClr val="tx2">
                    <a:lumMod val="75000"/>
                  </a:schemeClr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133749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578863" y="2254861"/>
            <a:ext cx="5314214" cy="4105132"/>
          </a:xfrm>
          <a:ln>
            <a:noFill/>
          </a:ln>
        </p:spPr>
        <p:txBody>
          <a:bodyPr/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293796" y="2254861"/>
            <a:ext cx="5311302" cy="4105132"/>
          </a:xfrm>
          <a:ln>
            <a:noFill/>
          </a:ln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2" name="スライド番号プレースホルダー 8">
            <a:extLst>
              <a:ext uri="{FF2B5EF4-FFF2-40B4-BE49-F238E27FC236}">
                <a16:creationId xmlns:a16="http://schemas.microsoft.com/office/drawing/2014/main" id="{ED4643BD-04A4-AAD5-193A-DD596DEDF43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98601" y="6463691"/>
            <a:ext cx="764215" cy="365125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744AD22-693D-4773-9028-20E660F2F22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97661BAC-0965-CE22-FC5F-315F9C011DA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070"/>
          <a:stretch/>
        </p:blipFill>
        <p:spPr>
          <a:xfrm>
            <a:off x="11021882" y="169471"/>
            <a:ext cx="1090555" cy="484017"/>
          </a:xfrm>
          <a:prstGeom prst="rect">
            <a:avLst/>
          </a:prstGeom>
          <a:effectLst>
            <a:glow>
              <a:schemeClr val="bg1"/>
            </a:glow>
          </a:effectLst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F75F8A81-F90D-2AC3-0758-21B5A019D68D}"/>
              </a:ext>
            </a:extLst>
          </p:cNvPr>
          <p:cNvSpPr/>
          <p:nvPr userDrawn="1"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9155C07D-C31C-4422-BF59-9288C1D406E6}"/>
              </a:ext>
            </a:extLst>
          </p:cNvPr>
          <p:cNvSpPr/>
          <p:nvPr userDrawn="1"/>
        </p:nvSpPr>
        <p:spPr>
          <a:xfrm>
            <a:off x="457200" y="1235016"/>
            <a:ext cx="11274552" cy="16459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テキスト プレースホルダー 52">
            <a:extLst>
              <a:ext uri="{FF2B5EF4-FFF2-40B4-BE49-F238E27FC236}">
                <a16:creationId xmlns:a16="http://schemas.microsoft.com/office/drawing/2014/main" id="{AC66AFE9-42C5-EE6E-B6B2-8EA75548D39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66927" y="923635"/>
            <a:ext cx="3679148" cy="248005"/>
          </a:xfrm>
        </p:spPr>
        <p:txBody>
          <a:bodyPr anchor="ctr">
            <a:noAutofit/>
          </a:bodyPr>
          <a:lstStyle>
            <a:lvl1pPr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15" name="Rectangle 35">
            <a:extLst>
              <a:ext uri="{FF2B5EF4-FFF2-40B4-BE49-F238E27FC236}">
                <a16:creationId xmlns:a16="http://schemas.microsoft.com/office/drawing/2014/main" id="{23617758-0468-2D94-736E-042159DAECEF}"/>
              </a:ext>
            </a:extLst>
          </p:cNvPr>
          <p:cNvSpPr/>
          <p:nvPr userDrawn="1"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9C7D1CD9-9C02-E9DE-D16A-ED000EBB426D}"/>
              </a:ext>
            </a:extLst>
          </p:cNvPr>
          <p:cNvSpPr/>
          <p:nvPr userDrawn="1"/>
        </p:nvSpPr>
        <p:spPr>
          <a:xfrm>
            <a:off x="463297" y="1377086"/>
            <a:ext cx="5553456" cy="5086605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AE71A640-007B-2631-D5F9-60E543D46707}"/>
              </a:ext>
            </a:extLst>
          </p:cNvPr>
          <p:cNvSpPr/>
          <p:nvPr userDrawn="1"/>
        </p:nvSpPr>
        <p:spPr>
          <a:xfrm>
            <a:off x="6166104" y="1362578"/>
            <a:ext cx="5562600" cy="5103325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9172225F-2066-1B77-8C65-F71571935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411481"/>
            <a:ext cx="10364451" cy="502919"/>
          </a:xfrm>
        </p:spPr>
        <p:txBody>
          <a:bodyPr anchor="t"/>
          <a:lstStyle>
            <a:lvl1pPr algn="l"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19" name="テキスト プレースホルダー 18">
            <a:extLst>
              <a:ext uri="{FF2B5EF4-FFF2-40B4-BE49-F238E27FC236}">
                <a16:creationId xmlns:a16="http://schemas.microsoft.com/office/drawing/2014/main" id="{0F5C33EA-A7A6-0093-1CFC-5DE6B341E6B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7200" y="1362578"/>
            <a:ext cx="5559552" cy="781179"/>
          </a:xfrm>
          <a:solidFill>
            <a:schemeClr val="tx1">
              <a:lumMod val="50000"/>
              <a:lumOff val="50000"/>
            </a:schemeClr>
          </a:solidFill>
        </p:spPr>
        <p:txBody>
          <a:bodyPr anchor="ctr"/>
          <a:lstStyle>
            <a:lvl1pPr algn="ctr"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20" name="テキスト プレースホルダー 18">
            <a:extLst>
              <a:ext uri="{FF2B5EF4-FFF2-40B4-BE49-F238E27FC236}">
                <a16:creationId xmlns:a16="http://schemas.microsoft.com/office/drawing/2014/main" id="{295F1E9E-2E02-71DD-4D1F-FAFBE4409FE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69152" y="1362578"/>
            <a:ext cx="5559552" cy="781179"/>
          </a:xfrm>
          <a:solidFill>
            <a:srgbClr val="00A8E6"/>
          </a:solidFill>
        </p:spPr>
        <p:txBody>
          <a:bodyPr anchor="ctr"/>
          <a:lstStyle>
            <a:lvl1pPr algn="ctr"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494569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7200" y="1399929"/>
            <a:ext cx="6138154" cy="5181600"/>
          </a:xfrm>
          <a:prstGeom prst="roundRect">
            <a:avLst>
              <a:gd name="adj" fmla="val 4943"/>
            </a:avLst>
          </a:prstGeom>
          <a:noFill/>
          <a:ln w="19050" cap="sq">
            <a:solidFill>
              <a:srgbClr val="00A8E6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 prstMaterial="matte"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6042" y="2931911"/>
            <a:ext cx="4709159" cy="3514608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8" name="スライド番号プレースホルダー 8">
            <a:extLst>
              <a:ext uri="{FF2B5EF4-FFF2-40B4-BE49-F238E27FC236}">
                <a16:creationId xmlns:a16="http://schemas.microsoft.com/office/drawing/2014/main" id="{A6A0EC3A-8208-2F63-BA4C-FE456AB7AFE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98601" y="6463691"/>
            <a:ext cx="764215" cy="365125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744AD22-693D-4773-9028-20E660F2F22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63A2F520-B158-CC14-8966-4D18A9D95E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070"/>
          <a:stretch/>
        </p:blipFill>
        <p:spPr>
          <a:xfrm>
            <a:off x="11021882" y="169471"/>
            <a:ext cx="1090555" cy="484017"/>
          </a:xfrm>
          <a:prstGeom prst="rect">
            <a:avLst/>
          </a:prstGeom>
          <a:effectLst>
            <a:glow>
              <a:schemeClr val="bg1"/>
            </a:glow>
          </a:effectLst>
        </p:spPr>
      </p:pic>
      <p:sp>
        <p:nvSpPr>
          <p:cNvPr id="11" name="Rectangle 1">
            <a:extLst>
              <a:ext uri="{FF2B5EF4-FFF2-40B4-BE49-F238E27FC236}">
                <a16:creationId xmlns:a16="http://schemas.microsoft.com/office/drawing/2014/main" id="{3B41F546-F6F6-79FF-2DF9-0F26E1F2D298}"/>
              </a:ext>
            </a:extLst>
          </p:cNvPr>
          <p:cNvSpPr/>
          <p:nvPr userDrawn="1"/>
        </p:nvSpPr>
        <p:spPr>
          <a:xfrm>
            <a:off x="457200" y="411480"/>
            <a:ext cx="109728" cy="502920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98711BEE-A631-6371-0A47-BCE73CC8F679}"/>
              </a:ext>
            </a:extLst>
          </p:cNvPr>
          <p:cNvSpPr/>
          <p:nvPr userDrawn="1"/>
        </p:nvSpPr>
        <p:spPr>
          <a:xfrm>
            <a:off x="457200" y="1235016"/>
            <a:ext cx="11274552" cy="16459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テキスト プレースホルダー 52">
            <a:extLst>
              <a:ext uri="{FF2B5EF4-FFF2-40B4-BE49-F238E27FC236}">
                <a16:creationId xmlns:a16="http://schemas.microsoft.com/office/drawing/2014/main" id="{93543058-FC54-28CC-6D04-0980939B6B7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66927" y="923635"/>
            <a:ext cx="3679148" cy="248005"/>
          </a:xfrm>
        </p:spPr>
        <p:txBody>
          <a:bodyPr anchor="ctr">
            <a:noAutofit/>
          </a:bodyPr>
          <a:lstStyle>
            <a:lvl1pPr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14" name="Rectangle 35">
            <a:extLst>
              <a:ext uri="{FF2B5EF4-FFF2-40B4-BE49-F238E27FC236}">
                <a16:creationId xmlns:a16="http://schemas.microsoft.com/office/drawing/2014/main" id="{565548AB-4F85-1922-397A-15828B82CD68}"/>
              </a:ext>
            </a:extLst>
          </p:cNvPr>
          <p:cNvSpPr/>
          <p:nvPr userDrawn="1"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0">
            <a:extLst>
              <a:ext uri="{FF2B5EF4-FFF2-40B4-BE49-F238E27FC236}">
                <a16:creationId xmlns:a16="http://schemas.microsoft.com/office/drawing/2014/main" id="{4F66BA0C-576F-D7DD-05AB-7247A3CE95EF}"/>
              </a:ext>
            </a:extLst>
          </p:cNvPr>
          <p:cNvSpPr/>
          <p:nvPr userDrawn="1"/>
        </p:nvSpPr>
        <p:spPr>
          <a:xfrm>
            <a:off x="6858000" y="2710303"/>
            <a:ext cx="640080" cy="36576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テキスト プレースホルダー 52">
            <a:extLst>
              <a:ext uri="{FF2B5EF4-FFF2-40B4-BE49-F238E27FC236}">
                <a16:creationId xmlns:a16="http://schemas.microsoft.com/office/drawing/2014/main" id="{860C1474-869A-0810-7EF3-9014B952FCA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776042" y="1466743"/>
            <a:ext cx="3679148" cy="248005"/>
          </a:xfrm>
        </p:spPr>
        <p:txBody>
          <a:bodyPr anchor="ctr">
            <a:noAutofit/>
          </a:bodyPr>
          <a:lstStyle>
            <a:lvl1pPr>
              <a:buNone/>
              <a:defRPr sz="1400" b="1">
                <a:solidFill>
                  <a:schemeClr val="accent4"/>
                </a:solidFill>
              </a:defRPr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65C7C5BC-539B-2087-C4DA-65CC2040F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411481"/>
            <a:ext cx="10364451" cy="502919"/>
          </a:xfrm>
        </p:spPr>
        <p:txBody>
          <a:bodyPr anchor="t"/>
          <a:lstStyle>
            <a:lvl1pPr algn="l">
              <a:defRPr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407AECB8-4D72-3F83-4F09-8BB49A8F946F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776042" y="1859448"/>
            <a:ext cx="4709159" cy="544230"/>
          </a:xfrm>
        </p:spPr>
        <p:txBody>
          <a:bodyPr>
            <a:normAutofit/>
          </a:bodyPr>
          <a:lstStyle>
            <a:lvl1pPr marL="0" indent="0" algn="l">
              <a:buNone/>
              <a:defRPr sz="24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767352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70C0DB40-5F2F-F35A-86C4-01E32B225B0D}"/>
              </a:ext>
            </a:extLst>
          </p:cNvPr>
          <p:cNvSpPr/>
          <p:nvPr userDrawn="1"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568D18EB-93BD-0FF9-EB13-FAC166CC8116}"/>
              </a:ext>
            </a:extLst>
          </p:cNvPr>
          <p:cNvSpPr/>
          <p:nvPr userDrawn="1"/>
        </p:nvSpPr>
        <p:spPr>
          <a:xfrm>
            <a:off x="4389120" y="6729984"/>
            <a:ext cx="7802575" cy="128016"/>
          </a:xfrm>
          <a:prstGeom prst="rect">
            <a:avLst/>
          </a:prstGeom>
          <a:solidFill>
            <a:srgbClr val="0A3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7731" y="3242452"/>
            <a:ext cx="3676119" cy="2023252"/>
          </a:xfrm>
        </p:spPr>
        <p:txBody>
          <a:bodyPr anchor="t">
            <a:normAutofit/>
          </a:bodyPr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7731" y="2423769"/>
            <a:ext cx="3676120" cy="418166"/>
          </a:xfrm>
        </p:spPr>
        <p:txBody>
          <a:bodyPr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751F391-8EE4-1296-D5AE-03886A4EE68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98601" y="6463691"/>
            <a:ext cx="764215" cy="365125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744AD22-693D-4773-9028-20E660F2F22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C28693DB-7C05-F742-72BD-AAE7D00BDB2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070"/>
          <a:stretch/>
        </p:blipFill>
        <p:spPr>
          <a:xfrm>
            <a:off x="11021882" y="169471"/>
            <a:ext cx="1090555" cy="484017"/>
          </a:xfrm>
          <a:prstGeom prst="rect">
            <a:avLst/>
          </a:prstGeom>
          <a:effectLst>
            <a:glow>
              <a:schemeClr val="bg1"/>
            </a:glow>
          </a:effectLst>
        </p:spPr>
      </p:pic>
      <p:sp>
        <p:nvSpPr>
          <p:cNvPr id="13" name="Rectangle 3">
            <a:extLst>
              <a:ext uri="{FF2B5EF4-FFF2-40B4-BE49-F238E27FC236}">
                <a16:creationId xmlns:a16="http://schemas.microsoft.com/office/drawing/2014/main" id="{E6212A41-BD99-9E37-D686-4516D7835ED0}"/>
              </a:ext>
            </a:extLst>
          </p:cNvPr>
          <p:cNvSpPr/>
          <p:nvPr userDrawn="1"/>
        </p:nvSpPr>
        <p:spPr>
          <a:xfrm>
            <a:off x="640080" y="3063240"/>
            <a:ext cx="548640" cy="36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B0575233-4969-A31B-6759-06E9D74CF34A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5078062" y="2681650"/>
            <a:ext cx="3676120" cy="418166"/>
          </a:xfrm>
        </p:spPr>
        <p:txBody>
          <a:bodyPr/>
          <a:lstStyle>
            <a:lvl1pPr marL="0" indent="0" algn="l">
              <a:buNone/>
              <a:defRPr sz="1600" b="0">
                <a:solidFill>
                  <a:srgbClr val="00A8E6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18" name="コンテンツ プレースホルダー 17">
            <a:extLst>
              <a:ext uri="{FF2B5EF4-FFF2-40B4-BE49-F238E27FC236}">
                <a16:creationId xmlns:a16="http://schemas.microsoft.com/office/drawing/2014/main" id="{11E6EC22-F40F-ADE9-9D6F-63DED8B28503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078061" y="3242451"/>
            <a:ext cx="6320539" cy="2944339"/>
          </a:xfrm>
        </p:spPr>
        <p:txBody>
          <a:bodyPr>
            <a:normAutofit/>
          </a:bodyPr>
          <a:lstStyle>
            <a:lvl1pPr marL="0">
              <a:lnSpc>
                <a:spcPct val="100000"/>
              </a:lnSpc>
              <a:buNone/>
              <a:defRPr sz="2800" b="1">
                <a:solidFill>
                  <a:schemeClr val="tx2">
                    <a:lumMod val="75000"/>
                  </a:schemeClr>
                </a:solidFill>
              </a:defRPr>
            </a:lvl1pPr>
            <a:lvl2pPr>
              <a:defRPr sz="2000" b="1"/>
            </a:lvl2pPr>
            <a:lvl3pPr>
              <a:defRPr sz="1800" b="1"/>
            </a:lvl3pPr>
            <a:lvl4pPr>
              <a:defRPr sz="1600" b="1"/>
            </a:lvl4pPr>
            <a:lvl5pPr>
              <a:defRPr sz="1600" b="1"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4105011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35">
            <a:extLst>
              <a:ext uri="{FF2B5EF4-FFF2-40B4-BE49-F238E27FC236}">
                <a16:creationId xmlns:a16="http://schemas.microsoft.com/office/drawing/2014/main" id="{7A9930C5-9CE5-CD3F-0B34-BA742C592203}"/>
              </a:ext>
            </a:extLst>
          </p:cNvPr>
          <p:cNvSpPr/>
          <p:nvPr userDrawn="1"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3117" y="590117"/>
            <a:ext cx="10364451" cy="502919"/>
          </a:xfrm>
        </p:spPr>
        <p:txBody>
          <a:bodyPr anchor="t"/>
          <a:lstStyle>
            <a:lvl1pPr algn="l">
              <a:defRPr b="1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69DF8EF-F888-3401-8278-4FAF9AF9F24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98601" y="6463691"/>
            <a:ext cx="764215" cy="365125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744AD22-693D-4773-9028-20E660F2F22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53" name="テキスト プレースホルダー 52">
            <a:extLst>
              <a:ext uri="{FF2B5EF4-FFF2-40B4-BE49-F238E27FC236}">
                <a16:creationId xmlns:a16="http://schemas.microsoft.com/office/drawing/2014/main" id="{F8CF3099-468C-D418-D6F8-EC2CC9B3FAE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53117" y="277487"/>
            <a:ext cx="3679148" cy="248005"/>
          </a:xfrm>
        </p:spPr>
        <p:txBody>
          <a:bodyPr anchor="ctr">
            <a:noAutofit/>
          </a:bodyPr>
          <a:lstStyle>
            <a:lvl1pPr>
              <a:buNone/>
              <a:defRPr sz="1200" b="1">
                <a:solidFill>
                  <a:srgbClr val="0070C0"/>
                </a:solidFill>
              </a:defRPr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pic>
        <p:nvPicPr>
          <p:cNvPr id="54" name="図 53">
            <a:extLst>
              <a:ext uri="{FF2B5EF4-FFF2-40B4-BE49-F238E27FC236}">
                <a16:creationId xmlns:a16="http://schemas.microsoft.com/office/drawing/2014/main" id="{CAA03307-0E99-F9A7-C662-A5190938DB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070"/>
          <a:stretch/>
        </p:blipFill>
        <p:spPr>
          <a:xfrm>
            <a:off x="11021882" y="169471"/>
            <a:ext cx="1090555" cy="484017"/>
          </a:xfrm>
          <a:prstGeom prst="rect">
            <a:avLst/>
          </a:prstGeom>
          <a:effectLst>
            <a:glow>
              <a:schemeClr val="bg1"/>
            </a:glow>
          </a:effectLst>
        </p:spPr>
      </p:pic>
      <p:sp>
        <p:nvSpPr>
          <p:cNvPr id="3" name="Shape 3">
            <a:extLst>
              <a:ext uri="{FF2B5EF4-FFF2-40B4-BE49-F238E27FC236}">
                <a16:creationId xmlns:a16="http://schemas.microsoft.com/office/drawing/2014/main" id="{B0E02CB6-6242-8B4F-E9ED-2424F73EEA9F}"/>
              </a:ext>
            </a:extLst>
          </p:cNvPr>
          <p:cNvSpPr/>
          <p:nvPr userDrawn="1"/>
        </p:nvSpPr>
        <p:spPr>
          <a:xfrm>
            <a:off x="457200" y="1234440"/>
            <a:ext cx="914400" cy="0"/>
          </a:xfrm>
          <a:prstGeom prst="line">
            <a:avLst/>
          </a:prstGeom>
          <a:noFill/>
          <a:ln w="38100">
            <a:solidFill>
              <a:srgbClr val="00A8E6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Rectangle 35">
            <a:extLst>
              <a:ext uri="{FF2B5EF4-FFF2-40B4-BE49-F238E27FC236}">
                <a16:creationId xmlns:a16="http://schemas.microsoft.com/office/drawing/2014/main" id="{D4D631C2-ED8A-15C5-915E-0BE64E42497C}"/>
              </a:ext>
            </a:extLst>
          </p:cNvPr>
          <p:cNvSpPr/>
          <p:nvPr userDrawn="1"/>
        </p:nvSpPr>
        <p:spPr>
          <a:xfrm>
            <a:off x="0" y="0"/>
            <a:ext cx="12191695" cy="72000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コンテンツ プレースホルダー 55">
            <a:extLst>
              <a:ext uri="{FF2B5EF4-FFF2-40B4-BE49-F238E27FC236}">
                <a16:creationId xmlns:a16="http://schemas.microsoft.com/office/drawing/2014/main" id="{0683C0E1-DA8A-EE7F-FB55-CFD653A4BB1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7200" y="1364228"/>
            <a:ext cx="11352213" cy="506991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buClr>
                <a:srgbClr val="00A8E6"/>
              </a:buClr>
              <a:buFont typeface="Wingdings" panose="05000000000000000000" pitchFamily="2" charset="2"/>
              <a:buChar char="n"/>
              <a:defRPr sz="2800">
                <a:solidFill>
                  <a:srgbClr val="00A8E6"/>
                </a:solidFill>
              </a:defRPr>
            </a:lvl1pPr>
            <a:lvl2pPr>
              <a:lnSpc>
                <a:spcPct val="100000"/>
              </a:lnSpc>
              <a:buClr>
                <a:schemeClr val="tx1"/>
              </a:buClr>
              <a:buFont typeface="Wingdings" panose="05000000000000000000" pitchFamily="2" charset="2"/>
              <a:buChar char="l"/>
              <a:defRPr sz="2400">
                <a:solidFill>
                  <a:schemeClr val="tx2">
                    <a:lumMod val="75000"/>
                  </a:schemeClr>
                </a:solidFill>
              </a:defRPr>
            </a:lvl2pPr>
            <a:lvl3pPr>
              <a:lnSpc>
                <a:spcPct val="100000"/>
              </a:lnSpc>
              <a:buClrTx/>
              <a:buFont typeface="Wingdings" panose="05000000000000000000" pitchFamily="2" charset="2"/>
              <a:buChar char="ü"/>
              <a:defRPr sz="2000">
                <a:solidFill>
                  <a:schemeClr val="tx2">
                    <a:lumMod val="75000"/>
                  </a:schemeClr>
                </a:solidFill>
              </a:defRPr>
            </a:lvl3pPr>
            <a:lvl4pPr>
              <a:lnSpc>
                <a:spcPct val="100000"/>
              </a:lnSpc>
              <a:buClrTx/>
              <a:defRPr sz="1800">
                <a:solidFill>
                  <a:schemeClr val="tx2">
                    <a:lumMod val="75000"/>
                  </a:schemeClr>
                </a:solidFill>
              </a:defRPr>
            </a:lvl4pPr>
            <a:lvl5pPr>
              <a:lnSpc>
                <a:spcPct val="100000"/>
              </a:lnSpc>
              <a:buClrTx/>
              <a:defRPr sz="1800">
                <a:solidFill>
                  <a:schemeClr val="tx2">
                    <a:lumMod val="75000"/>
                  </a:schemeClr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391937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スライド番号プレースホルダー 8">
            <a:extLst>
              <a:ext uri="{FF2B5EF4-FFF2-40B4-BE49-F238E27FC236}">
                <a16:creationId xmlns:a16="http://schemas.microsoft.com/office/drawing/2014/main" id="{E34F8C15-2E77-C57B-CF55-C0A99E1EBA9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98601" y="6463691"/>
            <a:ext cx="764215" cy="365125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744AD22-693D-4773-9028-20E660F2F22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95381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最終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3BC1721-93D6-7F2B-8921-5DD357B79065}"/>
              </a:ext>
            </a:extLst>
          </p:cNvPr>
          <p:cNvSpPr/>
          <p:nvPr userDrawn="1"/>
        </p:nvSpPr>
        <p:spPr>
          <a:xfrm>
            <a:off x="0" y="3840480"/>
            <a:ext cx="12191695" cy="3017520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A76C3186-35FC-3408-4D37-4586EDD08488}"/>
              </a:ext>
            </a:extLst>
          </p:cNvPr>
          <p:cNvSpPr txBox="1"/>
          <p:nvPr userDrawn="1"/>
        </p:nvSpPr>
        <p:spPr>
          <a:xfrm>
            <a:off x="457200" y="1182753"/>
            <a:ext cx="11274552" cy="110921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6400" b="1" dirty="0">
                <a:solidFill>
                  <a:srgbClr val="0A3D62"/>
                </a:solidFill>
                <a:latin typeface="+mn-lt"/>
              </a:rPr>
              <a:t>Thank you.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861A40CE-BF53-2C94-0A7D-049A2403DB0A}"/>
              </a:ext>
            </a:extLst>
          </p:cNvPr>
          <p:cNvSpPr txBox="1"/>
          <p:nvPr userDrawn="1"/>
        </p:nvSpPr>
        <p:spPr>
          <a:xfrm>
            <a:off x="457200" y="2468880"/>
            <a:ext cx="11274552" cy="3595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0" dirty="0">
                <a:solidFill>
                  <a:srgbClr val="1F2937"/>
                </a:solidFill>
                <a:latin typeface="+mj-ea"/>
                <a:ea typeface="+mj-ea"/>
              </a:rPr>
              <a:t>ご清聴ありがとうございました。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9FA7DD3F-EDCA-0FF7-58CA-A09625313264}"/>
              </a:ext>
            </a:extLst>
          </p:cNvPr>
          <p:cNvSpPr/>
          <p:nvPr userDrawn="1"/>
        </p:nvSpPr>
        <p:spPr>
          <a:xfrm>
            <a:off x="5733288" y="3200400"/>
            <a:ext cx="731520" cy="45720"/>
          </a:xfrm>
          <a:prstGeom prst="rect">
            <a:avLst/>
          </a:prstGeom>
          <a:solidFill>
            <a:srgbClr val="FF7A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5">
            <a:extLst>
              <a:ext uri="{FF2B5EF4-FFF2-40B4-BE49-F238E27FC236}">
                <a16:creationId xmlns:a16="http://schemas.microsoft.com/office/drawing/2014/main" id="{D7BAF6BC-2072-52CE-218A-71338896F250}"/>
              </a:ext>
            </a:extLst>
          </p:cNvPr>
          <p:cNvSpPr/>
          <p:nvPr userDrawn="1"/>
        </p:nvSpPr>
        <p:spPr>
          <a:xfrm>
            <a:off x="1371600" y="4206240"/>
            <a:ext cx="9445752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6">
            <a:extLst>
              <a:ext uri="{FF2B5EF4-FFF2-40B4-BE49-F238E27FC236}">
                <a16:creationId xmlns:a16="http://schemas.microsoft.com/office/drawing/2014/main" id="{93C7BDA9-7A09-6783-3614-0BD781D1880A}"/>
              </a:ext>
            </a:extLst>
          </p:cNvPr>
          <p:cNvSpPr txBox="1"/>
          <p:nvPr userDrawn="1"/>
        </p:nvSpPr>
        <p:spPr>
          <a:xfrm>
            <a:off x="1691640" y="4434840"/>
            <a:ext cx="8686800" cy="3954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ja-JP" altLang="en-US" sz="2200" b="1" dirty="0">
                <a:solidFill>
                  <a:srgbClr val="0A3D62"/>
                </a:solidFill>
                <a:latin typeface="+mn-ea"/>
                <a:ea typeface="+mn-ea"/>
              </a:rPr>
              <a:t>株式会社 アルパイン設計事務所</a:t>
            </a:r>
            <a:endParaRPr sz="2200" b="1" dirty="0">
              <a:solidFill>
                <a:srgbClr val="0A3D62"/>
              </a:solidFill>
              <a:latin typeface="+mn-ea"/>
              <a:ea typeface="+mn-ea"/>
            </a:endParaRPr>
          </a:p>
        </p:txBody>
      </p:sp>
      <p:sp>
        <p:nvSpPr>
          <p:cNvPr id="17" name="Rectangle 7">
            <a:extLst>
              <a:ext uri="{FF2B5EF4-FFF2-40B4-BE49-F238E27FC236}">
                <a16:creationId xmlns:a16="http://schemas.microsoft.com/office/drawing/2014/main" id="{4D61C277-9045-F328-47B3-539A732094C4}"/>
              </a:ext>
            </a:extLst>
          </p:cNvPr>
          <p:cNvSpPr/>
          <p:nvPr userDrawn="1"/>
        </p:nvSpPr>
        <p:spPr>
          <a:xfrm>
            <a:off x="1691640" y="4983480"/>
            <a:ext cx="640080" cy="36576"/>
          </a:xfrm>
          <a:prstGeom prst="rect">
            <a:avLst/>
          </a:prstGeom>
          <a:solidFill>
            <a:srgbClr val="00A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8">
            <a:extLst>
              <a:ext uri="{FF2B5EF4-FFF2-40B4-BE49-F238E27FC236}">
                <a16:creationId xmlns:a16="http://schemas.microsoft.com/office/drawing/2014/main" id="{523E39DE-E3DD-E236-8E59-A7EEB3599882}"/>
              </a:ext>
            </a:extLst>
          </p:cNvPr>
          <p:cNvSpPr txBox="1"/>
          <p:nvPr userDrawn="1"/>
        </p:nvSpPr>
        <p:spPr>
          <a:xfrm>
            <a:off x="1691640" y="5166360"/>
            <a:ext cx="4114800" cy="2157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dirty="0">
                <a:solidFill>
                  <a:srgbClr val="00A8E6"/>
                </a:solidFill>
                <a:latin typeface="+mn-ea"/>
                <a:ea typeface="+mn-ea"/>
              </a:rPr>
              <a:t>■</a:t>
            </a:r>
            <a:r>
              <a:rPr lang="ja-JP" altLang="en-US" sz="1200" b="1" dirty="0">
                <a:solidFill>
                  <a:srgbClr val="00A8E6"/>
                </a:solidFill>
                <a:latin typeface="+mn-ea"/>
                <a:ea typeface="+mn-ea"/>
              </a:rPr>
              <a:t> 金石本社</a:t>
            </a:r>
            <a:endParaRPr sz="1200" b="1" dirty="0">
              <a:solidFill>
                <a:srgbClr val="00A8E6"/>
              </a:solidFill>
              <a:latin typeface="+mn-ea"/>
              <a:ea typeface="+mn-ea"/>
            </a:endParaRPr>
          </a:p>
        </p:txBody>
      </p:sp>
      <p:sp>
        <p:nvSpPr>
          <p:cNvPr id="21" name="TextBox 11">
            <a:extLst>
              <a:ext uri="{FF2B5EF4-FFF2-40B4-BE49-F238E27FC236}">
                <a16:creationId xmlns:a16="http://schemas.microsoft.com/office/drawing/2014/main" id="{D11AEF3F-2467-563E-5E97-CF56FDB96122}"/>
              </a:ext>
            </a:extLst>
          </p:cNvPr>
          <p:cNvSpPr txBox="1"/>
          <p:nvPr userDrawn="1"/>
        </p:nvSpPr>
        <p:spPr>
          <a:xfrm>
            <a:off x="6400800" y="5166360"/>
            <a:ext cx="4114800" cy="2157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A8E6"/>
                </a:solidFill>
                <a:latin typeface="+mn-ea"/>
                <a:ea typeface="+mn-ea"/>
              </a:rPr>
              <a:t>■ 小矢部事務所</a:t>
            </a:r>
          </a:p>
        </p:txBody>
      </p:sp>
      <p:pic>
        <p:nvPicPr>
          <p:cNvPr id="24" name="図 23">
            <a:extLst>
              <a:ext uri="{FF2B5EF4-FFF2-40B4-BE49-F238E27FC236}">
                <a16:creationId xmlns:a16="http://schemas.microsoft.com/office/drawing/2014/main" id="{F7C33A59-B42F-91B1-2F9C-878473A282B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070"/>
          <a:stretch/>
        </p:blipFill>
        <p:spPr>
          <a:xfrm>
            <a:off x="9554022" y="4394615"/>
            <a:ext cx="1090555" cy="484017"/>
          </a:xfrm>
          <a:prstGeom prst="rect">
            <a:avLst/>
          </a:prstGeom>
          <a:effectLst>
            <a:glow>
              <a:schemeClr val="bg1"/>
            </a:glow>
          </a:effectLst>
        </p:spPr>
      </p:pic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94BDC41E-A9A8-8CD5-68F4-58D64142BE20}"/>
              </a:ext>
            </a:extLst>
          </p:cNvPr>
          <p:cNvSpPr txBox="1"/>
          <p:nvPr userDrawn="1"/>
        </p:nvSpPr>
        <p:spPr>
          <a:xfrm>
            <a:off x="1691640" y="5486400"/>
            <a:ext cx="32047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100" dirty="0"/>
              <a:t>〒</a:t>
            </a:r>
            <a:r>
              <a:rPr kumimoji="1" lang="en-US" altLang="ja-JP" sz="1100" dirty="0"/>
              <a:t>920-0336</a:t>
            </a:r>
            <a:r>
              <a:rPr kumimoji="1" lang="ja-JP" altLang="en-US" sz="1100" dirty="0"/>
              <a:t> 石川県金沢市金石本町ハ１３番地２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DE2A9F2B-0B5C-392B-AFEE-E738FCE5AD70}"/>
              </a:ext>
            </a:extLst>
          </p:cNvPr>
          <p:cNvSpPr txBox="1"/>
          <p:nvPr userDrawn="1"/>
        </p:nvSpPr>
        <p:spPr>
          <a:xfrm>
            <a:off x="6400800" y="5486400"/>
            <a:ext cx="292259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100" dirty="0"/>
              <a:t>〒</a:t>
            </a:r>
            <a:r>
              <a:rPr kumimoji="1" lang="en-US" altLang="ja-JP" sz="1100" dirty="0"/>
              <a:t>932-0132</a:t>
            </a:r>
            <a:r>
              <a:rPr kumimoji="1" lang="ja-JP" altLang="en-US" sz="1100" dirty="0"/>
              <a:t> 富山県小矢部市小森谷１９番地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73DFDEB9-B4E2-8305-A9E5-B26B232CAC63}"/>
              </a:ext>
            </a:extLst>
          </p:cNvPr>
          <p:cNvSpPr txBox="1"/>
          <p:nvPr userDrawn="1"/>
        </p:nvSpPr>
        <p:spPr>
          <a:xfrm>
            <a:off x="1691640" y="5806440"/>
            <a:ext cx="15488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00" dirty="0"/>
              <a:t>TEL</a:t>
            </a:r>
            <a:r>
              <a:rPr kumimoji="1" lang="ja-JP" altLang="en-US" sz="1100" dirty="0"/>
              <a:t>　</a:t>
            </a:r>
            <a:r>
              <a:rPr kumimoji="1" lang="en-US" altLang="ja-JP" sz="1100" dirty="0"/>
              <a:t>( 076</a:t>
            </a:r>
            <a:r>
              <a:rPr kumimoji="1" lang="ja-JP" altLang="en-US" sz="1100" dirty="0"/>
              <a:t> </a:t>
            </a:r>
            <a:r>
              <a:rPr kumimoji="1" lang="en-US" altLang="ja-JP" sz="1100" dirty="0"/>
              <a:t>) 266-3467</a:t>
            </a:r>
            <a:endParaRPr kumimoji="1" lang="ja-JP" altLang="en-US" sz="1100" dirty="0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6EE78410-AC80-F986-CA08-D27FFD5E0C0F}"/>
              </a:ext>
            </a:extLst>
          </p:cNvPr>
          <p:cNvSpPr txBox="1"/>
          <p:nvPr userDrawn="1"/>
        </p:nvSpPr>
        <p:spPr>
          <a:xfrm>
            <a:off x="6400800" y="5806440"/>
            <a:ext cx="15488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00" dirty="0"/>
              <a:t>TEL</a:t>
            </a:r>
            <a:r>
              <a:rPr kumimoji="1" lang="ja-JP" altLang="en-US" sz="1100" dirty="0"/>
              <a:t>　</a:t>
            </a:r>
            <a:r>
              <a:rPr kumimoji="1" lang="en-US" altLang="ja-JP" sz="1100" dirty="0"/>
              <a:t>( 0766</a:t>
            </a:r>
            <a:r>
              <a:rPr kumimoji="1" lang="ja-JP" altLang="en-US" sz="1100" dirty="0"/>
              <a:t> </a:t>
            </a:r>
            <a:r>
              <a:rPr kumimoji="1" lang="en-US" altLang="ja-JP" sz="1100" dirty="0"/>
              <a:t>) 69-7888</a:t>
            </a:r>
            <a:endParaRPr kumimoji="1" lang="ja-JP" altLang="en-US" sz="1100" dirty="0"/>
          </a:p>
        </p:txBody>
      </p:sp>
    </p:spTree>
    <p:extLst>
      <p:ext uri="{BB962C8B-B14F-4D97-AF65-F5344CB8AC3E}">
        <p14:creationId xmlns:p14="http://schemas.microsoft.com/office/powerpoint/2010/main" val="51230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4AD22-693D-4773-9028-20E660F2F2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2329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パノラマ写真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4AD22-693D-4773-9028-20E660F2F2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748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とキャプ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4AD22-693D-4773-9028-20E660F2F2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72635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4AD22-693D-4773-9028-20E660F2F2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79939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つの画像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4AD22-693D-4773-9028-20E660F2F2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79090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4AD22-693D-4773-9028-20E660F2F2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487677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4AD22-693D-4773-9028-20E660F2F2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01820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none" baseline="0">
                <a:solidFill>
                  <a:schemeClr val="tx1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cap="none" baseline="0">
                <a:solidFill>
                  <a:schemeClr val="tx1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none" baseline="0">
                <a:solidFill>
                  <a:schemeClr val="tx1"/>
                </a:solidFill>
              </a:defRPr>
            </a:lvl1pPr>
          </a:lstStyle>
          <a:p>
            <a:fld id="{7744AD22-693D-4773-9028-20E660F2F22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52565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9" r:id="rId4"/>
    <p:sldLayoutId id="2147483668" r:id="rId5"/>
    <p:sldLayoutId id="2147483678" r:id="rId6"/>
    <p:sldLayoutId id="2147483667" r:id="rId7"/>
    <p:sldLayoutId id="2147483665" r:id="rId8"/>
    <p:sldLayoutId id="2147483666" r:id="rId9"/>
    <p:sldLayoutId id="2147483670" r:id="rId10"/>
    <p:sldLayoutId id="2147483671" r:id="rId11"/>
    <p:sldLayoutId id="2147483674" r:id="rId12"/>
    <p:sldLayoutId id="2147483675" r:id="rId13"/>
    <p:sldLayoutId id="2147483676" r:id="rId14"/>
    <p:sldLayoutId id="2147483677" r:id="rId15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kumimoji="1" sz="3600" kern="1200" cap="none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kumimoji="1" sz="20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kumimoji="1"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kumimoji="1"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kumimoji="1"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kumimoji="1"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kumimoji="1"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kumimoji="1"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kumimoji="1"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kumimoji="1"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40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図面の中身を、探せる情報に。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CADタグ・属性の自動抽出　ご説明資料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2026.08.05　/　株式会社アルパイン設計事務所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47472"/>
            <a:ext cx="10360152" cy="566928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2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この資料でお伝えすること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>
          <a:xfrm>
            <a:off x="566928" y="969264"/>
            <a:ext cx="11155680" cy="219456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図面を登録するだけで、探すための手がかりが自動で付きます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00200"/>
            <a:ext cx="3602736" cy="3886200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49808" y="1874519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4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487168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登録するだけで、</a:t>
            </a: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手がかりが付く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611880"/>
            <a:ext cx="30175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図面ファイルを登録すると、客先・装置・材質・熱処理などの見出しが自動で付きます。担当者が図面を開いて台帳へ書き写す作業は要りません。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270248" y="1600200"/>
            <a:ext cx="3602736" cy="3886200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562856" y="1874519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4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62856" y="2487168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付いた情報には、</a:t>
            </a: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必ず根拠が残る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2856" y="3611880"/>
            <a:ext cx="30175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どの値をもとにそう判断したかが一緒に残ります。判断できないものは空欄のままにし、推測では埋めません。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83296" y="1600200"/>
            <a:ext cx="3602736" cy="3886200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375904" y="1874519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4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75904" y="2487168"/>
            <a:ext cx="3017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過去の図面も、</a:t>
            </a:r>
          </a:p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そのまま対象にできる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75904" y="3611880"/>
            <a:ext cx="30175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今ある図面をそのまま読み取れます。ナレッジのために図面を作り直したり、書き足したりする作業はありません。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現場で起きていること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CHAPTER　01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half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Current Issues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8" sz="quarter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図面は増え続けるのに、探す手段は人の記憶のまま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人が台帳へ写す方式が、行き詰まる理由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「探せない」ことが、設計時間と品質の両方を削っている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47472"/>
            <a:ext cx="10360152" cy="566928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2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設計現場で、繰り返し起きていること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>
          <a:xfrm>
            <a:off x="566928" y="969264"/>
            <a:ext cx="11155680" cy="219456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どれも「図面の中身が情報になっていない」ことから来ています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00200"/>
            <a:ext cx="5559552" cy="1874519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49808" y="1856232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過去の図面が探せない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377440"/>
            <a:ext cx="4983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似た検討をした記憶はあるが、どこにあるか分からない。結局サーバーを辿るか、当時の担当者に聞くことになる。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600200"/>
            <a:ext cx="5559552" cy="1874519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464808" y="1856232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知らなければ、再利用できない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64808" y="2377440"/>
            <a:ext cx="4983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使える図面があっても、存在を知らなければ使われない。同じ検討を最初からやり直すことになる。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703320"/>
            <a:ext cx="5559552" cy="1874519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49808" y="3959352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ベテランの記憶に依存している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480559"/>
            <a:ext cx="4983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どこに何があるかが個人の経験に紐づいている。異動・退職のたびに、組織として探せる範囲が狭くなる。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703320"/>
            <a:ext cx="5559552" cy="1874519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64808" y="3959352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中身は開かないと分からない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4480559"/>
            <a:ext cx="4983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材質・質量・部品点数は、図面を開いて確認するしかない。横断で数えることも、集計することもできない。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図面そのものは資産として残っています。足りないのは、その中身に外から到達するための手がかりです。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>
          <a:xfrm>
            <a:off x="566928" y="969264"/>
            <a:ext cx="11155680" cy="219456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人が図面を開いて情報を写す方式は、増え続ける図面に追いつけません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66928" y="347472"/>
            <a:ext cx="10360152" cy="566928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2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台帳づくりが続かない理由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8" sz="quarter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人が写す方式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9" sz="quarter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図面から読み取る方式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4846320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・Excelの台帳へ、図番・客先・材質を手入力する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・担当者が要点を個人メモに残す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・探すときはフォルダを辿り、記憶と勘で当たりをつける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0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/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3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行き詰まる理由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・図面が増えるたびに、人手の作業も増える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・入力の粒度と表記が、人によって変わる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・過去の図面までは、遡って入力しきれない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514600"/>
            <a:ext cx="4846320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・図面ファイルそのものから、中身を機械的に読み取る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・読み取った値の表記をそろえ、検索できる形にする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・客先・装置・材質などの見出しを自動で付ける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0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/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3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フォルダの整備は、引き続き効果があります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階層と名称の規則がそろっていると、客先名や案件名をフォルダから読み取れます。図面の中身と合わせて判断できるため、見出しの精度が上がります。整備した規則は、この仕組みの上でそのまま活きま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この仕組みでできること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CHAPTER　02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half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What It Does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8" sz="quarter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図面1枚から、どんな情報が取り出せるか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自動で付いた情報を、どう信用してよいか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実際の設計図面で確認できている範囲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47472"/>
            <a:ext cx="10360152" cy="566928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2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何をする仕組みか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>
          <a:xfrm>
            <a:off x="566928" y="969264"/>
            <a:ext cx="11155680" cy="219456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図面を渡すと、3つの処理を通って「探せる情報」になります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3602736" cy="2880360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49808" y="190195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STEP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304288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7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中身を読み取る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944368"/>
            <a:ext cx="30175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図面ファイルを開いて、書かれている値を機械的に取り出します。元のファイルは読むだけで、書き換えません。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96512" y="2926080"/>
            <a:ext cx="1554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▶</a:t>
            </a:r>
          </a:p>
        </p:txBody>
      </p:sp>
      <p:sp>
        <p:nvSpPr>
          <p:cNvPr id="9" name="Rectangle 8"/>
          <p:cNvSpPr/>
          <p:nvPr/>
        </p:nvSpPr>
        <p:spPr>
          <a:xfrm>
            <a:off x="4270248" y="1645920"/>
            <a:ext cx="3602736" cy="2880360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562856" y="190195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STEP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2856" y="2304288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7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表記をそろえる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2856" y="2944368"/>
            <a:ext cx="30175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書き方のばらつきをそろえ、決まった項目に整えます。読み取れなかった項目は、空欄のまま残します。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2926080"/>
            <a:ext cx="1554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83296" y="1645920"/>
            <a:ext cx="3602736" cy="2880360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375904" y="190195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STEP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75904" y="2304288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7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見出しを付ける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75904" y="2944368"/>
            <a:ext cx="30175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登録されている言葉と照らし合わせ、客先・装置・材質などの見出しを付けます。判断の根拠も一緒に残します。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937760"/>
            <a:ext cx="1127455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4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この3つを自動で動かせます。設計者が入力する作業はありません。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読み取りは図面を登録したときに動きます。図面を訂正して登録し直せば、その図面だけを読み取り直します。人が手で直した見出しは、読み取り直しても残ります。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47472"/>
            <a:ext cx="10360152" cy="566928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2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図面1枚から、このような情報が付与されます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>
          <a:xfrm>
            <a:off x="566928" y="969264"/>
            <a:ext cx="11155680" cy="219456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下記は仕組みを説明するための架空の例示です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00200"/>
            <a:ext cx="5559552" cy="379476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自動で付く見出し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395728"/>
            <a:ext cx="2395728" cy="402336"/>
          </a:xfrm>
          <a:prstGeom prst="rect">
            <a:avLst/>
          </a:prstGeom>
          <a:solidFill>
            <a:srgbClr val="F5F7FA"/>
          </a:solidFill>
          <a:ln w="9525">
            <a:solidFill>
              <a:srgbClr val="005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wrap="square"/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客先：A社</a:t>
            </a:r>
          </a:p>
        </p:txBody>
      </p:sp>
      <p:sp>
        <p:nvSpPr>
          <p:cNvPr id="7" name="Rectangle 6"/>
          <p:cNvSpPr/>
          <p:nvPr/>
        </p:nvSpPr>
        <p:spPr>
          <a:xfrm>
            <a:off x="3273552" y="2395728"/>
            <a:ext cx="2395728" cy="402336"/>
          </a:xfrm>
          <a:prstGeom prst="rect">
            <a:avLst/>
          </a:prstGeom>
          <a:solidFill>
            <a:srgbClr val="F5F7FA"/>
          </a:solidFill>
          <a:ln w="9525">
            <a:solidFill>
              <a:srgbClr val="005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wrap="square"/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装置：ガントリー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962656"/>
            <a:ext cx="2395728" cy="402336"/>
          </a:xfrm>
          <a:prstGeom prst="rect">
            <a:avLst/>
          </a:prstGeom>
          <a:solidFill>
            <a:srgbClr val="F5F7FA"/>
          </a:solidFill>
          <a:ln w="9525">
            <a:solidFill>
              <a:srgbClr val="005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wrap="square"/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材質：SUS304</a:t>
            </a:r>
          </a:p>
        </p:txBody>
      </p:sp>
      <p:sp>
        <p:nvSpPr>
          <p:cNvPr id="9" name="Rectangle 8"/>
          <p:cNvSpPr/>
          <p:nvPr/>
        </p:nvSpPr>
        <p:spPr>
          <a:xfrm>
            <a:off x="3273552" y="2962656"/>
            <a:ext cx="2395728" cy="402336"/>
          </a:xfrm>
          <a:prstGeom prst="rect">
            <a:avLst/>
          </a:prstGeom>
          <a:solidFill>
            <a:srgbClr val="F5F7FA"/>
          </a:solidFill>
          <a:ln w="9525">
            <a:solidFill>
              <a:srgbClr val="005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wrap="square"/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材質：SS400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529584"/>
            <a:ext cx="2395728" cy="402336"/>
          </a:xfrm>
          <a:prstGeom prst="rect">
            <a:avLst/>
          </a:prstGeom>
          <a:solidFill>
            <a:srgbClr val="F5F7FA"/>
          </a:solidFill>
          <a:ln w="9525">
            <a:solidFill>
              <a:srgbClr val="005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wrap="square"/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メーカー：空圧機器メーカーB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3552" y="3529584"/>
            <a:ext cx="2395728" cy="402336"/>
          </a:xfrm>
          <a:prstGeom prst="rect">
            <a:avLst/>
          </a:prstGeom>
          <a:solidFill>
            <a:srgbClr val="F5F7FA"/>
          </a:solidFill>
          <a:ln w="9525">
            <a:solidFill>
              <a:srgbClr val="005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wrap="square"/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熱処理：焼入れ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096512"/>
            <a:ext cx="2395728" cy="402336"/>
          </a:xfrm>
          <a:prstGeom prst="rect">
            <a:avLst/>
          </a:prstGeom>
          <a:solidFill>
            <a:srgbClr val="F5F7FA"/>
          </a:solidFill>
          <a:ln w="9525">
            <a:solidFill>
              <a:srgbClr val="005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584" wrap="square"/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1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規格：社内規格C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600200"/>
            <a:ext cx="5559552" cy="379476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46520" y="1874519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一緒に記録される値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446520" y="2395728"/>
          <a:ext cx="502920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200400"/>
              </a:tblGrid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項目</a:t>
                      </a:r>
                    </a:p>
                  </a:txBody>
                  <a:tcPr anchor="ctr" marL="82296">
                    <a:solidFill>
                      <a:srgbClr val="005BA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値</a:t>
                      </a:r>
                    </a:p>
                  </a:txBody>
                  <a:tcPr anchor="ctr" marL="82296">
                    <a:solidFill>
                      <a:srgbClr val="005BAC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図面番号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SAMPLE-0001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図面名</a:t>
                      </a:r>
                    </a:p>
                  </a:txBody>
                  <a:tcPr anchor="ctr" marL="82296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ガイドレール</a:t>
                      </a:r>
                    </a:p>
                  </a:txBody>
                  <a:tcPr anchor="ctr" marL="82296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質量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4.8 kg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構成部品</a:t>
                      </a:r>
                    </a:p>
                  </a:txBody>
                  <a:tcPr anchor="ctr" marL="82296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108 点</a:t>
                      </a:r>
                    </a:p>
                  </a:txBody>
                  <a:tcPr anchor="ctr" marL="82296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使われている材質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8 種類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457200" y="5669280"/>
            <a:ext cx="1127455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13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「A社向けで、SUS304を使ったガントリー」といった条件で、図面を開かずに絞り込めます。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1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質量や部品点数は数値として残るため、複数の図面をまたいだ集計にも使えます。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47472"/>
            <a:ext cx="10360152" cy="566928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2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タグが付くと、探し方はこう変わります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>
          <a:xfrm>
            <a:off x="566928" y="969264"/>
            <a:ext cx="11155680" cy="219456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画面イメージです。表示している値はすべて架空のデモデータです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72768"/>
            <a:ext cx="11091672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48640" y="1572768"/>
            <a:ext cx="11091672" cy="420624"/>
          </a:xfrm>
          <a:prstGeom prst="rect">
            <a:avLst/>
          </a:prstGeom>
          <a:solidFill>
            <a:srgbClr val="005BAC"/>
          </a:solidFill>
          <a:ln w="9525">
            <a:solidFill>
              <a:srgbClr val="005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wrap="square"/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図面検索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93392"/>
            <a:ext cx="2788920" cy="3968496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2194560"/>
            <a:ext cx="23774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絞り込み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60320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00" b="1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客先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98064"/>
            <a:ext cx="2377440" cy="6446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0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■ A社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05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□ B社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05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□ C社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25596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00" b="1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装置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863340"/>
            <a:ext cx="2377440" cy="6446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0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■ ガントリー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05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□ 治具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05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□ コンベア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690872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00" b="1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材質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928616"/>
            <a:ext cx="2377440" cy="6446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0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■ SUS304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0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■ SS400</a:t>
            </a:r>
          </a:p>
          <a:p>
            <a:pPr>
              <a:lnSpc>
                <a:spcPct val="125000"/>
              </a:lnSpc>
              <a:spcAft>
                <a:spcPts val="300"/>
              </a:spcAft>
            </a:pPr>
            <a:r>
              <a:rPr sz="105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□ A5052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1" y="2194560"/>
            <a:ext cx="77906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検索結果　4件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93591" y="2560320"/>
            <a:ext cx="7790688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776472" y="2688336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SAMPLE-0001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96712" y="2688336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ガイドレール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76472" y="2980944"/>
            <a:ext cx="5669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9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客先:A社　装置:ガントリー　材質:SUS304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28632" y="2816352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4.8 kg　/　108 点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93591" y="3410712"/>
            <a:ext cx="7790688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3776472" y="3538728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SAMPLE-0014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96712" y="3538728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走行ベース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76472" y="3831336"/>
            <a:ext cx="5669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9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客先:A社　装置:ガントリー　材質:SS400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28632" y="3666744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12.3 kg　/　64 点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93591" y="4261104"/>
            <a:ext cx="7790688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3776472" y="4389120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SAMPLE-0027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96712" y="4389120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ケーブルダクト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76472" y="4681728"/>
            <a:ext cx="5669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9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客先:A社　装置:ガントリー　材質:SUS304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28632" y="4517136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1.2 kg　/　9 点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93591" y="5111496"/>
            <a:ext cx="7790688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3776472" y="5239512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SAMPLE-0033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96712" y="5239512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昇降フレーム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76472" y="5532120"/>
            <a:ext cx="5669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9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客先:A社　装置:ガントリー　材質:SS400　熱処理:焼入れ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28632" y="5367528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Aft>
                <a:spcPts val="200"/>
              </a:spcAft>
            </a:pPr>
            <a:r>
              <a:rPr sz="95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23.6 kg　/　87 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080760"/>
            <a:ext cx="112745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客先・装置・材質などを組み合わせて絞り込めます。フォルダをたどらず、図面を1枚ずつ開かずに候補までたどり着けます。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>
          <a:xfrm>
            <a:off x="566928" y="969264"/>
            <a:ext cx="11155680" cy="219456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「なぜそう判断したか」が残る設計にしています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66928" y="347472"/>
            <a:ext cx="10360152" cy="566928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2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自動で付いた情報を、どう信用してよいか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8" sz="quarter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根拠が一緒に残ります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9" sz="quarter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分からないものは、空欄のままにします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4846320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見出しには、次の3つが必ず付きます。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・どの値をもとに判断したか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・どれくらい確からしいか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・なぜその見出しを付けたか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0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/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確認する人は、元の図面を開かずに「この判断は妥当か」を確かめられます。誤りが見つかった場合は、その場で直せます。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514600"/>
            <a:ext cx="4846320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確実に判断できない項目は、推測で埋めません。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・読み取れない項目は、空欄のまま残す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・「0」と「分からない」を区別する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・候補が複数あるときは、1つに決めない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0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/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誤った値が入ると、探した結果も誤り、確認の手間がかえって増えます。空欄であれば、足りないことがその場で分かります。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47472"/>
            <a:ext cx="10360152" cy="566928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2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動作確認の結果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>
          <a:xfrm>
            <a:off x="566928" y="969264"/>
            <a:ext cx="11155680" cy="219456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当社で架空の図面を40件用意し、登録から表示まで通して確認しました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11274552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4754880"/>
                <a:gridCol w="3227832"/>
              </a:tblGrid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確認した観点</a:t>
                      </a:r>
                    </a:p>
                  </a:txBody>
                  <a:tcPr anchor="ctr" marL="82296">
                    <a:solidFill>
                      <a:srgbClr val="005BA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結果</a:t>
                      </a:r>
                    </a:p>
                  </a:txBody>
                  <a:tcPr anchor="ctr" marL="82296">
                    <a:solidFill>
                      <a:srgbClr val="005BA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評価</a:t>
                      </a:r>
                    </a:p>
                  </a:txBody>
                  <a:tcPr anchor="ctr" marL="82296">
                    <a:solidFill>
                      <a:srgbClr val="005BAC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最後まで処理できたか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40件すべて（処理できなかった図面なし）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落ちずに通る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部品の構成を取り出せたか</a:t>
                      </a:r>
                    </a:p>
                  </a:txBody>
                  <a:tcPr anchor="ctr" marL="82296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40件すべて</a:t>
                      </a:r>
                    </a:p>
                  </a:txBody>
                  <a:tcPr anchor="ctr" marL="82296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全件で取得</a:t>
                      </a:r>
                    </a:p>
                  </a:txBody>
                  <a:tcPr anchor="ctr" marL="82296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質量・重量を取り出せたか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40件中39件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ほぼ全件で取得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材質を取り出せたか</a:t>
                      </a:r>
                    </a:p>
                  </a:txBody>
                  <a:tcPr anchor="ctr" marL="82296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40件中34件</a:t>
                      </a:r>
                    </a:p>
                  </a:txBody>
                  <a:tcPr anchor="ctr" marL="82296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8割超で取得</a:t>
                      </a:r>
                    </a:p>
                  </a:txBody>
                  <a:tcPr anchor="ctr" marL="82296"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客先・装置の見出しが付いたか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登録済みの言葉に一致した図面のみ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登録語彙の数で決まる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023360"/>
            <a:ext cx="11274552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3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読み取りの性能と、見出しの数は別の話です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材質・質量・部品構成は図面そのものに書かれているため、ほぼ全件で取り出せます。一方、客先や装置の見出しは、あらかじめ登録した社名・装置名と一致したときに付きます。この確認では語彙を数件しか登録していないため、見出しの数は少なくなっています。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つまり見出しの数は、読み取りの精度ではなく登録した語彙の量で決まります。運用で使う社名・装置名を登録すれば、その分だけ増えます。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導入にあたっての前提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 sz="half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CHAPTER　03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half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Prerequisites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8" sz="quarter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ICADを使う構成と、使わない構成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効果を出すために、事前に決めておくこと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この仕組みでできないこと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47472"/>
            <a:ext cx="10360152" cy="566928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2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必要な環境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>
          <a:xfrm>
            <a:off x="566928" y="969264"/>
            <a:ext cx="11155680" cy="219456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ICADを使う構成と、使わない構成のどちらでも運用できます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11274552" cy="1042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4389120"/>
                <a:gridCol w="2377440"/>
                <a:gridCol w="3319272"/>
              </a:tblGrid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構成</a:t>
                      </a:r>
                    </a:p>
                  </a:txBody>
                  <a:tcPr anchor="ctr" marL="82296">
                    <a:solidFill>
                      <a:srgbClr val="005BA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読み取り方</a:t>
                      </a:r>
                    </a:p>
                  </a:txBody>
                  <a:tcPr anchor="ctr" marL="82296">
                    <a:solidFill>
                      <a:srgbClr val="005BA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ICADの要否</a:t>
                      </a:r>
                    </a:p>
                  </a:txBody>
                  <a:tcPr anchor="ctr" marL="82296">
                    <a:solidFill>
                      <a:srgbClr val="005BA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取り出せる情報</a:t>
                      </a:r>
                    </a:p>
                  </a:txBody>
                  <a:tcPr anchor="ctr" marL="82296">
                    <a:solidFill>
                      <a:srgbClr val="005BAC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構成A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ICADの図面をそのまま読み取る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登録する時だけ必要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最も多い（材質・質量・部品構成まで）</a:t>
                      </a:r>
                    </a:p>
                  </a:txBody>
                  <a:tcPr anchor="ctr" marL="82296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構成B</a:t>
                      </a:r>
                    </a:p>
                  </a:txBody>
                  <a:tcPr anchor="ctr" marL="82296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STEP／DXFに出力した図面を読み取る</a:t>
                      </a:r>
                    </a:p>
                  </a:txBody>
                  <a:tcPr anchor="ctr" marL="82296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不要</a:t>
                      </a:r>
                    </a:p>
                  </a:txBody>
                  <a:tcPr anchor="ctr" marL="82296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1F1F1F"/>
                          </a:solidFill>
                          <a:latin typeface="Segoe UI"/>
                          <a:ea typeface="游ゴシック Medium"/>
                          <a:cs typeface="游ゴシック Medium"/>
                        </a:rPr>
                        <a:t>中程度（材質・質量は残らないことがある）</a:t>
                      </a:r>
                    </a:p>
                  </a:txBody>
                  <a:tcPr anchor="ctr" marL="82296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57200" y="3291840"/>
            <a:ext cx="3602736" cy="2194560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49808" y="3547872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3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ICADが要るのは登録の時だけ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4187952"/>
            <a:ext cx="30175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検索・閲覧・見出しの表示にICADは要りません。読み取った内容は保存され、以降は保存された情報を見ます。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270248" y="3291840"/>
            <a:ext cx="3602736" cy="2194560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562856" y="3547872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3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既にお使いのICADを使えます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62856" y="4187952"/>
            <a:ext cx="30175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設計者が使っていない時間帯に読み取りを動かす、といった運用ができます。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83296" y="3291840"/>
            <a:ext cx="3602736" cy="2194560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375904" y="3547872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3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ICADなしでも始められます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75904" y="4187952"/>
            <a:ext cx="30175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STEP／DXFに出力したデータを取り込む構成であれば、ICADなしで運用できます。取り出せる情報は少なくなります。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760720"/>
            <a:ext cx="112745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構成Aと構成Bは併用できます。ふだんは構成Bで取り込み、詳しい情報が必要な図面だけ構成Aで読み取ることもできます。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47472"/>
            <a:ext cx="10360152" cy="566928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2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効果を出すために、決めておくこと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>
          <a:xfrm>
            <a:off x="566928" y="969264"/>
            <a:ext cx="11155680" cy="219456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技術ではなく運用の話です。ここが決まっているかで、精度が大きく変わります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5559552" cy="1901952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49808" y="1901952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1.　自社でよく使う言葉を登録する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423160"/>
            <a:ext cx="49834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自社の客先名・装置名・案件名を登録します。ここに入っている言葉だけが見出しになります。運用しながら足していけます。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645920"/>
            <a:ext cx="5559552" cy="1901952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464808" y="1901952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2.　フォルダ階層と名称をそろえる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64808" y="2423160"/>
            <a:ext cx="49834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客先名や案件名をフォルダから読み取れると、見出しの精度が上がります。今後の新規案件から規則をそろえるだけでも効果があります。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767328"/>
            <a:ext cx="5559552" cy="1901952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49808" y="4023360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3.　登録するタイミングを決める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544568"/>
            <a:ext cx="49834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いつ、誰が、どの図面を登録するかを決めます。出図時に登録する運用にすると、抜けが起きにくくなります。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767328"/>
            <a:ext cx="5559552" cy="1901952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64808" y="4023360"/>
            <a:ext cx="4983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5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4.　確認する場をつくる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4544568"/>
            <a:ext cx="49834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自動で付いた見出しを人が見て、必要なら直す流れを用意します。最初のうちだけでも確認すると、傾向がつかめます。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5A5A5A"/>
                </a:solidFill>
                <a:latin typeface="Segoe UI"/>
                <a:ea typeface="游ゴシック Medium"/>
                <a:cs typeface="游ゴシック Medium"/>
              </a:rPr>
              <a:t>どれも一度に完璧にする必要はありません。対象を絞って始め、運用しながら言葉と規則を足していきます。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>
          <a:xfrm>
            <a:off x="566928" y="969264"/>
            <a:ext cx="11155680" cy="219456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判断していただくために、できないこともあわせてお示しします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66928" y="347472"/>
            <a:ext cx="10360152" cy="566928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2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できること／できないこと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8" sz="quarter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できること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9" sz="quarter"/>
          </p:nvPr>
        </p:nvSpPr>
        <p:spPr/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Segoe UI"/>
                <a:ea typeface="游ゴシック Medium"/>
                <a:cs typeface="游ゴシック Medium"/>
              </a:rPr>
              <a:t>できないこと・お約束できないこと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4846320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・図面ファイルから中身を読み取る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・表記をそろえて、検索できる形にする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・客先・装置・材質などの見出しを自動で付ける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・判断の根拠と確からしさを残す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・質量・部品点数などを数値として蓄える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・過去の図面も、まとめて読み取り直す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514600"/>
            <a:ext cx="4846320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・図面に書かれていないことを読み取る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・すべての項目を100%取り出す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・書き方が特殊な図枠を、そのまま読み解く</a:t>
            </a:r>
          </a:p>
          <a:p>
            <a:pPr>
              <a:lnSpc>
                <a:spcPct val="125000"/>
              </a:lnSpc>
              <a:spcAft>
                <a:spcPts val="700"/>
              </a:spcAft>
            </a:pPr>
            <a:r>
              <a:rPr sz="125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・自動で付いた見出しを、人の確認なしで正とする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347472"/>
            <a:ext cx="10360152" cy="566928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22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導入の進め方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>
          <a:xfrm>
            <a:off x="566928" y="969264"/>
            <a:ext cx="11155680" cy="219456"/>
          </a:xfrm>
        </p:spPr>
        <p:txBody>
          <a:bodyPr wrap="square"/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0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小さく試して、効果を確かめて、広げていきます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3602736" cy="3246120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49808" y="190195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STEP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304288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7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小さく試す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944368"/>
            <a:ext cx="30175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・対象の案件・装置を1つに絞る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・その範囲の図面を登録する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・どこまで取り出せるかを見る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96512" y="3108960"/>
            <a:ext cx="1554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▶</a:t>
            </a:r>
          </a:p>
        </p:txBody>
      </p:sp>
      <p:sp>
        <p:nvSpPr>
          <p:cNvPr id="9" name="Rectangle 8"/>
          <p:cNvSpPr/>
          <p:nvPr/>
        </p:nvSpPr>
        <p:spPr>
          <a:xfrm>
            <a:off x="4270248" y="1645920"/>
            <a:ext cx="3602736" cy="3246120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562856" y="190195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STEP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2856" y="2304288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7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言葉と運用を整える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2856" y="2944368"/>
            <a:ext cx="30175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・自社の客先名・装置名を登録する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・フォルダ階層と名称をそろえる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・登録と確認の担当を決める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3108960"/>
            <a:ext cx="1554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14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83296" y="1645920"/>
            <a:ext cx="3602736" cy="3246120"/>
          </a:xfrm>
          <a:prstGeom prst="rect">
            <a:avLst/>
          </a:prstGeom>
          <a:solidFill>
            <a:srgbClr val="F5F7FA"/>
          </a:solidFill>
          <a:ln w="9525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375904" y="190195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15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STEP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75904" y="2304288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sz="1700" b="1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広げる／効果を測る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75904" y="2944368"/>
            <a:ext cx="30175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・対象範囲を段階的に広げる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・探す時間の変化を実測する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・測った結果で次の投資を判断する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303520"/>
            <a:ext cx="1127455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4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まずは対象を絞った試験運用からご相談ください。</a:t>
            </a:r>
          </a:p>
          <a:p>
            <a:pPr>
              <a:lnSpc>
                <a:spcPct val="125000"/>
              </a:lnSpc>
              <a:spcAft>
                <a:spcPts val="0"/>
              </a:spcAft>
            </a:pPr>
            <a:r>
              <a:rPr sz="1200" b="0">
                <a:solidFill>
                  <a:srgbClr val="1F1F1F"/>
                </a:solidFill>
                <a:latin typeface="Segoe UI"/>
                <a:ea typeface="游ゴシック Medium"/>
                <a:cs typeface="游ゴシック Medium"/>
              </a:rPr>
              <a:t>対象範囲、登録する図面、確認の進め方をご一緒に決めたうえで、実際のデータで何が取り出せるかをお示しします。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29984"/>
            <a:ext cx="12198096" cy="128016"/>
          </a:xfrm>
          <a:prstGeom prst="rect">
            <a:avLst/>
          </a:prstGeom>
          <a:solidFill>
            <a:srgbClr val="00A8E6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063240"/>
            <a:ext cx="11274552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200"/>
              </a:spcAft>
            </a:pPr>
            <a:r>
              <a:rPr sz="4000" b="1">
                <a:solidFill>
                  <a:srgbClr val="005BAC"/>
                </a:solidFill>
                <a:latin typeface="Segoe UI"/>
                <a:ea typeface="游ゴシック Medium"/>
                <a:cs typeface="游ゴシック Medium"/>
              </a:rPr>
              <a:t>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しずく">
  <a:themeElements>
    <a:clrScheme name="しずく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テンプレート1">
      <a:majorFont>
        <a:latin typeface="Segoe UI"/>
        <a:ea typeface="游ゴシック Medium"/>
        <a:cs typeface=""/>
      </a:majorFont>
      <a:minorFont>
        <a:latin typeface="Segoe UI"/>
        <a:ea typeface="游ゴシック Medium"/>
        <a:cs typeface=""/>
      </a:minorFont>
    </a:fontScheme>
    <a:fmtScheme name="しずく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TM04033925[[fn=しずく]]</Template>
  <TotalTime>310</TotalTime>
  <Words>238</Words>
  <Application>Microsoft Office PowerPoint</Application>
  <PresentationFormat>ワイド画面</PresentationFormat>
  <Paragraphs>40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4" baseType="lpstr">
      <vt:lpstr>Meiryo UI</vt:lpstr>
      <vt:lpstr>游ゴシック</vt:lpstr>
      <vt:lpstr>Arial</vt:lpstr>
      <vt:lpstr>Segoe UI</vt:lpstr>
      <vt:lpstr>Wingdings</vt:lpstr>
      <vt:lpstr>しずく</vt:lpstr>
      <vt:lpstr>PowerPointフォーマット</vt:lpstr>
      <vt:lpstr>フォントについて１</vt:lpstr>
      <vt:lpstr>フォントについて２</vt:lpstr>
      <vt:lpstr>章タイトル Chapter Title</vt:lpstr>
      <vt:lpstr>要約と結言を含むフォーマット</vt:lpstr>
      <vt:lpstr>２つの比較ページサンプル</vt:lpstr>
      <vt:lpstr>画像説明ページのサンプル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薮内裕之</dc:creator>
  <cp:lastModifiedBy>薮内裕之</cp:lastModifiedBy>
  <cp:revision>5</cp:revision>
  <dcterms:created xsi:type="dcterms:W3CDTF">2026-05-12T02:31:46Z</dcterms:created>
  <dcterms:modified xsi:type="dcterms:W3CDTF">2026-05-25T07:53:42Z</dcterms:modified>
</cp:coreProperties>
</file>