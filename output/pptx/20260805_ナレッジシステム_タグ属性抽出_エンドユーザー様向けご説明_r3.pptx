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7"/>
    <p:sldId id="257" r:id="rId8"/>
    <p:sldId id="258" r:id="rId9"/>
    <p:sldId id="259" r:id="rId6"/>
    <p:sldId id="260" r:id="rId5"/>
    <p:sldId id="261" r:id="rId4"/>
    <p:sldId id="262" r:id="rId3"/>
    <p:sldId id="263" r:id="rId2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8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DE7CC-BA49-441A-954A-D7313BCB9DA5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C8C8AF-17B2-4669-92EE-079BEB0104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6981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logo_large.jpg">
            <a:extLst>
              <a:ext uri="{FF2B5EF4-FFF2-40B4-BE49-F238E27FC236}">
                <a16:creationId xmlns:a16="http://schemas.microsoft.com/office/drawing/2014/main" id="{D11579AC-7796-D80E-3CC0-C7265D79DA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6400" y="609600"/>
            <a:ext cx="2606040" cy="1503485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DEFC902B-A52D-C521-E9E5-3F94762B39EF}"/>
              </a:ext>
            </a:extLst>
          </p:cNvPr>
          <p:cNvSpPr/>
          <p:nvPr userDrawn="1"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cap="none" baseline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3DC2CAB-9CE7-E662-77B8-5B3C6DB80BCD}"/>
              </a:ext>
            </a:extLst>
          </p:cNvPr>
          <p:cNvSpPr/>
          <p:nvPr userDrawn="1"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cap="none" baseline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833329"/>
            <a:ext cx="8689976" cy="2509213"/>
          </a:xfrm>
        </p:spPr>
        <p:txBody>
          <a:bodyPr anchor="b">
            <a:normAutofit/>
          </a:bodyPr>
          <a:lstStyle>
            <a:lvl1pPr algn="l">
              <a:defRPr sz="4800" b="1" cap="none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70949"/>
            <a:ext cx="8689976" cy="652995"/>
          </a:xfrm>
        </p:spPr>
        <p:txBody>
          <a:bodyPr>
            <a:normAutofit/>
          </a:bodyPr>
          <a:lstStyle>
            <a:lvl1pPr marL="0" indent="0" algn="l">
              <a:buNone/>
              <a:defRPr sz="2200" cap="none" baseline="0">
                <a:solidFill>
                  <a:srgbClr val="00A8E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60FBCDE1-018F-99EB-0276-8FFC2E77ED96}"/>
              </a:ext>
            </a:extLst>
          </p:cNvPr>
          <p:cNvSpPr/>
          <p:nvPr userDrawn="1"/>
        </p:nvSpPr>
        <p:spPr>
          <a:xfrm>
            <a:off x="914400" y="4160520"/>
            <a:ext cx="2011680" cy="36576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cap="none" baseline="0"/>
          </a:p>
        </p:txBody>
      </p:sp>
      <p:sp>
        <p:nvSpPr>
          <p:cNvPr id="24" name="テキスト プレースホルダー 23">
            <a:extLst>
              <a:ext uri="{FF2B5EF4-FFF2-40B4-BE49-F238E27FC236}">
                <a16:creationId xmlns:a16="http://schemas.microsoft.com/office/drawing/2014/main" id="{4F424697-34D8-E67D-84F2-7DBFA5AD7D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4343400"/>
            <a:ext cx="5166028" cy="914400"/>
          </a:xfrm>
        </p:spPr>
        <p:txBody>
          <a:bodyPr>
            <a:normAutofit/>
          </a:bodyPr>
          <a:lstStyle>
            <a:lvl1pPr>
              <a:buNone/>
              <a:defRPr sz="1600" cap="none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kumimoji="1" lang="en-US" altLang="ja-JP" dirty="0"/>
              <a:t>2026.MM.DD</a:t>
            </a:r>
            <a:r>
              <a:rPr kumimoji="1" lang="ja-JP" altLang="en-US" dirty="0"/>
              <a:t>　</a:t>
            </a:r>
            <a:r>
              <a:rPr kumimoji="1" lang="en-US" altLang="ja-JP" dirty="0"/>
              <a:t>/</a:t>
            </a:r>
            <a:r>
              <a:rPr kumimoji="1" lang="ja-JP" altLang="en-US" dirty="0"/>
              <a:t>　部署名　</a:t>
            </a:r>
            <a:r>
              <a:rPr kumimoji="1" lang="en-US" altLang="ja-JP" dirty="0"/>
              <a:t>/</a:t>
            </a:r>
            <a:r>
              <a:rPr kumimoji="1" lang="ja-JP" altLang="en-US" dirty="0"/>
              <a:t>　発表者氏名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C55F0FE-9421-CCC4-21CF-3EDC009B1D6C}"/>
              </a:ext>
            </a:extLst>
          </p:cNvPr>
          <p:cNvSpPr txBox="1"/>
          <p:nvPr userDrawn="1"/>
        </p:nvSpPr>
        <p:spPr>
          <a:xfrm>
            <a:off x="456228" y="6494780"/>
            <a:ext cx="8342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cap="none" baseline="0" dirty="0">
                <a:solidFill>
                  <a:schemeClr val="bg1"/>
                </a:solidFill>
              </a:rPr>
              <a:t>金石本社：〒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920-0336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 石川県金沢市金石本町ハ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13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番地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2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　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/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　小矢部事務所：〒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932-0132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 富山県小矢部市小森谷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19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番地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DC65298-5B5E-1D40-2C58-080E3E98BC90}"/>
              </a:ext>
            </a:extLst>
          </p:cNvPr>
          <p:cNvSpPr txBox="1"/>
          <p:nvPr userDrawn="1"/>
        </p:nvSpPr>
        <p:spPr>
          <a:xfrm>
            <a:off x="456228" y="6182577"/>
            <a:ext cx="31133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600" cap="none" baseline="0" dirty="0">
                <a:solidFill>
                  <a:schemeClr val="bg1"/>
                </a:solidFill>
              </a:rPr>
              <a:t>株式会社 アルパイン設計事務所</a:t>
            </a:r>
          </a:p>
        </p:txBody>
      </p:sp>
    </p:spTree>
    <p:extLst>
      <p:ext uri="{BB962C8B-B14F-4D97-AF65-F5344CB8AC3E}">
        <p14:creationId xmlns:p14="http://schemas.microsoft.com/office/powerpoint/2010/main" val="1533615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5">
            <a:extLst>
              <a:ext uri="{FF2B5EF4-FFF2-40B4-BE49-F238E27FC236}">
                <a16:creationId xmlns:a16="http://schemas.microsoft.com/office/drawing/2014/main" id="{7A9930C5-9CE5-CD3F-0B34-BA742C592203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411481"/>
            <a:ext cx="10364451" cy="502919"/>
          </a:xfrm>
        </p:spPr>
        <p:txBody>
          <a:bodyPr anchor="t"/>
          <a:lstStyle>
            <a:lvl1pPr algn="l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69DF8EF-F888-3401-8278-4FAF9AF9F2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73C56A4-895E-D5C5-3104-BF85ABACF34C}"/>
              </a:ext>
            </a:extLst>
          </p:cNvPr>
          <p:cNvSpPr/>
          <p:nvPr userDrawn="1"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2EECE7D1-9EB4-934E-9375-5673AE1CDFA5}"/>
              </a:ext>
            </a:extLst>
          </p:cNvPr>
          <p:cNvSpPr/>
          <p:nvPr userDrawn="1"/>
        </p:nvSpPr>
        <p:spPr>
          <a:xfrm>
            <a:off x="457200" y="1235016"/>
            <a:ext cx="11274552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テキスト プレースホルダー 52">
            <a:extLst>
              <a:ext uri="{FF2B5EF4-FFF2-40B4-BE49-F238E27FC236}">
                <a16:creationId xmlns:a16="http://schemas.microsoft.com/office/drawing/2014/main" id="{F8CF3099-468C-D418-D6F8-EC2CC9B3FA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6927" y="923635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54" name="図 53">
            <a:extLst>
              <a:ext uri="{FF2B5EF4-FFF2-40B4-BE49-F238E27FC236}">
                <a16:creationId xmlns:a16="http://schemas.microsoft.com/office/drawing/2014/main" id="{CAA03307-0E99-F9A7-C662-A5190938D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56" name="コンテンツ プレースホルダー 55">
            <a:extLst>
              <a:ext uri="{FF2B5EF4-FFF2-40B4-BE49-F238E27FC236}">
                <a16:creationId xmlns:a16="http://schemas.microsoft.com/office/drawing/2014/main" id="{96E4A612-04F1-1448-C938-8AAFF71EA8F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364228"/>
            <a:ext cx="11352213" cy="50699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00A8E6"/>
              </a:buClr>
              <a:buFont typeface="Wingdings" panose="05000000000000000000" pitchFamily="2" charset="2"/>
              <a:buChar char="n"/>
              <a:defRPr sz="2800">
                <a:solidFill>
                  <a:srgbClr val="00A8E6"/>
                </a:solidFill>
              </a:defRPr>
            </a:lvl1pPr>
            <a:lvl2pPr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l"/>
              <a:defRPr sz="2400">
                <a:solidFill>
                  <a:schemeClr val="tx2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buClrTx/>
              <a:buFont typeface="Wingdings" panose="05000000000000000000" pitchFamily="2" charset="2"/>
              <a:buChar char="ü"/>
              <a:defRPr sz="2000">
                <a:solidFill>
                  <a:schemeClr val="tx2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133749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78863" y="2254861"/>
            <a:ext cx="5314214" cy="4105132"/>
          </a:xfrm>
          <a:ln>
            <a:noFill/>
          </a:ln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293796" y="2254861"/>
            <a:ext cx="5311302" cy="4105132"/>
          </a:xfrm>
          <a:ln>
            <a:noFill/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" name="スライド番号プレースホルダー 8">
            <a:extLst>
              <a:ext uri="{FF2B5EF4-FFF2-40B4-BE49-F238E27FC236}">
                <a16:creationId xmlns:a16="http://schemas.microsoft.com/office/drawing/2014/main" id="{ED4643BD-04A4-AAD5-193A-DD596DEDF4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7661BAC-0965-CE22-FC5F-315F9C011D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F75F8A81-F90D-2AC3-0758-21B5A019D68D}"/>
              </a:ext>
            </a:extLst>
          </p:cNvPr>
          <p:cNvSpPr/>
          <p:nvPr userDrawn="1"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9155C07D-C31C-4422-BF59-9288C1D406E6}"/>
              </a:ext>
            </a:extLst>
          </p:cNvPr>
          <p:cNvSpPr/>
          <p:nvPr userDrawn="1"/>
        </p:nvSpPr>
        <p:spPr>
          <a:xfrm>
            <a:off x="457200" y="1235016"/>
            <a:ext cx="11274552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テキスト プレースホルダー 52">
            <a:extLst>
              <a:ext uri="{FF2B5EF4-FFF2-40B4-BE49-F238E27FC236}">
                <a16:creationId xmlns:a16="http://schemas.microsoft.com/office/drawing/2014/main" id="{AC66AFE9-42C5-EE6E-B6B2-8EA75548D3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6927" y="923635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5" name="Rectangle 35">
            <a:extLst>
              <a:ext uri="{FF2B5EF4-FFF2-40B4-BE49-F238E27FC236}">
                <a16:creationId xmlns:a16="http://schemas.microsoft.com/office/drawing/2014/main" id="{23617758-0468-2D94-736E-042159DAECEF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C7D1CD9-9C02-E9DE-D16A-ED000EBB426D}"/>
              </a:ext>
            </a:extLst>
          </p:cNvPr>
          <p:cNvSpPr/>
          <p:nvPr userDrawn="1"/>
        </p:nvSpPr>
        <p:spPr>
          <a:xfrm>
            <a:off x="463297" y="1377086"/>
            <a:ext cx="5553456" cy="508660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E71A640-007B-2631-D5F9-60E543D46707}"/>
              </a:ext>
            </a:extLst>
          </p:cNvPr>
          <p:cNvSpPr/>
          <p:nvPr userDrawn="1"/>
        </p:nvSpPr>
        <p:spPr>
          <a:xfrm>
            <a:off x="6166104" y="1362578"/>
            <a:ext cx="5562600" cy="510332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9172225F-2066-1B77-8C65-F71571935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11481"/>
            <a:ext cx="10364451" cy="502919"/>
          </a:xfrm>
        </p:spPr>
        <p:txBody>
          <a:bodyPr anchor="t"/>
          <a:lstStyle>
            <a:lvl1pPr algn="l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0F5C33EA-A7A6-0093-1CFC-5DE6B341E6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1362578"/>
            <a:ext cx="5559552" cy="781179"/>
          </a:xfrm>
          <a:solidFill>
            <a:schemeClr val="tx1">
              <a:lumMod val="50000"/>
              <a:lumOff val="50000"/>
            </a:schemeClr>
          </a:solidFill>
        </p:spPr>
        <p:txBody>
          <a:bodyPr anchor="ctr"/>
          <a:lstStyle>
            <a:lvl1pPr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0" name="テキスト プレースホルダー 18">
            <a:extLst>
              <a:ext uri="{FF2B5EF4-FFF2-40B4-BE49-F238E27FC236}">
                <a16:creationId xmlns:a16="http://schemas.microsoft.com/office/drawing/2014/main" id="{295F1E9E-2E02-71DD-4D1F-FAFBE4409F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69152" y="1362578"/>
            <a:ext cx="5559552" cy="781179"/>
          </a:xfrm>
          <a:solidFill>
            <a:srgbClr val="00A8E6"/>
          </a:solidFill>
        </p:spPr>
        <p:txBody>
          <a:bodyPr anchor="ctr"/>
          <a:lstStyle>
            <a:lvl1pPr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494569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" y="1399929"/>
            <a:ext cx="6138154" cy="5181600"/>
          </a:xfrm>
          <a:prstGeom prst="roundRect">
            <a:avLst>
              <a:gd name="adj" fmla="val 4943"/>
            </a:avLst>
          </a:prstGeom>
          <a:noFill/>
          <a:ln w="19050" cap="sq">
            <a:solidFill>
              <a:srgbClr val="00A8E6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 prstMaterial="matte"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6042" y="2931911"/>
            <a:ext cx="4709159" cy="351460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スライド番号プレースホルダー 8">
            <a:extLst>
              <a:ext uri="{FF2B5EF4-FFF2-40B4-BE49-F238E27FC236}">
                <a16:creationId xmlns:a16="http://schemas.microsoft.com/office/drawing/2014/main" id="{A6A0EC3A-8208-2F63-BA4C-FE456AB7AFE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63A2F520-B158-CC14-8966-4D18A9D95E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3B41F546-F6F6-79FF-2DF9-0F26E1F2D298}"/>
              </a:ext>
            </a:extLst>
          </p:cNvPr>
          <p:cNvSpPr/>
          <p:nvPr userDrawn="1"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98711BEE-A631-6371-0A47-BCE73CC8F679}"/>
              </a:ext>
            </a:extLst>
          </p:cNvPr>
          <p:cNvSpPr/>
          <p:nvPr userDrawn="1"/>
        </p:nvSpPr>
        <p:spPr>
          <a:xfrm>
            <a:off x="457200" y="1235016"/>
            <a:ext cx="11274552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テキスト プレースホルダー 52">
            <a:extLst>
              <a:ext uri="{FF2B5EF4-FFF2-40B4-BE49-F238E27FC236}">
                <a16:creationId xmlns:a16="http://schemas.microsoft.com/office/drawing/2014/main" id="{93543058-FC54-28CC-6D04-0980939B6B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6927" y="923635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4" name="Rectangle 35">
            <a:extLst>
              <a:ext uri="{FF2B5EF4-FFF2-40B4-BE49-F238E27FC236}">
                <a16:creationId xmlns:a16="http://schemas.microsoft.com/office/drawing/2014/main" id="{565548AB-4F85-1922-397A-15828B82CD68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4F66BA0C-576F-D7DD-05AB-7247A3CE95EF}"/>
              </a:ext>
            </a:extLst>
          </p:cNvPr>
          <p:cNvSpPr/>
          <p:nvPr userDrawn="1"/>
        </p:nvSpPr>
        <p:spPr>
          <a:xfrm>
            <a:off x="6858000" y="2710303"/>
            <a:ext cx="640080" cy="3657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テキスト プレースホルダー 52">
            <a:extLst>
              <a:ext uri="{FF2B5EF4-FFF2-40B4-BE49-F238E27FC236}">
                <a16:creationId xmlns:a16="http://schemas.microsoft.com/office/drawing/2014/main" id="{860C1474-869A-0810-7EF3-9014B952FCA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76042" y="1466743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5C7C5BC-539B-2087-C4DA-65CC2040F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11481"/>
            <a:ext cx="10364451" cy="502919"/>
          </a:xfrm>
        </p:spPr>
        <p:txBody>
          <a:bodyPr anchor="t"/>
          <a:lstStyle>
            <a:lvl1pPr algn="l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07AECB8-4D72-3F83-4F09-8BB49A8F946F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776042" y="1859448"/>
            <a:ext cx="4709159" cy="544230"/>
          </a:xfrm>
        </p:spPr>
        <p:txBody>
          <a:bodyPr>
            <a:normAutofit/>
          </a:bodyPr>
          <a:lstStyle>
            <a:lvl1pPr marL="0" indent="0" algn="l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767352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0C0DB40-5F2F-F35A-86C4-01E32B225B0D}"/>
              </a:ext>
            </a:extLst>
          </p:cNvPr>
          <p:cNvSpPr/>
          <p:nvPr userDrawn="1"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568D18EB-93BD-0FF9-EB13-FAC166CC8116}"/>
              </a:ext>
            </a:extLst>
          </p:cNvPr>
          <p:cNvSpPr/>
          <p:nvPr userDrawn="1"/>
        </p:nvSpPr>
        <p:spPr>
          <a:xfrm>
            <a:off x="4389120" y="6729984"/>
            <a:ext cx="7802575" cy="128016"/>
          </a:xfrm>
          <a:prstGeom prst="rect">
            <a:avLst/>
          </a:prstGeom>
          <a:solidFill>
            <a:srgbClr val="0A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731" y="3242452"/>
            <a:ext cx="3676119" cy="2023252"/>
          </a:xfrm>
        </p:spPr>
        <p:txBody>
          <a:bodyPr anchor="t">
            <a:norm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7731" y="2423769"/>
            <a:ext cx="3676120" cy="418166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751F391-8EE4-1296-D5AE-03886A4EE68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C28693DB-7C05-F742-72BD-AAE7D00BDB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E6212A41-BD99-9E37-D686-4516D7835ED0}"/>
              </a:ext>
            </a:extLst>
          </p:cNvPr>
          <p:cNvSpPr/>
          <p:nvPr userDrawn="1"/>
        </p:nvSpPr>
        <p:spPr>
          <a:xfrm>
            <a:off x="640080" y="3063240"/>
            <a:ext cx="54864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0575233-4969-A31B-6759-06E9D74CF34A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5078062" y="2681650"/>
            <a:ext cx="3676120" cy="418166"/>
          </a:xfrm>
        </p:spPr>
        <p:txBody>
          <a:bodyPr/>
          <a:lstStyle>
            <a:lvl1pPr marL="0" indent="0" algn="l">
              <a:buNone/>
              <a:defRPr sz="1600" b="0">
                <a:solidFill>
                  <a:srgbClr val="00A8E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8" name="コンテンツ プレースホルダー 17">
            <a:extLst>
              <a:ext uri="{FF2B5EF4-FFF2-40B4-BE49-F238E27FC236}">
                <a16:creationId xmlns:a16="http://schemas.microsoft.com/office/drawing/2014/main" id="{11E6EC22-F40F-ADE9-9D6F-63DED8B2850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78061" y="3242451"/>
            <a:ext cx="6320539" cy="2944339"/>
          </a:xfrm>
        </p:spPr>
        <p:txBody>
          <a:bodyPr>
            <a:normAutofit/>
          </a:bodyPr>
          <a:lstStyle>
            <a:lvl1pPr marL="0">
              <a:lnSpc>
                <a:spcPct val="100000"/>
              </a:lnSpc>
              <a:buNone/>
              <a:defRPr sz="2800" b="1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 sz="2000" b="1"/>
            </a:lvl2pPr>
            <a:lvl3pPr>
              <a:defRPr sz="1800" b="1"/>
            </a:lvl3pPr>
            <a:lvl4pPr>
              <a:defRPr sz="1600" b="1"/>
            </a:lvl4pPr>
            <a:lvl5pPr>
              <a:defRPr sz="1600" b="1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105011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5">
            <a:extLst>
              <a:ext uri="{FF2B5EF4-FFF2-40B4-BE49-F238E27FC236}">
                <a16:creationId xmlns:a16="http://schemas.microsoft.com/office/drawing/2014/main" id="{7A9930C5-9CE5-CD3F-0B34-BA742C592203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117" y="590117"/>
            <a:ext cx="10364451" cy="502919"/>
          </a:xfrm>
        </p:spPr>
        <p:txBody>
          <a:bodyPr anchor="t"/>
          <a:lstStyle>
            <a:lvl1pPr algn="l">
              <a:defRPr b="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69DF8EF-F888-3401-8278-4FAF9AF9F2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3" name="テキスト プレースホルダー 52">
            <a:extLst>
              <a:ext uri="{FF2B5EF4-FFF2-40B4-BE49-F238E27FC236}">
                <a16:creationId xmlns:a16="http://schemas.microsoft.com/office/drawing/2014/main" id="{F8CF3099-468C-D418-D6F8-EC2CC9B3FA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3117" y="277487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200" b="1">
                <a:solidFill>
                  <a:srgbClr val="0070C0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54" name="図 53">
            <a:extLst>
              <a:ext uri="{FF2B5EF4-FFF2-40B4-BE49-F238E27FC236}">
                <a16:creationId xmlns:a16="http://schemas.microsoft.com/office/drawing/2014/main" id="{CAA03307-0E99-F9A7-C662-A5190938D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B0E02CB6-6242-8B4F-E9ED-2424F73EEA9F}"/>
              </a:ext>
            </a:extLst>
          </p:cNvPr>
          <p:cNvSpPr/>
          <p:nvPr userDrawn="1"/>
        </p:nvSpPr>
        <p:spPr>
          <a:xfrm>
            <a:off x="457200" y="1234440"/>
            <a:ext cx="914400" cy="0"/>
          </a:xfrm>
          <a:prstGeom prst="line">
            <a:avLst/>
          </a:prstGeom>
          <a:noFill/>
          <a:ln w="38100">
            <a:solidFill>
              <a:srgbClr val="00A8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Rectangle 35">
            <a:extLst>
              <a:ext uri="{FF2B5EF4-FFF2-40B4-BE49-F238E27FC236}">
                <a16:creationId xmlns:a16="http://schemas.microsoft.com/office/drawing/2014/main" id="{D4D631C2-ED8A-15C5-915E-0BE64E42497C}"/>
              </a:ext>
            </a:extLst>
          </p:cNvPr>
          <p:cNvSpPr/>
          <p:nvPr userDrawn="1"/>
        </p:nvSpPr>
        <p:spPr>
          <a:xfrm>
            <a:off x="0" y="0"/>
            <a:ext cx="12191695" cy="7200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コンテンツ プレースホルダー 55">
            <a:extLst>
              <a:ext uri="{FF2B5EF4-FFF2-40B4-BE49-F238E27FC236}">
                <a16:creationId xmlns:a16="http://schemas.microsoft.com/office/drawing/2014/main" id="{0683C0E1-DA8A-EE7F-FB55-CFD653A4BB1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364228"/>
            <a:ext cx="11352213" cy="50699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00A8E6"/>
              </a:buClr>
              <a:buFont typeface="Wingdings" panose="05000000000000000000" pitchFamily="2" charset="2"/>
              <a:buChar char="n"/>
              <a:defRPr sz="2800">
                <a:solidFill>
                  <a:srgbClr val="00A8E6"/>
                </a:solidFill>
              </a:defRPr>
            </a:lvl1pPr>
            <a:lvl2pPr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l"/>
              <a:defRPr sz="2400">
                <a:solidFill>
                  <a:schemeClr val="tx2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buClrTx/>
              <a:buFont typeface="Wingdings" panose="05000000000000000000" pitchFamily="2" charset="2"/>
              <a:buChar char="ü"/>
              <a:defRPr sz="2000">
                <a:solidFill>
                  <a:schemeClr val="tx2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391937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8">
            <a:extLst>
              <a:ext uri="{FF2B5EF4-FFF2-40B4-BE49-F238E27FC236}">
                <a16:creationId xmlns:a16="http://schemas.microsoft.com/office/drawing/2014/main" id="{E34F8C15-2E77-C57B-CF55-C0A99E1EBA9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5381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最終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BC1721-93D6-7F2B-8921-5DD357B79065}"/>
              </a:ext>
            </a:extLst>
          </p:cNvPr>
          <p:cNvSpPr/>
          <p:nvPr userDrawn="1"/>
        </p:nvSpPr>
        <p:spPr>
          <a:xfrm>
            <a:off x="0" y="3840480"/>
            <a:ext cx="12191695" cy="30175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A76C3186-35FC-3408-4D37-4586EDD08488}"/>
              </a:ext>
            </a:extLst>
          </p:cNvPr>
          <p:cNvSpPr txBox="1"/>
          <p:nvPr userDrawn="1"/>
        </p:nvSpPr>
        <p:spPr>
          <a:xfrm>
            <a:off x="457200" y="1182753"/>
            <a:ext cx="11274552" cy="11092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6400" b="1" dirty="0">
                <a:solidFill>
                  <a:srgbClr val="0A3D62"/>
                </a:solidFill>
                <a:latin typeface="+mn-lt"/>
              </a:rPr>
              <a:t>Thank you.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861A40CE-BF53-2C94-0A7D-049A2403DB0A}"/>
              </a:ext>
            </a:extLst>
          </p:cNvPr>
          <p:cNvSpPr txBox="1"/>
          <p:nvPr userDrawn="1"/>
        </p:nvSpPr>
        <p:spPr>
          <a:xfrm>
            <a:off x="457200" y="2468880"/>
            <a:ext cx="11274552" cy="3595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dirty="0">
                <a:solidFill>
                  <a:srgbClr val="1F2937"/>
                </a:solidFill>
                <a:latin typeface="+mj-ea"/>
                <a:ea typeface="+mj-ea"/>
              </a:rPr>
              <a:t>ご清聴ありがとうございました。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9FA7DD3F-EDCA-0FF7-58CA-A09625313264}"/>
              </a:ext>
            </a:extLst>
          </p:cNvPr>
          <p:cNvSpPr/>
          <p:nvPr userDrawn="1"/>
        </p:nvSpPr>
        <p:spPr>
          <a:xfrm>
            <a:off x="5733288" y="3200400"/>
            <a:ext cx="731520" cy="45720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D7BAF6BC-2072-52CE-218A-71338896F250}"/>
              </a:ext>
            </a:extLst>
          </p:cNvPr>
          <p:cNvSpPr/>
          <p:nvPr userDrawn="1"/>
        </p:nvSpPr>
        <p:spPr>
          <a:xfrm>
            <a:off x="1371600" y="4206240"/>
            <a:ext cx="9445752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93C7BDA9-7A09-6783-3614-0BD781D1880A}"/>
              </a:ext>
            </a:extLst>
          </p:cNvPr>
          <p:cNvSpPr txBox="1"/>
          <p:nvPr userDrawn="1"/>
        </p:nvSpPr>
        <p:spPr>
          <a:xfrm>
            <a:off x="1691640" y="4434840"/>
            <a:ext cx="8686800" cy="3954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ja-JP" altLang="en-US" sz="2200" b="1" dirty="0">
                <a:solidFill>
                  <a:srgbClr val="0A3D62"/>
                </a:solidFill>
                <a:latin typeface="+mn-ea"/>
                <a:ea typeface="+mn-ea"/>
              </a:rPr>
              <a:t>株式会社 アルパイン設計事務所</a:t>
            </a:r>
            <a:endParaRPr sz="2200" b="1" dirty="0">
              <a:solidFill>
                <a:srgbClr val="0A3D62"/>
              </a:solidFill>
              <a:latin typeface="+mn-ea"/>
              <a:ea typeface="+mn-ea"/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4D61C277-9045-F328-47B3-539A732094C4}"/>
              </a:ext>
            </a:extLst>
          </p:cNvPr>
          <p:cNvSpPr/>
          <p:nvPr userDrawn="1"/>
        </p:nvSpPr>
        <p:spPr>
          <a:xfrm>
            <a:off x="1691640" y="4983480"/>
            <a:ext cx="640080" cy="3657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523E39DE-E3DD-E236-8E59-A7EEB3599882}"/>
              </a:ext>
            </a:extLst>
          </p:cNvPr>
          <p:cNvSpPr txBox="1"/>
          <p:nvPr userDrawn="1"/>
        </p:nvSpPr>
        <p:spPr>
          <a:xfrm>
            <a:off x="1691640" y="5166360"/>
            <a:ext cx="4114800" cy="215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dirty="0">
                <a:solidFill>
                  <a:srgbClr val="00A8E6"/>
                </a:solidFill>
                <a:latin typeface="+mn-ea"/>
                <a:ea typeface="+mn-ea"/>
              </a:rPr>
              <a:t>■</a:t>
            </a:r>
            <a:r>
              <a:rPr lang="ja-JP" altLang="en-US" sz="1200" b="1" dirty="0">
                <a:solidFill>
                  <a:srgbClr val="00A8E6"/>
                </a:solidFill>
                <a:latin typeface="+mn-ea"/>
                <a:ea typeface="+mn-ea"/>
              </a:rPr>
              <a:t> 金石本社</a:t>
            </a:r>
            <a:endParaRPr sz="1200" b="1" dirty="0">
              <a:solidFill>
                <a:srgbClr val="00A8E6"/>
              </a:solidFill>
              <a:latin typeface="+mn-ea"/>
              <a:ea typeface="+mn-ea"/>
            </a:endParaRP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D11AEF3F-2467-563E-5E97-CF56FDB96122}"/>
              </a:ext>
            </a:extLst>
          </p:cNvPr>
          <p:cNvSpPr txBox="1"/>
          <p:nvPr userDrawn="1"/>
        </p:nvSpPr>
        <p:spPr>
          <a:xfrm>
            <a:off x="6400800" y="5166360"/>
            <a:ext cx="4114800" cy="215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8E6"/>
                </a:solidFill>
                <a:latin typeface="+mn-ea"/>
                <a:ea typeface="+mn-ea"/>
              </a:rPr>
              <a:t>■ 小矢部事務所</a:t>
            </a:r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F7C33A59-B42F-91B1-2F9C-878473A282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9554022" y="4394615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4BDC41E-A9A8-8CD5-68F4-58D64142BE20}"/>
              </a:ext>
            </a:extLst>
          </p:cNvPr>
          <p:cNvSpPr txBox="1"/>
          <p:nvPr userDrawn="1"/>
        </p:nvSpPr>
        <p:spPr>
          <a:xfrm>
            <a:off x="1691640" y="5486400"/>
            <a:ext cx="32047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〒</a:t>
            </a:r>
            <a:r>
              <a:rPr kumimoji="1" lang="en-US" altLang="ja-JP" sz="1100" dirty="0"/>
              <a:t>920-0336</a:t>
            </a:r>
            <a:r>
              <a:rPr kumimoji="1" lang="ja-JP" altLang="en-US" sz="1100" dirty="0"/>
              <a:t> 石川県金沢市金石本町ハ１３番地２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E2A9F2B-0B5C-392B-AFEE-E738FCE5AD70}"/>
              </a:ext>
            </a:extLst>
          </p:cNvPr>
          <p:cNvSpPr txBox="1"/>
          <p:nvPr userDrawn="1"/>
        </p:nvSpPr>
        <p:spPr>
          <a:xfrm>
            <a:off x="6400800" y="5486400"/>
            <a:ext cx="29225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〒</a:t>
            </a:r>
            <a:r>
              <a:rPr kumimoji="1" lang="en-US" altLang="ja-JP" sz="1100" dirty="0"/>
              <a:t>932-0132</a:t>
            </a:r>
            <a:r>
              <a:rPr kumimoji="1" lang="ja-JP" altLang="en-US" sz="1100" dirty="0"/>
              <a:t> 富山県小矢部市小森谷１９番地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3DFDEB9-B4E2-8305-A9E5-B26B232CAC63}"/>
              </a:ext>
            </a:extLst>
          </p:cNvPr>
          <p:cNvSpPr txBox="1"/>
          <p:nvPr userDrawn="1"/>
        </p:nvSpPr>
        <p:spPr>
          <a:xfrm>
            <a:off x="1691640" y="5806440"/>
            <a:ext cx="15488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TEL</a:t>
            </a:r>
            <a:r>
              <a:rPr kumimoji="1" lang="ja-JP" altLang="en-US" sz="1100" dirty="0"/>
              <a:t>　</a:t>
            </a:r>
            <a:r>
              <a:rPr kumimoji="1" lang="en-US" altLang="ja-JP" sz="1100" dirty="0"/>
              <a:t>( 076</a:t>
            </a:r>
            <a:r>
              <a:rPr kumimoji="1" lang="ja-JP" altLang="en-US" sz="1100" dirty="0"/>
              <a:t> </a:t>
            </a:r>
            <a:r>
              <a:rPr kumimoji="1" lang="en-US" altLang="ja-JP" sz="1100" dirty="0"/>
              <a:t>) 266-3467</a:t>
            </a:r>
            <a:endParaRPr kumimoji="1" lang="ja-JP" altLang="en-US" sz="11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6EE78410-AC80-F986-CA08-D27FFD5E0C0F}"/>
              </a:ext>
            </a:extLst>
          </p:cNvPr>
          <p:cNvSpPr txBox="1"/>
          <p:nvPr userDrawn="1"/>
        </p:nvSpPr>
        <p:spPr>
          <a:xfrm>
            <a:off x="6400800" y="5806440"/>
            <a:ext cx="15488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TEL</a:t>
            </a:r>
            <a:r>
              <a:rPr kumimoji="1" lang="ja-JP" altLang="en-US" sz="1100" dirty="0"/>
              <a:t>　</a:t>
            </a:r>
            <a:r>
              <a:rPr kumimoji="1" lang="en-US" altLang="ja-JP" sz="1100" dirty="0"/>
              <a:t>( 0766</a:t>
            </a:r>
            <a:r>
              <a:rPr kumimoji="1" lang="ja-JP" altLang="en-US" sz="1100" dirty="0"/>
              <a:t> </a:t>
            </a:r>
            <a:r>
              <a:rPr kumimoji="1" lang="en-US" altLang="ja-JP" sz="1100" dirty="0"/>
              <a:t>) 69-7888</a:t>
            </a:r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51230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2329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748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7263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7993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つの画像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79090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87677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0182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baseline="0"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none" baseline="0"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baseline="0">
                <a:solidFill>
                  <a:schemeClr val="tx1"/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2565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9" r:id="rId4"/>
    <p:sldLayoutId id="2147483668" r:id="rId5"/>
    <p:sldLayoutId id="2147483678" r:id="rId6"/>
    <p:sldLayoutId id="2147483667" r:id="rId7"/>
    <p:sldLayoutId id="2147483665" r:id="rId8"/>
    <p:sldLayoutId id="2147483666" r:id="rId9"/>
    <p:sldLayoutId id="2147483670" r:id="rId10"/>
    <p:sldLayoutId id="2147483671" r:id="rId11"/>
    <p:sldLayoutId id="2147483674" r:id="rId12"/>
    <p:sldLayoutId id="2147483675" r:id="rId13"/>
    <p:sldLayoutId id="2147483676" r:id="rId14"/>
    <p:sldLayoutId id="2147483677" r:id="rId15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3600" kern="1200" cap="none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kumimoji="1" sz="20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40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図面の中身を、探せる情報に。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CADタグ・属性の自動抽出　ご説明資料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2026.08.05　/　株式会社アルパイン設計事務所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この資料でお伝えすること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図面を登録するだけで、探すための手がかりが自動で付きます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3602736" cy="388620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87451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48716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登録するだけで、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手がかりが付く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61188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図面ファイルを登録すると、客先・装置・材質・熱処理などの見出しが自動で付きます。担当者が図面を開いて台帳へ書き写す作業は要りません。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1600200"/>
            <a:ext cx="3602736" cy="388620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62856" y="187451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248716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付いた情報には、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必ず根拠が残る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361188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どの値をもとにそう判断したかが一緒に残ります。判断できないものは空欄のままにし、推測では埋めません。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3296" y="1600200"/>
            <a:ext cx="3602736" cy="388620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75904" y="187451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248716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過去の図面も、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そのまま対象にできる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361188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今ある図面をそのまま読み取れます。ナレッジのために図面を作り直したり、書き足したりする作業はありません。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現場で起きていること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CHAPTER　01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Current Issues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図面は増え続けるのに、探す手段は人の記憶のまま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人が台帳へ写す方式が、行き詰まる理由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「探せない」ことが、設計時間と品質の両方を削っている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設計現場で、繰り返し起きていること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どれも「図面の中身が情報になっていない」ことから来ています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85623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過去の図面が探せない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7744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似た検討をした記憶はあるが、どこにあるか分からない。結局サーバーを辿るか、当時の担当者に聞くことになる。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60020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64808" y="185623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知らなければ、再利用できない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237744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使える図面があっても、存在を知らなければ使われない。同じ検討を最初からやり直すことになる。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0332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39593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ベテランの記憶に依存している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0559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どこに何があるかが個人の経験に紐づいている。異動・退職のたびに、組織として探せる範囲が狭くなる。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64808" y="39593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中身は開かないと分からない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4480559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材質・質量・部品点数は、図面を開いて確認するしかない。横断で数えることも、集計することもできない。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図面そのものは資産として残っています。足りないのは、その中身に外から到達するための手がかりです。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人が図面を開いて情報を写す方式は、増え続ける図面に追いつけません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台帳づくりが続かない理由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人が写す方式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図面から読み取る方式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・Excelの台帳へ、図番・客先・材質を手入力する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・担当者が要点を個人メモに残す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・探すときはフォルダを辿り、記憶と勘で当たりをつける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行き詰まる理由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・図面が増えるたびに、人手の作業も増える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・入力の粒度と表記が、人によって変わる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・過去の図面までは、遡って入力しきれない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・図面ファイルそのものから、中身を機械的に読み取る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・読み取った値の表記をそろえ、検索できる形にする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・客先・装置・材質などの見出しを自動で付ける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フォルダの整備は、引き続き効きます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階層と名称の規則がそろっていると、客先名や案件名をフォルダから読み取れます。図面の中身と合わせて判断できるため、見出しの精度が上がります。整備した規則は、この仕組みの上でそのまま活き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この仕組みでできること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CHAPTER　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What It Does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図面1枚から、どんな情報が取り出せるか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自動で付いた情報を、どう信用してよいか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実際の設計図面で確認できている範囲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何をする仕組みか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図面を渡すと、3つの処理を通って「探せる情報」になります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602736" cy="28803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中身を読み取る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44368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図面ファイルを開いて、書かれている値を機械的に取り出します。元のファイルは読むだけで、書き換えません。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6512" y="292608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645920"/>
            <a:ext cx="3602736" cy="28803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62856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表記をそろえる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944368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書き方のばらつきをそろえ、決まった項目に整えます。読み取れなかった項目は、空欄のまま残します。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92608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645920"/>
            <a:ext cx="3602736" cy="28803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75904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見出しを付ける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944368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登録されている言葉と照らし合わせ、客先・装置・材質などの見出しを付けます。判断の根拠も一緒に残します。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37760"/>
            <a:ext cx="1127455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この3つを自動で動かせます。設計者が入力する作業はありません。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読み取りは図面を登録したときに動きます。図面を訂正して登録し直せば、その図面だけを読み取り直します。人が手で直した見出しは、読み取り直しても残ります。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図面1枚から、このような情報が付与されます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下記は仕組みを説明するための架空の例示です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5559552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自動で付く見出し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95728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客先：A社</a:t>
            </a:r>
          </a:p>
        </p:txBody>
      </p:sp>
      <p:sp>
        <p:nvSpPr>
          <p:cNvPr id="7" name="Rectangle 6"/>
          <p:cNvSpPr/>
          <p:nvPr/>
        </p:nvSpPr>
        <p:spPr>
          <a:xfrm>
            <a:off x="3273552" y="2395728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装置：ガントリー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962656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材質：SUS304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3552" y="2962656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材質：SS400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29584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メーカー：空圧機器メーカーB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3529584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熱処理：焼入れ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96512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規格：社内規格C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600200"/>
            <a:ext cx="5559552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46520" y="187451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一緒に記録される値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46520" y="2395728"/>
          <a:ext cx="50292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項目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値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図面番号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SAMPLE-0001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図面名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ガイドレール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質量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4.8 kg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構成部品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108 点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使われている材質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8 種類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「A社向けで、SUS304を使ったガントリー」といった条件で、図面を開かずに絞り込めます。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質量や部品点数は数値として残るため、複数の図面をまたいだ集計にも使えます。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「なぜそう判断したか」が残る設計にしています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自動で付いた情報を、どう信用してよいか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根拠が一緒に残ります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分からないものは、空欄のままにします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見出しには、次の3つが必ず付きます。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・どの値をもとに判断したか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・どれくらい確からしいか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・なぜその見出しを付けたか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確認する人は、元の図面を開かずに「この判断は妥当か」を確かめられます。誤りが見つかった場合は、その場で直せます。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確実に判断できない項目は、推測で埋めません。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・読み取れない項目は、空欄のまま残す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・「0」と「分からない」を区別する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・候補が複数あるときは、1つに決めない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誤った値が入ると、探した結果も誤り、確認の手間がかえって増えます。空欄であれば、足りないことがその場で分かります。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動作確認の結果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当社で架空の図面を40件用意し、登録から表示まで通して確認しました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4552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754880"/>
                <a:gridCol w="3227832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確認した観点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結果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評価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最後まで処理できたか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40件すべて（処理できなかった図面なし）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落ちずに通る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部品の構成を取り出せたか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40件すべて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全件で取得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質量・重量を取り出せたか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40件中39件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ほぼ全件で取得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材質を取り出せたか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40件中34件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8割超で取得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客先・装置の見出しが付いたか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登録済みの言葉に一致した図面のみ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登録語彙の数で決まる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023360"/>
            <a:ext cx="1127455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読み取りの性能と、見出しの数は別の話です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材質・質量・部品構成は図面そのものに書かれているため、ほぼ全件で取り出せます。一方、客先や装置の見出しは、あらかじめ登録した社名・装置名と一致したときに付きます。この確認では語彙を数件しか登録していないため、見出しの数は少なくなっています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つまり見出しの数は、読み取りの精度ではなく登録した語彙の量で決まります。運用で使う社名・装置名を登録すれば、その分だけ増えます。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導入にあたっての前提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CHAPTER　03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Prerequisites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ICADを使う構成と、使わない構成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効果を出すために、事前に決めておくこと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この仕組みでできないこと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必要な環境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ICADを使う構成と、使わない構成のどちらでも運用できます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4552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389120"/>
                <a:gridCol w="2377440"/>
                <a:gridCol w="3319272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構成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読み取り方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ICADの要否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取り出せる情報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構成A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ICADの図面をそのまま読み取る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登録する時だけ必要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最も多い（材質・質量・部品構成まで）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構成B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STEP／DXFに出力した図面を読み取る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不要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中程度（材質・質量は残らないことがある）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291840"/>
            <a:ext cx="3602736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354787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ICADが要るのは登録の時だけ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187952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検索・閲覧・見出しの表示にICADは要りません。読み取った内容は保存され、以降は保存された情報を見ます。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3291840"/>
            <a:ext cx="3602736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62856" y="354787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既にお使いのICADを使えます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4187952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設計者が使っていない時間帯に読み取りを動かす、といった運用ができます。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83296" y="3291840"/>
            <a:ext cx="3602736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75904" y="354787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ICADなしでも始められます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4187952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STEP／DXFに出力したデータを取り込む構成であれば、ICADなしで運用できます。取り出せる情報は少なくなります。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構成Aと構成Bは併用できます。ふだんは構成Bで取り込み、詳しい情報が必要な図面だけ構成Aで読み取ることもできます。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効果を出すために、決めておくこと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技術ではなく運用の話です。ここが決まっているかで、精度が大きく変わります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1.　自社でよく使う言葉を登録する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42316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自社の客先名・装置名・案件名を登録します。ここに入っている言葉だけが見出しになります。運用しながら足していけます。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645920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64808" y="19019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2.　フォルダ階層と名称をそろえる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242316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客先名や案件名をフォルダから読み取れると、見出しの精度が上がります。今後の新規案件から規則をそろえるだけでも効果があります。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67328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402336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3.　登録するタイミングを決める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544568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いつ、誰が、どの図面を登録するかを決めます。出図時に登録する運用にすると、抜けが起きにくくなります。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67328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64808" y="402336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4.　確認する場をつくる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4544568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自動で付いた見出しを人が見て、必要なら直す流れを用意します。最初のうちだけでも確認すると、傾向がつかめます。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どれも一度に完璧にする必要はありません。対象を絞って始め、運用しながら言葉と規則を足していきます。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判断していただくために、できないこともあわせてお示しします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できること／できないこと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できること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できないこと・お約束できないこと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・図面ファイルから中身を読み取る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・表記をそろえて、検索できる形にする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・客先・装置・材質などの見出しを自動で付ける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・判断の根拠と確からしさを残す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・質量・部品点数などを数値として蓄える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・過去の図面も、まとめて読み取り直す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・図面に書かれていないことを読み取る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・すべての項目を100%取り出す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・書き方が特殊な図枠を、そのまま読み解く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・自動で付いた見出しを、人の確認なしで正とする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導入の進め方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小さく試して、効果を確かめて、広げていきます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602736" cy="324612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小さく試す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44368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・対象の案件・装置を1つに絞る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・その範囲の図面を登録する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・どこまで取り出せるかを見る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6512" y="310896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645920"/>
            <a:ext cx="3602736" cy="324612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62856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言葉と運用を整える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944368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・自社の客先名・装置名を登録する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・フォルダ階層と名称をそろえる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・登録と確認の担当を決める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10896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645920"/>
            <a:ext cx="3602736" cy="324612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75904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広げる／効果を測る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944368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・対象範囲を段階的に広げる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・探す時間の変化を実測する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・測った結果で次の投資を判断する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0352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まずは対象を絞った試験運用からご相談ください。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対象範囲、登録する図面、確認の進め方をご一緒に決めたうえで、実際のデータで何が取り出せるかをお示しします。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9984"/>
            <a:ext cx="12198096" cy="128016"/>
          </a:xfrm>
          <a:prstGeom prst="rect">
            <a:avLst/>
          </a:prstGeom>
          <a:solidFill>
            <a:srgbClr val="00A8E6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0632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40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しずく">
  <a:themeElements>
    <a:clrScheme name="しずく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テンプレート1">
      <a:majorFont>
        <a:latin typeface="Segoe UI"/>
        <a:ea typeface="游ゴシック Medium"/>
        <a:cs typeface=""/>
      </a:majorFont>
      <a:minorFont>
        <a:latin typeface="Segoe UI"/>
        <a:ea typeface="游ゴシック Medium"/>
        <a:cs typeface=""/>
      </a:minorFont>
    </a:fontScheme>
    <a:fmtScheme name="しずく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TM04033925[[fn=しずく]]</Template>
  <TotalTime>310</TotalTime>
  <Words>238</Words>
  <Application>Microsoft Office PowerPoint</Application>
  <PresentationFormat>ワイド画面</PresentationFormat>
  <Paragraphs>40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4" baseType="lpstr">
      <vt:lpstr>Meiryo UI</vt:lpstr>
      <vt:lpstr>游ゴシック</vt:lpstr>
      <vt:lpstr>Arial</vt:lpstr>
      <vt:lpstr>Segoe UI</vt:lpstr>
      <vt:lpstr>Wingdings</vt:lpstr>
      <vt:lpstr>しずく</vt:lpstr>
      <vt:lpstr>PowerPointフォーマット</vt:lpstr>
      <vt:lpstr>フォントについて１</vt:lpstr>
      <vt:lpstr>フォントについて２</vt:lpstr>
      <vt:lpstr>章タイトル Chapter Title</vt:lpstr>
      <vt:lpstr>要約と結言を含むフォーマット</vt:lpstr>
      <vt:lpstr>２つの比較ページサンプル</vt:lpstr>
      <vt:lpstr>画像説明ページのサンプル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薮内裕之</dc:creator>
  <cp:lastModifiedBy>薮内裕之</cp:lastModifiedBy>
  <cp:revision>5</cp:revision>
  <dcterms:created xsi:type="dcterms:W3CDTF">2026-05-12T02:31:46Z</dcterms:created>
  <dcterms:modified xsi:type="dcterms:W3CDTF">2026-05-25T07:53:42Z</dcterms:modified>
</cp:coreProperties>
</file>