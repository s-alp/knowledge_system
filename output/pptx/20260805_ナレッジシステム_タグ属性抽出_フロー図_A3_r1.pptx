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1068933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43032"/>
            <a:ext cx="15124176" cy="146304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業務フロー　図面を登録してから、探して使うまで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誰が何をするか。色を付けた中段は、人の操作なしに自動で動く部分です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502920"/>
            <a:ext cx="2103120" cy="12133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601200"/>
            <a:ext cx="140268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辞書へ語彙を足した後に読み取り直すと、登録済みの図面にも反映されます。確認と補正は、最初のうちだけでも行うと、どの項目が取りにくいかの傾向がつかめます。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195560"/>
            <a:ext cx="14026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CADタグ・属性抽出　フロー図　/　2026.08.05　株式会社アルパイン設計事務所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4026896" cy="2529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371600" cy="2529840"/>
          </a:xfrm>
          <a:prstGeom prst="rect">
            <a:avLst/>
          </a:prstGeom>
          <a:solidFill>
            <a:srgbClr val="005BAC"/>
          </a:solidFill>
          <a:ln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設計者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12920"/>
            <a:ext cx="14026896" cy="2529840"/>
          </a:xfrm>
          <a:prstGeom prst="rect">
            <a:avLst/>
          </a:prstGeom>
          <a:solidFill>
            <a:srgbClr val="E8F2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4312920"/>
            <a:ext cx="1371600" cy="2529840"/>
          </a:xfrm>
          <a:prstGeom prst="rect">
            <a:avLst/>
          </a:prstGeom>
          <a:solidFill>
            <a:srgbClr val="005BAC"/>
          </a:solidFill>
          <a:ln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システム</a:t>
            </a:r>
            <a:br/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（自動）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842760"/>
            <a:ext cx="14026896" cy="2529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6842760"/>
            <a:ext cx="1371600" cy="2529840"/>
          </a:xfrm>
          <a:prstGeom prst="rect">
            <a:avLst/>
          </a:prstGeom>
          <a:solidFill>
            <a:srgbClr val="005BAC"/>
          </a:solidFill>
          <a:ln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確認担当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5154" y="2390241"/>
            <a:ext cx="1392082" cy="13155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図面を作成し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出図する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ICAD／STEP／DXF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7066" y="2390241"/>
            <a:ext cx="1392082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システムへ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出図時の登録が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抜けにくい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8978" y="4920081"/>
            <a:ext cx="1392082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元のファイルは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変更しない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0890" y="4920081"/>
            <a:ext cx="1392082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項目へ整理して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属性にする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決められない項目は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空欄で残す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2802" y="4920081"/>
            <a:ext cx="1392082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辞書と照合して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タグを付ける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根拠と確からしさを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添える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4714" y="7449921"/>
            <a:ext cx="1392082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内容を確認する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根拠を見て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妥当性を判断する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06626" y="7449921"/>
            <a:ext cx="1392082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補正する／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語彙を足す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補正は読み取り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直しても残る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088538" y="2390241"/>
            <a:ext cx="1392082" cy="13155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タグで絞り込み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図面を探す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客先・装置・材質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などで絞る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07237" y="3048000"/>
            <a:ext cx="189829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89149" y="3048000"/>
            <a:ext cx="94915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84064" y="3048000"/>
            <a:ext cx="0" cy="252984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84064" y="5577840"/>
            <a:ext cx="94914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71061" y="5577840"/>
            <a:ext cx="189829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152973" y="5577840"/>
            <a:ext cx="189829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34885" y="5577840"/>
            <a:ext cx="94915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29800" y="5577840"/>
            <a:ext cx="0" cy="252984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829800" y="8107680"/>
            <a:ext cx="94914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316797" y="8107680"/>
            <a:ext cx="189829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898709" y="8107680"/>
            <a:ext cx="94914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2993623" y="3048000"/>
            <a:ext cx="0" cy="505968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993623" y="3048000"/>
            <a:ext cx="94915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1068933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43032"/>
            <a:ext cx="15124176" cy="146304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処理フロー　1図面が、属性とタグになるまで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形式による分かれ方と、2D図面・3Dモデルの照合まで。ICADが要るのは読み取りの部分だけです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502920"/>
            <a:ext cx="2103120" cy="12133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601200"/>
            <a:ext cx="140268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読み取りは1図面につき1回動かします。図面ごとに独立しているため、失敗した図面だけをやり直せます。図面を訂正して登録し直すと、その図面だけを読み取り直し、人が手で直した内容は保持されます。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195560"/>
            <a:ext cx="14026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CADタグ・属性抽出　フロー図　/　2026.08.05　株式会社アルパイン設計事務所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4026896" cy="2529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371600" cy="2529840"/>
          </a:xfrm>
          <a:prstGeom prst="rect">
            <a:avLst/>
          </a:prstGeom>
          <a:solidFill>
            <a:srgbClr val="005BAC"/>
          </a:solidFill>
          <a:ln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ナレッジ</a:t>
            </a:r>
            <a:br/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システム本体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12920"/>
            <a:ext cx="14026896" cy="2529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4312920"/>
            <a:ext cx="1371600" cy="2529840"/>
          </a:xfrm>
          <a:prstGeom prst="rect">
            <a:avLst/>
          </a:prstGeom>
          <a:solidFill>
            <a:srgbClr val="005BAC"/>
          </a:solidFill>
          <a:ln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ICADが動くPC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842760"/>
            <a:ext cx="14026896" cy="2529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6842760"/>
            <a:ext cx="1371600" cy="2529840"/>
          </a:xfrm>
          <a:prstGeom prst="rect">
            <a:avLst/>
          </a:prstGeom>
          <a:solidFill>
            <a:srgbClr val="005BAC"/>
          </a:solidFill>
          <a:ln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一般PC</a:t>
            </a:r>
            <a:br/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（サーバー）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04608" y="2390241"/>
            <a:ext cx="1237406" cy="13155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図面を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ICAD／STEP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DXF</a:t>
            </a:r>
          </a:p>
        </p:txBody>
      </p:sp>
      <p:sp>
        <p:nvSpPr>
          <p:cNvPr id="16" name="Hexagon 15"/>
          <p:cNvSpPr/>
          <p:nvPr/>
        </p:nvSpPr>
        <p:spPr>
          <a:xfrm>
            <a:off x="3410752" y="4920081"/>
            <a:ext cx="1237406" cy="1315516"/>
          </a:xfrm>
          <a:prstGeom prst="hexagon">
            <a:avLst/>
          </a:prstGeom>
          <a:solidFill>
            <a:srgbClr val="F5F7FA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形式で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分かれる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16896" y="492008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2D図面を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ICADのとき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図枠・注記・寸法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040" y="492008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3Dモデルを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部品構成・材質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質量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16896" y="744992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を読み取る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文字・階層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レイヤー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9184" y="744992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項目へ整理して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属性にする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どれがどの項目か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判断する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5328" y="744992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辞書と照合して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タグを付ける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根拠・確からしさ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理由を添える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41472" y="744992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2Dと3Dを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照合する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食い違いは競合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として記録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47616" y="239024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属性・タグ・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根拠を保存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読み取った内容も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残す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3760" y="2390241"/>
            <a:ext cx="1237406" cy="13155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タグで検索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できる状態に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以降の検索に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ICADは不要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2015" y="3048000"/>
            <a:ext cx="84369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26384" y="3048000"/>
            <a:ext cx="0" cy="252984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326384" y="5577840"/>
            <a:ext cx="84368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48159" y="5577840"/>
            <a:ext cx="168737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48159" y="5577840"/>
            <a:ext cx="84369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732528" y="5577840"/>
            <a:ext cx="0" cy="252984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32528" y="8107680"/>
            <a:ext cx="84368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54303" y="5577840"/>
            <a:ext cx="168737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60447" y="5577840"/>
            <a:ext cx="84369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44816" y="5577840"/>
            <a:ext cx="0" cy="252984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44816" y="8107680"/>
            <a:ext cx="84368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54303" y="8107680"/>
            <a:ext cx="1574881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866591" y="8107680"/>
            <a:ext cx="168737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72735" y="8107680"/>
            <a:ext cx="168737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678879" y="8107680"/>
            <a:ext cx="84369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1763248" y="3048000"/>
            <a:ext cx="0" cy="505968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763248" y="3048000"/>
            <a:ext cx="84368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3085023" y="3048000"/>
            <a:ext cx="168737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1068933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43032"/>
            <a:ext cx="15124176" cy="146304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　小さく試して、効果を確かめて、広げる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最初から全体に広げず、対象を絞って始めます。語彙と規則は運用しながら足していきます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502920"/>
            <a:ext cx="2103120" cy="12133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601200"/>
            <a:ext cx="140268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この一巡を回すと、どの項目が取りにくいか、どの語彙が足りないかが具体的に分かります。効果を数値で示すには、試験運用の前後で探す時間を実測する必要があります。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195560"/>
            <a:ext cx="14026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CADタグ・属性抽出　フロー図　/　2026.08.05　株式会社アルパイン設計事務所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4026896" cy="2529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371600" cy="2529840"/>
          </a:xfrm>
          <a:prstGeom prst="rect">
            <a:avLst/>
          </a:prstGeom>
          <a:solidFill>
            <a:srgbClr val="005BAC"/>
          </a:solidFill>
          <a:ln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決める・</a:t>
            </a:r>
            <a:br/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準備する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12920"/>
            <a:ext cx="14026896" cy="2529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4312920"/>
            <a:ext cx="1371600" cy="2529840"/>
          </a:xfrm>
          <a:prstGeom prst="rect">
            <a:avLst/>
          </a:prstGeom>
          <a:solidFill>
            <a:srgbClr val="005BAC"/>
          </a:solidFill>
          <a:ln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動かす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842760"/>
            <a:ext cx="14026896" cy="2529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6842760"/>
            <a:ext cx="1371600" cy="2529840"/>
          </a:xfrm>
          <a:prstGeom prst="rect">
            <a:avLst/>
          </a:prstGeom>
          <a:solidFill>
            <a:srgbClr val="005BAC"/>
          </a:solidFill>
          <a:ln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確かめる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04608" y="2390241"/>
            <a:ext cx="1237406" cy="13155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対象を1つの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案件に絞る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1装置ぶんから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始める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52" y="239024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対象範囲の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図面を集める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過去の図面も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対象にできる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16896" y="492008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図面を登録して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自動でタグまで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付く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040" y="744992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取り出せた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範囲を見る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空欄・候補・警告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を確認する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9184" y="239024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客先名・装置名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を辞書へ登録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見出しの数は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ここで決まる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5328" y="239024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フォルダ階層と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名称を決める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今後の新規案件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からでよい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41472" y="492008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読み取り直して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反映する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登録済みの図面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にも反映される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47616" y="7449921"/>
            <a:ext cx="1237406" cy="13155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精度の変化を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付いた見出しの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増え方を見る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3760" y="2390241"/>
            <a:ext cx="1237406" cy="13155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範囲を広げて</a:t>
            </a:r>
            <a:br/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効果を測る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探す時間の変化を</a:t>
            </a:r>
            <a:br/>
            <a:r>
              <a:rPr sz="9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実測する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42015" y="3048000"/>
            <a:ext cx="168737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48159" y="3048000"/>
            <a:ext cx="84369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32528" y="3048000"/>
            <a:ext cx="0" cy="252984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32528" y="5577840"/>
            <a:ext cx="84368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54303" y="5577840"/>
            <a:ext cx="84369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38672" y="5577840"/>
            <a:ext cx="0" cy="252984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38672" y="8107680"/>
            <a:ext cx="84368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60447" y="8107680"/>
            <a:ext cx="84369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544816" y="3048000"/>
            <a:ext cx="0" cy="505968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544816" y="3048000"/>
            <a:ext cx="84368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866591" y="3048000"/>
            <a:ext cx="168737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72735" y="3048000"/>
            <a:ext cx="84369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57104" y="3048000"/>
            <a:ext cx="0" cy="252984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357104" y="5577840"/>
            <a:ext cx="84368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678879" y="5577840"/>
            <a:ext cx="84369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763248" y="5577840"/>
            <a:ext cx="0" cy="252984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763248" y="8107680"/>
            <a:ext cx="84368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085023" y="8107680"/>
            <a:ext cx="84368" cy="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3169391" y="3048000"/>
            <a:ext cx="0" cy="5059680"/>
          </a:xfrm>
          <a:prstGeom prst="line">
            <a:avLst/>
          </a:prstGeom>
          <a:ln w="19050">
            <a:solidFill>
              <a:srgbClr val="005B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3169391" y="3048000"/>
            <a:ext cx="84369" cy="0"/>
          </a:xfrm>
          <a:prstGeom prst="line">
            <a:avLst/>
          </a:prstGeom>
          <a:ln w="19050">
            <a:solidFill>
              <a:srgbClr val="005B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