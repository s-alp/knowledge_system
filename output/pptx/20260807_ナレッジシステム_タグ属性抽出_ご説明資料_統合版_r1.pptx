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図面の中身を、探せる情報に。</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CADタグ・属性の自動抽出　ご説明資料</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2026.08.07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この資料でお伝えすること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図面を登録するだけで、探すための手がかりが自動で付きます</a:t>
            </a:r>
          </a:p>
        </p:txBody>
      </p:sp>
      <p:sp>
        <p:nvSpPr>
          <p:cNvPr id="4" name="Rectangle 3"/>
          <p:cNvSpPr/>
          <p:nvPr/>
        </p:nvSpPr>
        <p:spPr>
          <a:xfrm>
            <a:off x="457200" y="1600200"/>
            <a:ext cx="3602736" cy="3886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74519"/>
            <a:ext cx="3017520" cy="411480"/>
          </a:xfrm>
          <a:prstGeom prst="rect">
            <a:avLst/>
          </a:prstGeom>
          <a:noFill/>
        </p:spPr>
        <p:txBody>
          <a:bodyPr wrap="square" lIns="0" rIns="0" tIns="0" bIns="0" anchor="t">
            <a:spAutoFit/>
          </a:bodyPr>
          <a:lstStyle/>
          <a:p>
            <a:pPr>
              <a:lnSpc>
                <a:spcPct val="125000"/>
              </a:lnSpc>
              <a:spcAft>
                <a:spcPts val="200"/>
              </a:spcAft>
            </a:pPr>
            <a:r>
              <a:rPr sz="2400" b="1">
                <a:solidFill>
                  <a:srgbClr val="005BAC"/>
                </a:solidFill>
                <a:latin typeface="Segoe UI"/>
                <a:ea typeface="游ゴシック Medium"/>
                <a:cs typeface="游ゴシック Medium"/>
              </a:rPr>
              <a:t>01</a:t>
            </a:r>
          </a:p>
        </p:txBody>
      </p:sp>
      <p:sp>
        <p:nvSpPr>
          <p:cNvPr id="6" name="TextBox 5"/>
          <p:cNvSpPr txBox="1"/>
          <p:nvPr/>
        </p:nvSpPr>
        <p:spPr>
          <a:xfrm>
            <a:off x="749808" y="2487168"/>
            <a:ext cx="3017520" cy="914400"/>
          </a:xfrm>
          <a:prstGeom prst="rect">
            <a:avLst/>
          </a:prstGeom>
          <a:noFill/>
        </p:spPr>
        <p:txBody>
          <a:bodyPr wrap="square" lIns="0" rIns="0" tIns="0" bIns="0" anchor="t">
            <a:spAutoFit/>
          </a:bodyPr>
          <a:lstStyle/>
          <a:p>
            <a:pPr>
              <a:lnSpc>
                <a:spcPct val="125000"/>
              </a:lnSpc>
              <a:spcAft>
                <a:spcPts val="200"/>
              </a:spcAft>
            </a:pPr>
            <a:r>
              <a:rPr sz="1500" b="1">
                <a:solidFill>
                  <a:srgbClr val="1F1F1F"/>
                </a:solidFill>
                <a:latin typeface="Segoe UI"/>
                <a:ea typeface="游ゴシック Medium"/>
                <a:cs typeface="游ゴシック Medium"/>
              </a:rPr>
              <a:t>登録するだけで、</a:t>
            </a:r>
          </a:p>
          <a:p>
            <a:pPr>
              <a:lnSpc>
                <a:spcPct val="125000"/>
              </a:lnSpc>
              <a:spcAft>
                <a:spcPts val="200"/>
              </a:spcAft>
            </a:pPr>
            <a:r>
              <a:rPr sz="1500" b="1">
                <a:solidFill>
                  <a:srgbClr val="1F1F1F"/>
                </a:solidFill>
                <a:latin typeface="Segoe UI"/>
                <a:ea typeface="游ゴシック Medium"/>
                <a:cs typeface="游ゴシック Medium"/>
              </a:rPr>
              <a:t>手がかりが付く</a:t>
            </a:r>
          </a:p>
        </p:txBody>
      </p:sp>
      <p:sp>
        <p:nvSpPr>
          <p:cNvPr id="7" name="TextBox 6"/>
          <p:cNvSpPr txBox="1"/>
          <p:nvPr/>
        </p:nvSpPr>
        <p:spPr>
          <a:xfrm>
            <a:off x="749808" y="3611880"/>
            <a:ext cx="3017520" cy="173736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図面ファイルを登録すると、客先・装置・材質・熱処理などの見出しが自動で付きます。担当者が図面を開いて台帳へ書き写す作業は要りません。</a:t>
            </a:r>
          </a:p>
        </p:txBody>
      </p:sp>
      <p:sp>
        <p:nvSpPr>
          <p:cNvPr id="8" name="Rectangle 7"/>
          <p:cNvSpPr/>
          <p:nvPr/>
        </p:nvSpPr>
        <p:spPr>
          <a:xfrm>
            <a:off x="4270248" y="1600200"/>
            <a:ext cx="3602736" cy="3886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1874519"/>
            <a:ext cx="3017520" cy="411480"/>
          </a:xfrm>
          <a:prstGeom prst="rect">
            <a:avLst/>
          </a:prstGeom>
          <a:noFill/>
        </p:spPr>
        <p:txBody>
          <a:bodyPr wrap="square" lIns="0" rIns="0" tIns="0" bIns="0" anchor="t">
            <a:spAutoFit/>
          </a:bodyPr>
          <a:lstStyle/>
          <a:p>
            <a:pPr>
              <a:lnSpc>
                <a:spcPct val="125000"/>
              </a:lnSpc>
              <a:spcAft>
                <a:spcPts val="200"/>
              </a:spcAft>
            </a:pPr>
            <a:r>
              <a:rPr sz="2400" b="1">
                <a:solidFill>
                  <a:srgbClr val="005BAC"/>
                </a:solidFill>
                <a:latin typeface="Segoe UI"/>
                <a:ea typeface="游ゴシック Medium"/>
                <a:cs typeface="游ゴシック Medium"/>
              </a:rPr>
              <a:t>02</a:t>
            </a:r>
          </a:p>
        </p:txBody>
      </p:sp>
      <p:sp>
        <p:nvSpPr>
          <p:cNvPr id="10" name="TextBox 9"/>
          <p:cNvSpPr txBox="1"/>
          <p:nvPr/>
        </p:nvSpPr>
        <p:spPr>
          <a:xfrm>
            <a:off x="4562856" y="2487168"/>
            <a:ext cx="3017520" cy="914400"/>
          </a:xfrm>
          <a:prstGeom prst="rect">
            <a:avLst/>
          </a:prstGeom>
          <a:noFill/>
        </p:spPr>
        <p:txBody>
          <a:bodyPr wrap="square" lIns="0" rIns="0" tIns="0" bIns="0" anchor="t">
            <a:spAutoFit/>
          </a:bodyPr>
          <a:lstStyle/>
          <a:p>
            <a:pPr>
              <a:lnSpc>
                <a:spcPct val="125000"/>
              </a:lnSpc>
              <a:spcAft>
                <a:spcPts val="200"/>
              </a:spcAft>
            </a:pPr>
            <a:r>
              <a:rPr sz="1500" b="1">
                <a:solidFill>
                  <a:srgbClr val="1F1F1F"/>
                </a:solidFill>
                <a:latin typeface="Segoe UI"/>
                <a:ea typeface="游ゴシック Medium"/>
                <a:cs typeface="游ゴシック Medium"/>
              </a:rPr>
              <a:t>付いた情報には、</a:t>
            </a:r>
          </a:p>
          <a:p>
            <a:pPr>
              <a:lnSpc>
                <a:spcPct val="125000"/>
              </a:lnSpc>
              <a:spcAft>
                <a:spcPts val="200"/>
              </a:spcAft>
            </a:pPr>
            <a:r>
              <a:rPr sz="1500" b="1">
                <a:solidFill>
                  <a:srgbClr val="1F1F1F"/>
                </a:solidFill>
                <a:latin typeface="Segoe UI"/>
                <a:ea typeface="游ゴシック Medium"/>
                <a:cs typeface="游ゴシック Medium"/>
              </a:rPr>
              <a:t>必ず根拠が残る</a:t>
            </a:r>
          </a:p>
        </p:txBody>
      </p:sp>
      <p:sp>
        <p:nvSpPr>
          <p:cNvPr id="11" name="TextBox 10"/>
          <p:cNvSpPr txBox="1"/>
          <p:nvPr/>
        </p:nvSpPr>
        <p:spPr>
          <a:xfrm>
            <a:off x="4562856" y="3611880"/>
            <a:ext cx="3017520" cy="173736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どの値をもとにそう判断したかが一緒に残ります。判断できないものは空欄のままにし、推測では埋めません。</a:t>
            </a:r>
          </a:p>
        </p:txBody>
      </p:sp>
      <p:sp>
        <p:nvSpPr>
          <p:cNvPr id="12" name="Rectangle 11"/>
          <p:cNvSpPr/>
          <p:nvPr/>
        </p:nvSpPr>
        <p:spPr>
          <a:xfrm>
            <a:off x="8083296" y="1600200"/>
            <a:ext cx="3602736" cy="3886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75904" y="1874519"/>
            <a:ext cx="3017520" cy="411480"/>
          </a:xfrm>
          <a:prstGeom prst="rect">
            <a:avLst/>
          </a:prstGeom>
          <a:noFill/>
        </p:spPr>
        <p:txBody>
          <a:bodyPr wrap="square" lIns="0" rIns="0" tIns="0" bIns="0" anchor="t">
            <a:spAutoFit/>
          </a:bodyPr>
          <a:lstStyle/>
          <a:p>
            <a:pPr>
              <a:lnSpc>
                <a:spcPct val="125000"/>
              </a:lnSpc>
              <a:spcAft>
                <a:spcPts val="200"/>
              </a:spcAft>
            </a:pPr>
            <a:r>
              <a:rPr sz="2400" b="1">
                <a:solidFill>
                  <a:srgbClr val="005BAC"/>
                </a:solidFill>
                <a:latin typeface="Segoe UI"/>
                <a:ea typeface="游ゴシック Medium"/>
                <a:cs typeface="游ゴシック Medium"/>
              </a:rPr>
              <a:t>03</a:t>
            </a:r>
          </a:p>
        </p:txBody>
      </p:sp>
      <p:sp>
        <p:nvSpPr>
          <p:cNvPr id="14" name="TextBox 13"/>
          <p:cNvSpPr txBox="1"/>
          <p:nvPr/>
        </p:nvSpPr>
        <p:spPr>
          <a:xfrm>
            <a:off x="8375904" y="2487168"/>
            <a:ext cx="3017520" cy="914400"/>
          </a:xfrm>
          <a:prstGeom prst="rect">
            <a:avLst/>
          </a:prstGeom>
          <a:noFill/>
        </p:spPr>
        <p:txBody>
          <a:bodyPr wrap="square" lIns="0" rIns="0" tIns="0" bIns="0" anchor="t">
            <a:spAutoFit/>
          </a:bodyPr>
          <a:lstStyle/>
          <a:p>
            <a:pPr>
              <a:lnSpc>
                <a:spcPct val="125000"/>
              </a:lnSpc>
              <a:spcAft>
                <a:spcPts val="200"/>
              </a:spcAft>
            </a:pPr>
            <a:r>
              <a:rPr sz="1500" b="1">
                <a:solidFill>
                  <a:srgbClr val="1F1F1F"/>
                </a:solidFill>
                <a:latin typeface="Segoe UI"/>
                <a:ea typeface="游ゴシック Medium"/>
                <a:cs typeface="游ゴシック Medium"/>
              </a:rPr>
              <a:t>過去の図面も、</a:t>
            </a:r>
          </a:p>
          <a:p>
            <a:pPr>
              <a:lnSpc>
                <a:spcPct val="125000"/>
              </a:lnSpc>
              <a:spcAft>
                <a:spcPts val="200"/>
              </a:spcAft>
            </a:pPr>
            <a:r>
              <a:rPr sz="1500" b="1">
                <a:solidFill>
                  <a:srgbClr val="1F1F1F"/>
                </a:solidFill>
                <a:latin typeface="Segoe UI"/>
                <a:ea typeface="游ゴシック Medium"/>
                <a:cs typeface="游ゴシック Medium"/>
              </a:rPr>
              <a:t>そのまま対象にできる</a:t>
            </a:r>
          </a:p>
        </p:txBody>
      </p:sp>
      <p:sp>
        <p:nvSpPr>
          <p:cNvPr id="15" name="TextBox 14"/>
          <p:cNvSpPr txBox="1"/>
          <p:nvPr/>
        </p:nvSpPr>
        <p:spPr>
          <a:xfrm>
            <a:off x="8375904" y="3611880"/>
            <a:ext cx="3017520" cy="173736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今ある図面をそのまま読み取れます。ナレッジのために図面を作り直したり、書き足したりする作業はありません。</a:t>
            </a:r>
          </a:p>
        </p:txBody>
      </p:sp>
      <p:sp>
        <p:nvSpPr>
          <p:cNvPr id="16" name="TextBox 1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この資料1冊で、現場の困りごとから、仕組みの中身、導入の前提、進め方までを通してご確認いただけます。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この資料の構成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困りごと → 仕組みの概要 → 中身 → 取り出した情報 → 導入 の順に並べています</a:t>
            </a:r>
          </a:p>
        </p:txBody>
      </p:sp>
      <p:sp>
        <p:nvSpPr>
          <p:cNvPr id="4" name="Rectangle 3"/>
          <p:cNvSpPr/>
          <p:nvPr/>
        </p:nvSpPr>
        <p:spPr>
          <a:xfrm>
            <a:off x="457200" y="1645920"/>
            <a:ext cx="11274552" cy="74980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65376"/>
            <a:ext cx="146304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CHAPTER 01</a:t>
            </a:r>
          </a:p>
        </p:txBody>
      </p:sp>
      <p:sp>
        <p:nvSpPr>
          <p:cNvPr id="6" name="TextBox 5"/>
          <p:cNvSpPr txBox="1"/>
          <p:nvPr/>
        </p:nvSpPr>
        <p:spPr>
          <a:xfrm>
            <a:off x="2286000" y="1828800"/>
            <a:ext cx="2651760" cy="320040"/>
          </a:xfrm>
          <a:prstGeom prst="rect">
            <a:avLst/>
          </a:prstGeom>
          <a:noFill/>
        </p:spPr>
        <p:txBody>
          <a:bodyPr wrap="square" lIns="0" rIns="0" tIns="0" bIns="0" anchor="t">
            <a:spAutoFit/>
          </a:bodyPr>
          <a:lstStyle/>
          <a:p>
            <a:pPr>
              <a:lnSpc>
                <a:spcPct val="125000"/>
              </a:lnSpc>
              <a:spcAft>
                <a:spcPts val="200"/>
              </a:spcAft>
            </a:pPr>
            <a:r>
              <a:rPr sz="1400" b="1">
                <a:solidFill>
                  <a:srgbClr val="1F1F1F"/>
                </a:solidFill>
                <a:latin typeface="Segoe UI"/>
                <a:ea typeface="游ゴシック Medium"/>
                <a:cs typeface="游ゴシック Medium"/>
              </a:rPr>
              <a:t>現場で起きていること</a:t>
            </a:r>
          </a:p>
        </p:txBody>
      </p:sp>
      <p:sp>
        <p:nvSpPr>
          <p:cNvPr id="7" name="TextBox 6"/>
          <p:cNvSpPr txBox="1"/>
          <p:nvPr/>
        </p:nvSpPr>
        <p:spPr>
          <a:xfrm>
            <a:off x="5120640" y="1865376"/>
            <a:ext cx="6309360" cy="4572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図面が増えるほど探せなくなる理由と、人が台帳へ写す方式が続かない理由</a:t>
            </a:r>
          </a:p>
        </p:txBody>
      </p:sp>
      <p:sp>
        <p:nvSpPr>
          <p:cNvPr id="8" name="Rectangle 7"/>
          <p:cNvSpPr/>
          <p:nvPr/>
        </p:nvSpPr>
        <p:spPr>
          <a:xfrm>
            <a:off x="457200" y="2505456"/>
            <a:ext cx="11274552" cy="74980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724912"/>
            <a:ext cx="146304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CHAPTER 02</a:t>
            </a:r>
          </a:p>
        </p:txBody>
      </p:sp>
      <p:sp>
        <p:nvSpPr>
          <p:cNvPr id="10" name="TextBox 9"/>
          <p:cNvSpPr txBox="1"/>
          <p:nvPr/>
        </p:nvSpPr>
        <p:spPr>
          <a:xfrm>
            <a:off x="2286000" y="2688336"/>
            <a:ext cx="2651760" cy="320040"/>
          </a:xfrm>
          <a:prstGeom prst="rect">
            <a:avLst/>
          </a:prstGeom>
          <a:noFill/>
        </p:spPr>
        <p:txBody>
          <a:bodyPr wrap="square" lIns="0" rIns="0" tIns="0" bIns="0" anchor="t">
            <a:spAutoFit/>
          </a:bodyPr>
          <a:lstStyle/>
          <a:p>
            <a:pPr>
              <a:lnSpc>
                <a:spcPct val="125000"/>
              </a:lnSpc>
              <a:spcAft>
                <a:spcPts val="200"/>
              </a:spcAft>
            </a:pPr>
            <a:r>
              <a:rPr sz="1400" b="1">
                <a:solidFill>
                  <a:srgbClr val="1F1F1F"/>
                </a:solidFill>
                <a:latin typeface="Segoe UI"/>
                <a:ea typeface="游ゴシック Medium"/>
                <a:cs typeface="游ゴシック Medium"/>
              </a:rPr>
              <a:t>この仕組みの概要</a:t>
            </a:r>
          </a:p>
        </p:txBody>
      </p:sp>
      <p:sp>
        <p:nvSpPr>
          <p:cNvPr id="11" name="TextBox 10"/>
          <p:cNvSpPr txBox="1"/>
          <p:nvPr/>
        </p:nvSpPr>
        <p:spPr>
          <a:xfrm>
            <a:off x="5120640" y="2724912"/>
            <a:ext cx="6309360" cy="4572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何をする仕組みか。図面1枚から何ができあがり、探し方がどう変わるか</a:t>
            </a:r>
          </a:p>
        </p:txBody>
      </p:sp>
      <p:sp>
        <p:nvSpPr>
          <p:cNvPr id="12" name="Rectangle 11"/>
          <p:cNvSpPr/>
          <p:nvPr/>
        </p:nvSpPr>
        <p:spPr>
          <a:xfrm>
            <a:off x="457200" y="3364991"/>
            <a:ext cx="11274552" cy="74980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3584448"/>
            <a:ext cx="146304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CHAPTER 03</a:t>
            </a:r>
          </a:p>
        </p:txBody>
      </p:sp>
      <p:sp>
        <p:nvSpPr>
          <p:cNvPr id="14" name="TextBox 13"/>
          <p:cNvSpPr txBox="1"/>
          <p:nvPr/>
        </p:nvSpPr>
        <p:spPr>
          <a:xfrm>
            <a:off x="2286000" y="3547872"/>
            <a:ext cx="2651760" cy="320040"/>
          </a:xfrm>
          <a:prstGeom prst="rect">
            <a:avLst/>
          </a:prstGeom>
          <a:noFill/>
        </p:spPr>
        <p:txBody>
          <a:bodyPr wrap="square" lIns="0" rIns="0" tIns="0" bIns="0" anchor="t">
            <a:spAutoFit/>
          </a:bodyPr>
          <a:lstStyle/>
          <a:p>
            <a:pPr>
              <a:lnSpc>
                <a:spcPct val="125000"/>
              </a:lnSpc>
              <a:spcAft>
                <a:spcPts val="200"/>
              </a:spcAft>
            </a:pPr>
            <a:r>
              <a:rPr sz="1400" b="1">
                <a:solidFill>
                  <a:srgbClr val="1F1F1F"/>
                </a:solidFill>
                <a:latin typeface="Segoe UI"/>
                <a:ea typeface="游ゴシック Medium"/>
                <a:cs typeface="游ゴシック Medium"/>
              </a:rPr>
              <a:t>読み取る場所と項目</a:t>
            </a:r>
          </a:p>
        </p:txBody>
      </p:sp>
      <p:sp>
        <p:nvSpPr>
          <p:cNvPr id="15" name="TextBox 14"/>
          <p:cNvSpPr txBox="1"/>
          <p:nvPr/>
        </p:nvSpPr>
        <p:spPr>
          <a:xfrm>
            <a:off x="5120640" y="3584448"/>
            <a:ext cx="6309360" cy="4572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機能の構成と、2D図面・3Dモデル・STEP・DXFのどこから何を取り出すか</a:t>
            </a:r>
          </a:p>
        </p:txBody>
      </p:sp>
      <p:sp>
        <p:nvSpPr>
          <p:cNvPr id="16" name="Rectangle 15"/>
          <p:cNvSpPr/>
          <p:nvPr/>
        </p:nvSpPr>
        <p:spPr>
          <a:xfrm>
            <a:off x="457200" y="4224528"/>
            <a:ext cx="11274552" cy="74980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443984"/>
            <a:ext cx="146304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CHAPTER 04</a:t>
            </a:r>
          </a:p>
        </p:txBody>
      </p:sp>
      <p:sp>
        <p:nvSpPr>
          <p:cNvPr id="18" name="TextBox 17"/>
          <p:cNvSpPr txBox="1"/>
          <p:nvPr/>
        </p:nvSpPr>
        <p:spPr>
          <a:xfrm>
            <a:off x="2286000" y="4407408"/>
            <a:ext cx="2651760" cy="320040"/>
          </a:xfrm>
          <a:prstGeom prst="rect">
            <a:avLst/>
          </a:prstGeom>
          <a:noFill/>
        </p:spPr>
        <p:txBody>
          <a:bodyPr wrap="square" lIns="0" rIns="0" tIns="0" bIns="0" anchor="t">
            <a:spAutoFit/>
          </a:bodyPr>
          <a:lstStyle/>
          <a:p>
            <a:pPr>
              <a:lnSpc>
                <a:spcPct val="125000"/>
              </a:lnSpc>
              <a:spcAft>
                <a:spcPts val="200"/>
              </a:spcAft>
            </a:pPr>
            <a:r>
              <a:rPr sz="1400" b="1">
                <a:solidFill>
                  <a:srgbClr val="1F1F1F"/>
                </a:solidFill>
                <a:latin typeface="Segoe UI"/>
                <a:ea typeface="游ゴシック Medium"/>
                <a:cs typeface="游ゴシック Medium"/>
              </a:rPr>
              <a:t>取り出した情報の形</a:t>
            </a:r>
          </a:p>
        </p:txBody>
      </p:sp>
      <p:sp>
        <p:nvSpPr>
          <p:cNvPr id="19" name="TextBox 18"/>
          <p:cNvSpPr txBox="1"/>
          <p:nvPr/>
        </p:nvSpPr>
        <p:spPr>
          <a:xfrm>
            <a:off x="5120640" y="4443984"/>
            <a:ext cx="6309360" cy="4572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属性とタグの違い、タグの決まり方、判断できないときの扱い</a:t>
            </a:r>
          </a:p>
        </p:txBody>
      </p:sp>
      <p:sp>
        <p:nvSpPr>
          <p:cNvPr id="20" name="Rectangle 19"/>
          <p:cNvSpPr/>
          <p:nvPr/>
        </p:nvSpPr>
        <p:spPr>
          <a:xfrm>
            <a:off x="457200" y="5084064"/>
            <a:ext cx="11274552" cy="74980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5303520"/>
            <a:ext cx="146304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CHAPTER 05</a:t>
            </a:r>
          </a:p>
        </p:txBody>
      </p:sp>
      <p:sp>
        <p:nvSpPr>
          <p:cNvPr id="22" name="TextBox 21"/>
          <p:cNvSpPr txBox="1"/>
          <p:nvPr/>
        </p:nvSpPr>
        <p:spPr>
          <a:xfrm>
            <a:off x="2286000" y="5266944"/>
            <a:ext cx="2651760" cy="320040"/>
          </a:xfrm>
          <a:prstGeom prst="rect">
            <a:avLst/>
          </a:prstGeom>
          <a:noFill/>
        </p:spPr>
        <p:txBody>
          <a:bodyPr wrap="square" lIns="0" rIns="0" tIns="0" bIns="0" anchor="t">
            <a:spAutoFit/>
          </a:bodyPr>
          <a:lstStyle/>
          <a:p>
            <a:pPr>
              <a:lnSpc>
                <a:spcPct val="125000"/>
              </a:lnSpc>
              <a:spcAft>
                <a:spcPts val="200"/>
              </a:spcAft>
            </a:pPr>
            <a:r>
              <a:rPr sz="1400" b="1">
                <a:solidFill>
                  <a:srgbClr val="1F1F1F"/>
                </a:solidFill>
                <a:latin typeface="Segoe UI"/>
                <a:ea typeface="游ゴシック Medium"/>
                <a:cs typeface="游ゴシック Medium"/>
              </a:rPr>
              <a:t>導入にあたって</a:t>
            </a:r>
          </a:p>
        </p:txBody>
      </p:sp>
      <p:sp>
        <p:nvSpPr>
          <p:cNvPr id="23" name="TextBox 22"/>
          <p:cNvSpPr txBox="1"/>
          <p:nvPr/>
        </p:nvSpPr>
        <p:spPr>
          <a:xfrm>
            <a:off x="5120640" y="5303520"/>
            <a:ext cx="6309360" cy="4572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必要な環境と決めておくこと、できること・できないこと、進め方</a:t>
            </a:r>
          </a:p>
        </p:txBody>
      </p:sp>
      <p:sp>
        <p:nvSpPr>
          <p:cNvPr id="24" name="TextBox 23"/>
          <p:cNvSpPr txBox="1"/>
          <p:nvPr/>
        </p:nvSpPr>
        <p:spPr>
          <a:xfrm>
            <a:off x="457200" y="6035040"/>
            <a:ext cx="11274552" cy="45720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フロー図は独立した章にせず、関係する章の中に置いています。業務フローはCHAPTER 02、処理フローはCHAPTER 03、導入の進め方はCHAPTER 05です。</a:t>
            </a:r>
          </a:p>
        </p:txBody>
      </p:sp>
      <p:sp>
        <p:nvSpPr>
          <p:cNvPr id="25" name="TextBox 24"/>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現場で起きていること</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Current Issues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図面は増え続けるのに、探す手段は人の記憶のまま</a:t>
            </a:r>
          </a:p>
          <a:p>
            <a:pPr>
              <a:lnSpc>
                <a:spcPct val="125000"/>
              </a:lnSpc>
              <a:spcAft>
                <a:spcPts val="800"/>
              </a:spcAft>
            </a:pPr>
            <a:r>
              <a:rPr sz="1200" b="0">
                <a:solidFill>
                  <a:srgbClr val="1F1F1F"/>
                </a:solidFill>
                <a:latin typeface="Segoe UI"/>
                <a:ea typeface="游ゴシック Medium"/>
                <a:cs typeface="游ゴシック Medium"/>
              </a:rPr>
              <a:t>人が台帳へ写す方式が、行き詰まる理由</a:t>
            </a:r>
          </a:p>
          <a:p>
            <a:pPr>
              <a:lnSpc>
                <a:spcPct val="125000"/>
              </a:lnSpc>
              <a:spcAft>
                <a:spcPts val="800"/>
              </a:spcAft>
            </a:pPr>
            <a:r>
              <a:rPr sz="1200" b="0">
                <a:solidFill>
                  <a:srgbClr val="1F1F1F"/>
                </a:solidFill>
                <a:latin typeface="Segoe UI"/>
                <a:ea typeface="游ゴシック Medium"/>
                <a:cs typeface="游ゴシック Medium"/>
              </a:rPr>
              <a:t>「探せない」ことが、設計時間と品質の両方を削っている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設計現場で、繰り返し起きていること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どれも「図面の中身が情報になっていない」ことから来ています</a:t>
            </a:r>
          </a:p>
        </p:txBody>
      </p:sp>
      <p:sp>
        <p:nvSpPr>
          <p:cNvPr id="4" name="Rectangle 3"/>
          <p:cNvSpPr/>
          <p:nvPr/>
        </p:nvSpPr>
        <p:spPr>
          <a:xfrm>
            <a:off x="457200" y="1600200"/>
            <a:ext cx="5559552" cy="1874519"/>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3794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過去の図面が探せない</a:t>
            </a:r>
          </a:p>
        </p:txBody>
      </p:sp>
      <p:sp>
        <p:nvSpPr>
          <p:cNvPr id="6" name="TextBox 5"/>
          <p:cNvSpPr txBox="1"/>
          <p:nvPr/>
        </p:nvSpPr>
        <p:spPr>
          <a:xfrm>
            <a:off x="749808" y="2350008"/>
            <a:ext cx="4983480" cy="960119"/>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似た検討をした記憶はあるが、どこにあるか分からない。結局サーバーを辿るか、当時の担当者に聞くことになる。</a:t>
            </a:r>
          </a:p>
        </p:txBody>
      </p:sp>
      <p:sp>
        <p:nvSpPr>
          <p:cNvPr id="7" name="Rectangle 6"/>
          <p:cNvSpPr/>
          <p:nvPr/>
        </p:nvSpPr>
        <p:spPr>
          <a:xfrm>
            <a:off x="6172200" y="1600200"/>
            <a:ext cx="5559552" cy="1874519"/>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3794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知らなければ、再利用できない</a:t>
            </a:r>
          </a:p>
        </p:txBody>
      </p:sp>
      <p:sp>
        <p:nvSpPr>
          <p:cNvPr id="9" name="TextBox 8"/>
          <p:cNvSpPr txBox="1"/>
          <p:nvPr/>
        </p:nvSpPr>
        <p:spPr>
          <a:xfrm>
            <a:off x="6464808" y="2350008"/>
            <a:ext cx="4983480" cy="960119"/>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使える図面があっても、存在を知らなければ使われない。同じ検討を最初からやり直すことになる。</a:t>
            </a:r>
          </a:p>
        </p:txBody>
      </p:sp>
      <p:sp>
        <p:nvSpPr>
          <p:cNvPr id="10" name="Rectangle 9"/>
          <p:cNvSpPr/>
          <p:nvPr/>
        </p:nvSpPr>
        <p:spPr>
          <a:xfrm>
            <a:off x="457200" y="3703320"/>
            <a:ext cx="5559552" cy="1874519"/>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94106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ベテランの記憶に依存している</a:t>
            </a:r>
          </a:p>
        </p:txBody>
      </p:sp>
      <p:sp>
        <p:nvSpPr>
          <p:cNvPr id="12" name="TextBox 11"/>
          <p:cNvSpPr txBox="1"/>
          <p:nvPr/>
        </p:nvSpPr>
        <p:spPr>
          <a:xfrm>
            <a:off x="749808" y="4453128"/>
            <a:ext cx="4983480" cy="960119"/>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どこに何があるかが個人の経験に紐づいている。異動・退職のたびに、組織として探せる範囲が狭くなる。</a:t>
            </a:r>
          </a:p>
        </p:txBody>
      </p:sp>
      <p:sp>
        <p:nvSpPr>
          <p:cNvPr id="13" name="Rectangle 12"/>
          <p:cNvSpPr/>
          <p:nvPr/>
        </p:nvSpPr>
        <p:spPr>
          <a:xfrm>
            <a:off x="6172200" y="3703320"/>
            <a:ext cx="5559552" cy="1874519"/>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94106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中身は開かないと分からない</a:t>
            </a:r>
          </a:p>
        </p:txBody>
      </p:sp>
      <p:sp>
        <p:nvSpPr>
          <p:cNvPr id="15" name="TextBox 14"/>
          <p:cNvSpPr txBox="1"/>
          <p:nvPr/>
        </p:nvSpPr>
        <p:spPr>
          <a:xfrm>
            <a:off x="6464808" y="4453128"/>
            <a:ext cx="4983480" cy="960119"/>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材質・質量・部品点数は、図面を開いて確認するしかない。横断で数えることも、集計することもできない。</a:t>
            </a:r>
          </a:p>
        </p:txBody>
      </p:sp>
      <p:sp>
        <p:nvSpPr>
          <p:cNvPr id="16" name="TextBox 15"/>
          <p:cNvSpPr txBox="1"/>
          <p:nvPr/>
        </p:nvSpPr>
        <p:spPr>
          <a:xfrm>
            <a:off x="457200" y="59436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図面そのものは資産として残っています。足りないのは、その中身に外から到達するための手がかりです。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人が図面を開いて情報を写す方式は、増え続ける図面に追いつけません</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台帳づくりが続かない理由</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人が写す方式</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図面から読み取る方式</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50" b="0">
                <a:solidFill>
                  <a:srgbClr val="1F1F1F"/>
                </a:solidFill>
                <a:latin typeface="Segoe UI"/>
                <a:ea typeface="游ゴシック Medium"/>
                <a:cs typeface="游ゴシック Medium"/>
              </a:rPr>
              <a:t>・Excelの台帳へ、図番・客先・材質を手入力する</a:t>
            </a:r>
          </a:p>
          <a:p>
            <a:pPr>
              <a:lnSpc>
                <a:spcPct val="125000"/>
              </a:lnSpc>
              <a:spcAft>
                <a:spcPts val="700"/>
              </a:spcAft>
            </a:pPr>
            <a:r>
              <a:rPr sz="1250" b="0">
                <a:solidFill>
                  <a:srgbClr val="1F1F1F"/>
                </a:solidFill>
                <a:latin typeface="Segoe UI"/>
                <a:ea typeface="游ゴシック Medium"/>
                <a:cs typeface="游ゴシック Medium"/>
              </a:rPr>
              <a:t>・担当者が要点を個人メモに残す</a:t>
            </a:r>
          </a:p>
          <a:p>
            <a:pPr>
              <a:lnSpc>
                <a:spcPct val="125000"/>
              </a:lnSpc>
              <a:spcAft>
                <a:spcPts val="700"/>
              </a:spcAft>
            </a:pPr>
            <a:r>
              <a:rPr sz="1250" b="0">
                <a:solidFill>
                  <a:srgbClr val="1F1F1F"/>
                </a:solidFill>
                <a:latin typeface="Segoe UI"/>
                <a:ea typeface="游ゴシック Medium"/>
                <a:cs typeface="游ゴシック Medium"/>
              </a:rPr>
              <a:t>・探すときはフォルダを辿り、記憶と勘で当たりをつける</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900"/>
              </a:spcAft>
            </a:pPr>
            <a:r>
              <a:rPr sz="1300" b="1">
                <a:solidFill>
                  <a:srgbClr val="005BAC"/>
                </a:solidFill>
                <a:latin typeface="Segoe UI"/>
                <a:ea typeface="游ゴシック Medium"/>
                <a:cs typeface="游ゴシック Medium"/>
              </a:rPr>
              <a:t>行き詰まる理由</a:t>
            </a:r>
          </a:p>
          <a:p>
            <a:pPr>
              <a:lnSpc>
                <a:spcPct val="125000"/>
              </a:lnSpc>
              <a:spcAft>
                <a:spcPts val="700"/>
              </a:spcAft>
            </a:pPr>
            <a:r>
              <a:rPr sz="1200" b="0">
                <a:solidFill>
                  <a:srgbClr val="1F1F1F"/>
                </a:solidFill>
                <a:latin typeface="Segoe UI"/>
                <a:ea typeface="游ゴシック Medium"/>
                <a:cs typeface="游ゴシック Medium"/>
              </a:rPr>
              <a:t>・図面が増えるたびに、人手の作業も増える</a:t>
            </a:r>
          </a:p>
          <a:p>
            <a:pPr>
              <a:lnSpc>
                <a:spcPct val="125000"/>
              </a:lnSpc>
              <a:spcAft>
                <a:spcPts val="700"/>
              </a:spcAft>
            </a:pPr>
            <a:r>
              <a:rPr sz="1200" b="0">
                <a:solidFill>
                  <a:srgbClr val="1F1F1F"/>
                </a:solidFill>
                <a:latin typeface="Segoe UI"/>
                <a:ea typeface="游ゴシック Medium"/>
                <a:cs typeface="游ゴシック Medium"/>
              </a:rPr>
              <a:t>・入力の粒度と表記が、人によって変わる</a:t>
            </a:r>
          </a:p>
          <a:p>
            <a:pPr>
              <a:lnSpc>
                <a:spcPct val="125000"/>
              </a:lnSpc>
              <a:spcAft>
                <a:spcPts val="700"/>
              </a:spcAft>
            </a:pPr>
            <a:r>
              <a:rPr sz="1200" b="0">
                <a:solidFill>
                  <a:srgbClr val="1F1F1F"/>
                </a:solidFill>
                <a:latin typeface="Segoe UI"/>
                <a:ea typeface="游ゴシック Medium"/>
                <a:cs typeface="游ゴシック Medium"/>
              </a:rPr>
              <a:t>・過去の図面までは、遡って入力しきれない</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50" b="0">
                <a:solidFill>
                  <a:srgbClr val="1F1F1F"/>
                </a:solidFill>
                <a:latin typeface="Segoe UI"/>
                <a:ea typeface="游ゴシック Medium"/>
                <a:cs typeface="游ゴシック Medium"/>
              </a:rPr>
              <a:t>・図面ファイルそのものから、中身を機械的に読み取る</a:t>
            </a:r>
          </a:p>
          <a:p>
            <a:pPr>
              <a:lnSpc>
                <a:spcPct val="125000"/>
              </a:lnSpc>
              <a:spcAft>
                <a:spcPts val="700"/>
              </a:spcAft>
            </a:pPr>
            <a:r>
              <a:rPr sz="1250" b="0">
                <a:solidFill>
                  <a:srgbClr val="1F1F1F"/>
                </a:solidFill>
                <a:latin typeface="Segoe UI"/>
                <a:ea typeface="游ゴシック Medium"/>
                <a:cs typeface="游ゴシック Medium"/>
              </a:rPr>
              <a:t>・読み取った値の表記をそろえ、検索できる形にする</a:t>
            </a:r>
          </a:p>
          <a:p>
            <a:pPr>
              <a:lnSpc>
                <a:spcPct val="125000"/>
              </a:lnSpc>
              <a:spcAft>
                <a:spcPts val="700"/>
              </a:spcAft>
            </a:pPr>
            <a:r>
              <a:rPr sz="1250" b="0">
                <a:solidFill>
                  <a:srgbClr val="1F1F1F"/>
                </a:solidFill>
                <a:latin typeface="Segoe UI"/>
                <a:ea typeface="游ゴシック Medium"/>
                <a:cs typeface="游ゴシック Medium"/>
              </a:rPr>
              <a:t>・客先・装置・材質などの見出しを自動で付ける</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900"/>
              </a:spcAft>
            </a:pPr>
            <a:r>
              <a:rPr sz="1300" b="1">
                <a:solidFill>
                  <a:srgbClr val="005BAC"/>
                </a:solidFill>
                <a:latin typeface="Segoe UI"/>
                <a:ea typeface="游ゴシック Medium"/>
                <a:cs typeface="游ゴシック Medium"/>
              </a:rPr>
              <a:t>フォルダの整備は、引き続き効果があります</a:t>
            </a:r>
          </a:p>
          <a:p>
            <a:pPr>
              <a:lnSpc>
                <a:spcPct val="125000"/>
              </a:lnSpc>
              <a:spcAft>
                <a:spcPts val="0"/>
              </a:spcAft>
            </a:pPr>
            <a:r>
              <a:rPr sz="1200" b="0">
                <a:solidFill>
                  <a:srgbClr val="1F1F1F"/>
                </a:solidFill>
                <a:latin typeface="Segoe UI"/>
                <a:ea typeface="游ゴシック Medium"/>
                <a:cs typeface="游ゴシック Medium"/>
              </a:rPr>
              <a:t>階層と名称の規則がそろっていると、客先名や案件名をフォルダから読み取れます。図面の中身と合わせて判断できるため、見出しの精度が上がります。整備した規則は、この仕組みの上でそのまま活きます。</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この仕組みの概要</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Overview</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何をする仕組みか</a:t>
            </a:r>
          </a:p>
          <a:p>
            <a:pPr>
              <a:lnSpc>
                <a:spcPct val="125000"/>
              </a:lnSpc>
              <a:spcAft>
                <a:spcPts val="800"/>
              </a:spcAft>
            </a:pPr>
            <a:r>
              <a:rPr sz="1200" b="0">
                <a:solidFill>
                  <a:srgbClr val="1F1F1F"/>
                </a:solidFill>
                <a:latin typeface="Segoe UI"/>
                <a:ea typeface="游ゴシック Medium"/>
                <a:cs typeface="游ゴシック Medium"/>
              </a:rPr>
              <a:t>図面1枚から、どのような情報ができあがるか</a:t>
            </a:r>
          </a:p>
          <a:p>
            <a:pPr>
              <a:lnSpc>
                <a:spcPct val="125000"/>
              </a:lnSpc>
              <a:spcAft>
                <a:spcPts val="800"/>
              </a:spcAft>
            </a:pPr>
            <a:r>
              <a:rPr sz="1200" b="0">
                <a:solidFill>
                  <a:srgbClr val="1F1F1F"/>
                </a:solidFill>
                <a:latin typeface="Segoe UI"/>
                <a:ea typeface="游ゴシック Medium"/>
                <a:cs typeface="游ゴシック Medium"/>
              </a:rPr>
              <a:t>探し方がどう変わるか、誰が何をするか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何をする仕組みか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図面を渡すと、3つの処理を通って「探せる情報」になります</a:t>
            </a:r>
          </a:p>
        </p:txBody>
      </p:sp>
      <p:sp>
        <p:nvSpPr>
          <p:cNvPr id="4" name="Rectangle 3"/>
          <p:cNvSpPr/>
          <p:nvPr/>
        </p:nvSpPr>
        <p:spPr>
          <a:xfrm>
            <a:off x="457200" y="1645920"/>
            <a:ext cx="3602736" cy="28803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1</a:t>
            </a:r>
          </a:p>
        </p:txBody>
      </p:sp>
      <p:sp>
        <p:nvSpPr>
          <p:cNvPr id="6" name="TextBox 5"/>
          <p:cNvSpPr txBox="1"/>
          <p:nvPr/>
        </p:nvSpPr>
        <p:spPr>
          <a:xfrm>
            <a:off x="749808"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中身を読み取る</a:t>
            </a:r>
          </a:p>
        </p:txBody>
      </p:sp>
      <p:sp>
        <p:nvSpPr>
          <p:cNvPr id="7" name="TextBox 6"/>
          <p:cNvSpPr txBox="1"/>
          <p:nvPr/>
        </p:nvSpPr>
        <p:spPr>
          <a:xfrm>
            <a:off x="749808" y="2944368"/>
            <a:ext cx="3017520" cy="146304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図面ファイルを開いて、書かれている値を機械的に取り出します。元のファイルは読むだけで、書き換えません。</a:t>
            </a:r>
          </a:p>
        </p:txBody>
      </p:sp>
      <p:sp>
        <p:nvSpPr>
          <p:cNvPr id="8" name="TextBox 7"/>
          <p:cNvSpPr txBox="1"/>
          <p:nvPr/>
        </p:nvSpPr>
        <p:spPr>
          <a:xfrm>
            <a:off x="4096512" y="2926080"/>
            <a:ext cx="155448" cy="365760"/>
          </a:xfrm>
          <a:prstGeom prst="rect">
            <a:avLst/>
          </a:prstGeom>
          <a:noFill/>
        </p:spPr>
        <p:txBody>
          <a:bodyPr wrap="square" lIns="0" rIns="0" tIns="0" bIns="0" anchor="t">
            <a:spAutoFit/>
          </a:bodyPr>
          <a:lstStyle/>
          <a:p>
            <a:pPr algn="ctr">
              <a:lnSpc>
                <a:spcPct val="125000"/>
              </a:lnSpc>
              <a:spcAft>
                <a:spcPts val="200"/>
              </a:spcAft>
            </a:pPr>
            <a:r>
              <a:rPr sz="1400" b="1">
                <a:solidFill>
                  <a:srgbClr val="005BAC"/>
                </a:solidFill>
                <a:latin typeface="Segoe UI"/>
                <a:ea typeface="游ゴシック Medium"/>
                <a:cs typeface="游ゴシック Medium"/>
              </a:rPr>
              <a:t>▶</a:t>
            </a:r>
          </a:p>
        </p:txBody>
      </p:sp>
      <p:sp>
        <p:nvSpPr>
          <p:cNvPr id="9" name="Rectangle 8"/>
          <p:cNvSpPr/>
          <p:nvPr/>
        </p:nvSpPr>
        <p:spPr>
          <a:xfrm>
            <a:off x="4270248" y="1645920"/>
            <a:ext cx="3602736" cy="28803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62856"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2</a:t>
            </a:r>
          </a:p>
        </p:txBody>
      </p:sp>
      <p:sp>
        <p:nvSpPr>
          <p:cNvPr id="11" name="TextBox 10"/>
          <p:cNvSpPr txBox="1"/>
          <p:nvPr/>
        </p:nvSpPr>
        <p:spPr>
          <a:xfrm>
            <a:off x="4562856"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項目へ整理する</a:t>
            </a:r>
          </a:p>
        </p:txBody>
      </p:sp>
      <p:sp>
        <p:nvSpPr>
          <p:cNvPr id="12" name="TextBox 11"/>
          <p:cNvSpPr txBox="1"/>
          <p:nvPr/>
        </p:nvSpPr>
        <p:spPr>
          <a:xfrm>
            <a:off x="4562856" y="2944368"/>
            <a:ext cx="3017520" cy="146304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書き方のばらつきをそろえ、どれがどの項目かを判断して整えます。決められない項目は、空欄のまま残します。</a:t>
            </a:r>
          </a:p>
        </p:txBody>
      </p:sp>
      <p:sp>
        <p:nvSpPr>
          <p:cNvPr id="13" name="TextBox 12"/>
          <p:cNvSpPr txBox="1"/>
          <p:nvPr/>
        </p:nvSpPr>
        <p:spPr>
          <a:xfrm>
            <a:off x="7909560" y="2926080"/>
            <a:ext cx="155448" cy="365760"/>
          </a:xfrm>
          <a:prstGeom prst="rect">
            <a:avLst/>
          </a:prstGeom>
          <a:noFill/>
        </p:spPr>
        <p:txBody>
          <a:bodyPr wrap="square" lIns="0" rIns="0" tIns="0" bIns="0" anchor="t">
            <a:spAutoFit/>
          </a:bodyPr>
          <a:lstStyle/>
          <a:p>
            <a:pPr algn="ctr">
              <a:lnSpc>
                <a:spcPct val="125000"/>
              </a:lnSpc>
              <a:spcAft>
                <a:spcPts val="200"/>
              </a:spcAft>
            </a:pPr>
            <a:r>
              <a:rPr sz="1400" b="1">
                <a:solidFill>
                  <a:srgbClr val="005BAC"/>
                </a:solidFill>
                <a:latin typeface="Segoe UI"/>
                <a:ea typeface="游ゴシック Medium"/>
                <a:cs typeface="游ゴシック Medium"/>
              </a:rPr>
              <a:t>▶</a:t>
            </a:r>
          </a:p>
        </p:txBody>
      </p:sp>
      <p:sp>
        <p:nvSpPr>
          <p:cNvPr id="14" name="Rectangle 13"/>
          <p:cNvSpPr/>
          <p:nvPr/>
        </p:nvSpPr>
        <p:spPr>
          <a:xfrm>
            <a:off x="8083296" y="1645920"/>
            <a:ext cx="3602736" cy="28803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75904"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3</a:t>
            </a:r>
          </a:p>
        </p:txBody>
      </p:sp>
      <p:sp>
        <p:nvSpPr>
          <p:cNvPr id="16" name="TextBox 15"/>
          <p:cNvSpPr txBox="1"/>
          <p:nvPr/>
        </p:nvSpPr>
        <p:spPr>
          <a:xfrm>
            <a:off x="8375904"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見出しを付ける</a:t>
            </a:r>
          </a:p>
        </p:txBody>
      </p:sp>
      <p:sp>
        <p:nvSpPr>
          <p:cNvPr id="17" name="TextBox 16"/>
          <p:cNvSpPr txBox="1"/>
          <p:nvPr/>
        </p:nvSpPr>
        <p:spPr>
          <a:xfrm>
            <a:off x="8375904" y="2944368"/>
            <a:ext cx="3017520" cy="146304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整えた値を登録されている言葉と照らし合わせ、客先・装置・材質などの見出しを付けます。判断の根拠も一緒に残します。</a:t>
            </a:r>
          </a:p>
        </p:txBody>
      </p:sp>
      <p:sp>
        <p:nvSpPr>
          <p:cNvPr id="18" name="TextBox 17"/>
          <p:cNvSpPr txBox="1"/>
          <p:nvPr/>
        </p:nvSpPr>
        <p:spPr>
          <a:xfrm>
            <a:off x="457200" y="4937760"/>
            <a:ext cx="11274552" cy="1005840"/>
          </a:xfrm>
          <a:prstGeom prst="rect">
            <a:avLst/>
          </a:prstGeom>
          <a:noFill/>
        </p:spPr>
        <p:txBody>
          <a:bodyPr wrap="square" lIns="0" rIns="0" tIns="0" bIns="0" anchor="t">
            <a:spAutoFit/>
          </a:bodyPr>
          <a:lstStyle/>
          <a:p>
            <a:pPr>
              <a:lnSpc>
                <a:spcPct val="125000"/>
              </a:lnSpc>
              <a:spcAft>
                <a:spcPts val="800"/>
              </a:spcAft>
            </a:pPr>
            <a:r>
              <a:rPr sz="1400" b="1">
                <a:solidFill>
                  <a:srgbClr val="005BAC"/>
                </a:solidFill>
                <a:latin typeface="Segoe UI"/>
                <a:ea typeface="游ゴシック Medium"/>
                <a:cs typeface="游ゴシック Medium"/>
              </a:rPr>
              <a:t>この3つを自動で動かせます。設計者が入力する作業はありません。</a:t>
            </a:r>
          </a:p>
          <a:p>
            <a:pPr>
              <a:lnSpc>
                <a:spcPct val="125000"/>
              </a:lnSpc>
              <a:spcAft>
                <a:spcPts val="0"/>
              </a:spcAft>
            </a:pPr>
            <a:r>
              <a:rPr sz="1200" b="0">
                <a:solidFill>
                  <a:srgbClr val="1F1F1F"/>
                </a:solidFill>
                <a:latin typeface="Segoe UI"/>
                <a:ea typeface="游ゴシック Medium"/>
                <a:cs typeface="游ゴシック Medium"/>
              </a:rPr>
              <a:t>読み取りは図面を登録したときに動きます。図面を訂正して登録し直せば、その図面だけを読み取り直します。人が手で直した見出しは、読み取り直しても残ります。</a:t>
            </a:r>
          </a:p>
        </p:txBody>
      </p:sp>
      <p:sp>
        <p:nvSpPr>
          <p:cNvPr id="19" name="TextBox 18"/>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図面1枚から、このような情報ができあがります</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読み取った内容を整理して属性にし、その中から探すためのタグを作ります（架空の例示です）</a:t>
            </a:r>
          </a:p>
        </p:txBody>
      </p:sp>
      <p:sp>
        <p:nvSpPr>
          <p:cNvPr id="4" name="Rectangle 3"/>
          <p:cNvSpPr/>
          <p:nvPr/>
        </p:nvSpPr>
        <p:spPr>
          <a:xfrm>
            <a:off x="457200" y="1600200"/>
            <a:ext cx="3520440" cy="3977639"/>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847088"/>
            <a:ext cx="3017520" cy="54864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図面から読み取った内容</a:t>
            </a:r>
          </a:p>
          <a:p>
            <a:pPr>
              <a:lnSpc>
                <a:spcPct val="125000"/>
              </a:lnSpc>
              <a:spcAft>
                <a:spcPts val="200"/>
              </a:spcAft>
            </a:pPr>
            <a:r>
              <a:rPr sz="1000" b="0">
                <a:solidFill>
                  <a:srgbClr val="5A5A5A"/>
                </a:solidFill>
                <a:latin typeface="Segoe UI"/>
                <a:ea typeface="游ゴシック Medium"/>
                <a:cs typeface="游ゴシック Medium"/>
              </a:rPr>
              <a:t>書かれているものを、そのまま</a:t>
            </a:r>
          </a:p>
        </p:txBody>
      </p:sp>
      <p:sp>
        <p:nvSpPr>
          <p:cNvPr id="6" name="TextBox 5"/>
          <p:cNvSpPr txBox="1"/>
          <p:nvPr/>
        </p:nvSpPr>
        <p:spPr>
          <a:xfrm>
            <a:off x="713232" y="2578608"/>
            <a:ext cx="3017520" cy="2743200"/>
          </a:xfrm>
          <a:prstGeom prst="rect">
            <a:avLst/>
          </a:prstGeom>
          <a:noFill/>
        </p:spPr>
        <p:txBody>
          <a:bodyPr wrap="square" lIns="0" rIns="0" tIns="0" bIns="0" anchor="t">
            <a:spAutoFit/>
          </a:bodyPr>
          <a:lstStyle/>
          <a:p>
            <a:pPr>
              <a:lnSpc>
                <a:spcPct val="125000"/>
              </a:lnSpc>
              <a:spcAft>
                <a:spcPts val="800"/>
              </a:spcAft>
            </a:pPr>
            <a:r>
              <a:rPr sz="1050" b="0">
                <a:solidFill>
                  <a:srgbClr val="1F1F1F"/>
                </a:solidFill>
                <a:latin typeface="Segoe UI"/>
                <a:ea typeface="游ゴシック Medium"/>
                <a:cs typeface="游ゴシック Medium"/>
              </a:rPr>
              <a:t>・図枠の文字「材質」「SUS304」</a:t>
            </a:r>
          </a:p>
          <a:p>
            <a:pPr>
              <a:lnSpc>
                <a:spcPct val="125000"/>
              </a:lnSpc>
              <a:spcAft>
                <a:spcPts val="800"/>
              </a:spcAft>
            </a:pPr>
            <a:r>
              <a:rPr sz="1050" b="0">
                <a:solidFill>
                  <a:srgbClr val="1F1F1F"/>
                </a:solidFill>
                <a:latin typeface="Segoe UI"/>
                <a:ea typeface="游ゴシック Medium"/>
                <a:cs typeface="游ゴシック Medium"/>
              </a:rPr>
              <a:t>・注記「焼入れ HRC50」</a:t>
            </a:r>
          </a:p>
          <a:p>
            <a:pPr>
              <a:lnSpc>
                <a:spcPct val="125000"/>
              </a:lnSpc>
              <a:spcAft>
                <a:spcPts val="800"/>
              </a:spcAft>
            </a:pPr>
            <a:r>
              <a:rPr sz="1050" b="0">
                <a:solidFill>
                  <a:srgbClr val="1F1F1F"/>
                </a:solidFill>
                <a:latin typeface="Segoe UI"/>
                <a:ea typeface="游ゴシック Medium"/>
                <a:cs typeface="游ゴシック Medium"/>
              </a:rPr>
              <a:t>・寸法と公差の記号</a:t>
            </a:r>
          </a:p>
          <a:p>
            <a:pPr>
              <a:lnSpc>
                <a:spcPct val="125000"/>
              </a:lnSpc>
              <a:spcAft>
                <a:spcPts val="800"/>
              </a:spcAft>
            </a:pPr>
            <a:r>
              <a:rPr sz="1050" b="0">
                <a:solidFill>
                  <a:srgbClr val="1F1F1F"/>
                </a:solidFill>
                <a:latin typeface="Segoe UI"/>
                <a:ea typeface="游ゴシック Medium"/>
                <a:cs typeface="游ゴシック Medium"/>
              </a:rPr>
              <a:t>・部品ツリー 108件</a:t>
            </a:r>
          </a:p>
          <a:p>
            <a:pPr>
              <a:lnSpc>
                <a:spcPct val="125000"/>
              </a:lnSpc>
              <a:spcAft>
                <a:spcPts val="800"/>
              </a:spcAft>
            </a:pPr>
            <a:r>
              <a:rPr sz="1050" b="0">
                <a:solidFill>
                  <a:srgbClr val="1F1F1F"/>
                </a:solidFill>
                <a:latin typeface="Segoe UI"/>
                <a:ea typeface="游ゴシック Medium"/>
                <a:cs typeface="游ゴシック Medium"/>
              </a:rPr>
              <a:t>・質量 4.8 kg</a:t>
            </a:r>
          </a:p>
          <a:p>
            <a:pPr>
              <a:lnSpc>
                <a:spcPct val="125000"/>
              </a:lnSpc>
              <a:spcAft>
                <a:spcPts val="800"/>
              </a:spcAft>
            </a:pPr>
            <a:r>
              <a:rPr sz="1050" b="0">
                <a:solidFill>
                  <a:srgbClr val="1F1F1F"/>
                </a:solidFill>
                <a:latin typeface="Segoe UI"/>
                <a:ea typeface="游ゴシック Medium"/>
                <a:cs typeface="游ゴシック Medium"/>
              </a:rPr>
              <a:t>・保存先のフォルダ名</a:t>
            </a:r>
          </a:p>
        </p:txBody>
      </p:sp>
      <p:sp>
        <p:nvSpPr>
          <p:cNvPr id="7" name="TextBox 6"/>
          <p:cNvSpPr txBox="1"/>
          <p:nvPr/>
        </p:nvSpPr>
        <p:spPr>
          <a:xfrm>
            <a:off x="4069080" y="3383280"/>
            <a:ext cx="182880" cy="365760"/>
          </a:xfrm>
          <a:prstGeom prst="rect">
            <a:avLst/>
          </a:prstGeom>
          <a:noFill/>
        </p:spPr>
        <p:txBody>
          <a:bodyPr wrap="square" lIns="0" rIns="0" tIns="0" bIns="0" anchor="t">
            <a:spAutoFit/>
          </a:bodyPr>
          <a:lstStyle/>
          <a:p>
            <a:pPr algn="ctr">
              <a:lnSpc>
                <a:spcPct val="125000"/>
              </a:lnSpc>
              <a:spcAft>
                <a:spcPts val="200"/>
              </a:spcAft>
            </a:pPr>
            <a:r>
              <a:rPr sz="1800" b="1">
                <a:solidFill>
                  <a:srgbClr val="005BAC"/>
                </a:solidFill>
                <a:latin typeface="Segoe UI"/>
                <a:ea typeface="游ゴシック Medium"/>
                <a:cs typeface="游ゴシック Medium"/>
              </a:rPr>
              <a:t>▶</a:t>
            </a:r>
          </a:p>
        </p:txBody>
      </p:sp>
      <p:sp>
        <p:nvSpPr>
          <p:cNvPr id="8" name="Rectangle 7"/>
          <p:cNvSpPr/>
          <p:nvPr/>
        </p:nvSpPr>
        <p:spPr>
          <a:xfrm>
            <a:off x="4334256" y="1600200"/>
            <a:ext cx="3520440" cy="3977639"/>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90288" y="1847088"/>
            <a:ext cx="3017520" cy="54864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整理して確定した値（属性）</a:t>
            </a:r>
          </a:p>
          <a:p>
            <a:pPr>
              <a:lnSpc>
                <a:spcPct val="125000"/>
              </a:lnSpc>
              <a:spcAft>
                <a:spcPts val="200"/>
              </a:spcAft>
            </a:pPr>
            <a:r>
              <a:rPr sz="1000" b="0">
                <a:solidFill>
                  <a:srgbClr val="5A5A5A"/>
                </a:solidFill>
                <a:latin typeface="Segoe UI"/>
                <a:ea typeface="游ゴシック Medium"/>
                <a:cs typeface="游ゴシック Medium"/>
              </a:rPr>
              <a:t>どれがどの項目かを判断して選ぶ</a:t>
            </a:r>
          </a:p>
        </p:txBody>
      </p:sp>
      <p:sp>
        <p:nvSpPr>
          <p:cNvPr id="10" name="TextBox 9"/>
          <p:cNvSpPr txBox="1"/>
          <p:nvPr/>
        </p:nvSpPr>
        <p:spPr>
          <a:xfrm>
            <a:off x="4590288" y="2578608"/>
            <a:ext cx="3017520" cy="2743200"/>
          </a:xfrm>
          <a:prstGeom prst="rect">
            <a:avLst/>
          </a:prstGeom>
          <a:noFill/>
        </p:spPr>
        <p:txBody>
          <a:bodyPr wrap="square" lIns="0" rIns="0" tIns="0" bIns="0" anchor="t">
            <a:spAutoFit/>
          </a:bodyPr>
          <a:lstStyle/>
          <a:p>
            <a:pPr>
              <a:lnSpc>
                <a:spcPct val="125000"/>
              </a:lnSpc>
              <a:spcAft>
                <a:spcPts val="800"/>
              </a:spcAft>
            </a:pPr>
            <a:r>
              <a:rPr sz="1050" b="0">
                <a:solidFill>
                  <a:srgbClr val="1F1F1F"/>
                </a:solidFill>
                <a:latin typeface="Segoe UI"/>
                <a:ea typeface="游ゴシック Medium"/>
                <a:cs typeface="游ゴシック Medium"/>
              </a:rPr>
              <a:t>・図面番号　SAMPLE-0001</a:t>
            </a:r>
          </a:p>
          <a:p>
            <a:pPr>
              <a:lnSpc>
                <a:spcPct val="125000"/>
              </a:lnSpc>
              <a:spcAft>
                <a:spcPts val="800"/>
              </a:spcAft>
            </a:pPr>
            <a:r>
              <a:rPr sz="1050" b="0">
                <a:solidFill>
                  <a:srgbClr val="1F1F1F"/>
                </a:solidFill>
                <a:latin typeface="Segoe UI"/>
                <a:ea typeface="游ゴシック Medium"/>
                <a:cs typeface="游ゴシック Medium"/>
              </a:rPr>
              <a:t>・図面名　　ガイドレール</a:t>
            </a:r>
          </a:p>
          <a:p>
            <a:pPr>
              <a:lnSpc>
                <a:spcPct val="125000"/>
              </a:lnSpc>
              <a:spcAft>
                <a:spcPts val="800"/>
              </a:spcAft>
            </a:pPr>
            <a:r>
              <a:rPr sz="1050" b="0">
                <a:solidFill>
                  <a:srgbClr val="1F1F1F"/>
                </a:solidFill>
                <a:latin typeface="Segoe UI"/>
                <a:ea typeface="游ゴシック Medium"/>
                <a:cs typeface="游ゴシック Medium"/>
              </a:rPr>
              <a:t>・材質　　　SUS304、SS400 ほか8種類</a:t>
            </a:r>
          </a:p>
          <a:p>
            <a:pPr>
              <a:lnSpc>
                <a:spcPct val="125000"/>
              </a:lnSpc>
              <a:spcAft>
                <a:spcPts val="800"/>
              </a:spcAft>
            </a:pPr>
            <a:r>
              <a:rPr sz="1050" b="0">
                <a:solidFill>
                  <a:srgbClr val="1F1F1F"/>
                </a:solidFill>
                <a:latin typeface="Segoe UI"/>
                <a:ea typeface="游ゴシック Medium"/>
                <a:cs typeface="游ゴシック Medium"/>
              </a:rPr>
              <a:t>・熱処理　　焼入れ</a:t>
            </a:r>
          </a:p>
          <a:p>
            <a:pPr>
              <a:lnSpc>
                <a:spcPct val="125000"/>
              </a:lnSpc>
              <a:spcAft>
                <a:spcPts val="800"/>
              </a:spcAft>
            </a:pPr>
            <a:r>
              <a:rPr sz="1050" b="0">
                <a:solidFill>
                  <a:srgbClr val="1F1F1F"/>
                </a:solidFill>
                <a:latin typeface="Segoe UI"/>
                <a:ea typeface="游ゴシック Medium"/>
                <a:cs typeface="游ゴシック Medium"/>
              </a:rPr>
              <a:t>・質量　　　4.8 kg</a:t>
            </a:r>
          </a:p>
          <a:p>
            <a:pPr>
              <a:lnSpc>
                <a:spcPct val="125000"/>
              </a:lnSpc>
              <a:spcAft>
                <a:spcPts val="800"/>
              </a:spcAft>
            </a:pPr>
            <a:r>
              <a:rPr sz="1050" b="0">
                <a:solidFill>
                  <a:srgbClr val="1F1F1F"/>
                </a:solidFill>
                <a:latin typeface="Segoe UI"/>
                <a:ea typeface="游ゴシック Medium"/>
                <a:cs typeface="游ゴシック Medium"/>
              </a:rPr>
              <a:t>・構成部品　108 点</a:t>
            </a:r>
          </a:p>
        </p:txBody>
      </p:sp>
      <p:sp>
        <p:nvSpPr>
          <p:cNvPr id="11" name="TextBox 10"/>
          <p:cNvSpPr txBox="1"/>
          <p:nvPr/>
        </p:nvSpPr>
        <p:spPr>
          <a:xfrm>
            <a:off x="7946136" y="3383280"/>
            <a:ext cx="182880" cy="365760"/>
          </a:xfrm>
          <a:prstGeom prst="rect">
            <a:avLst/>
          </a:prstGeom>
          <a:noFill/>
        </p:spPr>
        <p:txBody>
          <a:bodyPr wrap="square" lIns="0" rIns="0" tIns="0" bIns="0" anchor="t">
            <a:spAutoFit/>
          </a:bodyPr>
          <a:lstStyle/>
          <a:p>
            <a:pPr algn="ctr">
              <a:lnSpc>
                <a:spcPct val="125000"/>
              </a:lnSpc>
              <a:spcAft>
                <a:spcPts val="200"/>
              </a:spcAft>
            </a:pPr>
            <a:r>
              <a:rPr sz="1800" b="1">
                <a:solidFill>
                  <a:srgbClr val="005BAC"/>
                </a:solidFill>
                <a:latin typeface="Segoe UI"/>
                <a:ea typeface="游ゴシック Medium"/>
                <a:cs typeface="游ゴシック Medium"/>
              </a:rPr>
              <a:t>▶</a:t>
            </a:r>
          </a:p>
        </p:txBody>
      </p:sp>
      <p:sp>
        <p:nvSpPr>
          <p:cNvPr id="12" name="Rectangle 11"/>
          <p:cNvSpPr/>
          <p:nvPr/>
        </p:nvSpPr>
        <p:spPr>
          <a:xfrm>
            <a:off x="8211312" y="1600200"/>
            <a:ext cx="3520440" cy="3977639"/>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67344" y="1847088"/>
            <a:ext cx="3017520" cy="54864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絞り込み用のタグ</a:t>
            </a:r>
          </a:p>
          <a:p>
            <a:pPr>
              <a:lnSpc>
                <a:spcPct val="125000"/>
              </a:lnSpc>
              <a:spcAft>
                <a:spcPts val="200"/>
              </a:spcAft>
            </a:pPr>
            <a:r>
              <a:rPr sz="1000" b="0">
                <a:solidFill>
                  <a:srgbClr val="5A5A5A"/>
                </a:solidFill>
                <a:latin typeface="Segoe UI"/>
                <a:ea typeface="游ゴシック Medium"/>
                <a:cs typeface="游ゴシック Medium"/>
              </a:rPr>
              <a:t>探すのに使えるものを見出しに</a:t>
            </a:r>
          </a:p>
        </p:txBody>
      </p:sp>
      <p:sp>
        <p:nvSpPr>
          <p:cNvPr id="14" name="Rectangle 13"/>
          <p:cNvSpPr/>
          <p:nvPr/>
        </p:nvSpPr>
        <p:spPr>
          <a:xfrm>
            <a:off x="8467344" y="2578608"/>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客先：A社</a:t>
            </a:r>
          </a:p>
        </p:txBody>
      </p:sp>
      <p:sp>
        <p:nvSpPr>
          <p:cNvPr id="15" name="Rectangle 14"/>
          <p:cNvSpPr/>
          <p:nvPr/>
        </p:nvSpPr>
        <p:spPr>
          <a:xfrm>
            <a:off x="8467344" y="2999232"/>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装置：ガントリー</a:t>
            </a:r>
          </a:p>
        </p:txBody>
      </p:sp>
      <p:sp>
        <p:nvSpPr>
          <p:cNvPr id="16" name="Rectangle 15"/>
          <p:cNvSpPr/>
          <p:nvPr/>
        </p:nvSpPr>
        <p:spPr>
          <a:xfrm>
            <a:off x="8467344" y="3419856"/>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材質：SUS304</a:t>
            </a:r>
          </a:p>
        </p:txBody>
      </p:sp>
      <p:sp>
        <p:nvSpPr>
          <p:cNvPr id="17" name="Rectangle 16"/>
          <p:cNvSpPr/>
          <p:nvPr/>
        </p:nvSpPr>
        <p:spPr>
          <a:xfrm>
            <a:off x="8467344" y="3840480"/>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材質：SS400</a:t>
            </a:r>
          </a:p>
        </p:txBody>
      </p:sp>
      <p:sp>
        <p:nvSpPr>
          <p:cNvPr id="18" name="Rectangle 17"/>
          <p:cNvSpPr/>
          <p:nvPr/>
        </p:nvSpPr>
        <p:spPr>
          <a:xfrm>
            <a:off x="8467344" y="4261104"/>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熱処理：焼入れ</a:t>
            </a:r>
          </a:p>
        </p:txBody>
      </p:sp>
      <p:sp>
        <p:nvSpPr>
          <p:cNvPr id="19" name="Rectangle 18"/>
          <p:cNvSpPr/>
          <p:nvPr/>
        </p:nvSpPr>
        <p:spPr>
          <a:xfrm>
            <a:off x="8467344" y="4681728"/>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メーカー：空圧機器メーカーB</a:t>
            </a:r>
          </a:p>
        </p:txBody>
      </p:sp>
      <p:sp>
        <p:nvSpPr>
          <p:cNvPr id="20" name="Rectangle 19"/>
          <p:cNvSpPr/>
          <p:nvPr/>
        </p:nvSpPr>
        <p:spPr>
          <a:xfrm>
            <a:off x="8467344" y="5102352"/>
            <a:ext cx="3008376" cy="329184"/>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nSpc>
                <a:spcPct val="125000"/>
              </a:lnSpc>
              <a:spcAft>
                <a:spcPts val="0"/>
              </a:spcAft>
            </a:pPr>
            <a:r>
              <a:rPr sz="1000" b="1">
                <a:solidFill>
                  <a:srgbClr val="005BAC"/>
                </a:solidFill>
                <a:latin typeface="Segoe UI"/>
                <a:ea typeface="游ゴシック Medium"/>
                <a:cs typeface="游ゴシック Medium"/>
              </a:rPr>
              <a:t>規格：社内規格C</a:t>
            </a:r>
          </a:p>
        </p:txBody>
      </p:sp>
      <p:sp>
        <p:nvSpPr>
          <p:cNvPr id="21" name="TextBox 20"/>
          <p:cNvSpPr txBox="1"/>
          <p:nvPr/>
        </p:nvSpPr>
        <p:spPr>
          <a:xfrm>
            <a:off x="457200" y="5760720"/>
            <a:ext cx="11274552" cy="640080"/>
          </a:xfrm>
          <a:prstGeom prst="rect">
            <a:avLst/>
          </a:prstGeom>
          <a:noFill/>
        </p:spPr>
        <p:txBody>
          <a:bodyPr wrap="square" lIns="0" rIns="0" tIns="0" bIns="0" anchor="t">
            <a:spAutoFit/>
          </a:bodyPr>
          <a:lstStyle/>
          <a:p>
            <a:pPr>
              <a:lnSpc>
                <a:spcPct val="125000"/>
              </a:lnSpc>
              <a:spcAft>
                <a:spcPts val="600"/>
              </a:spcAft>
            </a:pPr>
            <a:r>
              <a:rPr sz="1200" b="1">
                <a:solidFill>
                  <a:srgbClr val="1F1F1F"/>
                </a:solidFill>
                <a:latin typeface="Segoe UI"/>
                <a:ea typeface="游ゴシック Medium"/>
                <a:cs typeface="游ゴシック Medium"/>
              </a:rPr>
              <a:t>①②③はいずれも図面の情報として記録され、画面で確認できます。違いは使い道です。</a:t>
            </a:r>
          </a:p>
          <a:p>
            <a:pPr>
              <a:lnSpc>
                <a:spcPct val="125000"/>
              </a:lnSpc>
              <a:spcAft>
                <a:spcPts val="0"/>
              </a:spcAft>
            </a:pPr>
            <a:r>
              <a:rPr sz="1150" b="0">
                <a:solidFill>
                  <a:srgbClr val="1F1F1F"/>
                </a:solidFill>
                <a:latin typeface="Segoe UI"/>
                <a:ea typeface="游ゴシック Medium"/>
                <a:cs typeface="游ゴシック Medium"/>
              </a:rPr>
              <a:t>①はなぜその値になったかを後から確かめるための記録、②は図面の中身を見るための値、③は条件を指定して図面を探すための見出しです。</a:t>
            </a:r>
          </a:p>
        </p:txBody>
      </p:sp>
      <p:sp>
        <p:nvSpPr>
          <p:cNvPr id="22" name="TextBox 21"/>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タグが付くと、探し方はこう変わります</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画面イメージです。表示している値はすべて架空のデモデータです</a:t>
            </a:r>
          </a:p>
        </p:txBody>
      </p:sp>
      <p:sp>
        <p:nvSpPr>
          <p:cNvPr id="4" name="Rectangle 3"/>
          <p:cNvSpPr/>
          <p:nvPr/>
        </p:nvSpPr>
        <p:spPr>
          <a:xfrm>
            <a:off x="548640" y="1572768"/>
            <a:ext cx="11091672" cy="438912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48640" y="1572768"/>
            <a:ext cx="11091672" cy="420624"/>
          </a:xfrm>
          <a:prstGeom prst="rect">
            <a:avLst/>
          </a:prstGeom>
          <a:solidFill>
            <a:srgbClr val="005BAC"/>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lIns="201168" wrap="square"/>
          <a:lstStyle/>
          <a:p>
            <a:pPr>
              <a:lnSpc>
                <a:spcPct val="125000"/>
              </a:lnSpc>
              <a:spcAft>
                <a:spcPts val="0"/>
              </a:spcAft>
            </a:pPr>
            <a:r>
              <a:rPr sz="1200" b="1">
                <a:solidFill>
                  <a:srgbClr val="FFFFFF"/>
                </a:solidFill>
                <a:latin typeface="Segoe UI"/>
                <a:ea typeface="游ゴシック Medium"/>
                <a:cs typeface="游ゴシック Medium"/>
              </a:rPr>
              <a:t>図面検索</a:t>
            </a:r>
          </a:p>
        </p:txBody>
      </p:sp>
      <p:sp>
        <p:nvSpPr>
          <p:cNvPr id="6" name="Rectangle 5"/>
          <p:cNvSpPr/>
          <p:nvPr/>
        </p:nvSpPr>
        <p:spPr>
          <a:xfrm>
            <a:off x="548640" y="1993392"/>
            <a:ext cx="2788920" cy="3968496"/>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194560"/>
            <a:ext cx="2377440" cy="256032"/>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絞り込み</a:t>
            </a:r>
          </a:p>
        </p:txBody>
      </p:sp>
      <p:sp>
        <p:nvSpPr>
          <p:cNvPr id="8" name="TextBox 7"/>
          <p:cNvSpPr txBox="1"/>
          <p:nvPr/>
        </p:nvSpPr>
        <p:spPr>
          <a:xfrm>
            <a:off x="777240" y="2560320"/>
            <a:ext cx="2377440" cy="201168"/>
          </a:xfrm>
          <a:prstGeom prst="rect">
            <a:avLst/>
          </a:prstGeom>
          <a:noFill/>
        </p:spPr>
        <p:txBody>
          <a:bodyPr wrap="square" lIns="0" rIns="0" tIns="0" bIns="0" anchor="t">
            <a:spAutoFit/>
          </a:bodyPr>
          <a:lstStyle/>
          <a:p>
            <a:pPr>
              <a:lnSpc>
                <a:spcPct val="125000"/>
              </a:lnSpc>
              <a:spcAft>
                <a:spcPts val="200"/>
              </a:spcAft>
            </a:pPr>
            <a:r>
              <a:rPr sz="1000" b="1">
                <a:solidFill>
                  <a:srgbClr val="5A5A5A"/>
                </a:solidFill>
                <a:latin typeface="Segoe UI"/>
                <a:ea typeface="游ゴシック Medium"/>
                <a:cs typeface="游ゴシック Medium"/>
              </a:rPr>
              <a:t>客先</a:t>
            </a:r>
          </a:p>
        </p:txBody>
      </p:sp>
      <p:sp>
        <p:nvSpPr>
          <p:cNvPr id="9" name="TextBox 8"/>
          <p:cNvSpPr txBox="1"/>
          <p:nvPr/>
        </p:nvSpPr>
        <p:spPr>
          <a:xfrm>
            <a:off x="777240" y="2798064"/>
            <a:ext cx="2377440" cy="644652"/>
          </a:xfrm>
          <a:prstGeom prst="rect">
            <a:avLst/>
          </a:prstGeom>
          <a:noFill/>
        </p:spPr>
        <p:txBody>
          <a:bodyPr wrap="square" lIns="0" rIns="0" tIns="0" bIns="0" anchor="t">
            <a:spAutoFit/>
          </a:bodyPr>
          <a:lstStyle/>
          <a:p>
            <a:pPr>
              <a:lnSpc>
                <a:spcPct val="125000"/>
              </a:lnSpc>
              <a:spcAft>
                <a:spcPts val="300"/>
              </a:spcAft>
            </a:pPr>
            <a:r>
              <a:rPr sz="1050" b="0">
                <a:solidFill>
                  <a:srgbClr val="1F1F1F"/>
                </a:solidFill>
                <a:latin typeface="Segoe UI"/>
                <a:ea typeface="游ゴシック Medium"/>
                <a:cs typeface="游ゴシック Medium"/>
              </a:rPr>
              <a:t>■ A社</a:t>
            </a:r>
          </a:p>
          <a:p>
            <a:pPr>
              <a:lnSpc>
                <a:spcPct val="125000"/>
              </a:lnSpc>
              <a:spcAft>
                <a:spcPts val="300"/>
              </a:spcAft>
            </a:pPr>
            <a:r>
              <a:rPr sz="1050" b="0">
                <a:solidFill>
                  <a:srgbClr val="5A5A5A"/>
                </a:solidFill>
                <a:latin typeface="Segoe UI"/>
                <a:ea typeface="游ゴシック Medium"/>
                <a:cs typeface="游ゴシック Medium"/>
              </a:rPr>
              <a:t>□ B社</a:t>
            </a:r>
          </a:p>
          <a:p>
            <a:pPr>
              <a:lnSpc>
                <a:spcPct val="125000"/>
              </a:lnSpc>
              <a:spcAft>
                <a:spcPts val="300"/>
              </a:spcAft>
            </a:pPr>
            <a:r>
              <a:rPr sz="1050" b="0">
                <a:solidFill>
                  <a:srgbClr val="5A5A5A"/>
                </a:solidFill>
                <a:latin typeface="Segoe UI"/>
                <a:ea typeface="游ゴシック Medium"/>
                <a:cs typeface="游ゴシック Medium"/>
              </a:rPr>
              <a:t>□ C社</a:t>
            </a:r>
          </a:p>
        </p:txBody>
      </p:sp>
      <p:sp>
        <p:nvSpPr>
          <p:cNvPr id="10" name="TextBox 9"/>
          <p:cNvSpPr txBox="1"/>
          <p:nvPr/>
        </p:nvSpPr>
        <p:spPr>
          <a:xfrm>
            <a:off x="777240" y="3625596"/>
            <a:ext cx="2377440" cy="201168"/>
          </a:xfrm>
          <a:prstGeom prst="rect">
            <a:avLst/>
          </a:prstGeom>
          <a:noFill/>
        </p:spPr>
        <p:txBody>
          <a:bodyPr wrap="square" lIns="0" rIns="0" tIns="0" bIns="0" anchor="t">
            <a:spAutoFit/>
          </a:bodyPr>
          <a:lstStyle/>
          <a:p>
            <a:pPr>
              <a:lnSpc>
                <a:spcPct val="125000"/>
              </a:lnSpc>
              <a:spcAft>
                <a:spcPts val="200"/>
              </a:spcAft>
            </a:pPr>
            <a:r>
              <a:rPr sz="1000" b="1">
                <a:solidFill>
                  <a:srgbClr val="5A5A5A"/>
                </a:solidFill>
                <a:latin typeface="Segoe UI"/>
                <a:ea typeface="游ゴシック Medium"/>
                <a:cs typeface="游ゴシック Medium"/>
              </a:rPr>
              <a:t>装置</a:t>
            </a:r>
          </a:p>
        </p:txBody>
      </p:sp>
      <p:sp>
        <p:nvSpPr>
          <p:cNvPr id="11" name="TextBox 10"/>
          <p:cNvSpPr txBox="1"/>
          <p:nvPr/>
        </p:nvSpPr>
        <p:spPr>
          <a:xfrm>
            <a:off x="777240" y="3863340"/>
            <a:ext cx="2377440" cy="644652"/>
          </a:xfrm>
          <a:prstGeom prst="rect">
            <a:avLst/>
          </a:prstGeom>
          <a:noFill/>
        </p:spPr>
        <p:txBody>
          <a:bodyPr wrap="square" lIns="0" rIns="0" tIns="0" bIns="0" anchor="t">
            <a:spAutoFit/>
          </a:bodyPr>
          <a:lstStyle/>
          <a:p>
            <a:pPr>
              <a:lnSpc>
                <a:spcPct val="125000"/>
              </a:lnSpc>
              <a:spcAft>
                <a:spcPts val="300"/>
              </a:spcAft>
            </a:pPr>
            <a:r>
              <a:rPr sz="1050" b="0">
                <a:solidFill>
                  <a:srgbClr val="1F1F1F"/>
                </a:solidFill>
                <a:latin typeface="Segoe UI"/>
                <a:ea typeface="游ゴシック Medium"/>
                <a:cs typeface="游ゴシック Medium"/>
              </a:rPr>
              <a:t>■ ガントリー</a:t>
            </a:r>
          </a:p>
          <a:p>
            <a:pPr>
              <a:lnSpc>
                <a:spcPct val="125000"/>
              </a:lnSpc>
              <a:spcAft>
                <a:spcPts val="300"/>
              </a:spcAft>
            </a:pPr>
            <a:r>
              <a:rPr sz="1050" b="0">
                <a:solidFill>
                  <a:srgbClr val="5A5A5A"/>
                </a:solidFill>
                <a:latin typeface="Segoe UI"/>
                <a:ea typeface="游ゴシック Medium"/>
                <a:cs typeface="游ゴシック Medium"/>
              </a:rPr>
              <a:t>□ 治具</a:t>
            </a:r>
          </a:p>
          <a:p>
            <a:pPr>
              <a:lnSpc>
                <a:spcPct val="125000"/>
              </a:lnSpc>
              <a:spcAft>
                <a:spcPts val="300"/>
              </a:spcAft>
            </a:pPr>
            <a:r>
              <a:rPr sz="1050" b="0">
                <a:solidFill>
                  <a:srgbClr val="5A5A5A"/>
                </a:solidFill>
                <a:latin typeface="Segoe UI"/>
                <a:ea typeface="游ゴシック Medium"/>
                <a:cs typeface="游ゴシック Medium"/>
              </a:rPr>
              <a:t>□ コンベア</a:t>
            </a:r>
          </a:p>
        </p:txBody>
      </p:sp>
      <p:sp>
        <p:nvSpPr>
          <p:cNvPr id="12" name="TextBox 11"/>
          <p:cNvSpPr txBox="1"/>
          <p:nvPr/>
        </p:nvSpPr>
        <p:spPr>
          <a:xfrm>
            <a:off x="777240" y="4690872"/>
            <a:ext cx="2377440" cy="201168"/>
          </a:xfrm>
          <a:prstGeom prst="rect">
            <a:avLst/>
          </a:prstGeom>
          <a:noFill/>
        </p:spPr>
        <p:txBody>
          <a:bodyPr wrap="square" lIns="0" rIns="0" tIns="0" bIns="0" anchor="t">
            <a:spAutoFit/>
          </a:bodyPr>
          <a:lstStyle/>
          <a:p>
            <a:pPr>
              <a:lnSpc>
                <a:spcPct val="125000"/>
              </a:lnSpc>
              <a:spcAft>
                <a:spcPts val="200"/>
              </a:spcAft>
            </a:pPr>
            <a:r>
              <a:rPr sz="1000" b="1">
                <a:solidFill>
                  <a:srgbClr val="5A5A5A"/>
                </a:solidFill>
                <a:latin typeface="Segoe UI"/>
                <a:ea typeface="游ゴシック Medium"/>
                <a:cs typeface="游ゴシック Medium"/>
              </a:rPr>
              <a:t>材質</a:t>
            </a:r>
          </a:p>
        </p:txBody>
      </p:sp>
      <p:sp>
        <p:nvSpPr>
          <p:cNvPr id="13" name="TextBox 12"/>
          <p:cNvSpPr txBox="1"/>
          <p:nvPr/>
        </p:nvSpPr>
        <p:spPr>
          <a:xfrm>
            <a:off x="777240" y="4928616"/>
            <a:ext cx="2377440" cy="644652"/>
          </a:xfrm>
          <a:prstGeom prst="rect">
            <a:avLst/>
          </a:prstGeom>
          <a:noFill/>
        </p:spPr>
        <p:txBody>
          <a:bodyPr wrap="square" lIns="0" rIns="0" tIns="0" bIns="0" anchor="t">
            <a:spAutoFit/>
          </a:bodyPr>
          <a:lstStyle/>
          <a:p>
            <a:pPr>
              <a:lnSpc>
                <a:spcPct val="125000"/>
              </a:lnSpc>
              <a:spcAft>
                <a:spcPts val="300"/>
              </a:spcAft>
            </a:pPr>
            <a:r>
              <a:rPr sz="1050" b="0">
                <a:solidFill>
                  <a:srgbClr val="1F1F1F"/>
                </a:solidFill>
                <a:latin typeface="Segoe UI"/>
                <a:ea typeface="游ゴシック Medium"/>
                <a:cs typeface="游ゴシック Medium"/>
              </a:rPr>
              <a:t>■ SUS304</a:t>
            </a:r>
          </a:p>
          <a:p>
            <a:pPr>
              <a:lnSpc>
                <a:spcPct val="125000"/>
              </a:lnSpc>
              <a:spcAft>
                <a:spcPts val="300"/>
              </a:spcAft>
            </a:pPr>
            <a:r>
              <a:rPr sz="1050" b="0">
                <a:solidFill>
                  <a:srgbClr val="1F1F1F"/>
                </a:solidFill>
                <a:latin typeface="Segoe UI"/>
                <a:ea typeface="游ゴシック Medium"/>
                <a:cs typeface="游ゴシック Medium"/>
              </a:rPr>
              <a:t>■ SS400</a:t>
            </a:r>
          </a:p>
          <a:p>
            <a:pPr>
              <a:lnSpc>
                <a:spcPct val="125000"/>
              </a:lnSpc>
              <a:spcAft>
                <a:spcPts val="300"/>
              </a:spcAft>
            </a:pPr>
            <a:r>
              <a:rPr sz="1050" b="0">
                <a:solidFill>
                  <a:srgbClr val="5A5A5A"/>
                </a:solidFill>
                <a:latin typeface="Segoe UI"/>
                <a:ea typeface="游ゴシック Medium"/>
                <a:cs typeface="游ゴシック Medium"/>
              </a:rPr>
              <a:t>□ A5052</a:t>
            </a:r>
          </a:p>
        </p:txBody>
      </p:sp>
      <p:sp>
        <p:nvSpPr>
          <p:cNvPr id="14" name="TextBox 13"/>
          <p:cNvSpPr txBox="1"/>
          <p:nvPr/>
        </p:nvSpPr>
        <p:spPr>
          <a:xfrm>
            <a:off x="3593591" y="2194560"/>
            <a:ext cx="7790688" cy="256032"/>
          </a:xfrm>
          <a:prstGeom prst="rect">
            <a:avLst/>
          </a:prstGeom>
          <a:noFill/>
        </p:spPr>
        <p:txBody>
          <a:bodyPr wrap="square" lIns="0" rIns="0" tIns="0" bIns="0" anchor="t">
            <a:spAutoFit/>
          </a:bodyPr>
          <a:lstStyle/>
          <a:p>
            <a:pPr>
              <a:lnSpc>
                <a:spcPct val="125000"/>
              </a:lnSpc>
              <a:spcAft>
                <a:spcPts val="200"/>
              </a:spcAft>
            </a:pPr>
            <a:r>
              <a:rPr sz="1150" b="1">
                <a:solidFill>
                  <a:srgbClr val="1F1F1F"/>
                </a:solidFill>
                <a:latin typeface="Segoe UI"/>
                <a:ea typeface="游ゴシック Medium"/>
                <a:cs typeface="游ゴシック Medium"/>
              </a:rPr>
              <a:t>検索結果　4件</a:t>
            </a:r>
          </a:p>
        </p:txBody>
      </p:sp>
      <p:sp>
        <p:nvSpPr>
          <p:cNvPr id="15" name="Rectangle 14"/>
          <p:cNvSpPr/>
          <p:nvPr/>
        </p:nvSpPr>
        <p:spPr>
          <a:xfrm>
            <a:off x="3593591" y="2560320"/>
            <a:ext cx="7790688" cy="73152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76472" y="2688336"/>
            <a:ext cx="1828800" cy="219456"/>
          </a:xfrm>
          <a:prstGeom prst="rect">
            <a:avLst/>
          </a:prstGeom>
          <a:noFill/>
        </p:spPr>
        <p:txBody>
          <a:bodyPr wrap="square" lIns="0" rIns="0" tIns="0" bIns="0" anchor="t">
            <a:spAutoFit/>
          </a:bodyPr>
          <a:lstStyle/>
          <a:p>
            <a:pPr>
              <a:lnSpc>
                <a:spcPct val="125000"/>
              </a:lnSpc>
              <a:spcAft>
                <a:spcPts val="200"/>
              </a:spcAft>
            </a:pPr>
            <a:r>
              <a:rPr sz="1050" b="1">
                <a:solidFill>
                  <a:srgbClr val="1F1F1F"/>
                </a:solidFill>
                <a:latin typeface="Segoe UI"/>
                <a:ea typeface="游ゴシック Medium"/>
                <a:cs typeface="游ゴシック Medium"/>
              </a:rPr>
              <a:t>SAMPLE-0001</a:t>
            </a:r>
          </a:p>
        </p:txBody>
      </p:sp>
      <p:sp>
        <p:nvSpPr>
          <p:cNvPr id="17" name="TextBox 16"/>
          <p:cNvSpPr txBox="1"/>
          <p:nvPr/>
        </p:nvSpPr>
        <p:spPr>
          <a:xfrm>
            <a:off x="5696712" y="2688336"/>
            <a:ext cx="2743200" cy="219456"/>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ガイドレール</a:t>
            </a:r>
          </a:p>
        </p:txBody>
      </p:sp>
      <p:sp>
        <p:nvSpPr>
          <p:cNvPr id="18" name="TextBox 17"/>
          <p:cNvSpPr txBox="1"/>
          <p:nvPr/>
        </p:nvSpPr>
        <p:spPr>
          <a:xfrm>
            <a:off x="3776472" y="2980944"/>
            <a:ext cx="5669280" cy="219456"/>
          </a:xfrm>
          <a:prstGeom prst="rect">
            <a:avLst/>
          </a:prstGeom>
          <a:noFill/>
        </p:spPr>
        <p:txBody>
          <a:bodyPr wrap="square" lIns="0" rIns="0" tIns="0" bIns="0" anchor="t">
            <a:spAutoFit/>
          </a:bodyPr>
          <a:lstStyle/>
          <a:p>
            <a:pPr>
              <a:lnSpc>
                <a:spcPct val="125000"/>
              </a:lnSpc>
              <a:spcAft>
                <a:spcPts val="200"/>
              </a:spcAft>
            </a:pPr>
            <a:r>
              <a:rPr sz="950" b="1">
                <a:solidFill>
                  <a:srgbClr val="005BAC"/>
                </a:solidFill>
                <a:latin typeface="Segoe UI"/>
                <a:ea typeface="游ゴシック Medium"/>
                <a:cs typeface="游ゴシック Medium"/>
              </a:rPr>
              <a:t>客先:A社　装置:ガントリー　材質:SUS304</a:t>
            </a:r>
          </a:p>
        </p:txBody>
      </p:sp>
      <p:sp>
        <p:nvSpPr>
          <p:cNvPr id="19" name="TextBox 18"/>
          <p:cNvSpPr txBox="1"/>
          <p:nvPr/>
        </p:nvSpPr>
        <p:spPr>
          <a:xfrm>
            <a:off x="9628632" y="2816352"/>
            <a:ext cx="1737360" cy="219456"/>
          </a:xfrm>
          <a:prstGeom prst="rect">
            <a:avLst/>
          </a:prstGeom>
          <a:noFill/>
        </p:spPr>
        <p:txBody>
          <a:bodyPr wrap="square" lIns="0" rIns="0" tIns="0" bIns="0" anchor="t">
            <a:spAutoFit/>
          </a:bodyPr>
          <a:lstStyle/>
          <a:p>
            <a:pPr algn="r">
              <a:lnSpc>
                <a:spcPct val="125000"/>
              </a:lnSpc>
              <a:spcAft>
                <a:spcPts val="200"/>
              </a:spcAft>
            </a:pPr>
            <a:r>
              <a:rPr sz="950" b="0">
                <a:solidFill>
                  <a:srgbClr val="5A5A5A"/>
                </a:solidFill>
                <a:latin typeface="Segoe UI"/>
                <a:ea typeface="游ゴシック Medium"/>
                <a:cs typeface="游ゴシック Medium"/>
              </a:rPr>
              <a:t>4.8 kg　/　108 点</a:t>
            </a:r>
          </a:p>
        </p:txBody>
      </p:sp>
      <p:sp>
        <p:nvSpPr>
          <p:cNvPr id="20" name="Rectangle 19"/>
          <p:cNvSpPr/>
          <p:nvPr/>
        </p:nvSpPr>
        <p:spPr>
          <a:xfrm>
            <a:off x="3593591" y="3410712"/>
            <a:ext cx="7790688" cy="73152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76472" y="3538728"/>
            <a:ext cx="1828800" cy="219456"/>
          </a:xfrm>
          <a:prstGeom prst="rect">
            <a:avLst/>
          </a:prstGeom>
          <a:noFill/>
        </p:spPr>
        <p:txBody>
          <a:bodyPr wrap="square" lIns="0" rIns="0" tIns="0" bIns="0" anchor="t">
            <a:spAutoFit/>
          </a:bodyPr>
          <a:lstStyle/>
          <a:p>
            <a:pPr>
              <a:lnSpc>
                <a:spcPct val="125000"/>
              </a:lnSpc>
              <a:spcAft>
                <a:spcPts val="200"/>
              </a:spcAft>
            </a:pPr>
            <a:r>
              <a:rPr sz="1050" b="1">
                <a:solidFill>
                  <a:srgbClr val="1F1F1F"/>
                </a:solidFill>
                <a:latin typeface="Segoe UI"/>
                <a:ea typeface="游ゴシック Medium"/>
                <a:cs typeface="游ゴシック Medium"/>
              </a:rPr>
              <a:t>SAMPLE-0014</a:t>
            </a:r>
          </a:p>
        </p:txBody>
      </p:sp>
      <p:sp>
        <p:nvSpPr>
          <p:cNvPr id="22" name="TextBox 21"/>
          <p:cNvSpPr txBox="1"/>
          <p:nvPr/>
        </p:nvSpPr>
        <p:spPr>
          <a:xfrm>
            <a:off x="5696712" y="3538728"/>
            <a:ext cx="2743200" cy="219456"/>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走行ベース</a:t>
            </a:r>
          </a:p>
        </p:txBody>
      </p:sp>
      <p:sp>
        <p:nvSpPr>
          <p:cNvPr id="23" name="TextBox 22"/>
          <p:cNvSpPr txBox="1"/>
          <p:nvPr/>
        </p:nvSpPr>
        <p:spPr>
          <a:xfrm>
            <a:off x="3776472" y="3831336"/>
            <a:ext cx="5669280" cy="219456"/>
          </a:xfrm>
          <a:prstGeom prst="rect">
            <a:avLst/>
          </a:prstGeom>
          <a:noFill/>
        </p:spPr>
        <p:txBody>
          <a:bodyPr wrap="square" lIns="0" rIns="0" tIns="0" bIns="0" anchor="t">
            <a:spAutoFit/>
          </a:bodyPr>
          <a:lstStyle/>
          <a:p>
            <a:pPr>
              <a:lnSpc>
                <a:spcPct val="125000"/>
              </a:lnSpc>
              <a:spcAft>
                <a:spcPts val="200"/>
              </a:spcAft>
            </a:pPr>
            <a:r>
              <a:rPr sz="950" b="1">
                <a:solidFill>
                  <a:srgbClr val="005BAC"/>
                </a:solidFill>
                <a:latin typeface="Segoe UI"/>
                <a:ea typeface="游ゴシック Medium"/>
                <a:cs typeface="游ゴシック Medium"/>
              </a:rPr>
              <a:t>客先:A社　装置:ガントリー　材質:SS400</a:t>
            </a:r>
          </a:p>
        </p:txBody>
      </p:sp>
      <p:sp>
        <p:nvSpPr>
          <p:cNvPr id="24" name="TextBox 23"/>
          <p:cNvSpPr txBox="1"/>
          <p:nvPr/>
        </p:nvSpPr>
        <p:spPr>
          <a:xfrm>
            <a:off x="9628632" y="3666744"/>
            <a:ext cx="1737360" cy="219456"/>
          </a:xfrm>
          <a:prstGeom prst="rect">
            <a:avLst/>
          </a:prstGeom>
          <a:noFill/>
        </p:spPr>
        <p:txBody>
          <a:bodyPr wrap="square" lIns="0" rIns="0" tIns="0" bIns="0" anchor="t">
            <a:spAutoFit/>
          </a:bodyPr>
          <a:lstStyle/>
          <a:p>
            <a:pPr algn="r">
              <a:lnSpc>
                <a:spcPct val="125000"/>
              </a:lnSpc>
              <a:spcAft>
                <a:spcPts val="200"/>
              </a:spcAft>
            </a:pPr>
            <a:r>
              <a:rPr sz="950" b="0">
                <a:solidFill>
                  <a:srgbClr val="5A5A5A"/>
                </a:solidFill>
                <a:latin typeface="Segoe UI"/>
                <a:ea typeface="游ゴシック Medium"/>
                <a:cs typeface="游ゴシック Medium"/>
              </a:rPr>
              <a:t>12.3 kg　/　64 点</a:t>
            </a:r>
          </a:p>
        </p:txBody>
      </p:sp>
      <p:sp>
        <p:nvSpPr>
          <p:cNvPr id="25" name="Rectangle 24"/>
          <p:cNvSpPr/>
          <p:nvPr/>
        </p:nvSpPr>
        <p:spPr>
          <a:xfrm>
            <a:off x="3593591" y="4261104"/>
            <a:ext cx="7790688" cy="73152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76472" y="4389120"/>
            <a:ext cx="1828800" cy="219456"/>
          </a:xfrm>
          <a:prstGeom prst="rect">
            <a:avLst/>
          </a:prstGeom>
          <a:noFill/>
        </p:spPr>
        <p:txBody>
          <a:bodyPr wrap="square" lIns="0" rIns="0" tIns="0" bIns="0" anchor="t">
            <a:spAutoFit/>
          </a:bodyPr>
          <a:lstStyle/>
          <a:p>
            <a:pPr>
              <a:lnSpc>
                <a:spcPct val="125000"/>
              </a:lnSpc>
              <a:spcAft>
                <a:spcPts val="200"/>
              </a:spcAft>
            </a:pPr>
            <a:r>
              <a:rPr sz="1050" b="1">
                <a:solidFill>
                  <a:srgbClr val="1F1F1F"/>
                </a:solidFill>
                <a:latin typeface="Segoe UI"/>
                <a:ea typeface="游ゴシック Medium"/>
                <a:cs typeface="游ゴシック Medium"/>
              </a:rPr>
              <a:t>SAMPLE-0027</a:t>
            </a:r>
          </a:p>
        </p:txBody>
      </p:sp>
      <p:sp>
        <p:nvSpPr>
          <p:cNvPr id="27" name="TextBox 26"/>
          <p:cNvSpPr txBox="1"/>
          <p:nvPr/>
        </p:nvSpPr>
        <p:spPr>
          <a:xfrm>
            <a:off x="5696712" y="4389120"/>
            <a:ext cx="2743200" cy="219456"/>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ケーブルダクト</a:t>
            </a:r>
          </a:p>
        </p:txBody>
      </p:sp>
      <p:sp>
        <p:nvSpPr>
          <p:cNvPr id="28" name="TextBox 27"/>
          <p:cNvSpPr txBox="1"/>
          <p:nvPr/>
        </p:nvSpPr>
        <p:spPr>
          <a:xfrm>
            <a:off x="3776472" y="4681728"/>
            <a:ext cx="5669280" cy="219456"/>
          </a:xfrm>
          <a:prstGeom prst="rect">
            <a:avLst/>
          </a:prstGeom>
          <a:noFill/>
        </p:spPr>
        <p:txBody>
          <a:bodyPr wrap="square" lIns="0" rIns="0" tIns="0" bIns="0" anchor="t">
            <a:spAutoFit/>
          </a:bodyPr>
          <a:lstStyle/>
          <a:p>
            <a:pPr>
              <a:lnSpc>
                <a:spcPct val="125000"/>
              </a:lnSpc>
              <a:spcAft>
                <a:spcPts val="200"/>
              </a:spcAft>
            </a:pPr>
            <a:r>
              <a:rPr sz="950" b="1">
                <a:solidFill>
                  <a:srgbClr val="005BAC"/>
                </a:solidFill>
                <a:latin typeface="Segoe UI"/>
                <a:ea typeface="游ゴシック Medium"/>
                <a:cs typeface="游ゴシック Medium"/>
              </a:rPr>
              <a:t>客先:A社　装置:ガントリー　材質:SUS304</a:t>
            </a:r>
          </a:p>
        </p:txBody>
      </p:sp>
      <p:sp>
        <p:nvSpPr>
          <p:cNvPr id="29" name="TextBox 28"/>
          <p:cNvSpPr txBox="1"/>
          <p:nvPr/>
        </p:nvSpPr>
        <p:spPr>
          <a:xfrm>
            <a:off x="9628632" y="4517136"/>
            <a:ext cx="1737360" cy="219456"/>
          </a:xfrm>
          <a:prstGeom prst="rect">
            <a:avLst/>
          </a:prstGeom>
          <a:noFill/>
        </p:spPr>
        <p:txBody>
          <a:bodyPr wrap="square" lIns="0" rIns="0" tIns="0" bIns="0" anchor="t">
            <a:spAutoFit/>
          </a:bodyPr>
          <a:lstStyle/>
          <a:p>
            <a:pPr algn="r">
              <a:lnSpc>
                <a:spcPct val="125000"/>
              </a:lnSpc>
              <a:spcAft>
                <a:spcPts val="200"/>
              </a:spcAft>
            </a:pPr>
            <a:r>
              <a:rPr sz="950" b="0">
                <a:solidFill>
                  <a:srgbClr val="5A5A5A"/>
                </a:solidFill>
                <a:latin typeface="Segoe UI"/>
                <a:ea typeface="游ゴシック Medium"/>
                <a:cs typeface="游ゴシック Medium"/>
              </a:rPr>
              <a:t>1.2 kg　/　9 点</a:t>
            </a:r>
          </a:p>
        </p:txBody>
      </p:sp>
      <p:sp>
        <p:nvSpPr>
          <p:cNvPr id="30" name="Rectangle 29"/>
          <p:cNvSpPr/>
          <p:nvPr/>
        </p:nvSpPr>
        <p:spPr>
          <a:xfrm>
            <a:off x="3593591" y="5111496"/>
            <a:ext cx="7790688" cy="73152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776472" y="5239512"/>
            <a:ext cx="1828800" cy="219456"/>
          </a:xfrm>
          <a:prstGeom prst="rect">
            <a:avLst/>
          </a:prstGeom>
          <a:noFill/>
        </p:spPr>
        <p:txBody>
          <a:bodyPr wrap="square" lIns="0" rIns="0" tIns="0" bIns="0" anchor="t">
            <a:spAutoFit/>
          </a:bodyPr>
          <a:lstStyle/>
          <a:p>
            <a:pPr>
              <a:lnSpc>
                <a:spcPct val="125000"/>
              </a:lnSpc>
              <a:spcAft>
                <a:spcPts val="200"/>
              </a:spcAft>
            </a:pPr>
            <a:r>
              <a:rPr sz="1050" b="1">
                <a:solidFill>
                  <a:srgbClr val="1F1F1F"/>
                </a:solidFill>
                <a:latin typeface="Segoe UI"/>
                <a:ea typeface="游ゴシック Medium"/>
                <a:cs typeface="游ゴシック Medium"/>
              </a:rPr>
              <a:t>SAMPLE-0033</a:t>
            </a:r>
          </a:p>
        </p:txBody>
      </p:sp>
      <p:sp>
        <p:nvSpPr>
          <p:cNvPr id="32" name="TextBox 31"/>
          <p:cNvSpPr txBox="1"/>
          <p:nvPr/>
        </p:nvSpPr>
        <p:spPr>
          <a:xfrm>
            <a:off x="5696712" y="5239512"/>
            <a:ext cx="2743200" cy="219456"/>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昇降フレーム</a:t>
            </a:r>
          </a:p>
        </p:txBody>
      </p:sp>
      <p:sp>
        <p:nvSpPr>
          <p:cNvPr id="33" name="TextBox 32"/>
          <p:cNvSpPr txBox="1"/>
          <p:nvPr/>
        </p:nvSpPr>
        <p:spPr>
          <a:xfrm>
            <a:off x="3776472" y="5532120"/>
            <a:ext cx="5669280" cy="219456"/>
          </a:xfrm>
          <a:prstGeom prst="rect">
            <a:avLst/>
          </a:prstGeom>
          <a:noFill/>
        </p:spPr>
        <p:txBody>
          <a:bodyPr wrap="square" lIns="0" rIns="0" tIns="0" bIns="0" anchor="t">
            <a:spAutoFit/>
          </a:bodyPr>
          <a:lstStyle/>
          <a:p>
            <a:pPr>
              <a:lnSpc>
                <a:spcPct val="125000"/>
              </a:lnSpc>
              <a:spcAft>
                <a:spcPts val="200"/>
              </a:spcAft>
            </a:pPr>
            <a:r>
              <a:rPr sz="950" b="1">
                <a:solidFill>
                  <a:srgbClr val="005BAC"/>
                </a:solidFill>
                <a:latin typeface="Segoe UI"/>
                <a:ea typeface="游ゴシック Medium"/>
                <a:cs typeface="游ゴシック Medium"/>
              </a:rPr>
              <a:t>客先:A社　装置:ガントリー　材質:SS400　熱処理:焼入れ</a:t>
            </a:r>
          </a:p>
        </p:txBody>
      </p:sp>
      <p:sp>
        <p:nvSpPr>
          <p:cNvPr id="34" name="TextBox 33"/>
          <p:cNvSpPr txBox="1"/>
          <p:nvPr/>
        </p:nvSpPr>
        <p:spPr>
          <a:xfrm>
            <a:off x="9628632" y="5367528"/>
            <a:ext cx="1737360" cy="219456"/>
          </a:xfrm>
          <a:prstGeom prst="rect">
            <a:avLst/>
          </a:prstGeom>
          <a:noFill/>
        </p:spPr>
        <p:txBody>
          <a:bodyPr wrap="square" lIns="0" rIns="0" tIns="0" bIns="0" anchor="t">
            <a:spAutoFit/>
          </a:bodyPr>
          <a:lstStyle/>
          <a:p>
            <a:pPr algn="r">
              <a:lnSpc>
                <a:spcPct val="125000"/>
              </a:lnSpc>
              <a:spcAft>
                <a:spcPts val="200"/>
              </a:spcAft>
            </a:pPr>
            <a:r>
              <a:rPr sz="950" b="0">
                <a:solidFill>
                  <a:srgbClr val="5A5A5A"/>
                </a:solidFill>
                <a:latin typeface="Segoe UI"/>
                <a:ea typeface="游ゴシック Medium"/>
                <a:cs typeface="游ゴシック Medium"/>
              </a:rPr>
              <a:t>23.6 kg　/　87 点</a:t>
            </a:r>
          </a:p>
        </p:txBody>
      </p:sp>
      <p:sp>
        <p:nvSpPr>
          <p:cNvPr id="35" name="TextBox 34"/>
          <p:cNvSpPr txBox="1"/>
          <p:nvPr/>
        </p:nvSpPr>
        <p:spPr>
          <a:xfrm>
            <a:off x="457200" y="608076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客先・装置・材質などを組み合わせて絞り込めます。フォルダをたどらず、図面を1枚ずつ開かずに候補までたどり着けます。</a:t>
            </a:r>
          </a:p>
        </p:txBody>
      </p:sp>
      <p:sp>
        <p:nvSpPr>
          <p:cNvPr id="36" name="TextBox 3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業務フロー　図面を登録してから、探して使うまで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誰が何をするか。色を付けた中段は、人の操作なしに自動で動く部分です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設計者</a:t>
            </a:r>
          </a:p>
        </p:txBody>
      </p:sp>
      <p:sp>
        <p:nvSpPr>
          <p:cNvPr id="6" name="Rectangle 5"/>
          <p:cNvSpPr/>
          <p:nvPr/>
        </p:nvSpPr>
        <p:spPr>
          <a:xfrm>
            <a:off x="457200" y="2926080"/>
            <a:ext cx="11274552" cy="1508760"/>
          </a:xfrm>
          <a:prstGeom prst="rect">
            <a:avLst/>
          </a:prstGeom>
          <a:solidFill>
            <a:srgbClr val="E8F2F9"/>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システム</a:t>
            </a:r>
            <a:br/>
            <a:r>
              <a:rPr sz="900" b="1">
                <a:solidFill>
                  <a:srgbClr val="FFFFFF"/>
                </a:solidFill>
                <a:latin typeface="Segoe UI"/>
                <a:ea typeface="游ゴシック Medium"/>
                <a:cs typeface="游ゴシック Medium"/>
              </a:rPr>
              <a:t>（自動）</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確認担当</a:t>
            </a:r>
          </a:p>
        </p:txBody>
      </p:sp>
      <p:sp>
        <p:nvSpPr>
          <p:cNvPr id="10" name="Rounded Rectangle 9"/>
          <p:cNvSpPr/>
          <p:nvPr/>
        </p:nvSpPr>
        <p:spPr>
          <a:xfrm>
            <a:off x="1585432" y="1779422"/>
            <a:ext cx="1124529"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図面を作成し</a:t>
            </a:r>
            <a:br/>
            <a:r>
              <a:rPr sz="900" b="1">
                <a:solidFill>
                  <a:srgbClr val="1F1F1F"/>
                </a:solidFill>
                <a:latin typeface="Segoe UI"/>
                <a:ea typeface="游ゴシック Medium"/>
                <a:cs typeface="游ゴシック Medium"/>
              </a:rPr>
              <a:t>出図する</a:t>
            </a:r>
          </a:p>
          <a:p>
            <a:pPr algn="ctr">
              <a:lnSpc>
                <a:spcPct val="105000"/>
              </a:lnSpc>
              <a:spcAft>
                <a:spcPts val="0"/>
              </a:spcAft>
            </a:pPr>
            <a:r>
              <a:rPr sz="700" b="0">
                <a:solidFill>
                  <a:srgbClr val="5A5A5A"/>
                </a:solidFill>
                <a:latin typeface="Segoe UI"/>
                <a:ea typeface="游ゴシック Medium"/>
                <a:cs typeface="游ゴシック Medium"/>
              </a:rPr>
              <a:t>ICAD／STEP／DXF</a:t>
            </a:r>
          </a:p>
        </p:txBody>
      </p:sp>
      <p:sp>
        <p:nvSpPr>
          <p:cNvPr id="11" name="Rounded Rectangle 10"/>
          <p:cNvSpPr/>
          <p:nvPr/>
        </p:nvSpPr>
        <p:spPr>
          <a:xfrm>
            <a:off x="2863306" y="177942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システムへ</a:t>
            </a:r>
            <a:br/>
            <a:r>
              <a:rPr sz="900" b="1">
                <a:solidFill>
                  <a:srgbClr val="1F1F1F"/>
                </a:solidFill>
                <a:latin typeface="Segoe UI"/>
                <a:ea typeface="游ゴシック Medium"/>
                <a:cs typeface="游ゴシック Medium"/>
              </a:rPr>
              <a:t>登録する</a:t>
            </a:r>
          </a:p>
          <a:p>
            <a:pPr algn="ctr">
              <a:lnSpc>
                <a:spcPct val="105000"/>
              </a:lnSpc>
              <a:spcAft>
                <a:spcPts val="0"/>
              </a:spcAft>
            </a:pPr>
            <a:r>
              <a:rPr sz="700" b="0">
                <a:solidFill>
                  <a:srgbClr val="5A5A5A"/>
                </a:solidFill>
                <a:latin typeface="Segoe UI"/>
                <a:ea typeface="游ゴシック Medium"/>
                <a:cs typeface="游ゴシック Medium"/>
              </a:rPr>
              <a:t>出図時の登録が</a:t>
            </a:r>
            <a:br/>
            <a:r>
              <a:rPr sz="700" b="0">
                <a:solidFill>
                  <a:srgbClr val="5A5A5A"/>
                </a:solidFill>
                <a:latin typeface="Segoe UI"/>
                <a:ea typeface="游ゴシック Medium"/>
                <a:cs typeface="游ゴシック Medium"/>
              </a:rPr>
              <a:t>抜けにくい</a:t>
            </a:r>
          </a:p>
        </p:txBody>
      </p:sp>
      <p:sp>
        <p:nvSpPr>
          <p:cNvPr id="12" name="Rounded Rectangle 11"/>
          <p:cNvSpPr/>
          <p:nvPr/>
        </p:nvSpPr>
        <p:spPr>
          <a:xfrm>
            <a:off x="4141180"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図面の中身を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元のファイルは</a:t>
            </a:r>
            <a:br/>
            <a:r>
              <a:rPr sz="700" b="0">
                <a:solidFill>
                  <a:srgbClr val="5A5A5A"/>
                </a:solidFill>
                <a:latin typeface="Segoe UI"/>
                <a:ea typeface="游ゴシック Medium"/>
                <a:cs typeface="游ゴシック Medium"/>
              </a:rPr>
              <a:t>変更しない</a:t>
            </a:r>
          </a:p>
        </p:txBody>
      </p:sp>
      <p:sp>
        <p:nvSpPr>
          <p:cNvPr id="13" name="Rounded Rectangle 12"/>
          <p:cNvSpPr/>
          <p:nvPr/>
        </p:nvSpPr>
        <p:spPr>
          <a:xfrm>
            <a:off x="5419054"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項目へ整理して</a:t>
            </a:r>
            <a:br/>
            <a:r>
              <a:rPr sz="900" b="1">
                <a:solidFill>
                  <a:srgbClr val="1F1F1F"/>
                </a:solidFill>
                <a:latin typeface="Segoe UI"/>
                <a:ea typeface="游ゴシック Medium"/>
                <a:cs typeface="游ゴシック Medium"/>
              </a:rPr>
              <a:t>属性にする</a:t>
            </a:r>
          </a:p>
          <a:p>
            <a:pPr algn="ctr">
              <a:lnSpc>
                <a:spcPct val="105000"/>
              </a:lnSpc>
              <a:spcAft>
                <a:spcPts val="0"/>
              </a:spcAft>
            </a:pPr>
            <a:r>
              <a:rPr sz="700" b="0">
                <a:solidFill>
                  <a:srgbClr val="5A5A5A"/>
                </a:solidFill>
                <a:latin typeface="Segoe UI"/>
                <a:ea typeface="游ゴシック Medium"/>
                <a:cs typeface="游ゴシック Medium"/>
              </a:rPr>
              <a:t>決められない項目は</a:t>
            </a:r>
            <a:br/>
            <a:r>
              <a:rPr sz="700" b="0">
                <a:solidFill>
                  <a:srgbClr val="5A5A5A"/>
                </a:solidFill>
                <a:latin typeface="Segoe UI"/>
                <a:ea typeface="游ゴシック Medium"/>
                <a:cs typeface="游ゴシック Medium"/>
              </a:rPr>
              <a:t>空欄で残す</a:t>
            </a:r>
          </a:p>
        </p:txBody>
      </p:sp>
      <p:sp>
        <p:nvSpPr>
          <p:cNvPr id="14" name="Rounded Rectangle 13"/>
          <p:cNvSpPr/>
          <p:nvPr/>
        </p:nvSpPr>
        <p:spPr>
          <a:xfrm>
            <a:off x="6696928"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辞書と照合して</a:t>
            </a:r>
            <a:br/>
            <a:r>
              <a:rPr sz="900" b="1">
                <a:solidFill>
                  <a:srgbClr val="1F1F1F"/>
                </a:solidFill>
                <a:latin typeface="Segoe UI"/>
                <a:ea typeface="游ゴシック Medium"/>
                <a:cs typeface="游ゴシック Medium"/>
              </a:rPr>
              <a:t>タグを付ける</a:t>
            </a:r>
          </a:p>
          <a:p>
            <a:pPr algn="ctr">
              <a:lnSpc>
                <a:spcPct val="105000"/>
              </a:lnSpc>
              <a:spcAft>
                <a:spcPts val="0"/>
              </a:spcAft>
            </a:pPr>
            <a:r>
              <a:rPr sz="700" b="0">
                <a:solidFill>
                  <a:srgbClr val="5A5A5A"/>
                </a:solidFill>
                <a:latin typeface="Segoe UI"/>
                <a:ea typeface="游ゴシック Medium"/>
                <a:cs typeface="游ゴシック Medium"/>
              </a:rPr>
              <a:t>根拠と確からしさを</a:t>
            </a:r>
            <a:br/>
            <a:r>
              <a:rPr sz="700" b="0">
                <a:solidFill>
                  <a:srgbClr val="5A5A5A"/>
                </a:solidFill>
                <a:latin typeface="Segoe UI"/>
                <a:ea typeface="游ゴシック Medium"/>
                <a:cs typeface="游ゴシック Medium"/>
              </a:rPr>
              <a:t>添える</a:t>
            </a:r>
          </a:p>
        </p:txBody>
      </p:sp>
      <p:sp>
        <p:nvSpPr>
          <p:cNvPr id="15" name="Rounded Rectangle 14"/>
          <p:cNvSpPr/>
          <p:nvPr/>
        </p:nvSpPr>
        <p:spPr>
          <a:xfrm>
            <a:off x="7974802" y="479694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自動で付いた</a:t>
            </a:r>
            <a:br/>
            <a:r>
              <a:rPr sz="900" b="1">
                <a:solidFill>
                  <a:srgbClr val="1F1F1F"/>
                </a:solidFill>
                <a:latin typeface="Segoe UI"/>
                <a:ea typeface="游ゴシック Medium"/>
                <a:cs typeface="游ゴシック Medium"/>
              </a:rPr>
              <a:t>内容を確認する</a:t>
            </a:r>
          </a:p>
          <a:p>
            <a:pPr algn="ctr">
              <a:lnSpc>
                <a:spcPct val="105000"/>
              </a:lnSpc>
              <a:spcAft>
                <a:spcPts val="0"/>
              </a:spcAft>
            </a:pPr>
            <a:r>
              <a:rPr sz="700" b="0">
                <a:solidFill>
                  <a:srgbClr val="5A5A5A"/>
                </a:solidFill>
                <a:latin typeface="Segoe UI"/>
                <a:ea typeface="游ゴシック Medium"/>
                <a:cs typeface="游ゴシック Medium"/>
              </a:rPr>
              <a:t>根拠を見て</a:t>
            </a:r>
            <a:br/>
            <a:r>
              <a:rPr sz="700" b="0">
                <a:solidFill>
                  <a:srgbClr val="5A5A5A"/>
                </a:solidFill>
                <a:latin typeface="Segoe UI"/>
                <a:ea typeface="游ゴシック Medium"/>
                <a:cs typeface="游ゴシック Medium"/>
              </a:rPr>
              <a:t>妥当性を判断する</a:t>
            </a:r>
          </a:p>
        </p:txBody>
      </p:sp>
      <p:sp>
        <p:nvSpPr>
          <p:cNvPr id="16" name="Rounded Rectangle 15"/>
          <p:cNvSpPr/>
          <p:nvPr/>
        </p:nvSpPr>
        <p:spPr>
          <a:xfrm>
            <a:off x="9252676" y="479694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補正する／</a:t>
            </a:r>
            <a:br/>
            <a:r>
              <a:rPr sz="900" b="1">
                <a:solidFill>
                  <a:srgbClr val="1F1F1F"/>
                </a:solidFill>
                <a:latin typeface="Segoe UI"/>
                <a:ea typeface="游ゴシック Medium"/>
                <a:cs typeface="游ゴシック Medium"/>
              </a:rPr>
              <a:t>語彙を足す</a:t>
            </a:r>
          </a:p>
          <a:p>
            <a:pPr algn="ctr">
              <a:lnSpc>
                <a:spcPct val="105000"/>
              </a:lnSpc>
              <a:spcAft>
                <a:spcPts val="0"/>
              </a:spcAft>
            </a:pPr>
            <a:r>
              <a:rPr sz="700" b="0">
                <a:solidFill>
                  <a:srgbClr val="5A5A5A"/>
                </a:solidFill>
                <a:latin typeface="Segoe UI"/>
                <a:ea typeface="游ゴシック Medium"/>
                <a:cs typeface="游ゴシック Medium"/>
              </a:rPr>
              <a:t>補正は読み取り</a:t>
            </a:r>
            <a:br/>
            <a:r>
              <a:rPr sz="700" b="0">
                <a:solidFill>
                  <a:srgbClr val="5A5A5A"/>
                </a:solidFill>
                <a:latin typeface="Segoe UI"/>
                <a:ea typeface="游ゴシック Medium"/>
                <a:cs typeface="游ゴシック Medium"/>
              </a:rPr>
              <a:t>直しても残る</a:t>
            </a:r>
          </a:p>
        </p:txBody>
      </p:sp>
      <p:sp>
        <p:nvSpPr>
          <p:cNvPr id="17" name="Rounded Rectangle 16"/>
          <p:cNvSpPr/>
          <p:nvPr/>
        </p:nvSpPr>
        <p:spPr>
          <a:xfrm>
            <a:off x="10530550" y="1779422"/>
            <a:ext cx="1124529"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タグで絞り込み</a:t>
            </a:r>
            <a:br/>
            <a:r>
              <a:rPr sz="900" b="1">
                <a:solidFill>
                  <a:srgbClr val="1F1F1F"/>
                </a:solidFill>
                <a:latin typeface="Segoe UI"/>
                <a:ea typeface="游ゴシック Medium"/>
                <a:cs typeface="游ゴシック Medium"/>
              </a:rPr>
              <a:t>図面を探す</a:t>
            </a:r>
          </a:p>
          <a:p>
            <a:pPr algn="ctr">
              <a:lnSpc>
                <a:spcPct val="105000"/>
              </a:lnSpc>
              <a:spcAft>
                <a:spcPts val="0"/>
              </a:spcAft>
            </a:pPr>
            <a:r>
              <a:rPr sz="700" b="0">
                <a:solidFill>
                  <a:srgbClr val="5A5A5A"/>
                </a:solidFill>
                <a:latin typeface="Segoe UI"/>
                <a:ea typeface="游ゴシック Medium"/>
                <a:cs typeface="游ゴシック Medium"/>
              </a:rPr>
              <a:t>客先・装置・材質</a:t>
            </a:r>
            <a:br/>
            <a:r>
              <a:rPr sz="700" b="0">
                <a:solidFill>
                  <a:srgbClr val="5A5A5A"/>
                </a:solidFill>
                <a:latin typeface="Segoe UI"/>
                <a:ea typeface="游ゴシック Medium"/>
                <a:cs typeface="游ゴシック Medium"/>
              </a:rPr>
              <a:t>などで絞る</a:t>
            </a:r>
          </a:p>
        </p:txBody>
      </p:sp>
      <p:cxnSp>
        <p:nvCxnSpPr>
          <p:cNvPr id="18" name="Connector 17"/>
          <p:cNvCxnSpPr/>
          <p:nvPr/>
        </p:nvCxnSpPr>
        <p:spPr>
          <a:xfrm>
            <a:off x="2709961" y="217170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87835" y="2171700"/>
            <a:ext cx="7667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64508"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64508" y="3680460"/>
            <a:ext cx="76672"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65709" y="368046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543583" y="368046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21457" y="3680460"/>
            <a:ext cx="76672"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98129"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98129" y="5189220"/>
            <a:ext cx="7667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099331" y="518922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77205" y="5189220"/>
            <a:ext cx="7667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453878"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53878" y="2171700"/>
            <a:ext cx="76672"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辞書へ語彙を足した後に読み取り直すと、登録済みの図面にも反映されます。確認と補正は、最初のうちだけでも行うと、どの項目が取りにくいかの傾向がつかめます。</a:t>
            </a:r>
          </a:p>
        </p:txBody>
      </p:sp>
      <p:sp>
        <p:nvSpPr>
          <p:cNvPr id="32" name="TextBox 31"/>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読み取る場所と項目</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機能の構成と、3つの処理がそれぞれ何をするか</a:t>
            </a:r>
          </a:p>
          <a:p>
            <a:pPr>
              <a:lnSpc>
                <a:spcPct val="125000"/>
              </a:lnSpc>
              <a:spcAft>
                <a:spcPts val="800"/>
              </a:spcAft>
            </a:pPr>
            <a:r>
              <a:rPr sz="1200" b="0">
                <a:solidFill>
                  <a:srgbClr val="1F1F1F"/>
                </a:solidFill>
                <a:latin typeface="Segoe UI"/>
                <a:ea typeface="游ゴシック Medium"/>
                <a:cs typeface="游ゴシック Medium"/>
              </a:rPr>
              <a:t>1図面が属性とタグになるまでの流れ</a:t>
            </a:r>
          </a:p>
          <a:p>
            <a:pPr>
              <a:lnSpc>
                <a:spcPct val="125000"/>
              </a:lnSpc>
              <a:spcAft>
                <a:spcPts val="800"/>
              </a:spcAft>
            </a:pPr>
            <a:r>
              <a:rPr sz="1200" b="0">
                <a:solidFill>
                  <a:srgbClr val="1F1F1F"/>
                </a:solidFill>
                <a:latin typeface="Segoe UI"/>
                <a:ea typeface="游ゴシック Medium"/>
                <a:cs typeface="游ゴシック Medium"/>
              </a:rPr>
              <a:t>何を、どこから読み取っているか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読み取った内容を整理して属性にし、その中からタグを作ります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項目へ整理</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どれがどの項目かを判断し、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保存・検索・画面表示・文書検索AIへの連携は、ナレッジシステム本体の機能</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連携先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br/>
                      <a:r>
                        <a:rPr sz="1050" b="0">
                          <a:solidFill>
                            <a:srgbClr val="1F1F1F"/>
                          </a:solidFill>
                          <a:latin typeface="Segoe UI"/>
                          <a:ea typeface="游ゴシック Medium"/>
                          <a:cs typeface="游ゴシック Medium"/>
                        </a:rPr>
                        <a:t>（STEP・DXFは一般PC）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項目へ整理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形式ごとの違いを吸収し、どれがどの項目かを判断して確定する。決められない項目は空欄で残す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4215383"/>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49808" y="4818888"/>
            <a:ext cx="3054096" cy="777239"/>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4215383"/>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辞書を分けて持つ理由</a:t>
            </a:r>
          </a:p>
        </p:txBody>
      </p:sp>
      <p:sp>
        <p:nvSpPr>
          <p:cNvPr id="10" name="TextBox 9"/>
          <p:cNvSpPr txBox="1"/>
          <p:nvPr/>
        </p:nvSpPr>
        <p:spPr>
          <a:xfrm>
            <a:off x="4562856" y="4818888"/>
            <a:ext cx="3054096" cy="777239"/>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75904" y="4215383"/>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75904" y="4818888"/>
            <a:ext cx="3054096" cy="777239"/>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処理フロー　1図面が、属性とタグになるまで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形式による分かれ方と、2D図面・3Dモデルの照合まで。ICADが要るのは読み取りの部分だけです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ナレッジ</a:t>
            </a:r>
            <a:br/>
            <a:r>
              <a:rPr sz="900" b="1">
                <a:solidFill>
                  <a:srgbClr val="FFFFFF"/>
                </a:solidFill>
                <a:latin typeface="Segoe UI"/>
                <a:ea typeface="游ゴシック Medium"/>
                <a:cs typeface="游ゴシック Medium"/>
              </a:rPr>
              <a:t>システム本体</a:t>
            </a:r>
          </a:p>
        </p:txBody>
      </p:sp>
      <p:sp>
        <p:nvSpPr>
          <p:cNvPr id="6" name="Rectangle 5"/>
          <p:cNvSpPr/>
          <p:nvPr/>
        </p:nvSpPr>
        <p:spPr>
          <a:xfrm>
            <a:off x="457200" y="292608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ICADが動くPC</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一般PC</a:t>
            </a:r>
            <a:br/>
            <a:r>
              <a:rPr sz="900" b="1">
                <a:solidFill>
                  <a:srgbClr val="FFFFFF"/>
                </a:solidFill>
                <a:latin typeface="Segoe UI"/>
                <a:ea typeface="游ゴシック Medium"/>
                <a:cs typeface="游ゴシック Medium"/>
              </a:rPr>
              <a:t>（サーバー）</a:t>
            </a:r>
          </a:p>
        </p:txBody>
      </p:sp>
      <p:sp>
        <p:nvSpPr>
          <p:cNvPr id="10" name="Rounded Rectangle 9"/>
          <p:cNvSpPr/>
          <p:nvPr/>
        </p:nvSpPr>
        <p:spPr>
          <a:xfrm>
            <a:off x="1576913"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a:t>
            </a:r>
            <a:br/>
            <a:r>
              <a:rPr sz="900" b="1">
                <a:solidFill>
                  <a:srgbClr val="1F1F1F"/>
                </a:solidFill>
                <a:latin typeface="Segoe UI"/>
                <a:ea typeface="游ゴシック Medium"/>
                <a:cs typeface="游ゴシック Medium"/>
              </a:rPr>
              <a:t>登録する</a:t>
            </a:r>
          </a:p>
          <a:p>
            <a:pPr algn="ctr">
              <a:lnSpc>
                <a:spcPct val="105000"/>
              </a:lnSpc>
              <a:spcAft>
                <a:spcPts val="0"/>
              </a:spcAft>
            </a:pPr>
            <a:r>
              <a:rPr sz="700" b="0">
                <a:solidFill>
                  <a:srgbClr val="5A5A5A"/>
                </a:solidFill>
                <a:latin typeface="Segoe UI"/>
                <a:ea typeface="游ゴシック Medium"/>
                <a:cs typeface="游ゴシック Medium"/>
              </a:rPr>
              <a:t>ICAD／STEP</a:t>
            </a:r>
            <a:br/>
            <a:r>
              <a:rPr sz="700" b="0">
                <a:solidFill>
                  <a:srgbClr val="5A5A5A"/>
                </a:solidFill>
                <a:latin typeface="Segoe UI"/>
                <a:ea typeface="游ゴシック Medium"/>
                <a:cs typeface="游ゴシック Medium"/>
              </a:rPr>
              <a:t>DXF</a:t>
            </a:r>
          </a:p>
        </p:txBody>
      </p:sp>
      <p:sp>
        <p:nvSpPr>
          <p:cNvPr id="11" name="Hexagon 10"/>
          <p:cNvSpPr/>
          <p:nvPr/>
        </p:nvSpPr>
        <p:spPr>
          <a:xfrm>
            <a:off x="2712801" y="3288182"/>
            <a:ext cx="999581" cy="784555"/>
          </a:xfrm>
          <a:prstGeom prst="hexagon">
            <a:avLst/>
          </a:prstGeom>
          <a:solidFill>
            <a:srgbClr val="F5F7FA"/>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0"/>
              </a:spcAft>
            </a:pPr>
            <a:r>
              <a:rPr sz="900" b="1">
                <a:solidFill>
                  <a:srgbClr val="1F1F1F"/>
                </a:solidFill>
                <a:latin typeface="Segoe UI"/>
                <a:ea typeface="游ゴシック Medium"/>
                <a:cs typeface="游ゴシック Medium"/>
              </a:rPr>
              <a:t>形式で</a:t>
            </a:r>
            <a:br/>
            <a:r>
              <a:rPr sz="900" b="1">
                <a:solidFill>
                  <a:srgbClr val="1F1F1F"/>
                </a:solidFill>
                <a:latin typeface="Segoe UI"/>
                <a:ea typeface="游ゴシック Medium"/>
                <a:cs typeface="游ゴシック Medium"/>
              </a:rPr>
              <a:t>分かれる</a:t>
            </a:r>
          </a:p>
        </p:txBody>
      </p:sp>
      <p:sp>
        <p:nvSpPr>
          <p:cNvPr id="12" name="Rounded Rectangle 11"/>
          <p:cNvSpPr/>
          <p:nvPr/>
        </p:nvSpPr>
        <p:spPr>
          <a:xfrm>
            <a:off x="3848689"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2D図面を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ICADのとき</a:t>
            </a:r>
            <a:br/>
            <a:r>
              <a:rPr sz="700" b="0">
                <a:solidFill>
                  <a:srgbClr val="5A5A5A"/>
                </a:solidFill>
                <a:latin typeface="Segoe UI"/>
                <a:ea typeface="游ゴシック Medium"/>
                <a:cs typeface="游ゴシック Medium"/>
              </a:rPr>
              <a:t>図枠・注記・寸法</a:t>
            </a:r>
          </a:p>
        </p:txBody>
      </p:sp>
      <p:sp>
        <p:nvSpPr>
          <p:cNvPr id="13" name="Rounded Rectangle 12"/>
          <p:cNvSpPr/>
          <p:nvPr/>
        </p:nvSpPr>
        <p:spPr>
          <a:xfrm>
            <a:off x="4984577"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3Dモデルを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部品構成・材質</a:t>
            </a:r>
            <a:br/>
            <a:r>
              <a:rPr sz="700" b="0">
                <a:solidFill>
                  <a:srgbClr val="5A5A5A"/>
                </a:solidFill>
                <a:latin typeface="Segoe UI"/>
                <a:ea typeface="游ゴシック Medium"/>
                <a:cs typeface="游ゴシック Medium"/>
              </a:rPr>
              <a:t>質量</a:t>
            </a:r>
          </a:p>
        </p:txBody>
      </p:sp>
      <p:sp>
        <p:nvSpPr>
          <p:cNvPr id="14" name="Rounded Rectangle 13"/>
          <p:cNvSpPr/>
          <p:nvPr/>
        </p:nvSpPr>
        <p:spPr>
          <a:xfrm>
            <a:off x="3848689"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STEP／DXF</a:t>
            </a:r>
            <a:br/>
            <a:r>
              <a:rPr sz="900" b="1">
                <a:solidFill>
                  <a:srgbClr val="1F1F1F"/>
                </a:solidFill>
                <a:latin typeface="Segoe UI"/>
                <a:ea typeface="游ゴシック Medium"/>
                <a:cs typeface="游ゴシック Medium"/>
              </a:rPr>
              <a:t>を読み取る</a:t>
            </a:r>
          </a:p>
          <a:p>
            <a:pPr algn="ctr">
              <a:lnSpc>
                <a:spcPct val="105000"/>
              </a:lnSpc>
              <a:spcAft>
                <a:spcPts val="0"/>
              </a:spcAft>
            </a:pPr>
            <a:r>
              <a:rPr sz="700" b="0">
                <a:solidFill>
                  <a:srgbClr val="5A5A5A"/>
                </a:solidFill>
                <a:latin typeface="Segoe UI"/>
                <a:ea typeface="游ゴシック Medium"/>
                <a:cs typeface="游ゴシック Medium"/>
              </a:rPr>
              <a:t>文字・階層</a:t>
            </a:r>
            <a:br/>
            <a:r>
              <a:rPr sz="700" b="0">
                <a:solidFill>
                  <a:srgbClr val="5A5A5A"/>
                </a:solidFill>
                <a:latin typeface="Segoe UI"/>
                <a:ea typeface="游ゴシック Medium"/>
                <a:cs typeface="游ゴシック Medium"/>
              </a:rPr>
              <a:t>レイヤー</a:t>
            </a:r>
          </a:p>
        </p:txBody>
      </p:sp>
      <p:sp>
        <p:nvSpPr>
          <p:cNvPr id="15" name="Rounded Rectangle 14"/>
          <p:cNvSpPr/>
          <p:nvPr/>
        </p:nvSpPr>
        <p:spPr>
          <a:xfrm>
            <a:off x="6120465"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項目へ整理して</a:t>
            </a:r>
            <a:br/>
            <a:r>
              <a:rPr sz="900" b="1">
                <a:solidFill>
                  <a:srgbClr val="1F1F1F"/>
                </a:solidFill>
                <a:latin typeface="Segoe UI"/>
                <a:ea typeface="游ゴシック Medium"/>
                <a:cs typeface="游ゴシック Medium"/>
              </a:rPr>
              <a:t>属性にする</a:t>
            </a:r>
          </a:p>
          <a:p>
            <a:pPr algn="ctr">
              <a:lnSpc>
                <a:spcPct val="105000"/>
              </a:lnSpc>
              <a:spcAft>
                <a:spcPts val="0"/>
              </a:spcAft>
            </a:pPr>
            <a:r>
              <a:rPr sz="700" b="0">
                <a:solidFill>
                  <a:srgbClr val="5A5A5A"/>
                </a:solidFill>
                <a:latin typeface="Segoe UI"/>
                <a:ea typeface="游ゴシック Medium"/>
                <a:cs typeface="游ゴシック Medium"/>
              </a:rPr>
              <a:t>どれがどの項目か</a:t>
            </a:r>
            <a:br/>
            <a:r>
              <a:rPr sz="700" b="0">
                <a:solidFill>
                  <a:srgbClr val="5A5A5A"/>
                </a:solidFill>
                <a:latin typeface="Segoe UI"/>
                <a:ea typeface="游ゴシック Medium"/>
                <a:cs typeface="游ゴシック Medium"/>
              </a:rPr>
              <a:t>判断する</a:t>
            </a:r>
          </a:p>
        </p:txBody>
      </p:sp>
      <p:sp>
        <p:nvSpPr>
          <p:cNvPr id="16" name="Rounded Rectangle 15"/>
          <p:cNvSpPr/>
          <p:nvPr/>
        </p:nvSpPr>
        <p:spPr>
          <a:xfrm>
            <a:off x="7256353"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辞書と照合して</a:t>
            </a:r>
            <a:br/>
            <a:r>
              <a:rPr sz="900" b="1">
                <a:solidFill>
                  <a:srgbClr val="1F1F1F"/>
                </a:solidFill>
                <a:latin typeface="Segoe UI"/>
                <a:ea typeface="游ゴシック Medium"/>
                <a:cs typeface="游ゴシック Medium"/>
              </a:rPr>
              <a:t>タグを付ける</a:t>
            </a:r>
          </a:p>
          <a:p>
            <a:pPr algn="ctr">
              <a:lnSpc>
                <a:spcPct val="105000"/>
              </a:lnSpc>
              <a:spcAft>
                <a:spcPts val="0"/>
              </a:spcAft>
            </a:pPr>
            <a:r>
              <a:rPr sz="700" b="0">
                <a:solidFill>
                  <a:srgbClr val="5A5A5A"/>
                </a:solidFill>
                <a:latin typeface="Segoe UI"/>
                <a:ea typeface="游ゴシック Medium"/>
                <a:cs typeface="游ゴシック Medium"/>
              </a:rPr>
              <a:t>根拠・確からしさ</a:t>
            </a:r>
            <a:br/>
            <a:r>
              <a:rPr sz="700" b="0">
                <a:solidFill>
                  <a:srgbClr val="5A5A5A"/>
                </a:solidFill>
                <a:latin typeface="Segoe UI"/>
                <a:ea typeface="游ゴシック Medium"/>
                <a:cs typeface="游ゴシック Medium"/>
              </a:rPr>
              <a:t>理由を添える</a:t>
            </a:r>
          </a:p>
        </p:txBody>
      </p:sp>
      <p:sp>
        <p:nvSpPr>
          <p:cNvPr id="17" name="Rounded Rectangle 16"/>
          <p:cNvSpPr/>
          <p:nvPr/>
        </p:nvSpPr>
        <p:spPr>
          <a:xfrm>
            <a:off x="8392241"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2Dと3Dを</a:t>
            </a:r>
            <a:br/>
            <a:r>
              <a:rPr sz="900" b="1">
                <a:solidFill>
                  <a:srgbClr val="1F1F1F"/>
                </a:solidFill>
                <a:latin typeface="Segoe UI"/>
                <a:ea typeface="游ゴシック Medium"/>
                <a:cs typeface="游ゴシック Medium"/>
              </a:rPr>
              <a:t>照合する</a:t>
            </a:r>
          </a:p>
          <a:p>
            <a:pPr algn="ctr">
              <a:lnSpc>
                <a:spcPct val="105000"/>
              </a:lnSpc>
              <a:spcAft>
                <a:spcPts val="0"/>
              </a:spcAft>
            </a:pPr>
            <a:r>
              <a:rPr sz="700" b="0">
                <a:solidFill>
                  <a:srgbClr val="5A5A5A"/>
                </a:solidFill>
                <a:latin typeface="Segoe UI"/>
                <a:ea typeface="游ゴシック Medium"/>
                <a:cs typeface="游ゴシック Medium"/>
              </a:rPr>
              <a:t>食い違いは競合</a:t>
            </a:r>
            <a:br/>
            <a:r>
              <a:rPr sz="700" b="0">
                <a:solidFill>
                  <a:srgbClr val="5A5A5A"/>
                </a:solidFill>
                <a:latin typeface="Segoe UI"/>
                <a:ea typeface="游ゴシック Medium"/>
                <a:cs typeface="游ゴシック Medium"/>
              </a:rPr>
              <a:t>として記録</a:t>
            </a:r>
          </a:p>
        </p:txBody>
      </p:sp>
      <p:sp>
        <p:nvSpPr>
          <p:cNvPr id="18" name="Rounded Rectangle 17"/>
          <p:cNvSpPr/>
          <p:nvPr/>
        </p:nvSpPr>
        <p:spPr>
          <a:xfrm>
            <a:off x="9528129"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属性・タグ・</a:t>
            </a:r>
            <a:br/>
            <a:r>
              <a:rPr sz="900" b="1">
                <a:solidFill>
                  <a:srgbClr val="1F1F1F"/>
                </a:solidFill>
                <a:latin typeface="Segoe UI"/>
                <a:ea typeface="游ゴシック Medium"/>
                <a:cs typeface="游ゴシック Medium"/>
              </a:rPr>
              <a:t>根拠を保存</a:t>
            </a:r>
          </a:p>
          <a:p>
            <a:pPr algn="ctr">
              <a:lnSpc>
                <a:spcPct val="105000"/>
              </a:lnSpc>
              <a:spcAft>
                <a:spcPts val="0"/>
              </a:spcAft>
            </a:pPr>
            <a:r>
              <a:rPr sz="700" b="0">
                <a:solidFill>
                  <a:srgbClr val="5A5A5A"/>
                </a:solidFill>
                <a:latin typeface="Segoe UI"/>
                <a:ea typeface="游ゴシック Medium"/>
                <a:cs typeface="游ゴシック Medium"/>
              </a:rPr>
              <a:t>読み取った内容も</a:t>
            </a:r>
            <a:br/>
            <a:r>
              <a:rPr sz="700" b="0">
                <a:solidFill>
                  <a:srgbClr val="5A5A5A"/>
                </a:solidFill>
                <a:latin typeface="Segoe UI"/>
                <a:ea typeface="游ゴシック Medium"/>
                <a:cs typeface="游ゴシック Medium"/>
              </a:rPr>
              <a:t>残す</a:t>
            </a:r>
          </a:p>
        </p:txBody>
      </p:sp>
      <p:sp>
        <p:nvSpPr>
          <p:cNvPr id="19" name="Rounded Rectangle 18"/>
          <p:cNvSpPr/>
          <p:nvPr/>
        </p:nvSpPr>
        <p:spPr>
          <a:xfrm>
            <a:off x="10664017"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タグで検索</a:t>
            </a:r>
            <a:br/>
            <a:r>
              <a:rPr sz="900" b="1">
                <a:solidFill>
                  <a:srgbClr val="1F1F1F"/>
                </a:solidFill>
                <a:latin typeface="Segoe UI"/>
                <a:ea typeface="游ゴシック Medium"/>
                <a:cs typeface="游ゴシック Medium"/>
              </a:rPr>
              <a:t>できる状態に</a:t>
            </a:r>
          </a:p>
          <a:p>
            <a:pPr algn="ctr">
              <a:lnSpc>
                <a:spcPct val="105000"/>
              </a:lnSpc>
              <a:spcAft>
                <a:spcPts val="0"/>
              </a:spcAft>
            </a:pPr>
            <a:r>
              <a:rPr sz="700" b="0">
                <a:solidFill>
                  <a:srgbClr val="5A5A5A"/>
                </a:solidFill>
                <a:latin typeface="Segoe UI"/>
                <a:ea typeface="游ゴシック Medium"/>
                <a:cs typeface="游ゴシック Medium"/>
              </a:rPr>
              <a:t>以降の検索に</a:t>
            </a:r>
            <a:br/>
            <a:r>
              <a:rPr sz="700" b="0">
                <a:solidFill>
                  <a:srgbClr val="5A5A5A"/>
                </a:solidFill>
                <a:latin typeface="Segoe UI"/>
                <a:ea typeface="游ゴシック Medium"/>
                <a:cs typeface="游ゴシック Medium"/>
              </a:rPr>
              <a:t>ICADは不要</a:t>
            </a:r>
          </a:p>
        </p:txBody>
      </p:sp>
      <p:cxnSp>
        <p:nvCxnSpPr>
          <p:cNvPr id="20" name="Connector 19"/>
          <p:cNvCxnSpPr/>
          <p:nvPr/>
        </p:nvCxnSpPr>
        <p:spPr>
          <a:xfrm>
            <a:off x="2576494" y="217170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44648"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644648" y="368046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12382" y="368046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12382"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80535"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80535"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8270" y="368046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984158"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52311"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52311"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48270" y="5189220"/>
            <a:ext cx="127219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20046" y="518922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55934" y="518922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91822" y="518922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459975"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459975" y="217170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27710"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読み取りは1図面につき1回動かします。図面ごとに独立しているため、失敗した図面だけをやり直せます。図面を訂正して登録し直すと、その図面だけを読み取り直し、人が手で直した内容は保持されます。</a:t>
            </a:r>
          </a:p>
        </p:txBody>
      </p:sp>
      <p:sp>
        <p:nvSpPr>
          <p:cNvPr id="39" name="TextBox 38"/>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4352544"/>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49808" y="4956048"/>
            <a:ext cx="3054096" cy="6858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4352544"/>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62856" y="4956048"/>
            <a:ext cx="3054096" cy="6858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75904" y="4352544"/>
            <a:ext cx="3054096" cy="5029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75904" y="4956048"/>
            <a:ext cx="3054096" cy="68580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本体の材質と、外部参照部品の材質を分けて保持します。材質と断定できない値は、正式な材質としては扱いません。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自動で付いた情報を、どう確かめるか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 → 属性 → タグ の順に作られます。どれも記録され、違いは使い道です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・読み取った内容から、どれがどの項目かを判断して選んだ値</a:t>
            </a:r>
          </a:p>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22 / 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23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・標準の辞書を用意していますが、実運用の語彙は登録が必要です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24 / 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自動で付いた情報を、どう確かめるか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タグには、次の3つが必ず付きます。元の図面を開かずに妥当性を判断できます</a:t>
            </a:r>
          </a:p>
        </p:txBody>
      </p:sp>
      <p:sp>
        <p:nvSpPr>
          <p:cNvPr id="4" name="Rectangle 3"/>
          <p:cNvSpPr/>
          <p:nvPr/>
        </p:nvSpPr>
        <p:spPr>
          <a:xfrm>
            <a:off x="457200" y="1645920"/>
            <a:ext cx="3602736" cy="20116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どの値をもとに判断したか</a:t>
            </a:r>
          </a:p>
        </p:txBody>
      </p:sp>
      <p:sp>
        <p:nvSpPr>
          <p:cNvPr id="6" name="TextBox 5"/>
          <p:cNvSpPr txBox="1"/>
          <p:nvPr/>
        </p:nvSpPr>
        <p:spPr>
          <a:xfrm>
            <a:off x="749808" y="2487168"/>
            <a:ext cx="3054096" cy="10058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図枠のどの文字か、3Dのどの設定か、フォルダのどこか。判断のもとにした値がそのまま残ります。</a:t>
            </a:r>
          </a:p>
        </p:txBody>
      </p:sp>
      <p:sp>
        <p:nvSpPr>
          <p:cNvPr id="7" name="Rectangle 6"/>
          <p:cNvSpPr/>
          <p:nvPr/>
        </p:nvSpPr>
        <p:spPr>
          <a:xfrm>
            <a:off x="4270248" y="1645920"/>
            <a:ext cx="3602736" cy="20116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62856" y="1883664"/>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どれくらい確からしいか</a:t>
            </a:r>
          </a:p>
        </p:txBody>
      </p:sp>
      <p:sp>
        <p:nvSpPr>
          <p:cNvPr id="9" name="TextBox 8"/>
          <p:cNvSpPr txBox="1"/>
          <p:nvPr/>
        </p:nvSpPr>
        <p:spPr>
          <a:xfrm>
            <a:off x="4562856" y="2487168"/>
            <a:ext cx="3054096" cy="10058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正式名と一致したのか、別名や部分一致で当たったのか。確からしさの度合いが分かります。</a:t>
            </a:r>
          </a:p>
        </p:txBody>
      </p:sp>
      <p:sp>
        <p:nvSpPr>
          <p:cNvPr id="10" name="Rectangle 9"/>
          <p:cNvSpPr/>
          <p:nvPr/>
        </p:nvSpPr>
        <p:spPr>
          <a:xfrm>
            <a:off x="8083296" y="1645920"/>
            <a:ext cx="3602736" cy="20116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75904" y="1883664"/>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なぜその見出しを付けたか</a:t>
            </a:r>
          </a:p>
        </p:txBody>
      </p:sp>
      <p:sp>
        <p:nvSpPr>
          <p:cNvPr id="12" name="TextBox 11"/>
          <p:cNvSpPr txBox="1"/>
          <p:nvPr/>
        </p:nvSpPr>
        <p:spPr>
          <a:xfrm>
            <a:off x="8375904" y="2487168"/>
            <a:ext cx="3054096" cy="10058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辞書のどの語に当たったか、どの規則で決まったか。理由が文章として残ります。</a:t>
            </a:r>
          </a:p>
        </p:txBody>
      </p:sp>
      <p:sp>
        <p:nvSpPr>
          <p:cNvPr id="13" name="TextBox 12"/>
          <p:cNvSpPr txBox="1"/>
          <p:nvPr/>
        </p:nvSpPr>
        <p:spPr>
          <a:xfrm>
            <a:off x="457200" y="406908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誤りが見つかったときは、その場で直せます</a:t>
            </a:r>
          </a:p>
          <a:p>
            <a:pPr>
              <a:lnSpc>
                <a:spcPct val="125000"/>
              </a:lnSpc>
              <a:spcAft>
                <a:spcPts val="800"/>
              </a:spcAft>
            </a:pPr>
            <a:r>
              <a:rPr sz="1200" b="0">
                <a:solidFill>
                  <a:srgbClr val="1F1F1F"/>
                </a:solidFill>
                <a:latin typeface="Segoe UI"/>
                <a:ea typeface="游ゴシック Medium"/>
                <a:cs typeface="游ゴシック Medium"/>
              </a:rPr>
              <a:t>確認する人は、根拠を見て「この判断は妥当か」を判断します。違っていれば画面から直せます。直した内容は、その図面を読み取り直しても消えません。</a:t>
            </a:r>
          </a:p>
          <a:p>
            <a:pPr>
              <a:lnSpc>
                <a:spcPct val="125000"/>
              </a:lnSpc>
              <a:spcAft>
                <a:spcPts val="0"/>
              </a:spcAft>
            </a:pPr>
            <a:r>
              <a:rPr sz="1200" b="0">
                <a:solidFill>
                  <a:srgbClr val="1F1F1F"/>
                </a:solidFill>
                <a:latin typeface="Segoe UI"/>
                <a:ea typeface="游ゴシック Medium"/>
                <a:cs typeface="游ゴシック Medium"/>
              </a:rPr>
              <a:t>確認は、最初のうちだけでも行うと、どの項目が取りにくいか、どの語彙が足りないかの傾向がつかめます。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25 /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95728"/>
            <a:ext cx="4983480" cy="68580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95728"/>
            <a:ext cx="4983480" cy="68580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224528"/>
            <a:ext cx="4983480" cy="68580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224528"/>
            <a:ext cx="4983480" cy="685800"/>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26 /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動作確認の結果</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架空の図面を40件用意し、登録から表示まで通して確認しました</a:t>
            </a:r>
          </a:p>
        </p:txBody>
      </p:sp>
      <p:graphicFrame>
        <p:nvGraphicFramePr>
          <p:cNvPr id="4" name="Table 3"/>
          <p:cNvGraphicFramePr>
            <a:graphicFrameLocks noGrp="1"/>
          </p:cNvGraphicFramePr>
          <p:nvPr/>
        </p:nvGraphicFramePr>
        <p:xfrm>
          <a:off x="457200" y="1645920"/>
          <a:ext cx="11274552" cy="2084832"/>
        </p:xfrm>
        <a:graphic>
          <a:graphicData uri="http://schemas.openxmlformats.org/drawingml/2006/table">
            <a:tbl>
              <a:tblPr firstRow="1" bandRow="1">
                <a:tableStyleId>{5C22544A-7EE6-4342-B048-85BDC9FD1C3A}</a:tableStyleId>
              </a:tblPr>
              <a:tblGrid>
                <a:gridCol w="3291840"/>
                <a:gridCol w="4754880"/>
                <a:gridCol w="3227832"/>
              </a:tblGrid>
              <a:tr h="347472">
                <a:tc>
                  <a:txBody>
                    <a:bodyPr wrap="square"/>
                    <a:lstStyle/>
                    <a:p>
                      <a:pPr>
                        <a:lnSpc>
                          <a:spcPct val="125000"/>
                        </a:lnSpc>
                        <a:spcAft>
                          <a:spcPts val="0"/>
                        </a:spcAft>
                      </a:pPr>
                      <a:r>
                        <a:rPr sz="1050" b="1">
                          <a:solidFill>
                            <a:srgbClr val="FFFFFF"/>
                          </a:solidFill>
                          <a:latin typeface="Segoe UI"/>
                          <a:ea typeface="游ゴシック Medium"/>
                          <a:cs typeface="游ゴシック Medium"/>
                        </a:rPr>
                        <a:t>確認した観点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結果</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評価</a:t>
                      </a:r>
                    </a:p>
                  </a:txBody>
                  <a:tcPr anchor="ctr" marL="82296">
                    <a:solidFill>
                      <a:srgbClr val="005BAC"/>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最後まで処理できたか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40件すべて（処理できなかった図面なし）</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落ちずに通る</a:t>
                      </a:r>
                    </a:p>
                  </a:txBody>
                  <a:tcPr anchor="ctr" marL="82296">
                    <a:solidFill>
                      <a:srgbClr val="FFFFFF"/>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部品の構成を取り出せたか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40件すべて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全件で取得</a:t>
                      </a:r>
                    </a:p>
                  </a:txBody>
                  <a:tcPr anchor="ctr" marL="82296">
                    <a:solidFill>
                      <a:srgbClr val="F5F7FA"/>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質量・重量を取り出せたか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40件中39件</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ほぼ全件で取得</a:t>
                      </a:r>
                    </a:p>
                  </a:txBody>
                  <a:tcPr anchor="ctr" marL="82296">
                    <a:solidFill>
                      <a:srgbClr val="FFFFFF"/>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材質を取り出せたか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40件中34件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8割超で取得</a:t>
                      </a:r>
                    </a:p>
                  </a:txBody>
                  <a:tcPr anchor="ctr" marL="82296">
                    <a:solidFill>
                      <a:srgbClr val="F5F7FA"/>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客先・装置の見出しが付いたか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登録済みの言葉に一致した図面のみ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登録語彙の数で決まる</a:t>
                      </a:r>
                    </a:p>
                  </a:txBody>
                  <a:tcPr anchor="ctr" marL="82296">
                    <a:solidFill>
                      <a:srgbClr val="FFFFFF"/>
                    </a:solidFill>
                  </a:tcPr>
                </a:tc>
              </a:tr>
            </a:tbl>
          </a:graphicData>
        </a:graphic>
      </p:graphicFrame>
      <p:sp>
        <p:nvSpPr>
          <p:cNvPr id="5" name="TextBox 4"/>
          <p:cNvSpPr txBox="1"/>
          <p:nvPr/>
        </p:nvSpPr>
        <p:spPr>
          <a:xfrm>
            <a:off x="457200" y="4023360"/>
            <a:ext cx="11274552" cy="155448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読み取りの性能と、見出しの数は別の話です</a:t>
            </a:r>
          </a:p>
          <a:p>
            <a:pPr>
              <a:lnSpc>
                <a:spcPct val="125000"/>
              </a:lnSpc>
              <a:spcAft>
                <a:spcPts val="800"/>
              </a:spcAft>
            </a:pPr>
            <a:r>
              <a:rPr sz="1200" b="0">
                <a:solidFill>
                  <a:srgbClr val="1F1F1F"/>
                </a:solidFill>
                <a:latin typeface="Segoe UI"/>
                <a:ea typeface="游ゴシック Medium"/>
                <a:cs typeface="游ゴシック Medium"/>
              </a:rPr>
              <a:t>材質・質量・部品構成は図面そのものに書かれているため、ほぼ全件で取り出せます。一方、客先や装置の見出しは、あらかじめ登録した社名・装置名と一致したときに付きます。この確認では語彙を数件しか登録していないため、見出しの数は少なくなっています。</a:t>
            </a:r>
          </a:p>
          <a:p>
            <a:pPr>
              <a:lnSpc>
                <a:spcPct val="125000"/>
              </a:lnSpc>
              <a:spcAft>
                <a:spcPts val="0"/>
              </a:spcAft>
            </a:pPr>
            <a:r>
              <a:rPr sz="1200" b="0">
                <a:solidFill>
                  <a:srgbClr val="1F1F1F"/>
                </a:solidFill>
                <a:latin typeface="Segoe UI"/>
                <a:ea typeface="游ゴシック Medium"/>
                <a:cs typeface="游ゴシック Medium"/>
              </a:rPr>
              <a:t>つまり見出しの数は、読み取りの精度ではなく登録した語彙の量で決まります。運用で使う社名・装置名を登録すれば、その分だけ増えます。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27 / 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導入にあたって</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05</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 &amp; Rollout</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必要な環境と、どこで何が動くか</a:t>
            </a:r>
          </a:p>
          <a:p>
            <a:pPr>
              <a:lnSpc>
                <a:spcPct val="125000"/>
              </a:lnSpc>
              <a:spcAft>
                <a:spcPts val="800"/>
              </a:spcAft>
            </a:pPr>
            <a:r>
              <a:rPr sz="1200" b="0">
                <a:solidFill>
                  <a:srgbClr val="1F1F1F"/>
                </a:solidFill>
                <a:latin typeface="Segoe UI"/>
                <a:ea typeface="游ゴシック Medium"/>
                <a:cs typeface="游ゴシック Medium"/>
              </a:rPr>
              <a:t>効果を出すために、決めておくこと</a:t>
            </a:r>
          </a:p>
          <a:p>
            <a:pPr>
              <a:lnSpc>
                <a:spcPct val="125000"/>
              </a:lnSpc>
              <a:spcAft>
                <a:spcPts val="800"/>
              </a:spcAft>
            </a:pPr>
            <a:r>
              <a:rPr sz="1200" b="0">
                <a:solidFill>
                  <a:srgbClr val="1F1F1F"/>
                </a:solidFill>
                <a:latin typeface="Segoe UI"/>
                <a:ea typeface="游ゴシック Medium"/>
                <a:cs typeface="游ゴシック Medium"/>
              </a:rPr>
              <a:t>できること・できないこと、導入の進め方</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28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必要な環境と、どこで何が動くか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標準の構成</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設計者が使うPCと分けたい場合</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ICADを使わずに運用する場合</a:t>
                      </a:r>
                    </a:p>
                  </a:txBody>
                  <a:tcPr anchor="ctr" marL="82296">
                    <a:solidFill>
                      <a:srgbClr val="FFFFFF"/>
                    </a:solidFill>
                  </a:tcPr>
                </a:tc>
              </a:tr>
            </a:tbl>
          </a:graphicData>
        </a:graphic>
      </p:graphicFrame>
      <p:sp>
        <p:nvSpPr>
          <p:cNvPr id="5" name="Rectangle 4"/>
          <p:cNvSpPr/>
          <p:nvPr/>
        </p:nvSpPr>
        <p:spPr>
          <a:xfrm>
            <a:off x="457200" y="4206240"/>
            <a:ext cx="3602736" cy="16459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4443983"/>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ICADが要るのは登録の時だけ</a:t>
            </a:r>
          </a:p>
        </p:txBody>
      </p:sp>
      <p:sp>
        <p:nvSpPr>
          <p:cNvPr id="7" name="TextBox 6"/>
          <p:cNvSpPr txBox="1"/>
          <p:nvPr/>
        </p:nvSpPr>
        <p:spPr>
          <a:xfrm>
            <a:off x="749808" y="5047488"/>
            <a:ext cx="3054096"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検索・閲覧・タグの表示にICADは要りません。読み取った結果は保存され、以降はその保存内容を参照します。</a:t>
            </a:r>
          </a:p>
        </p:txBody>
      </p:sp>
      <p:sp>
        <p:nvSpPr>
          <p:cNvPr id="8" name="Rectangle 7"/>
          <p:cNvSpPr/>
          <p:nvPr/>
        </p:nvSpPr>
        <p:spPr>
          <a:xfrm>
            <a:off x="4270248" y="4206240"/>
            <a:ext cx="3602736" cy="16459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4443983"/>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既にお使いのICADを使えます</a:t>
            </a:r>
          </a:p>
        </p:txBody>
      </p:sp>
      <p:sp>
        <p:nvSpPr>
          <p:cNvPr id="10" name="TextBox 9"/>
          <p:cNvSpPr txBox="1"/>
          <p:nvPr/>
        </p:nvSpPr>
        <p:spPr>
          <a:xfrm>
            <a:off x="4562856" y="5047488"/>
            <a:ext cx="3054096"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設計者が使っていない時間帯に読み取りを動かす、といった運用ができます。</a:t>
            </a:r>
          </a:p>
        </p:txBody>
      </p:sp>
      <p:sp>
        <p:nvSpPr>
          <p:cNvPr id="11" name="Rectangle 10"/>
          <p:cNvSpPr/>
          <p:nvPr/>
        </p:nvSpPr>
        <p:spPr>
          <a:xfrm>
            <a:off x="8083296" y="4206240"/>
            <a:ext cx="3602736" cy="16459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75904" y="4443983"/>
            <a:ext cx="3054096" cy="5029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ICADなしでも始められます</a:t>
            </a:r>
          </a:p>
        </p:txBody>
      </p:sp>
      <p:sp>
        <p:nvSpPr>
          <p:cNvPr id="13" name="TextBox 12"/>
          <p:cNvSpPr txBox="1"/>
          <p:nvPr/>
        </p:nvSpPr>
        <p:spPr>
          <a:xfrm>
            <a:off x="8375904" y="5047488"/>
            <a:ext cx="3054096"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STEP／DXFに出力したデータを取り込む構成であれば、ICADなしで運用できます。取り出せる情報は少なくなります。</a:t>
            </a:r>
          </a:p>
        </p:txBody>
      </p:sp>
      <p:sp>
        <p:nvSpPr>
          <p:cNvPr id="14" name="TextBox 13"/>
          <p:cNvSpPr txBox="1"/>
          <p:nvPr/>
        </p:nvSpPr>
        <p:spPr>
          <a:xfrm>
            <a:off x="457200" y="59893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いずれの構成でも、読み取った内容を保存して検索できる状態にするサーバーが必要です。構成は併用できます。</a:t>
            </a:r>
          </a:p>
        </p:txBody>
      </p:sp>
      <p:sp>
        <p:nvSpPr>
          <p:cNvPr id="15" name="TextBox 14"/>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効果を出すために、決めておくこと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技術ではなく、データと運用の話です。ここが決まっているかで精度が大きく変わります</a:t>
            </a:r>
          </a:p>
        </p:txBody>
      </p:sp>
      <p:sp>
        <p:nvSpPr>
          <p:cNvPr id="4" name="Rectangle 3"/>
          <p:cNvSpPr/>
          <p:nvPr/>
        </p:nvSpPr>
        <p:spPr>
          <a:xfrm>
            <a:off x="457200" y="1645920"/>
            <a:ext cx="5559552" cy="190195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1.　自社でよく使う言葉を登録する</a:t>
            </a:r>
          </a:p>
        </p:txBody>
      </p:sp>
      <p:sp>
        <p:nvSpPr>
          <p:cNvPr id="6" name="TextBox 5"/>
          <p:cNvSpPr txBox="1"/>
          <p:nvPr/>
        </p:nvSpPr>
        <p:spPr>
          <a:xfrm>
            <a:off x="749808" y="2395728"/>
            <a:ext cx="4983480" cy="987552"/>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自社の客先名・装置名・案件名を登録します。ここに入っている言葉だけが見出しになります。運用しながら足していけます。</a:t>
            </a:r>
          </a:p>
        </p:txBody>
      </p:sp>
      <p:sp>
        <p:nvSpPr>
          <p:cNvPr id="7" name="Rectangle 6"/>
          <p:cNvSpPr/>
          <p:nvPr/>
        </p:nvSpPr>
        <p:spPr>
          <a:xfrm>
            <a:off x="6172200" y="1645920"/>
            <a:ext cx="5559552" cy="190195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2.　フォルダ階層と名称をそろえる</a:t>
            </a:r>
          </a:p>
        </p:txBody>
      </p:sp>
      <p:sp>
        <p:nvSpPr>
          <p:cNvPr id="9" name="TextBox 8"/>
          <p:cNvSpPr txBox="1"/>
          <p:nvPr/>
        </p:nvSpPr>
        <p:spPr>
          <a:xfrm>
            <a:off x="6464808" y="2395728"/>
            <a:ext cx="4983480" cy="987552"/>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客先名や案件名をフォルダから読み取れると、見出しの精度が上がります。今後の新規案件から規則をそろえるだけでも効果があります。</a:t>
            </a:r>
          </a:p>
        </p:txBody>
      </p:sp>
      <p:sp>
        <p:nvSpPr>
          <p:cNvPr id="10" name="Rectangle 9"/>
          <p:cNvSpPr/>
          <p:nvPr/>
        </p:nvSpPr>
        <p:spPr>
          <a:xfrm>
            <a:off x="457200" y="3776472"/>
            <a:ext cx="5559552" cy="190195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014215"/>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3.　登録するタイミングを決める</a:t>
            </a:r>
          </a:p>
        </p:txBody>
      </p:sp>
      <p:sp>
        <p:nvSpPr>
          <p:cNvPr id="12" name="TextBox 11"/>
          <p:cNvSpPr txBox="1"/>
          <p:nvPr/>
        </p:nvSpPr>
        <p:spPr>
          <a:xfrm>
            <a:off x="749808" y="4526280"/>
            <a:ext cx="4983480" cy="987552"/>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いつ、誰が、どの図面を登録するかを決めます。出図時に登録する運用にすると、抜けが起きにくくなります。</a:t>
            </a:r>
          </a:p>
        </p:txBody>
      </p:sp>
      <p:sp>
        <p:nvSpPr>
          <p:cNvPr id="13" name="Rectangle 12"/>
          <p:cNvSpPr/>
          <p:nvPr/>
        </p:nvSpPr>
        <p:spPr>
          <a:xfrm>
            <a:off x="6172200" y="3776472"/>
            <a:ext cx="5559552" cy="190195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4014215"/>
            <a:ext cx="4983480" cy="320040"/>
          </a:xfrm>
          <a:prstGeom prst="rect">
            <a:avLst/>
          </a:prstGeom>
          <a:noFill/>
        </p:spPr>
        <p:txBody>
          <a:bodyPr wrap="square" lIns="0" rIns="0" tIns="0" bIns="0" anchor="t">
            <a:spAutoFit/>
          </a:bodyPr>
          <a:lstStyle/>
          <a:p>
            <a:pPr>
              <a:lnSpc>
                <a:spcPct val="125000"/>
              </a:lnSpc>
              <a:spcAft>
                <a:spcPts val="200"/>
              </a:spcAft>
            </a:pPr>
            <a:r>
              <a:rPr sz="1500" b="1">
                <a:solidFill>
                  <a:srgbClr val="005BAC"/>
                </a:solidFill>
                <a:latin typeface="Segoe UI"/>
                <a:ea typeface="游ゴシック Medium"/>
                <a:cs typeface="游ゴシック Medium"/>
              </a:rPr>
              <a:t>4.　確認する場をつくる</a:t>
            </a:r>
          </a:p>
        </p:txBody>
      </p:sp>
      <p:sp>
        <p:nvSpPr>
          <p:cNvPr id="15" name="TextBox 14"/>
          <p:cNvSpPr txBox="1"/>
          <p:nvPr/>
        </p:nvSpPr>
        <p:spPr>
          <a:xfrm>
            <a:off x="6464808" y="4526280"/>
            <a:ext cx="4983480" cy="987552"/>
          </a:xfrm>
          <a:prstGeom prst="rect">
            <a:avLst/>
          </a:prstGeom>
          <a:noFill/>
        </p:spPr>
        <p:txBody>
          <a:bodyPr wrap="square" lIns="0" rIns="0" tIns="0" bIns="0" anchor="t">
            <a:spAutoFit/>
          </a:bodyPr>
          <a:lstStyle/>
          <a:p>
            <a:pPr>
              <a:lnSpc>
                <a:spcPct val="125000"/>
              </a:lnSpc>
              <a:spcAft>
                <a:spcPts val="200"/>
              </a:spcAft>
            </a:pPr>
            <a:r>
              <a:rPr sz="1200" b="0">
                <a:solidFill>
                  <a:srgbClr val="1F1F1F"/>
                </a:solidFill>
                <a:latin typeface="Segoe UI"/>
                <a:ea typeface="游ゴシック Medium"/>
                <a:cs typeface="游ゴシック Medium"/>
              </a:rPr>
              <a:t>自動で付いた見出しを人が見て、必要なら直す流れを用意します。補正した内容は、読み取り直しても保持されます。</a:t>
            </a:r>
          </a:p>
        </p:txBody>
      </p:sp>
      <p:sp>
        <p:nvSpPr>
          <p:cNvPr id="16" name="TextBox 15"/>
          <p:cNvSpPr txBox="1"/>
          <p:nvPr/>
        </p:nvSpPr>
        <p:spPr>
          <a:xfrm>
            <a:off x="457200" y="59436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どれも一度に完璧にする必要はありません。対象を絞って始め、運用しながら言葉と規則を足していきます。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30 / 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図面から属性とタグを作るところまでが本機能の範囲です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本機能の範囲と、ナレッジシステム本体との関係</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本機能が担当すること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ナレッジシステム本体が担当すること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・2Dと3Dの照合、食い違いの記録</a:t>
            </a:r>
          </a:p>
          <a:p>
            <a:pPr>
              <a:lnSpc>
                <a:spcPct val="125000"/>
              </a:lnSpc>
              <a:spcAft>
                <a:spcPts val="700"/>
              </a:spcAft>
            </a:pPr>
            <a:r>
              <a:rPr sz="1200" b="0">
                <a:solidFill>
                  <a:srgbClr val="1F1F1F"/>
                </a:solidFill>
                <a:latin typeface="Segoe UI"/>
                <a:ea typeface="游ゴシック Medium"/>
                <a:cs typeface="游ゴシック Medium"/>
              </a:rPr>
              <a:t>・標準の辞書の用意</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利用される方から見ると、図面を登録すればタグが付いた状態で検索できる、という一続きの動きになります。本機能とナレッジシステム本体の境目を意識する必要はありません。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31 /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判断していただくために、できないこともあわせてお示しします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できること／できないこと</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できること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できないこと・お約束できないこと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50" b="0">
                <a:solidFill>
                  <a:srgbClr val="1F1F1F"/>
                </a:solidFill>
                <a:latin typeface="Segoe UI"/>
                <a:ea typeface="游ゴシック Medium"/>
                <a:cs typeface="游ゴシック Medium"/>
              </a:rPr>
              <a:t>・図面ファイルから中身を読み取る</a:t>
            </a:r>
          </a:p>
          <a:p>
            <a:pPr>
              <a:lnSpc>
                <a:spcPct val="125000"/>
              </a:lnSpc>
              <a:spcAft>
                <a:spcPts val="700"/>
              </a:spcAft>
            </a:pPr>
            <a:r>
              <a:rPr sz="1250" b="0">
                <a:solidFill>
                  <a:srgbClr val="1F1F1F"/>
                </a:solidFill>
                <a:latin typeface="Segoe UI"/>
                <a:ea typeface="游ゴシック Medium"/>
                <a:cs typeface="游ゴシック Medium"/>
              </a:rPr>
              <a:t>・表記をそろえて、検索できる形にする</a:t>
            </a:r>
          </a:p>
          <a:p>
            <a:pPr>
              <a:lnSpc>
                <a:spcPct val="125000"/>
              </a:lnSpc>
              <a:spcAft>
                <a:spcPts val="700"/>
              </a:spcAft>
            </a:pPr>
            <a:r>
              <a:rPr sz="1250" b="0">
                <a:solidFill>
                  <a:srgbClr val="1F1F1F"/>
                </a:solidFill>
                <a:latin typeface="Segoe UI"/>
                <a:ea typeface="游ゴシック Medium"/>
                <a:cs typeface="游ゴシック Medium"/>
              </a:rPr>
              <a:t>・客先・装置・材質などの見出しを自動で付ける</a:t>
            </a:r>
          </a:p>
          <a:p>
            <a:pPr>
              <a:lnSpc>
                <a:spcPct val="125000"/>
              </a:lnSpc>
              <a:spcAft>
                <a:spcPts val="700"/>
              </a:spcAft>
            </a:pPr>
            <a:r>
              <a:rPr sz="1250" b="0">
                <a:solidFill>
                  <a:srgbClr val="1F1F1F"/>
                </a:solidFill>
                <a:latin typeface="Segoe UI"/>
                <a:ea typeface="游ゴシック Medium"/>
                <a:cs typeface="游ゴシック Medium"/>
              </a:rPr>
              <a:t>・判断の根拠と確からしさを残す</a:t>
            </a:r>
          </a:p>
          <a:p>
            <a:pPr>
              <a:lnSpc>
                <a:spcPct val="125000"/>
              </a:lnSpc>
              <a:spcAft>
                <a:spcPts val="700"/>
              </a:spcAft>
            </a:pPr>
            <a:r>
              <a:rPr sz="1250" b="0">
                <a:solidFill>
                  <a:srgbClr val="1F1F1F"/>
                </a:solidFill>
                <a:latin typeface="Segoe UI"/>
                <a:ea typeface="游ゴシック Medium"/>
                <a:cs typeface="游ゴシック Medium"/>
              </a:rPr>
              <a:t>・質量・部品点数などを数値として蓄える</a:t>
            </a:r>
          </a:p>
          <a:p>
            <a:pPr>
              <a:lnSpc>
                <a:spcPct val="125000"/>
              </a:lnSpc>
              <a:spcAft>
                <a:spcPts val="700"/>
              </a:spcAft>
            </a:pPr>
            <a:r>
              <a:rPr sz="1250" b="0">
                <a:solidFill>
                  <a:srgbClr val="1F1F1F"/>
                </a:solidFill>
                <a:latin typeface="Segoe UI"/>
                <a:ea typeface="游ゴシック Medium"/>
                <a:cs typeface="游ゴシック Medium"/>
              </a:rPr>
              <a:t>・過去の図面も、まとめて読み取り直す</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50" b="0">
                <a:solidFill>
                  <a:srgbClr val="1F1F1F"/>
                </a:solidFill>
                <a:latin typeface="Segoe UI"/>
                <a:ea typeface="游ゴシック Medium"/>
                <a:cs typeface="游ゴシック Medium"/>
              </a:rPr>
              <a:t>・図面に書かれていないことを読み取る</a:t>
            </a:r>
          </a:p>
          <a:p>
            <a:pPr>
              <a:lnSpc>
                <a:spcPct val="125000"/>
              </a:lnSpc>
              <a:spcAft>
                <a:spcPts val="700"/>
              </a:spcAft>
            </a:pPr>
            <a:r>
              <a:rPr sz="1250" b="0">
                <a:solidFill>
                  <a:srgbClr val="1F1F1F"/>
                </a:solidFill>
                <a:latin typeface="Segoe UI"/>
                <a:ea typeface="游ゴシック Medium"/>
                <a:cs typeface="游ゴシック Medium"/>
              </a:rPr>
              <a:t>・すべての項目を100%取り出す</a:t>
            </a:r>
          </a:p>
          <a:p>
            <a:pPr>
              <a:lnSpc>
                <a:spcPct val="125000"/>
              </a:lnSpc>
              <a:spcAft>
                <a:spcPts val="700"/>
              </a:spcAft>
            </a:pPr>
            <a:r>
              <a:rPr sz="1250" b="0">
                <a:solidFill>
                  <a:srgbClr val="1F1F1F"/>
                </a:solidFill>
                <a:latin typeface="Segoe UI"/>
                <a:ea typeface="游ゴシック Medium"/>
                <a:cs typeface="游ゴシック Medium"/>
              </a:rPr>
              <a:t>・書き方が特殊な図枠を、そのまま読み解く</a:t>
            </a:r>
          </a:p>
          <a:p>
            <a:pPr>
              <a:lnSpc>
                <a:spcPct val="125000"/>
              </a:lnSpc>
              <a:spcAft>
                <a:spcPts val="700"/>
              </a:spcAft>
            </a:pPr>
            <a:r>
              <a:rPr sz="1250" b="0">
                <a:solidFill>
                  <a:srgbClr val="1F1F1F"/>
                </a:solidFill>
                <a:latin typeface="Segoe UI"/>
                <a:ea typeface="游ゴシック Medium"/>
                <a:cs typeface="游ゴシック Medium"/>
              </a:rPr>
              <a:t>・自動で付いた見出しを、人の確認なしで正とする</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32 / 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導入の進め方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小さく試して、効果を確かめて、広げていきます</a:t>
            </a:r>
          </a:p>
        </p:txBody>
      </p:sp>
      <p:sp>
        <p:nvSpPr>
          <p:cNvPr id="4" name="Rectangle 3"/>
          <p:cNvSpPr/>
          <p:nvPr/>
        </p:nvSpPr>
        <p:spPr>
          <a:xfrm>
            <a:off x="457200" y="1645920"/>
            <a:ext cx="3602736" cy="32461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1</a:t>
            </a:r>
          </a:p>
        </p:txBody>
      </p:sp>
      <p:sp>
        <p:nvSpPr>
          <p:cNvPr id="6" name="TextBox 5"/>
          <p:cNvSpPr txBox="1"/>
          <p:nvPr/>
        </p:nvSpPr>
        <p:spPr>
          <a:xfrm>
            <a:off x="749808"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小さく試す</a:t>
            </a:r>
          </a:p>
        </p:txBody>
      </p:sp>
      <p:sp>
        <p:nvSpPr>
          <p:cNvPr id="7" name="TextBox 6"/>
          <p:cNvSpPr txBox="1"/>
          <p:nvPr/>
        </p:nvSpPr>
        <p:spPr>
          <a:xfrm>
            <a:off x="749808" y="2944368"/>
            <a:ext cx="3017520" cy="1828800"/>
          </a:xfrm>
          <a:prstGeom prst="rect">
            <a:avLst/>
          </a:prstGeom>
          <a:noFill/>
        </p:spPr>
        <p:txBody>
          <a:bodyPr wrap="square" lIns="0" rIns="0" tIns="0" bIns="0" anchor="t">
            <a:spAutoFit/>
          </a:bodyPr>
          <a:lstStyle/>
          <a:p>
            <a:pPr>
              <a:lnSpc>
                <a:spcPct val="125000"/>
              </a:lnSpc>
              <a:spcAft>
                <a:spcPts val="900"/>
              </a:spcAft>
            </a:pPr>
            <a:r>
              <a:rPr sz="1200" b="0">
                <a:solidFill>
                  <a:srgbClr val="1F1F1F"/>
                </a:solidFill>
                <a:latin typeface="Segoe UI"/>
                <a:ea typeface="游ゴシック Medium"/>
                <a:cs typeface="游ゴシック Medium"/>
              </a:rPr>
              <a:t>・対象の案件・装置を1つに絞る</a:t>
            </a:r>
          </a:p>
          <a:p>
            <a:pPr>
              <a:lnSpc>
                <a:spcPct val="125000"/>
              </a:lnSpc>
              <a:spcAft>
                <a:spcPts val="900"/>
              </a:spcAft>
            </a:pPr>
            <a:r>
              <a:rPr sz="1200" b="0">
                <a:solidFill>
                  <a:srgbClr val="1F1F1F"/>
                </a:solidFill>
                <a:latin typeface="Segoe UI"/>
                <a:ea typeface="游ゴシック Medium"/>
                <a:cs typeface="游ゴシック Medium"/>
              </a:rPr>
              <a:t>・その範囲の図面を登録する</a:t>
            </a:r>
          </a:p>
          <a:p>
            <a:pPr>
              <a:lnSpc>
                <a:spcPct val="125000"/>
              </a:lnSpc>
              <a:spcAft>
                <a:spcPts val="900"/>
              </a:spcAft>
            </a:pPr>
            <a:r>
              <a:rPr sz="1200" b="0">
                <a:solidFill>
                  <a:srgbClr val="1F1F1F"/>
                </a:solidFill>
                <a:latin typeface="Segoe UI"/>
                <a:ea typeface="游ゴシック Medium"/>
                <a:cs typeface="游ゴシック Medium"/>
              </a:rPr>
              <a:t>・どこまで取り出せるかを見る</a:t>
            </a:r>
          </a:p>
        </p:txBody>
      </p:sp>
      <p:sp>
        <p:nvSpPr>
          <p:cNvPr id="8" name="TextBox 7"/>
          <p:cNvSpPr txBox="1"/>
          <p:nvPr/>
        </p:nvSpPr>
        <p:spPr>
          <a:xfrm>
            <a:off x="4096512" y="3108960"/>
            <a:ext cx="155448" cy="365760"/>
          </a:xfrm>
          <a:prstGeom prst="rect">
            <a:avLst/>
          </a:prstGeom>
          <a:noFill/>
        </p:spPr>
        <p:txBody>
          <a:bodyPr wrap="square" lIns="0" rIns="0" tIns="0" bIns="0" anchor="t">
            <a:spAutoFit/>
          </a:bodyPr>
          <a:lstStyle/>
          <a:p>
            <a:pPr algn="ctr">
              <a:lnSpc>
                <a:spcPct val="125000"/>
              </a:lnSpc>
              <a:spcAft>
                <a:spcPts val="200"/>
              </a:spcAft>
            </a:pPr>
            <a:r>
              <a:rPr sz="1400" b="1">
                <a:solidFill>
                  <a:srgbClr val="005BAC"/>
                </a:solidFill>
                <a:latin typeface="Segoe UI"/>
                <a:ea typeface="游ゴシック Medium"/>
                <a:cs typeface="游ゴシック Medium"/>
              </a:rPr>
              <a:t>▶</a:t>
            </a:r>
          </a:p>
        </p:txBody>
      </p:sp>
      <p:sp>
        <p:nvSpPr>
          <p:cNvPr id="9" name="Rectangle 8"/>
          <p:cNvSpPr/>
          <p:nvPr/>
        </p:nvSpPr>
        <p:spPr>
          <a:xfrm>
            <a:off x="4270248" y="1645920"/>
            <a:ext cx="3602736" cy="32461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62856"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2</a:t>
            </a:r>
          </a:p>
        </p:txBody>
      </p:sp>
      <p:sp>
        <p:nvSpPr>
          <p:cNvPr id="11" name="TextBox 10"/>
          <p:cNvSpPr txBox="1"/>
          <p:nvPr/>
        </p:nvSpPr>
        <p:spPr>
          <a:xfrm>
            <a:off x="4562856"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言葉と運用を整える</a:t>
            </a:r>
          </a:p>
        </p:txBody>
      </p:sp>
      <p:sp>
        <p:nvSpPr>
          <p:cNvPr id="12" name="TextBox 11"/>
          <p:cNvSpPr txBox="1"/>
          <p:nvPr/>
        </p:nvSpPr>
        <p:spPr>
          <a:xfrm>
            <a:off x="4562856" y="2944368"/>
            <a:ext cx="3017520" cy="1828800"/>
          </a:xfrm>
          <a:prstGeom prst="rect">
            <a:avLst/>
          </a:prstGeom>
          <a:noFill/>
        </p:spPr>
        <p:txBody>
          <a:bodyPr wrap="square" lIns="0" rIns="0" tIns="0" bIns="0" anchor="t">
            <a:spAutoFit/>
          </a:bodyPr>
          <a:lstStyle/>
          <a:p>
            <a:pPr>
              <a:lnSpc>
                <a:spcPct val="125000"/>
              </a:lnSpc>
              <a:spcAft>
                <a:spcPts val="900"/>
              </a:spcAft>
            </a:pPr>
            <a:r>
              <a:rPr sz="1200" b="0">
                <a:solidFill>
                  <a:srgbClr val="1F1F1F"/>
                </a:solidFill>
                <a:latin typeface="Segoe UI"/>
                <a:ea typeface="游ゴシック Medium"/>
                <a:cs typeface="游ゴシック Medium"/>
              </a:rPr>
              <a:t>・自社の客先名・装置名を登録する</a:t>
            </a:r>
          </a:p>
          <a:p>
            <a:pPr>
              <a:lnSpc>
                <a:spcPct val="125000"/>
              </a:lnSpc>
              <a:spcAft>
                <a:spcPts val="900"/>
              </a:spcAft>
            </a:pPr>
            <a:r>
              <a:rPr sz="1200" b="0">
                <a:solidFill>
                  <a:srgbClr val="1F1F1F"/>
                </a:solidFill>
                <a:latin typeface="Segoe UI"/>
                <a:ea typeface="游ゴシック Medium"/>
                <a:cs typeface="游ゴシック Medium"/>
              </a:rPr>
              <a:t>・フォルダ階層と名称をそろえる</a:t>
            </a:r>
          </a:p>
          <a:p>
            <a:pPr>
              <a:lnSpc>
                <a:spcPct val="125000"/>
              </a:lnSpc>
              <a:spcAft>
                <a:spcPts val="900"/>
              </a:spcAft>
            </a:pPr>
            <a:r>
              <a:rPr sz="1200" b="0">
                <a:solidFill>
                  <a:srgbClr val="1F1F1F"/>
                </a:solidFill>
                <a:latin typeface="Segoe UI"/>
                <a:ea typeface="游ゴシック Medium"/>
                <a:cs typeface="游ゴシック Medium"/>
              </a:rPr>
              <a:t>・登録と確認の担当を決める</a:t>
            </a:r>
          </a:p>
        </p:txBody>
      </p:sp>
      <p:sp>
        <p:nvSpPr>
          <p:cNvPr id="13" name="TextBox 12"/>
          <p:cNvSpPr txBox="1"/>
          <p:nvPr/>
        </p:nvSpPr>
        <p:spPr>
          <a:xfrm>
            <a:off x="7909560" y="3108960"/>
            <a:ext cx="155448" cy="365760"/>
          </a:xfrm>
          <a:prstGeom prst="rect">
            <a:avLst/>
          </a:prstGeom>
          <a:noFill/>
        </p:spPr>
        <p:txBody>
          <a:bodyPr wrap="square" lIns="0" rIns="0" tIns="0" bIns="0" anchor="t">
            <a:spAutoFit/>
          </a:bodyPr>
          <a:lstStyle/>
          <a:p>
            <a:pPr algn="ctr">
              <a:lnSpc>
                <a:spcPct val="125000"/>
              </a:lnSpc>
              <a:spcAft>
                <a:spcPts val="200"/>
              </a:spcAft>
            </a:pPr>
            <a:r>
              <a:rPr sz="1400" b="1">
                <a:solidFill>
                  <a:srgbClr val="005BAC"/>
                </a:solidFill>
                <a:latin typeface="Segoe UI"/>
                <a:ea typeface="游ゴシック Medium"/>
                <a:cs typeface="游ゴシック Medium"/>
              </a:rPr>
              <a:t>▶</a:t>
            </a:r>
          </a:p>
        </p:txBody>
      </p:sp>
      <p:sp>
        <p:nvSpPr>
          <p:cNvPr id="14" name="Rectangle 13"/>
          <p:cNvSpPr/>
          <p:nvPr/>
        </p:nvSpPr>
        <p:spPr>
          <a:xfrm>
            <a:off x="8083296" y="1645920"/>
            <a:ext cx="3602736" cy="324612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75904" y="1901952"/>
            <a:ext cx="301752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STEP 3</a:t>
            </a:r>
          </a:p>
        </p:txBody>
      </p:sp>
      <p:sp>
        <p:nvSpPr>
          <p:cNvPr id="16" name="TextBox 15"/>
          <p:cNvSpPr txBox="1"/>
          <p:nvPr/>
        </p:nvSpPr>
        <p:spPr>
          <a:xfrm>
            <a:off x="8375904" y="2304288"/>
            <a:ext cx="3017520" cy="411480"/>
          </a:xfrm>
          <a:prstGeom prst="rect">
            <a:avLst/>
          </a:prstGeom>
          <a:noFill/>
        </p:spPr>
        <p:txBody>
          <a:bodyPr wrap="square" lIns="0" rIns="0" tIns="0" bIns="0" anchor="t">
            <a:spAutoFit/>
          </a:bodyPr>
          <a:lstStyle/>
          <a:p>
            <a:pPr>
              <a:lnSpc>
                <a:spcPct val="125000"/>
              </a:lnSpc>
              <a:spcAft>
                <a:spcPts val="200"/>
              </a:spcAft>
            </a:pPr>
            <a:r>
              <a:rPr sz="1700" b="1">
                <a:solidFill>
                  <a:srgbClr val="1F1F1F"/>
                </a:solidFill>
                <a:latin typeface="Segoe UI"/>
                <a:ea typeface="游ゴシック Medium"/>
                <a:cs typeface="游ゴシック Medium"/>
              </a:rPr>
              <a:t>広げる／効果を測る</a:t>
            </a:r>
          </a:p>
        </p:txBody>
      </p:sp>
      <p:sp>
        <p:nvSpPr>
          <p:cNvPr id="17" name="TextBox 16"/>
          <p:cNvSpPr txBox="1"/>
          <p:nvPr/>
        </p:nvSpPr>
        <p:spPr>
          <a:xfrm>
            <a:off x="8375904" y="2944368"/>
            <a:ext cx="3017520" cy="1828800"/>
          </a:xfrm>
          <a:prstGeom prst="rect">
            <a:avLst/>
          </a:prstGeom>
          <a:noFill/>
        </p:spPr>
        <p:txBody>
          <a:bodyPr wrap="square" lIns="0" rIns="0" tIns="0" bIns="0" anchor="t">
            <a:spAutoFit/>
          </a:bodyPr>
          <a:lstStyle/>
          <a:p>
            <a:pPr>
              <a:lnSpc>
                <a:spcPct val="125000"/>
              </a:lnSpc>
              <a:spcAft>
                <a:spcPts val="900"/>
              </a:spcAft>
            </a:pPr>
            <a:r>
              <a:rPr sz="1200" b="0">
                <a:solidFill>
                  <a:srgbClr val="1F1F1F"/>
                </a:solidFill>
                <a:latin typeface="Segoe UI"/>
                <a:ea typeface="游ゴシック Medium"/>
                <a:cs typeface="游ゴシック Medium"/>
              </a:rPr>
              <a:t>・対象範囲を段階的に広げる</a:t>
            </a:r>
          </a:p>
          <a:p>
            <a:pPr>
              <a:lnSpc>
                <a:spcPct val="125000"/>
              </a:lnSpc>
              <a:spcAft>
                <a:spcPts val="900"/>
              </a:spcAft>
            </a:pPr>
            <a:r>
              <a:rPr sz="1200" b="0">
                <a:solidFill>
                  <a:srgbClr val="1F1F1F"/>
                </a:solidFill>
                <a:latin typeface="Segoe UI"/>
                <a:ea typeface="游ゴシック Medium"/>
                <a:cs typeface="游ゴシック Medium"/>
              </a:rPr>
              <a:t>・探す時間の変化を実測する</a:t>
            </a:r>
          </a:p>
          <a:p>
            <a:pPr>
              <a:lnSpc>
                <a:spcPct val="125000"/>
              </a:lnSpc>
              <a:spcAft>
                <a:spcPts val="900"/>
              </a:spcAft>
            </a:pPr>
            <a:r>
              <a:rPr sz="1200" b="0">
                <a:solidFill>
                  <a:srgbClr val="1F1F1F"/>
                </a:solidFill>
                <a:latin typeface="Segoe UI"/>
                <a:ea typeface="游ゴシック Medium"/>
                <a:cs typeface="游ゴシック Medium"/>
              </a:rPr>
              <a:t>・測った結果で次の投資を判断する</a:t>
            </a:r>
          </a:p>
        </p:txBody>
      </p:sp>
      <p:sp>
        <p:nvSpPr>
          <p:cNvPr id="18" name="TextBox 17"/>
          <p:cNvSpPr txBox="1"/>
          <p:nvPr/>
        </p:nvSpPr>
        <p:spPr>
          <a:xfrm>
            <a:off x="457200" y="5303520"/>
            <a:ext cx="11274552" cy="914400"/>
          </a:xfrm>
          <a:prstGeom prst="rect">
            <a:avLst/>
          </a:prstGeom>
          <a:noFill/>
        </p:spPr>
        <p:txBody>
          <a:bodyPr wrap="square" lIns="0" rIns="0" tIns="0" bIns="0" anchor="t">
            <a:spAutoFit/>
          </a:bodyPr>
          <a:lstStyle/>
          <a:p>
            <a:pPr>
              <a:lnSpc>
                <a:spcPct val="125000"/>
              </a:lnSpc>
              <a:spcAft>
                <a:spcPts val="800"/>
              </a:spcAft>
            </a:pPr>
            <a:r>
              <a:rPr sz="1400" b="1">
                <a:solidFill>
                  <a:srgbClr val="005BAC"/>
                </a:solidFill>
                <a:latin typeface="Segoe UI"/>
                <a:ea typeface="游ゴシック Medium"/>
                <a:cs typeface="游ゴシック Medium"/>
              </a:rPr>
              <a:t>まずは対象を絞った試験運用からご相談ください。</a:t>
            </a:r>
          </a:p>
          <a:p>
            <a:pPr>
              <a:lnSpc>
                <a:spcPct val="125000"/>
              </a:lnSpc>
              <a:spcAft>
                <a:spcPts val="0"/>
              </a:spcAft>
            </a:pPr>
            <a:r>
              <a:rPr sz="1200" b="0">
                <a:solidFill>
                  <a:srgbClr val="1F1F1F"/>
                </a:solidFill>
                <a:latin typeface="Segoe UI"/>
                <a:ea typeface="游ゴシック Medium"/>
                <a:cs typeface="游ゴシック Medium"/>
              </a:rPr>
              <a:t>対象範囲、登録する図面、確認の進め方をご一緒に決めたうえで、実際のデータで何が取り出せるかをお示しします。</a:t>
            </a:r>
          </a:p>
        </p:txBody>
      </p:sp>
      <p:sp>
        <p:nvSpPr>
          <p:cNvPr id="19" name="TextBox 18"/>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33 / 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導入の進め方　小さく試して、効果を確かめて、広げる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最初から全体に広げず、対象を絞って始めます。語彙と規則は運用しながら足していきます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決める・</a:t>
            </a:r>
            <a:br/>
            <a:r>
              <a:rPr sz="900" b="1">
                <a:solidFill>
                  <a:srgbClr val="FFFFFF"/>
                </a:solidFill>
                <a:latin typeface="Segoe UI"/>
                <a:ea typeface="游ゴシック Medium"/>
                <a:cs typeface="游ゴシック Medium"/>
              </a:rPr>
              <a:t>準備する</a:t>
            </a:r>
          </a:p>
        </p:txBody>
      </p:sp>
      <p:sp>
        <p:nvSpPr>
          <p:cNvPr id="6" name="Rectangle 5"/>
          <p:cNvSpPr/>
          <p:nvPr/>
        </p:nvSpPr>
        <p:spPr>
          <a:xfrm>
            <a:off x="457200" y="292608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動かす</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確かめる</a:t>
            </a:r>
          </a:p>
        </p:txBody>
      </p:sp>
      <p:sp>
        <p:nvSpPr>
          <p:cNvPr id="10" name="Rounded Rectangle 9"/>
          <p:cNvSpPr/>
          <p:nvPr/>
        </p:nvSpPr>
        <p:spPr>
          <a:xfrm>
            <a:off x="1576913"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対象を1つの</a:t>
            </a:r>
            <a:br/>
            <a:r>
              <a:rPr sz="900" b="1">
                <a:solidFill>
                  <a:srgbClr val="1F1F1F"/>
                </a:solidFill>
                <a:latin typeface="Segoe UI"/>
                <a:ea typeface="游ゴシック Medium"/>
                <a:cs typeface="游ゴシック Medium"/>
              </a:rPr>
              <a:t>案件に絞る</a:t>
            </a:r>
          </a:p>
          <a:p>
            <a:pPr algn="ctr">
              <a:lnSpc>
                <a:spcPct val="105000"/>
              </a:lnSpc>
              <a:spcAft>
                <a:spcPts val="0"/>
              </a:spcAft>
            </a:pPr>
            <a:r>
              <a:rPr sz="700" b="0">
                <a:solidFill>
                  <a:srgbClr val="5A5A5A"/>
                </a:solidFill>
                <a:latin typeface="Segoe UI"/>
                <a:ea typeface="游ゴシック Medium"/>
                <a:cs typeface="游ゴシック Medium"/>
              </a:rPr>
              <a:t>1装置ぶんから</a:t>
            </a:r>
            <a:br/>
            <a:r>
              <a:rPr sz="700" b="0">
                <a:solidFill>
                  <a:srgbClr val="5A5A5A"/>
                </a:solidFill>
                <a:latin typeface="Segoe UI"/>
                <a:ea typeface="游ゴシック Medium"/>
                <a:cs typeface="游ゴシック Medium"/>
              </a:rPr>
              <a:t>始める</a:t>
            </a:r>
          </a:p>
        </p:txBody>
      </p:sp>
      <p:sp>
        <p:nvSpPr>
          <p:cNvPr id="11" name="Rounded Rectangle 10"/>
          <p:cNvSpPr/>
          <p:nvPr/>
        </p:nvSpPr>
        <p:spPr>
          <a:xfrm>
            <a:off x="2712801"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対象範囲の</a:t>
            </a:r>
            <a:br/>
            <a:r>
              <a:rPr sz="900" b="1">
                <a:solidFill>
                  <a:srgbClr val="1F1F1F"/>
                </a:solidFill>
                <a:latin typeface="Segoe UI"/>
                <a:ea typeface="游ゴシック Medium"/>
                <a:cs typeface="游ゴシック Medium"/>
              </a:rPr>
              <a:t>図面を集める</a:t>
            </a:r>
          </a:p>
          <a:p>
            <a:pPr algn="ctr">
              <a:lnSpc>
                <a:spcPct val="105000"/>
              </a:lnSpc>
              <a:spcAft>
                <a:spcPts val="0"/>
              </a:spcAft>
            </a:pPr>
            <a:r>
              <a:rPr sz="700" b="0">
                <a:solidFill>
                  <a:srgbClr val="5A5A5A"/>
                </a:solidFill>
                <a:latin typeface="Segoe UI"/>
                <a:ea typeface="游ゴシック Medium"/>
                <a:cs typeface="游ゴシック Medium"/>
              </a:rPr>
              <a:t>過去の図面も</a:t>
            </a:r>
            <a:br/>
            <a:r>
              <a:rPr sz="700" b="0">
                <a:solidFill>
                  <a:srgbClr val="5A5A5A"/>
                </a:solidFill>
                <a:latin typeface="Segoe UI"/>
                <a:ea typeface="游ゴシック Medium"/>
                <a:cs typeface="游ゴシック Medium"/>
              </a:rPr>
              <a:t>対象にできる</a:t>
            </a:r>
          </a:p>
        </p:txBody>
      </p:sp>
      <p:sp>
        <p:nvSpPr>
          <p:cNvPr id="12" name="Rounded Rectangle 11"/>
          <p:cNvSpPr/>
          <p:nvPr/>
        </p:nvSpPr>
        <p:spPr>
          <a:xfrm>
            <a:off x="3848689"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図面を登録して</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自動でタグまで</a:t>
            </a:r>
            <a:br/>
            <a:r>
              <a:rPr sz="700" b="0">
                <a:solidFill>
                  <a:srgbClr val="5A5A5A"/>
                </a:solidFill>
                <a:latin typeface="Segoe UI"/>
                <a:ea typeface="游ゴシック Medium"/>
                <a:cs typeface="游ゴシック Medium"/>
              </a:rPr>
              <a:t>付く</a:t>
            </a:r>
          </a:p>
        </p:txBody>
      </p:sp>
      <p:sp>
        <p:nvSpPr>
          <p:cNvPr id="13" name="Rounded Rectangle 12"/>
          <p:cNvSpPr/>
          <p:nvPr/>
        </p:nvSpPr>
        <p:spPr>
          <a:xfrm>
            <a:off x="4984577"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取り出せた</a:t>
            </a:r>
            <a:br/>
            <a:r>
              <a:rPr sz="900" b="1">
                <a:solidFill>
                  <a:srgbClr val="1F1F1F"/>
                </a:solidFill>
                <a:latin typeface="Segoe UI"/>
                <a:ea typeface="游ゴシック Medium"/>
                <a:cs typeface="游ゴシック Medium"/>
              </a:rPr>
              <a:t>範囲を見る</a:t>
            </a:r>
          </a:p>
          <a:p>
            <a:pPr algn="ctr">
              <a:lnSpc>
                <a:spcPct val="105000"/>
              </a:lnSpc>
              <a:spcAft>
                <a:spcPts val="0"/>
              </a:spcAft>
            </a:pPr>
            <a:r>
              <a:rPr sz="700" b="0">
                <a:solidFill>
                  <a:srgbClr val="5A5A5A"/>
                </a:solidFill>
                <a:latin typeface="Segoe UI"/>
                <a:ea typeface="游ゴシック Medium"/>
                <a:cs typeface="游ゴシック Medium"/>
              </a:rPr>
              <a:t>空欄・候補・警告</a:t>
            </a:r>
            <a:br/>
            <a:r>
              <a:rPr sz="700" b="0">
                <a:solidFill>
                  <a:srgbClr val="5A5A5A"/>
                </a:solidFill>
                <a:latin typeface="Segoe UI"/>
                <a:ea typeface="游ゴシック Medium"/>
                <a:cs typeface="游ゴシック Medium"/>
              </a:rPr>
              <a:t>を確認する</a:t>
            </a:r>
          </a:p>
        </p:txBody>
      </p:sp>
      <p:sp>
        <p:nvSpPr>
          <p:cNvPr id="14" name="Rounded Rectangle 13"/>
          <p:cNvSpPr/>
          <p:nvPr/>
        </p:nvSpPr>
        <p:spPr>
          <a:xfrm>
            <a:off x="6120465"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客先名・装置名</a:t>
            </a:r>
            <a:br/>
            <a:r>
              <a:rPr sz="900" b="1">
                <a:solidFill>
                  <a:srgbClr val="1F1F1F"/>
                </a:solidFill>
                <a:latin typeface="Segoe UI"/>
                <a:ea typeface="游ゴシック Medium"/>
                <a:cs typeface="游ゴシック Medium"/>
              </a:rPr>
              <a:t>を辞書へ登録</a:t>
            </a:r>
          </a:p>
          <a:p>
            <a:pPr algn="ctr">
              <a:lnSpc>
                <a:spcPct val="105000"/>
              </a:lnSpc>
              <a:spcAft>
                <a:spcPts val="0"/>
              </a:spcAft>
            </a:pPr>
            <a:r>
              <a:rPr sz="700" b="0">
                <a:solidFill>
                  <a:srgbClr val="5A5A5A"/>
                </a:solidFill>
                <a:latin typeface="Segoe UI"/>
                <a:ea typeface="游ゴシック Medium"/>
                <a:cs typeface="游ゴシック Medium"/>
              </a:rPr>
              <a:t>見出しの数は</a:t>
            </a:r>
            <a:br/>
            <a:r>
              <a:rPr sz="700" b="0">
                <a:solidFill>
                  <a:srgbClr val="5A5A5A"/>
                </a:solidFill>
                <a:latin typeface="Segoe UI"/>
                <a:ea typeface="游ゴシック Medium"/>
                <a:cs typeface="游ゴシック Medium"/>
              </a:rPr>
              <a:t>ここで決まる</a:t>
            </a:r>
          </a:p>
        </p:txBody>
      </p:sp>
      <p:sp>
        <p:nvSpPr>
          <p:cNvPr id="15" name="Rounded Rectangle 14"/>
          <p:cNvSpPr/>
          <p:nvPr/>
        </p:nvSpPr>
        <p:spPr>
          <a:xfrm>
            <a:off x="7256353"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フォルダ階層と</a:t>
            </a:r>
            <a:br/>
            <a:r>
              <a:rPr sz="900" b="1">
                <a:solidFill>
                  <a:srgbClr val="1F1F1F"/>
                </a:solidFill>
                <a:latin typeface="Segoe UI"/>
                <a:ea typeface="游ゴシック Medium"/>
                <a:cs typeface="游ゴシック Medium"/>
              </a:rPr>
              <a:t>名称を決める</a:t>
            </a:r>
          </a:p>
          <a:p>
            <a:pPr algn="ctr">
              <a:lnSpc>
                <a:spcPct val="105000"/>
              </a:lnSpc>
              <a:spcAft>
                <a:spcPts val="0"/>
              </a:spcAft>
            </a:pPr>
            <a:r>
              <a:rPr sz="700" b="0">
                <a:solidFill>
                  <a:srgbClr val="5A5A5A"/>
                </a:solidFill>
                <a:latin typeface="Segoe UI"/>
                <a:ea typeface="游ゴシック Medium"/>
                <a:cs typeface="游ゴシック Medium"/>
              </a:rPr>
              <a:t>今後の新規案件</a:t>
            </a:r>
            <a:br/>
            <a:r>
              <a:rPr sz="700" b="0">
                <a:solidFill>
                  <a:srgbClr val="5A5A5A"/>
                </a:solidFill>
                <a:latin typeface="Segoe UI"/>
                <a:ea typeface="游ゴシック Medium"/>
                <a:cs typeface="游ゴシック Medium"/>
              </a:rPr>
              <a:t>からでよい</a:t>
            </a:r>
          </a:p>
        </p:txBody>
      </p:sp>
      <p:sp>
        <p:nvSpPr>
          <p:cNvPr id="16" name="Rounded Rectangle 15"/>
          <p:cNvSpPr/>
          <p:nvPr/>
        </p:nvSpPr>
        <p:spPr>
          <a:xfrm>
            <a:off x="8392241"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読み取り直して</a:t>
            </a:r>
            <a:br/>
            <a:r>
              <a:rPr sz="900" b="1">
                <a:solidFill>
                  <a:srgbClr val="1F1F1F"/>
                </a:solidFill>
                <a:latin typeface="Segoe UI"/>
                <a:ea typeface="游ゴシック Medium"/>
                <a:cs typeface="游ゴシック Medium"/>
              </a:rPr>
              <a:t>反映する</a:t>
            </a:r>
          </a:p>
          <a:p>
            <a:pPr algn="ctr">
              <a:lnSpc>
                <a:spcPct val="105000"/>
              </a:lnSpc>
              <a:spcAft>
                <a:spcPts val="0"/>
              </a:spcAft>
            </a:pPr>
            <a:r>
              <a:rPr sz="700" b="0">
                <a:solidFill>
                  <a:srgbClr val="5A5A5A"/>
                </a:solidFill>
                <a:latin typeface="Segoe UI"/>
                <a:ea typeface="游ゴシック Medium"/>
                <a:cs typeface="游ゴシック Medium"/>
              </a:rPr>
              <a:t>登録済みの図面</a:t>
            </a:r>
            <a:br/>
            <a:r>
              <a:rPr sz="700" b="0">
                <a:solidFill>
                  <a:srgbClr val="5A5A5A"/>
                </a:solidFill>
                <a:latin typeface="Segoe UI"/>
                <a:ea typeface="游ゴシック Medium"/>
                <a:cs typeface="游ゴシック Medium"/>
              </a:rPr>
              <a:t>にも反映される</a:t>
            </a:r>
          </a:p>
        </p:txBody>
      </p:sp>
      <p:sp>
        <p:nvSpPr>
          <p:cNvPr id="17" name="Rounded Rectangle 16"/>
          <p:cNvSpPr/>
          <p:nvPr/>
        </p:nvSpPr>
        <p:spPr>
          <a:xfrm>
            <a:off x="9528129"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精度の変化を</a:t>
            </a:r>
            <a:br/>
            <a:r>
              <a:rPr sz="900" b="1">
                <a:solidFill>
                  <a:srgbClr val="1F1F1F"/>
                </a:solidFill>
                <a:latin typeface="Segoe UI"/>
                <a:ea typeface="游ゴシック Medium"/>
                <a:cs typeface="游ゴシック Medium"/>
              </a:rPr>
              <a:t>確認する</a:t>
            </a:r>
          </a:p>
          <a:p>
            <a:pPr algn="ctr">
              <a:lnSpc>
                <a:spcPct val="105000"/>
              </a:lnSpc>
              <a:spcAft>
                <a:spcPts val="0"/>
              </a:spcAft>
            </a:pPr>
            <a:r>
              <a:rPr sz="700" b="0">
                <a:solidFill>
                  <a:srgbClr val="5A5A5A"/>
                </a:solidFill>
                <a:latin typeface="Segoe UI"/>
                <a:ea typeface="游ゴシック Medium"/>
                <a:cs typeface="游ゴシック Medium"/>
              </a:rPr>
              <a:t>付いた見出しの</a:t>
            </a:r>
            <a:br/>
            <a:r>
              <a:rPr sz="700" b="0">
                <a:solidFill>
                  <a:srgbClr val="5A5A5A"/>
                </a:solidFill>
                <a:latin typeface="Segoe UI"/>
                <a:ea typeface="游ゴシック Medium"/>
                <a:cs typeface="游ゴシック Medium"/>
              </a:rPr>
              <a:t>増え方を見る</a:t>
            </a:r>
          </a:p>
        </p:txBody>
      </p:sp>
      <p:sp>
        <p:nvSpPr>
          <p:cNvPr id="18" name="Rounded Rectangle 17"/>
          <p:cNvSpPr/>
          <p:nvPr/>
        </p:nvSpPr>
        <p:spPr>
          <a:xfrm>
            <a:off x="10664017"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範囲を広げて</a:t>
            </a:r>
            <a:br/>
            <a:r>
              <a:rPr sz="900" b="1">
                <a:solidFill>
                  <a:srgbClr val="1F1F1F"/>
                </a:solidFill>
                <a:latin typeface="Segoe UI"/>
                <a:ea typeface="游ゴシック Medium"/>
                <a:cs typeface="游ゴシック Medium"/>
              </a:rPr>
              <a:t>効果を測る</a:t>
            </a:r>
          </a:p>
          <a:p>
            <a:pPr algn="ctr">
              <a:lnSpc>
                <a:spcPct val="105000"/>
              </a:lnSpc>
              <a:spcAft>
                <a:spcPts val="0"/>
              </a:spcAft>
            </a:pPr>
            <a:r>
              <a:rPr sz="700" b="0">
                <a:solidFill>
                  <a:srgbClr val="5A5A5A"/>
                </a:solidFill>
                <a:latin typeface="Segoe UI"/>
                <a:ea typeface="游ゴシック Medium"/>
                <a:cs typeface="游ゴシック Medium"/>
              </a:rPr>
              <a:t>探す時間の変化を</a:t>
            </a:r>
            <a:br/>
            <a:r>
              <a:rPr sz="700" b="0">
                <a:solidFill>
                  <a:srgbClr val="5A5A5A"/>
                </a:solidFill>
                <a:latin typeface="Segoe UI"/>
                <a:ea typeface="游ゴシック Medium"/>
                <a:cs typeface="游ゴシック Medium"/>
              </a:rPr>
              <a:t>実測する</a:t>
            </a:r>
          </a:p>
        </p:txBody>
      </p:sp>
      <p:cxnSp>
        <p:nvCxnSpPr>
          <p:cNvPr id="19" name="Connector 18"/>
          <p:cNvCxnSpPr/>
          <p:nvPr/>
        </p:nvCxnSpPr>
        <p:spPr>
          <a:xfrm>
            <a:off x="2576494"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12382" y="217170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80535"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80535" y="368046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48270" y="368046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16424"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16424" y="518922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84158" y="518922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52311"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52311" y="217170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20046"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255934" y="217170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324087"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24087" y="368046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91822"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459975"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59975"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527710" y="518922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595864"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595864" y="217170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この一巡を回すと、どの項目が取りにくいか、どの語彙が足りないかが具体的に分かります。効果を数値で示すには、試験運用の前後で探す時間を実測する必要があります。</a:t>
            </a:r>
          </a:p>
        </p:txBody>
      </p:sp>
      <p:sp>
        <p:nvSpPr>
          <p:cNvPr id="40" name="TextBox 3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34 / 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35 / 35</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